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4" r:id="rId2"/>
    <p:sldId id="298" r:id="rId3"/>
    <p:sldId id="299" r:id="rId4"/>
    <p:sldId id="301" r:id="rId5"/>
    <p:sldId id="300" r:id="rId6"/>
    <p:sldId id="278" r:id="rId7"/>
    <p:sldId id="285" r:id="rId8"/>
    <p:sldId id="277" r:id="rId9"/>
    <p:sldId id="276" r:id="rId10"/>
    <p:sldId id="284" r:id="rId11"/>
    <p:sldId id="302" r:id="rId12"/>
    <p:sldId id="303" r:id="rId13"/>
    <p:sldId id="304" r:id="rId14"/>
    <p:sldId id="305" r:id="rId15"/>
    <p:sldId id="286" r:id="rId16"/>
    <p:sldId id="289" r:id="rId17"/>
    <p:sldId id="290" r:id="rId18"/>
    <p:sldId id="291" r:id="rId19"/>
    <p:sldId id="292" r:id="rId20"/>
    <p:sldId id="306" r:id="rId21"/>
    <p:sldId id="293" r:id="rId22"/>
    <p:sldId id="296" r:id="rId23"/>
    <p:sldId id="297" r:id="rId24"/>
    <p:sldId id="267" r:id="rId25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R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E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CFEA2D-2BE5-48B0-B559-FF54AC08B2C4}" v="2" dt="2024-08-12T07:35:41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1"/>
    <p:restoredTop sz="96197"/>
  </p:normalViewPr>
  <p:slideViewPr>
    <p:cSldViewPr snapToGrid="0">
      <p:cViewPr varScale="1">
        <p:scale>
          <a:sx n="89" d="100"/>
          <a:sy n="89" d="100"/>
        </p:scale>
        <p:origin x="36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12.08.2024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chemeClr val="accent1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4414708"/>
            <a:ext cx="11113200" cy="138588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7B5CD0-275D-9D5D-D015-ABC9529218E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4987" y="63500"/>
            <a:ext cx="4873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9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reza-ais.egon.gov.cz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REGISTR ZASTUPOVÁNÍ</a:t>
            </a:r>
            <a:br>
              <a:rPr lang="cs-CZ" dirty="0"/>
            </a:br>
            <a:r>
              <a:rPr lang="cs-CZ" dirty="0"/>
              <a:t>Aktuální stav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Petr </a:t>
            </a:r>
            <a:r>
              <a:rPr lang="cs-CZ" dirty="0" err="1"/>
              <a:t>tiller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EAEB92-E324-CE3C-04C8-3B330EE1E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1015522"/>
          </a:xfrm>
        </p:spPr>
        <p:txBody>
          <a:bodyPr/>
          <a:lstStyle/>
          <a:p>
            <a:r>
              <a:rPr lang="cs-CZ" dirty="0"/>
              <a:t>Agenda prezentace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9175481-DDB2-0ADA-AE9E-C1D7E6CAE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1937857"/>
            <a:ext cx="11113200" cy="3846203"/>
          </a:xfrm>
        </p:spPr>
        <p:txBody>
          <a:bodyPr/>
          <a:lstStyle/>
          <a:p>
            <a:r>
              <a:rPr lang="cs-CZ" dirty="0">
                <a:cs typeface="Arial" panose="020B0604020202020204" pitchFamily="34" charset="0"/>
              </a:rPr>
              <a:t>Legislativní zakotvení</a:t>
            </a:r>
          </a:p>
          <a:p>
            <a:r>
              <a:rPr lang="cs-CZ" dirty="0">
                <a:cs typeface="Arial" panose="020B0604020202020204" pitchFamily="34" charset="0"/>
              </a:rPr>
              <a:t>Aktuální stav srpen 2024</a:t>
            </a:r>
          </a:p>
          <a:p>
            <a:r>
              <a:rPr lang="cs-CZ" dirty="0">
                <a:cs typeface="Arial" panose="020B0604020202020204" pitchFamily="34" charset="0"/>
              </a:rPr>
              <a:t>Co bude dál </a:t>
            </a:r>
          </a:p>
          <a:p>
            <a:r>
              <a:rPr lang="cs-CZ" dirty="0">
                <a:cs typeface="Arial" panose="020B0604020202020204" pitchFamily="34" charset="0"/>
              </a:rPr>
              <a:t>Typické otázky</a:t>
            </a:r>
          </a:p>
        </p:txBody>
      </p:sp>
    </p:spTree>
    <p:extLst>
      <p:ext uri="{BB962C8B-B14F-4D97-AF65-F5344CB8AC3E}">
        <p14:creationId xmlns:p14="http://schemas.microsoft.com/office/powerpoint/2010/main" val="3270778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B20C9C-F81E-E745-9547-2E66A890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Legislativní ukotvení_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D56024-C037-9F47-2328-B07CA39DA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cs-CZ" dirty="0"/>
              <a:t>Zákon 125/2024 Sb. kterým se mění zákon č. 111/2009 Sb., o základních registrech, ve znění pozdějších předpisů, a další související zákony – účinnost od 1.7.2024</a:t>
            </a:r>
          </a:p>
          <a:p>
            <a:r>
              <a:rPr lang="cs-CZ" dirty="0"/>
              <a:t>Základní body úpravy a vzešlé z mezirezortního řízení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Registr zastupování </a:t>
            </a:r>
            <a:r>
              <a:rPr lang="cs-CZ" b="1" dirty="0"/>
              <a:t>je doplňkem</a:t>
            </a:r>
            <a:r>
              <a:rPr lang="cs-CZ" dirty="0"/>
              <a:t> stávající ekosystému </a:t>
            </a:r>
            <a:r>
              <a:rPr lang="cs-CZ" dirty="0" err="1"/>
              <a:t>zástupčího</a:t>
            </a:r>
            <a:r>
              <a:rPr lang="cs-CZ" dirty="0"/>
              <a:t> jednání – primárně určen pro digitální služby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Registr zastupování je </a:t>
            </a:r>
            <a:r>
              <a:rPr lang="cs-CZ" b="1" dirty="0"/>
              <a:t>fakultativní </a:t>
            </a:r>
            <a:r>
              <a:rPr lang="cs-CZ" dirty="0"/>
              <a:t>vůči orgánům veřejné moci – OVM musí projevit vůli poskytovat digitální služby v zastoupení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Vzory oprávnění – šablona „plné moci“. Plné moci mohou být sestavovány pouze na základě schválených a publikovaných šablon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Zůstává zachován krok </a:t>
            </a:r>
            <a:r>
              <a:rPr lang="cs-CZ" b="1" dirty="0"/>
              <a:t>uplatnění</a:t>
            </a:r>
            <a:r>
              <a:rPr lang="cs-CZ" dirty="0"/>
              <a:t> plné moci – pokud nebyla vůči úřadu uplatněna, pak </a:t>
            </a:r>
            <a:r>
              <a:rPr lang="cs-CZ" b="1" dirty="0"/>
              <a:t>nesmí</a:t>
            </a:r>
            <a:r>
              <a:rPr lang="cs-CZ" dirty="0"/>
              <a:t> prohlížet </a:t>
            </a:r>
            <a:r>
              <a:rPr lang="cs-CZ" dirty="0" err="1"/>
              <a:t>ReZa</a:t>
            </a:r>
            <a:r>
              <a:rPr lang="cs-CZ" dirty="0"/>
              <a:t> a vyhledávat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Výjimky jsou implicitní oprávnění k zastupování, která „uplatňuje“ OVM v rámci úředního procesu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D6B0560-13E1-B17B-88E9-19931603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3AE86C1-AEA6-DA4C-B678-136C2DB3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920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624833-8ADA-148F-ADF6-0E694E14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IMPLICITNÍ VS EXPLICITNÍ OPRÁVNĚNÍ K ZASTUPOVÁNÍ_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D0C9B4-BDEC-97C8-90A4-49E56890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Jde o pojmy zavedené ve výkladu a důvodové zprávě vzniklé pro umožnění popisu principálně odlišných Oprávnění k zastupování: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IMPLICITNÍ </a:t>
            </a:r>
            <a:r>
              <a:rPr lang="cs-CZ" dirty="0"/>
              <a:t>– na základě údajů v informačních systémech veřejné správy, které vznikly činností agend, rozhodnutím úřadu či soudních orgánů atd.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Typickým znakem je, že nevznikají z vůle zastupovaného a nelze je jednostranným aktem zastupovaného či zastupujícího změnit – je nutné dosáhnout změny údajů v ISVS či rozhodnutí soudu atd.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EXPLICITNÍ </a:t>
            </a:r>
            <a:r>
              <a:rPr lang="cs-CZ" dirty="0"/>
              <a:t>– vzniká na základě jednostranné vůle zastupovaného. Typicky jde o důsledek </a:t>
            </a:r>
            <a:r>
              <a:rPr lang="cs-CZ" dirty="0" err="1"/>
              <a:t>zástupčího</a:t>
            </a:r>
            <a:r>
              <a:rPr lang="cs-CZ" dirty="0"/>
              <a:t> ujednání mezi zastupovaným a zastupujícím (je jedno v jaké formě)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Typickým znakem je, že zastupovaný může jednostranně ukončit bez čehokoli dalšího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0544A7F-AB8B-6B94-7B81-CCC2B536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10C7D53-4E61-5DAD-EEFB-132EE982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577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EBDC0A-AB9D-A046-81FE-92C8CD2E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REFERENČNOST ÚDAJŮ V REGISTRU ZASTUPOVÁNÍ_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CE8DD5-1D48-7D60-AEE9-C3C23BAE2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Právní postavení evidovaného oprávnění k zastupování – jde o referenční údaj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Orgán veřejné moci ho tedy </a:t>
            </a:r>
            <a:r>
              <a:rPr lang="cs-CZ" b="1" dirty="0"/>
              <a:t>může využít bez dalšího ověřování platnosti údajů</a:t>
            </a:r>
            <a:r>
              <a:rPr lang="cs-CZ" dirty="0"/>
              <a:t>, které jsou na něm uvedeny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Pokud orgán veřejné moci má informace o tom, že by mohl být chybný, pak postupuje jako s jakýmkoli jiným referenčním údajem – reklamace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Pokud dojde ke konfliktu více uplatněných oprávnění k zastupování (digitální i papírové), pak OVM musí vyhodnotit jako nyní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lvl="1"/>
            <a:r>
              <a:rPr lang="cs-CZ" dirty="0"/>
              <a:t>Orgán veřejné moci není oprávněn vyhledávat existenci </a:t>
            </a:r>
            <a:r>
              <a:rPr lang="cs-CZ" b="1" dirty="0"/>
              <a:t>explicitního</a:t>
            </a:r>
            <a:r>
              <a:rPr lang="cs-CZ" dirty="0"/>
              <a:t> oprávnění k zastupování bez toho, že by bylo uplatněno zastupovaným či zastupujícím. Tedy ačkoli jde o referenční údaj, do okamžiku uplatnění se jím OVM neřídí („neví o něm“)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79BBE3A-FFE4-3343-675E-FE86E15C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50FFE2E-27FB-D0BD-5596-2E1D214E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492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72FE85-AA95-517E-579F-683E03C0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registr Zastupování_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0F1254-56E3-E23A-DAB9-AC345798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Část Registru práv a povinností, která eviduje NĚKTERÁ oprávnění k zastupování – viz šablony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Poskytuje referenční údaje o evidovaných oprávněních k zastupování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OPRÁVNĚNÍ K ZASTUPOVÁNÍ </a:t>
            </a:r>
            <a:r>
              <a:rPr lang="cs-CZ" dirty="0"/>
              <a:t>– evidovaný vztah dvou osob z </a:t>
            </a:r>
            <a:r>
              <a:rPr lang="cs-CZ" b="1" dirty="0"/>
              <a:t>ROB/ROS</a:t>
            </a:r>
            <a:r>
              <a:rPr lang="cs-CZ" dirty="0"/>
              <a:t>, který popisuje právo zastupujícího jednat jménem zastupovaného vůči veřejné správě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Doplněno Agendovým informačním systémem Registru zastupování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Prostřednictvím tohoto AIS veškeré požadavky na zápis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Udržuje historii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Udržuje schválené vzory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Udržuje vazbu osob k certifikátům pro elektronický podpis a pečeť za účelem identifikace držitele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b="1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902A1DB-8A1F-BE5A-9E3F-9AB273E7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C77AD5D-A5A7-7C61-4815-188D2C37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554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2D402A-2739-7BD1-0D28-D4D322B1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VZOR OPRÁVNĚNÍ K ZASTUPOVÁNÍ_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E77DBC-A993-9258-9A10-E3470090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Není možné popsat všechny varianty oprávnění k zastupování do zákona. Proto jsme zvolili pojem „vzor“, kterým definujeme šablonu „</a:t>
            </a:r>
            <a:r>
              <a:rPr lang="cs-CZ" i="1" dirty="0"/>
              <a:t>Vzor plné moci</a:t>
            </a:r>
            <a:r>
              <a:rPr lang="cs-CZ" dirty="0"/>
              <a:t>“</a:t>
            </a:r>
          </a:p>
          <a:p>
            <a:r>
              <a:rPr lang="cs-CZ" dirty="0"/>
              <a:t>Oprávnění k zastupování se váže na služby veřejné správy. Obsahuje tedy</a:t>
            </a:r>
          </a:p>
          <a:p>
            <a:pPr lvl="1"/>
            <a:r>
              <a:rPr lang="cs-CZ" dirty="0"/>
              <a:t>Kdo/komu</a:t>
            </a:r>
          </a:p>
          <a:p>
            <a:pPr lvl="1"/>
            <a:r>
              <a:rPr lang="cs-CZ" dirty="0"/>
              <a:t>K jakým službám veřejné správy, úkonům či konkrétním OVM lze uplatnit.</a:t>
            </a:r>
          </a:p>
          <a:p>
            <a:pPr lvl="2"/>
            <a:r>
              <a:rPr lang="cs-CZ" dirty="0"/>
              <a:t>Není vyplněno – </a:t>
            </a:r>
            <a:r>
              <a:rPr lang="cs-CZ" b="1" dirty="0"/>
              <a:t>KE VŠEM</a:t>
            </a:r>
            <a:endParaRPr lang="cs-CZ" dirty="0"/>
          </a:p>
          <a:p>
            <a:pPr lvl="1"/>
            <a:r>
              <a:rPr lang="cs-CZ" dirty="0"/>
              <a:t>Jaké jsou další vlastnosti (od kdy, do kdy, postupitelnost, úroveň důvěry s jakou musí být ověřen žadatel o zápis)</a:t>
            </a:r>
          </a:p>
          <a:p>
            <a:r>
              <a:rPr lang="cs-CZ" dirty="0"/>
              <a:t>Vše popsáno datově a v dokumentaci a zveřejněno – dle zákona musí </a:t>
            </a:r>
            <a:r>
              <a:rPr lang="cs-CZ" b="1" dirty="0"/>
              <a:t>po zveřejnění do roka být funkční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958D36A-E21F-9047-0AA4-CDE1F6ECC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32B899B-C05C-515A-BB02-86323E01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218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1704A8-7EFD-BECA-3746-2B573931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Jaký je vztah k současné praxi_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103D2D-B5EB-EE43-F79A-D49C79A2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současné praxi (procesní, právní) se nic nemění</a:t>
            </a:r>
          </a:p>
          <a:p>
            <a:r>
              <a:rPr lang="cs-CZ" dirty="0"/>
              <a:t>Doplňuje se cesta digitální</a:t>
            </a:r>
          </a:p>
          <a:p>
            <a:pPr lvl="1"/>
            <a:r>
              <a:rPr lang="cs-CZ" dirty="0"/>
              <a:t>Zvláště pro využití v čistě digitálním prostředí – portály</a:t>
            </a:r>
          </a:p>
          <a:p>
            <a:pPr lvl="1"/>
            <a:r>
              <a:rPr lang="cs-CZ" b="1" dirty="0"/>
              <a:t>Neexistuje</a:t>
            </a:r>
            <a:r>
              <a:rPr lang="cs-CZ" dirty="0"/>
              <a:t> digitalizace papírové plné moci</a:t>
            </a:r>
          </a:p>
          <a:p>
            <a:pPr lvl="1"/>
            <a:r>
              <a:rPr lang="cs-CZ" dirty="0"/>
              <a:t>Umožňuje- doplňuje možnost občanům prokázat své oprávnění k zastupování i digitálně</a:t>
            </a:r>
          </a:p>
          <a:p>
            <a:r>
              <a:rPr lang="cs-CZ" dirty="0"/>
              <a:t>Všechny procesní zákony a předpisy zůstávají v platnosti nepozměněné. Použití digitální plné moci je ze </a:t>
            </a:r>
            <a:r>
              <a:rPr lang="cs-CZ" b="1" dirty="0"/>
              <a:t>strany veřejnosti možnost nikoli povinnost</a:t>
            </a:r>
          </a:p>
          <a:p>
            <a:r>
              <a:rPr lang="cs-CZ" dirty="0"/>
              <a:t>Konflikt „papírové“ plné moci a digitální – neexistuje, odpovídá situaci jako když jsou předloženy dvě konfliktní „papírové“ plné moci </a:t>
            </a:r>
          </a:p>
          <a:p>
            <a:pPr marL="0" indent="0">
              <a:buNone/>
            </a:pPr>
            <a:endParaRPr lang="cs-CZ" dirty="0"/>
          </a:p>
          <a:p>
            <a:endParaRPr lang="cs-CZ" b="1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1EDF16B-C72D-A96A-6D94-877CE101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6F9EA36-91AA-7904-1601-D9DB1718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605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EAEB92-E324-CE3C-04C8-3B330EE1E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Aktuální stav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9175481-DDB2-0ADA-AE9E-C1D7E6CA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Co se stane do 1.7.2024</a:t>
            </a:r>
          </a:p>
        </p:txBody>
      </p:sp>
    </p:spTree>
    <p:extLst>
      <p:ext uri="{BB962C8B-B14F-4D97-AF65-F5344CB8AC3E}">
        <p14:creationId xmlns:p14="http://schemas.microsoft.com/office/powerpoint/2010/main" val="34139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671528-FE60-C190-2849-CA3E2CF8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Výstavba centrálních částí_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1A9170-6542-0934-8EC1-1AA5DEEA6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Agentura na základě Usnesení vybudovala centrální části Registru zastupování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RPP </a:t>
            </a:r>
            <a:r>
              <a:rPr lang="cs-CZ" b="1" dirty="0" err="1"/>
              <a:t>ReZa</a:t>
            </a:r>
            <a:r>
              <a:rPr lang="cs-CZ" dirty="0"/>
              <a:t> – rozšíření registru práv a povinností o část </a:t>
            </a:r>
            <a:r>
              <a:rPr lang="cs-CZ" dirty="0" err="1"/>
              <a:t>ReZa</a:t>
            </a:r>
            <a:endParaRPr lang="cs-CZ" dirty="0"/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Služby jsou12.7.2024 dostupné prostřednictvím Informačního systému základních registrů zvláště pak čtení údajů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AIS </a:t>
            </a:r>
            <a:r>
              <a:rPr lang="cs-CZ" b="1" dirty="0" err="1"/>
              <a:t>ReZa</a:t>
            </a:r>
            <a:r>
              <a:rPr lang="cs-CZ" dirty="0"/>
              <a:t> – Agendový informační systém ve správě DIA, zapisující údaje do </a:t>
            </a:r>
            <a:r>
              <a:rPr lang="cs-CZ" dirty="0" err="1"/>
              <a:t>ReZa</a:t>
            </a:r>
            <a:r>
              <a:rPr lang="cs-CZ" dirty="0"/>
              <a:t>, spravuje historii, šablony a evidenci certifikátů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Služby jsou 1.7.2024 dostupné pomocí Informačního systému sdílené služby (ISSS)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Zveřejnění schválených šablon</a:t>
            </a:r>
            <a:r>
              <a:rPr lang="cs-CZ" dirty="0"/>
              <a:t> – web rozhraní poskytující přehled schválených šablon včetně jejich dokumentace</a:t>
            </a:r>
            <a:endParaRPr lang="cs-CZ" b="1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6F1775B-436D-31D6-F3E0-666DB10F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E2129F1-4B0F-26E2-FFA1-7666BFA1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7977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08DAE1-362A-F7BA-4A31-E6BE0738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Seznam publikovaných šablon_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4A4B396-0378-CF56-CA04-D98F4268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D8716EF-D840-55D9-7D4A-52CBE21B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11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07659B98-89BC-D717-C73A-8966308B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16" y="963595"/>
            <a:ext cx="10372088" cy="49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2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5ED534-5F2B-0460-4B83-2D9087C6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Kde se již nyní mohu podívat_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4D335-2B72-37FC-B1A9-55A7CE432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Web rozhraní AIS Registru zastupování </a:t>
            </a:r>
            <a:r>
              <a:rPr lang="cs-CZ" dirty="0">
                <a:hlinkClick r:id="rId2"/>
              </a:rPr>
              <a:t>http://reza-ais.egon.gov.cz</a:t>
            </a:r>
            <a:endParaRPr lang="cs-CZ" dirty="0"/>
          </a:p>
          <a:p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Veřejnost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F16564E-B572-679D-5DBA-1C2D6958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B5D3EF3-35E9-A161-27EB-2A128215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12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B1BE3A0B-0257-11D9-2EEB-3B530E11C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413" y="2454264"/>
            <a:ext cx="5963358" cy="319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9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8778F4-727B-7A4C-57B6-F2180EAD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AIS REZA po přihlášení prostřednictvím JIP_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2A8A897-7E0B-97DB-2912-9D4C7655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FEE8922-537D-E4C9-BFAC-BE5196D9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00FE4D2-C4C8-793E-89E4-4F845181A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97" y="1638050"/>
            <a:ext cx="3620005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4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F446DC-CCD0-8E38-FB15-29377831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AIS REZA PO PŘIHLÁŠENÍ POMOCÍ </a:t>
            </a:r>
            <a:r>
              <a:rPr lang="cs-CZ" dirty="0" err="1"/>
              <a:t>jip</a:t>
            </a:r>
            <a:r>
              <a:rPr lang="cs-CZ" dirty="0"/>
              <a:t> S ODPOVÍDAJÍCÍ ROLÍ_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288D515-C8E2-84F3-A0A7-DCF46D67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5FC816B-D1BD-C7F4-7C6A-9D4FD30D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14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A4B4B5F-E25D-95A3-ECA8-4D438BAE8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690" y="1473101"/>
            <a:ext cx="8436077" cy="467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7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7BB056-2C8E-E34C-50DF-180C6ED1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Naplnění daty_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9969A2-6C9B-9F99-B00D-3211A586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 1.7.2024 budou publikovány šablony pro </a:t>
            </a:r>
            <a:r>
              <a:rPr lang="cs-CZ" b="1" dirty="0"/>
              <a:t>implicitní oprávnění k zastupování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Pro fyzické osoby</a:t>
            </a:r>
            <a:endParaRPr lang="cs-CZ" dirty="0"/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Rodič – dítě 0-15 let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Rodič – dítě 15–18 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Pro právnické osoby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Statutární orgán právnické osoby 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Fyzická osoba jako Podnikající fyzická osoba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/>
              <a:t>12.7 BYLO ZAHÁJENO </a:t>
            </a:r>
            <a:r>
              <a:rPr lang="cs-CZ" dirty="0"/>
              <a:t>automatizované plnění daty z Registru osob, Registru obyvatel, Evidence obyvatel a Cizineckého informačního systému – </a:t>
            </a:r>
            <a:r>
              <a:rPr lang="cs-CZ" b="1" dirty="0"/>
              <a:t>bude trvat 2-3 měsíce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27F50CF-C43D-929D-7EC9-5335F335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1CDF3C8-3E4B-1B7E-3D17-16809DE1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6026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EAEB92-E324-CE3C-04C8-3B330EE1E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Co bude dál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9175481-DDB2-0ADA-AE9E-C1D7E6CA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42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D1925B-5FCC-0E1D-17DA-44E0D3A9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rozvoj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0C2C23-CFD4-6BD4-3216-3FE310029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0" y="1356565"/>
            <a:ext cx="11113200" cy="41448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/>
              <a:t>Projekt Registru zastupování </a:t>
            </a:r>
            <a:r>
              <a:rPr lang="cs-CZ" b="1" dirty="0"/>
              <a:t>nekončí</a:t>
            </a:r>
            <a:r>
              <a:rPr lang="cs-CZ" dirty="0"/>
              <a:t> k 1.7.2024</a:t>
            </a:r>
          </a:p>
          <a:p>
            <a:pPr marL="0" indent="0">
              <a:buNone/>
            </a:pPr>
            <a:r>
              <a:rPr lang="cs-CZ" b="1" dirty="0"/>
              <a:t>Do konce 2024</a:t>
            </a:r>
          </a:p>
          <a:p>
            <a:r>
              <a:rPr lang="cs-CZ" dirty="0"/>
              <a:t>Realizace služeb Portálu občana pro přístup k údajům v </a:t>
            </a:r>
            <a:r>
              <a:rPr lang="cs-CZ" dirty="0" err="1"/>
              <a:t>ReZa</a:t>
            </a:r>
            <a:endParaRPr lang="cs-CZ" dirty="0"/>
          </a:p>
          <a:p>
            <a:pPr lvl="1"/>
            <a:r>
              <a:rPr lang="cs-CZ" dirty="0"/>
              <a:t>Náhled na </a:t>
            </a:r>
            <a:r>
              <a:rPr lang="cs-CZ" i="1" dirty="0"/>
              <a:t>má existující zmocnění</a:t>
            </a:r>
            <a:endParaRPr lang="cs-CZ" dirty="0"/>
          </a:p>
          <a:p>
            <a:pPr lvl="1"/>
            <a:r>
              <a:rPr lang="cs-CZ" dirty="0"/>
              <a:t>Odvolání explicitního oprávnění</a:t>
            </a:r>
          </a:p>
          <a:p>
            <a:r>
              <a:rPr lang="cs-CZ" dirty="0"/>
              <a:t>Doplňování dalších implicitních šablon</a:t>
            </a:r>
          </a:p>
          <a:p>
            <a:pPr marL="0" indent="0">
              <a:buNone/>
            </a:pPr>
            <a:r>
              <a:rPr lang="cs-CZ" b="1" dirty="0"/>
              <a:t>Rok 2025 a dále</a:t>
            </a:r>
          </a:p>
          <a:p>
            <a:r>
              <a:rPr lang="cs-CZ" dirty="0"/>
              <a:t>Realizace služeb na kontaktním místě veřejné správy (do 1.7.2025)</a:t>
            </a:r>
          </a:p>
          <a:p>
            <a:r>
              <a:rPr lang="cs-CZ" dirty="0"/>
              <a:t>Realizace vytváření plných mocí dle šablon na Portálu občana</a:t>
            </a:r>
          </a:p>
          <a:p>
            <a:r>
              <a:rPr lang="cs-CZ" dirty="0"/>
              <a:t>Podpora úřadů s realizací šablon</a:t>
            </a:r>
          </a:p>
          <a:p>
            <a:r>
              <a:rPr lang="cs-CZ" dirty="0"/>
              <a:t>Vyhledávání a realizace implicitních šablon pro další případy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B01A806-F66A-58A3-480E-84F3D942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5715A51-D2FF-468D-5FBE-4302B4E0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186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DEF653-70E3-8767-9844-7CB0FE67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mají dělat úřady_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84E09E-481C-4991-8E09-CB34089B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b="1" dirty="0"/>
              <a:t>Úřad provozující svůj portál</a:t>
            </a:r>
          </a:p>
          <a:p>
            <a:pPr lvl="1"/>
            <a:r>
              <a:rPr lang="cs-CZ" b="1" dirty="0"/>
              <a:t>Revize procesů podporovaných portálem a určení, které z nich je možné využívat v zastoupení</a:t>
            </a:r>
          </a:p>
          <a:p>
            <a:pPr lvl="1"/>
            <a:r>
              <a:rPr lang="cs-CZ" dirty="0"/>
              <a:t>Revize ohlášení služeb a úkonů v RPP, zda lze podle jejich popisu sestavit smysluplné oprávnění k zastupování (jasné úkony, nechybí nějaký úkon atd)</a:t>
            </a:r>
          </a:p>
          <a:p>
            <a:pPr lvl="1"/>
            <a:r>
              <a:rPr lang="cs-CZ" dirty="0"/>
              <a:t>Definice šablony/šablon pro explicitní oprávnění k zastupování ve spolupráci s agenturou – dokument popisující šablonu a její „</a:t>
            </a:r>
            <a:r>
              <a:rPr lang="cs-CZ" dirty="0" err="1"/>
              <a:t>naklikání</a:t>
            </a:r>
            <a:r>
              <a:rPr lang="cs-CZ" dirty="0"/>
              <a:t>“ v AIS REZA</a:t>
            </a:r>
          </a:p>
          <a:p>
            <a:pPr lvl="1"/>
            <a:r>
              <a:rPr lang="cs-CZ" dirty="0"/>
              <a:t>Rozhodnutí zda bude realizováno lokální řešení či pouze ad-hoc práce s centrálním řešením</a:t>
            </a:r>
          </a:p>
          <a:p>
            <a:pPr lvl="1"/>
            <a:r>
              <a:rPr lang="cs-CZ" dirty="0"/>
              <a:t>Úprava svých portálů a případná výstavba lokálního řešení</a:t>
            </a:r>
          </a:p>
          <a:p>
            <a:r>
              <a:rPr lang="cs-CZ" b="1" dirty="0"/>
              <a:t>Na přepážce</a:t>
            </a:r>
            <a:r>
              <a:rPr lang="cs-CZ" dirty="0"/>
              <a:t> – může se stát, že občan na přepážce bude chtít uplatnit své oprávnění k zastupování </a:t>
            </a:r>
            <a:r>
              <a:rPr lang="cs-CZ" b="1" dirty="0"/>
              <a:t>DLE ZVEŘEJNÝCH ŠABLON </a:t>
            </a:r>
          </a:p>
          <a:p>
            <a:pPr lvl="1"/>
            <a:r>
              <a:rPr lang="cs-CZ" dirty="0"/>
              <a:t>pro úředníky je od 1.7.2024 poskytnuto uživatelské rozhraní AIS REZA s </a:t>
            </a:r>
            <a:r>
              <a:rPr lang="cs-CZ" dirty="0" err="1"/>
              <a:t>přihlášenímpřihlásit</a:t>
            </a:r>
            <a:r>
              <a:rPr lang="cs-CZ" dirty="0"/>
              <a:t> přes JIP/KAAS (CAAIS) - nalezení potřebného oprávnění</a:t>
            </a:r>
            <a:endParaRPr lang="cs-CZ" sz="2800" b="1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D9DE2AE-230B-C98D-61DA-B98F9E60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E4F305D-36B2-C13B-BDA9-5618F064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0033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ABCA24-9221-08B0-D57B-AC7DE547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mají dělat občané_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77DB47-7A77-5C8B-17BA-498AE58F2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principu nemusí dělat nic</a:t>
            </a:r>
          </a:p>
          <a:p>
            <a:r>
              <a:rPr lang="cs-CZ" b="1" dirty="0"/>
              <a:t>Implicitní oprávnění </a:t>
            </a:r>
            <a:r>
              <a:rPr lang="cs-CZ" dirty="0"/>
              <a:t>k zastupování se načtou automaticky. </a:t>
            </a:r>
            <a:r>
              <a:rPr lang="cs-CZ" b="1" dirty="0"/>
              <a:t>Nemusím a ani nemůžu</a:t>
            </a:r>
            <a:r>
              <a:rPr lang="cs-CZ" dirty="0"/>
              <a:t> evidovat plnou moc typu „jsem rodič“</a:t>
            </a:r>
          </a:p>
          <a:p>
            <a:r>
              <a:rPr lang="cs-CZ" dirty="0"/>
              <a:t>Při práci na portálu OVM, který podporuje </a:t>
            </a:r>
            <a:r>
              <a:rPr lang="cs-CZ" dirty="0" err="1"/>
              <a:t>ReZa</a:t>
            </a:r>
            <a:r>
              <a:rPr lang="cs-CZ" dirty="0"/>
              <a:t> se mi objeví nabídka sestavit plnou moc pro nabízené služby. Vyplním a sdělím tomu, kdo mne má zastupovat. Ten po přihlášení může okamžitě využívat udělenou plnou moc</a:t>
            </a:r>
          </a:p>
          <a:p>
            <a:r>
              <a:rPr lang="cs-CZ" dirty="0"/>
              <a:t>Po přihlášení na Portál občana získám přehled všech evidovaných oprávnění (implicitní i explicitní). Explicitní mohu odvolat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BD0247-8312-604E-ACF5-06489516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EC50433-29B9-E114-2A38-146442D1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190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2C79EA-6307-96E1-A631-E4728F1D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Harmonogram pro nejbližší dobu_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783560-58F8-3465-7D23-67110538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 konce září 2024</a:t>
            </a:r>
          </a:p>
          <a:p>
            <a:pPr lvl="1"/>
            <a:r>
              <a:rPr lang="cs-CZ" dirty="0"/>
              <a:t>Naplnění daty o implicitních oprávnění k zastupování pro osoby z ROS jejich průběžná aktualizace a uvolnění – úřady mohou manuálně (prostřednictvím AIS REZA) či automatizovaně (služby ISZR) načítat existující implicitní oprávnění k zastupování pro tyto osoby</a:t>
            </a:r>
          </a:p>
          <a:p>
            <a:r>
              <a:rPr lang="cs-CZ" dirty="0"/>
              <a:t>Do konce roku 2024</a:t>
            </a:r>
          </a:p>
          <a:p>
            <a:pPr lvl="1"/>
            <a:r>
              <a:rPr lang="cs-CZ" dirty="0"/>
              <a:t>Ministerstvo dopravy uzpůsobí svůj portál dopravy a umožní sestavování plných mocí dle explicitních šablon publikovaných v AIS REZA – Zahájení ostrého provozu k 1.1.2025</a:t>
            </a:r>
          </a:p>
          <a:p>
            <a:pPr lvl="1"/>
            <a:r>
              <a:rPr lang="cs-CZ" dirty="0"/>
              <a:t>Naplnění implicitních oprávnění k zastupování pro osoby z ROB (Rodič-dítě) jejich průběžná aktualizace a uvolnění – úřady mohou manuálně (prostřednictvím AIS REZA) či automatizovaně (služby ISZR) načítat existující implicitní oprávnění k zastupování pro tyto osoby</a:t>
            </a:r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D1DCA3-DF83-128C-4622-CA006B27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412D30F-C1D1-D67C-1FD2-9CA7DF65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7589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EAEB92-E324-CE3C-04C8-3B330EE1E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Typické otázky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9175481-DDB2-0ADA-AE9E-C1D7E6CA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34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993871-2F4A-D0D4-7454-9C95A739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620423"/>
          </a:xfrm>
        </p:spPr>
        <p:txBody>
          <a:bodyPr/>
          <a:lstStyle/>
          <a:p>
            <a:r>
              <a:rPr lang="cs-CZ" dirty="0"/>
              <a:t>Otázky a odpovědi_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A45E04-D39B-D023-FB9A-82429E354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974786"/>
            <a:ext cx="11113200" cy="4995284"/>
          </a:xfrm>
        </p:spPr>
        <p:txBody>
          <a:bodyPr>
            <a:normAutofit fontScale="85000" lnSpcReduction="10000"/>
          </a:bodyPr>
          <a:lstStyle/>
          <a:p>
            <a:r>
              <a:rPr lang="cs-CZ" b="1" dirty="0"/>
              <a:t>Musí úřad využívat </a:t>
            </a:r>
            <a:r>
              <a:rPr lang="cs-CZ" b="1" dirty="0" err="1"/>
              <a:t>ReZa</a:t>
            </a:r>
            <a:endParaRPr lang="cs-CZ" b="1" dirty="0"/>
          </a:p>
          <a:p>
            <a:r>
              <a:rPr lang="cs-CZ" dirty="0"/>
              <a:t>Nemusí dle zákona o </a:t>
            </a:r>
            <a:r>
              <a:rPr lang="cs-CZ" dirty="0" err="1"/>
              <a:t>ReZa</a:t>
            </a:r>
            <a:r>
              <a:rPr lang="cs-CZ" dirty="0"/>
              <a:t>. Nicméně každá osoba má podle platného právního řádu právo nechat se zastupovat při jednání s veřejnou správou. Pokud úřad poskytuje digitální služby prostřednictvím svého portálu, zřejmě nepotěší občany, když jim toto právo neumožní naplnit.</a:t>
            </a:r>
          </a:p>
          <a:p>
            <a:r>
              <a:rPr lang="cs-CZ" b="1" dirty="0"/>
              <a:t>Mám si jako občan na úřadě zaevidovat své existující plné moci</a:t>
            </a:r>
          </a:p>
          <a:p>
            <a:r>
              <a:rPr lang="cs-CZ" dirty="0"/>
              <a:t>Nikoli. Dokonce není podporován proces digitalizace plné moci – není možné udržet konzistenci mezi papírovým a digitálním světem</a:t>
            </a:r>
          </a:p>
          <a:p>
            <a:r>
              <a:rPr lang="cs-CZ" b="1" dirty="0"/>
              <a:t>Proč se dělají šablony na implicitní plné moci</a:t>
            </a:r>
          </a:p>
          <a:p>
            <a:r>
              <a:rPr lang="cs-CZ" dirty="0"/>
              <a:t>Je pravdou, že pokud má úřad odpovídající oprávnění, nemusí použít implicitní šablony </a:t>
            </a:r>
            <a:r>
              <a:rPr lang="cs-CZ" dirty="0" err="1"/>
              <a:t>ReZa</a:t>
            </a:r>
            <a:r>
              <a:rPr lang="cs-CZ" dirty="0"/>
              <a:t>, ale může údaje číst přímo ze zdrojových AIS. Nicméně i v „nejjednodušších“ případech vznikají záludnosti, kterých se realizátor portálového řešení nemusí být vědom a ve výsledku může docházet k chybám. Navíc čerpání referenčních údajů z jednoho místa je vždy levnější než vyhodnocování údajů samostatně</a:t>
            </a:r>
          </a:p>
          <a:p>
            <a:r>
              <a:rPr lang="cs-CZ" b="1" dirty="0"/>
              <a:t>Mohu si zaevidovat „libovolnou“ plnou moc</a:t>
            </a:r>
          </a:p>
          <a:p>
            <a:r>
              <a:rPr lang="cs-CZ" dirty="0"/>
              <a:t>Nikoli, lze evidovat pouze takové plné moci, pro něž je zveřejněna šablona. Občan pak má naprostou jistotu, že plná moc bude úplná, nebude poskytovat zbytečně široká oprávnění a bude úřadem při uplatnění přijata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13CCDFA-FA81-2C26-9D77-AD3C013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DC5D9B1-4F1D-2C32-9014-A66D2EDF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6433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993871-2F4A-D0D4-7454-9C95A739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620423"/>
          </a:xfrm>
        </p:spPr>
        <p:txBody>
          <a:bodyPr/>
          <a:lstStyle/>
          <a:p>
            <a:r>
              <a:rPr lang="cs-CZ" dirty="0"/>
              <a:t>Otázky a odpovědi_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A45E04-D39B-D023-FB9A-82429E354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87260"/>
            <a:ext cx="11113200" cy="4382810"/>
          </a:xfrm>
        </p:spPr>
        <p:txBody>
          <a:bodyPr>
            <a:normAutofit fontScale="92500" lnSpcReduction="20000"/>
          </a:bodyPr>
          <a:lstStyle/>
          <a:p>
            <a:r>
              <a:rPr lang="cs-CZ" b="1" dirty="0"/>
              <a:t>Zaeviduji si plnou moc, uvidí ji hned všechny úřady</a:t>
            </a:r>
          </a:p>
          <a:p>
            <a:r>
              <a:rPr lang="cs-CZ" dirty="0"/>
              <a:t>Nebudou a dokonce nesmí „prohlížet“ registr zastupování bez toho, že by byla plná moc určena pro jejich služby a byla </a:t>
            </a:r>
            <a:r>
              <a:rPr lang="cs-CZ" b="1" dirty="0"/>
              <a:t>uplatněna</a:t>
            </a:r>
            <a:r>
              <a:rPr lang="cs-CZ" dirty="0"/>
              <a:t>. Platí zde princip mlčenlivosti</a:t>
            </a:r>
          </a:p>
          <a:p>
            <a:r>
              <a:rPr lang="cs-CZ" b="1" dirty="0"/>
              <a:t>Musí být plná moc přijata zmocněncem</a:t>
            </a:r>
          </a:p>
          <a:p>
            <a:r>
              <a:rPr lang="cs-CZ" dirty="0"/>
              <a:t>Nikoli. Zmocněnec ji ani nemusí využít. V okamžiku kdy platnou plnou moc použije ji tedy přijímá</a:t>
            </a:r>
          </a:p>
          <a:p>
            <a:r>
              <a:rPr lang="cs-CZ" b="1" dirty="0"/>
              <a:t>Někdo mi dal plnou moc zaevidováním do REZA, plyne z toho pro mne něco</a:t>
            </a:r>
          </a:p>
          <a:p>
            <a:r>
              <a:rPr lang="cs-CZ" dirty="0"/>
              <a:t>Nikoli. Dokud ji neuplatníte vy či zastupovaný, tak je pro úřady „neviditelná“ a zmocněnci z ní neplynou žádné závazky. Tuto plnou moc uvidíte ve svém výpisu a pokud budete mít problém s její existencí, pak ji můžete reklamovat</a:t>
            </a:r>
          </a:p>
          <a:p>
            <a:r>
              <a:rPr lang="cs-CZ" b="1" dirty="0"/>
              <a:t>Někdo mi dal plnou moc zaevidováním do REZA a já s ní (již) nesouhlasím</a:t>
            </a:r>
          </a:p>
          <a:p>
            <a:r>
              <a:rPr lang="cs-CZ" dirty="0"/>
              <a:t>Plnou moc mohu reklamovat – je označena jako nereferenční údaj. Pro některé citlivé případy umožníme její „odvolání“ z pozice zastupujícího = Zastupovaný ji nebude moci uplatnit o </a:t>
            </a:r>
            <a:r>
              <a:rPr lang="cs-CZ"/>
              <a:t>své vůli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13CCDFA-FA81-2C26-9D77-AD3C013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DC5D9B1-4F1D-2C32-9014-A66D2EDF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1854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>
                <a:solidFill>
                  <a:schemeClr val="accent1"/>
                </a:solidFill>
              </a:rPr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/>
              <a:t>Petr Tiller</a:t>
            </a:r>
          </a:p>
          <a:p>
            <a:r>
              <a:rPr lang="cs-CZ" dirty="0"/>
              <a:t>petr.tiller@dia.gov.cz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DIA_ Barvy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368537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A_Šablona pro PowerPoint" id="{9FF7F086-0F18-4A43-9849-6EF9496EC95F}" vid="{A056F768-AC31-E842-96A9-A52EECDBA162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F4BDA1-BAE7-4706-AB1E-D924108216B3}"/>
</file>

<file path=customXml/itemProps2.xml><?xml version="1.0" encoding="utf-8"?>
<ds:datastoreItem xmlns:ds="http://schemas.openxmlformats.org/officeDocument/2006/customXml" ds:itemID="{3576E8B3-4B09-4355-921B-80D756F17B66}"/>
</file>

<file path=customXml/itemProps3.xml><?xml version="1.0" encoding="utf-8"?>
<ds:datastoreItem xmlns:ds="http://schemas.openxmlformats.org/officeDocument/2006/customXml" ds:itemID="{8A339DCD-923F-4F05-8DF5-22D4B08C1DD6}"/>
</file>

<file path=docMetadata/LabelInfo.xml><?xml version="1.0" encoding="utf-8"?>
<clbl:labelList xmlns:clbl="http://schemas.microsoft.com/office/2020/mipLabelMetadata">
  <clbl:label id="{c84226ac-d152-4259-96d9-9ea797342374}" enabled="1" method="Standard" siteId="{6573a299-ce07-4046-aaa3-db180daff1a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DIA_Šablona pro PowerPoint</Template>
  <TotalTime>0</TotalTime>
  <Words>1793</Words>
  <Application>Microsoft Office PowerPoint</Application>
  <PresentationFormat>Širokoúhlá obrazovka</PresentationFormat>
  <Paragraphs>176</Paragraphs>
  <Slides>24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30" baseType="lpstr">
      <vt:lpstr>Arial</vt:lpstr>
      <vt:lpstr>Azeret Mono</vt:lpstr>
      <vt:lpstr>Azeret Mono Medium</vt:lpstr>
      <vt:lpstr>Calibri</vt:lpstr>
      <vt:lpstr>Wingdings</vt:lpstr>
      <vt:lpstr>DIA_ nadpis a text s odrážkami</vt:lpstr>
      <vt:lpstr>REGISTR ZASTUPOVÁNÍ Aktuální stav</vt:lpstr>
      <vt:lpstr>Agenda prezentace</vt:lpstr>
      <vt:lpstr>Legislativní ukotvení_</vt:lpstr>
      <vt:lpstr>IMPLICITNÍ VS EXPLICITNÍ OPRÁVNĚNÍ K ZASTUPOVÁNÍ_</vt:lpstr>
      <vt:lpstr>REFERENČNOST ÚDAJŮ V REGISTRU ZASTUPOVÁNÍ_</vt:lpstr>
      <vt:lpstr>Co je to registr Zastupování_</vt:lpstr>
      <vt:lpstr>VZOR OPRÁVNĚNÍ K ZASTUPOVÁNÍ_</vt:lpstr>
      <vt:lpstr>Jaký je vztah k současné praxi_</vt:lpstr>
      <vt:lpstr>Aktuální stav</vt:lpstr>
      <vt:lpstr>Výstavba centrálních částí_</vt:lpstr>
      <vt:lpstr>Seznam publikovaných šablon_</vt:lpstr>
      <vt:lpstr>Kde se již nyní mohu podívat_</vt:lpstr>
      <vt:lpstr>AIS REZA po přihlášení prostřednictvím JIP_</vt:lpstr>
      <vt:lpstr>AIS REZA PO PŘIHLÁŠENÍ POMOCÍ jip S ODPOVÍDAJÍCÍ ROLÍ_</vt:lpstr>
      <vt:lpstr>Naplnění daty_</vt:lpstr>
      <vt:lpstr>Co bude dál</vt:lpstr>
      <vt:lpstr>Další rozvoj</vt:lpstr>
      <vt:lpstr>Co mají dělat úřady_</vt:lpstr>
      <vt:lpstr>Co mají dělat občané_</vt:lpstr>
      <vt:lpstr>Harmonogram pro nejbližší dobu_</vt:lpstr>
      <vt:lpstr>Typické otázky</vt:lpstr>
      <vt:lpstr>Otázky a odpovědi_</vt:lpstr>
      <vt:lpstr>Otázky a odpovědi_</vt:lpstr>
      <vt:lpstr>Děkuji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2024-05-06T20:36:32Z</dcterms:created>
  <dcterms:modified xsi:type="dcterms:W3CDTF">2024-08-12T07:51:03Z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
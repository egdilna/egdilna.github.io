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6" r:id="rId9"/>
    <p:sldId id="267" r:id="rId10"/>
    <p:sldId id="260" r:id="rId11"/>
    <p:sldId id="268" r:id="rId12"/>
    <p:sldId id="269" r:id="rId13"/>
    <p:sldId id="270" r:id="rId14"/>
    <p:sldId id="271" r:id="rId15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9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1" autoAdjust="0"/>
    <p:restoredTop sz="94660"/>
  </p:normalViewPr>
  <p:slideViewPr>
    <p:cSldViewPr>
      <p:cViewPr varScale="1">
        <p:scale>
          <a:sx n="115" d="100"/>
          <a:sy n="115" d="100"/>
        </p:scale>
        <p:origin x="153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42844" y="1428736"/>
            <a:ext cx="7772400" cy="1470025"/>
          </a:xfrm>
        </p:spPr>
        <p:txBody>
          <a:bodyPr/>
          <a:lstStyle>
            <a:lvl1pPr algn="l">
              <a:defRPr>
                <a:solidFill>
                  <a:srgbClr val="00A9E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42844" y="3857628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42844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04.10.2021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4282" y="1600200"/>
            <a:ext cx="8472518" cy="4525963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04.10.2021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14282" y="4357694"/>
            <a:ext cx="7772400" cy="1362075"/>
          </a:xfrm>
        </p:spPr>
        <p:txBody>
          <a:bodyPr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14282" y="2857496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04.10.2021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214282" y="157161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04.10.2021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14282" y="150335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214282" y="2143116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>
          <a:xfrm>
            <a:off x="214282" y="6324591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04.10.2021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04.10.2021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04.10.2021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14282" y="1142984"/>
            <a:ext cx="3294065" cy="1285884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28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14282" y="2500306"/>
            <a:ext cx="3251231" cy="362585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04.10.2021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04.10.2021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285720" y="1600200"/>
            <a:ext cx="8401080" cy="4525963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04.10.2021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285720" y="1285860"/>
            <a:ext cx="6191280" cy="4840303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04.10.2021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8" descr="velkybubli_CJ_1502_1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1522"/>
            <a:ext cx="9144000" cy="6854956"/>
          </a:xfrm>
          <a:prstGeom prst="rect">
            <a:avLst/>
          </a:prstGeom>
        </p:spPr>
      </p:pic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14282" y="157161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214282" y="635795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04.10.2021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lang="cs-CZ" sz="3600" kern="1200" dirty="0">
          <a:solidFill>
            <a:srgbClr val="00A9E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codexis.cz/doc/CR/5463#L316" TargetMode="External"/><Relationship Id="rId2" Type="http://schemas.openxmlformats.org/officeDocument/2006/relationships/hyperlink" Target="https://app.codexis.cz/doc/CR/5463#L315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pp.codexis.cz/doc/CR/5463#L317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42844" y="1428736"/>
            <a:ext cx="8317588" cy="1470025"/>
          </a:xfrm>
        </p:spPr>
        <p:txBody>
          <a:bodyPr/>
          <a:lstStyle/>
          <a:p>
            <a:r>
              <a:rPr lang="cs-CZ" dirty="0"/>
              <a:t>Návrh vyhlášky o dlouhodobém řízení informačních systémů veřejné správy  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42844" y="2911016"/>
            <a:ext cx="7885540" cy="1752600"/>
          </a:xfrm>
        </p:spPr>
        <p:txBody>
          <a:bodyPr>
            <a:normAutofit fontScale="70000" lnSpcReduction="20000"/>
          </a:bodyPr>
          <a:lstStyle/>
          <a:p>
            <a:r>
              <a:rPr lang="cs-CZ" dirty="0"/>
              <a:t>(nahrazuje vyhlášku č. 529/2006 Sb., o požadavcích na strukturu a obsah informační koncepce a provozní dokumentace a o požadavcích na řízení bezpečnosti a kvality informačních systémů veřejné správy (vyhláška o dlouhodobém řízení informačních systémů veřejné správy)  </a:t>
            </a:r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1C0B2F60-7107-4A9C-90A8-D916D5D3598E}"/>
              </a:ext>
            </a:extLst>
          </p:cNvPr>
          <p:cNvSpPr/>
          <p:nvPr/>
        </p:nvSpPr>
        <p:spPr>
          <a:xfrm>
            <a:off x="395536" y="5085184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1400" b="1" dirty="0">
                <a:latin typeface="Arial" pitchFamily="34" charset="0"/>
                <a:ea typeface="+mj-ea"/>
                <a:cs typeface="Arial" pitchFamily="34" charset="0"/>
              </a:rPr>
              <a:t>Mgr. Bc. Radvan Nováček </a:t>
            </a:r>
          </a:p>
          <a:p>
            <a:r>
              <a:rPr lang="cs-CZ" sz="1400" dirty="0">
                <a:latin typeface="Arial" pitchFamily="34" charset="0"/>
                <a:ea typeface="+mj-ea"/>
                <a:cs typeface="Arial" pitchFamily="34" charset="0"/>
              </a:rPr>
              <a:t>Odbor hlavního architekta eGovernmentu</a:t>
            </a:r>
          </a:p>
          <a:p>
            <a:r>
              <a:rPr lang="cs-CZ" sz="1400" dirty="0">
                <a:latin typeface="Arial" pitchFamily="34" charset="0"/>
                <a:ea typeface="+mj-ea"/>
                <a:cs typeface="Arial" pitchFamily="34" charset="0"/>
              </a:rPr>
              <a:t>Ministerstvo vnitra ČR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4EBAF442-7663-496B-AC8E-2085D7F5A0D7}"/>
              </a:ext>
            </a:extLst>
          </p:cNvPr>
          <p:cNvSpPr txBox="1"/>
          <p:nvPr/>
        </p:nvSpPr>
        <p:spPr>
          <a:xfrm>
            <a:off x="5508104" y="5517232"/>
            <a:ext cx="2808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400" dirty="0"/>
              <a:t>4. října 2021</a:t>
            </a:r>
            <a:endParaRPr lang="cs-CZ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Východiska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cs-CZ" dirty="0"/>
              <a:t>Zákon č. 261/2021 Sb., kterým se mění některé zákony v souvislosti s další elektronizací postupů orgánů veřejné moci (DEPO)</a:t>
            </a:r>
          </a:p>
          <a:p>
            <a:pPr lvl="1"/>
            <a:r>
              <a:rPr lang="cs-CZ" dirty="0"/>
              <a:t>Změna zákona č. 365/2000 Sb., o informačních systémech veřejné správy</a:t>
            </a:r>
          </a:p>
          <a:p>
            <a:r>
              <a:rPr lang="cs-CZ" dirty="0"/>
              <a:t>Informační koncepce ČR (navazující dokumenty):</a:t>
            </a:r>
          </a:p>
          <a:p>
            <a:pPr lvl="1"/>
            <a:r>
              <a:rPr lang="cs-CZ" dirty="0"/>
              <a:t>Metody řízení ICT (MŘICT)</a:t>
            </a:r>
          </a:p>
          <a:p>
            <a:pPr lvl="1"/>
            <a:r>
              <a:rPr lang="cs-CZ" dirty="0"/>
              <a:t>Národní architektonický rámec (NAR)</a:t>
            </a:r>
          </a:p>
          <a:p>
            <a:pPr lvl="1"/>
            <a:r>
              <a:rPr lang="cs-CZ" dirty="0"/>
              <a:t>Národní architektonický plán (NAP)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Změny zmocnění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cs-CZ" dirty="0"/>
              <a:t>Současné zmocnění:</a:t>
            </a:r>
          </a:p>
          <a:p>
            <a:pPr lvl="1"/>
            <a:r>
              <a:rPr lang="cs-CZ" dirty="0"/>
              <a:t>požadavky na strukturu a obsah </a:t>
            </a:r>
            <a:r>
              <a:rPr lang="cs-CZ" b="1" i="1" dirty="0"/>
              <a:t>informační koncepce</a:t>
            </a:r>
            <a:r>
              <a:rPr lang="cs-CZ" dirty="0"/>
              <a:t>, postupy orgánů veřejné správy při jejím vytváření, vydávání, při vyhodnocování jejího dodržování  </a:t>
            </a:r>
          </a:p>
          <a:p>
            <a:pPr lvl="1"/>
            <a:r>
              <a:rPr lang="cs-CZ" dirty="0"/>
              <a:t>požadavky na </a:t>
            </a:r>
            <a:r>
              <a:rPr lang="cs-CZ" b="1" i="1" dirty="0"/>
              <a:t>řízení bezpečnosti a kvality</a:t>
            </a:r>
            <a:r>
              <a:rPr lang="cs-CZ" dirty="0"/>
              <a:t> informačních systémů veřejné správy podle </a:t>
            </a:r>
            <a:r>
              <a:rPr lang="cs-CZ" dirty="0">
                <a:hlinkClick r:id="rId2"/>
              </a:rPr>
              <a:t>§ 5a odst. 1</a:t>
            </a:r>
            <a:r>
              <a:rPr lang="cs-CZ" dirty="0"/>
              <a:t> zákona</a:t>
            </a:r>
          </a:p>
          <a:p>
            <a:pPr lvl="1"/>
            <a:r>
              <a:rPr lang="cs-CZ" dirty="0"/>
              <a:t>požadavky na strukturu a obsah </a:t>
            </a:r>
            <a:r>
              <a:rPr lang="cs-CZ" b="1" i="1" dirty="0"/>
              <a:t>provozní dokumentace</a:t>
            </a:r>
            <a:r>
              <a:rPr lang="cs-CZ" b="1" dirty="0"/>
              <a:t> </a:t>
            </a:r>
            <a:r>
              <a:rPr lang="cs-CZ" dirty="0"/>
              <a:t>podle </a:t>
            </a:r>
            <a:r>
              <a:rPr lang="cs-CZ" dirty="0">
                <a:hlinkClick r:id="rId3"/>
              </a:rPr>
              <a:t>§ 5a odst. 2</a:t>
            </a:r>
            <a:r>
              <a:rPr lang="cs-CZ" dirty="0"/>
              <a:t> zákona a na rozsah provozní dokumentace předkládané při atestaci podle </a:t>
            </a:r>
            <a:r>
              <a:rPr lang="cs-CZ" dirty="0">
                <a:hlinkClick r:id="rId4"/>
              </a:rPr>
              <a:t>§ 5a odst. 3</a:t>
            </a:r>
            <a:r>
              <a:rPr lang="cs-CZ" dirty="0"/>
              <a:t> zákona.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C30C5AA-006D-4F15-BB45-3C468A050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Změny zmocnění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9657BB7-C6AD-4218-B46E-04AF4145A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cs-CZ" dirty="0"/>
              <a:t>Zmocnění od 1.2.2021 (dle DEPO)</a:t>
            </a:r>
          </a:p>
          <a:p>
            <a:pPr lvl="1"/>
            <a:r>
              <a:rPr lang="cs-CZ" dirty="0"/>
              <a:t>požadavky na </a:t>
            </a:r>
            <a:r>
              <a:rPr lang="cs-CZ" b="1" i="1" dirty="0"/>
              <a:t>řízení informačních systémů veřejné správy </a:t>
            </a:r>
            <a:r>
              <a:rPr lang="cs-CZ" dirty="0"/>
              <a:t>(§ 5a odst. 2 zákona),</a:t>
            </a:r>
          </a:p>
          <a:p>
            <a:pPr lvl="1"/>
            <a:r>
              <a:rPr lang="cs-CZ" dirty="0"/>
              <a:t>požadavky na strukturu a náležitosti IK OVS, a na postupy orgánů veřejné správy při jejím vytváření, vydávání a při vyhodnocování jejího dodržování (§ 5a odst. 2 zákona),</a:t>
            </a:r>
          </a:p>
          <a:p>
            <a:pPr lvl="1"/>
            <a:r>
              <a:rPr lang="cs-CZ" dirty="0"/>
              <a:t>požadavky na strukturu a náležitosti provozní dokumentace (§ 5a odst. 3 zákona) a na rozsah provozní dokumentace předkládané při atestaci (§ 5a odst. 4 zákona),</a:t>
            </a:r>
          </a:p>
          <a:p>
            <a:pPr lvl="1"/>
            <a:r>
              <a:rPr lang="cs-CZ" dirty="0"/>
              <a:t>požadavky na </a:t>
            </a:r>
            <a:r>
              <a:rPr lang="cs-CZ" b="1" i="1" u="sng" dirty="0"/>
              <a:t>dekomponování ISVS</a:t>
            </a:r>
            <a:r>
              <a:rPr lang="cs-CZ" dirty="0"/>
              <a:t> (§ 5a odst. 2 zákona), </a:t>
            </a:r>
          </a:p>
          <a:p>
            <a:pPr lvl="1"/>
            <a:r>
              <a:rPr lang="cs-CZ" dirty="0"/>
              <a:t>požadavky na strukturu a náležitosti </a:t>
            </a:r>
            <a:r>
              <a:rPr lang="cs-CZ" b="1" i="1" u="sng" dirty="0"/>
              <a:t>hodnocení ekonomické výhodnosti způsobu provozu ISVS</a:t>
            </a:r>
            <a:r>
              <a:rPr lang="cs-CZ" dirty="0"/>
              <a:t> [§ 5 odst. 2 písm. j) zákona], </a:t>
            </a:r>
            <a:r>
              <a:rPr lang="cs-CZ" i="1" u="sng" dirty="0"/>
              <a:t>hodnocení ekonomické výhodnosti provozu ISVS</a:t>
            </a:r>
            <a:r>
              <a:rPr lang="cs-CZ" dirty="0"/>
              <a:t> [§ 5 odst. 2 písm. k) zákona] a </a:t>
            </a:r>
            <a:r>
              <a:rPr lang="cs-CZ" i="1" u="sng" dirty="0"/>
              <a:t>hodnocení ekonomické výhodnosti využití poptávaného cloud computingu </a:t>
            </a:r>
            <a:r>
              <a:rPr lang="cs-CZ" dirty="0"/>
              <a:t>[§ 6o odst. 4 zákona] a postup při jejich provádění,</a:t>
            </a:r>
          </a:p>
          <a:p>
            <a:pPr lvl="1"/>
            <a:r>
              <a:rPr lang="cs-CZ" dirty="0"/>
              <a:t>požadavky na </a:t>
            </a:r>
            <a:r>
              <a:rPr lang="cs-CZ" b="1" i="1" dirty="0"/>
              <a:t>bezpečnostní úrovně ISVS</a:t>
            </a:r>
            <a:r>
              <a:rPr lang="cs-CZ" dirty="0"/>
              <a:t> a </a:t>
            </a:r>
            <a:r>
              <a:rPr lang="cs-CZ" b="1" i="1" dirty="0"/>
              <a:t>bezpečnostní požadavky na zajištění důvěrnosti, integrity a dostupnosti informací</a:t>
            </a:r>
            <a:r>
              <a:rPr lang="cs-CZ" dirty="0"/>
              <a:t> zpracovávaných v informačních systémech spravovaných orgány veřejné správy, které nejsou orgány nebo osobami, kterým se ukládají povinnosti v oblasti kybernetické bezpečnosti podle zákona upravujícího kybernetickou bezpečnost,(5a odst. 2 zákona),</a:t>
            </a:r>
          </a:p>
          <a:p>
            <a:pPr lvl="1"/>
            <a:r>
              <a:rPr lang="cs-CZ" b="1" i="1" u="sng" dirty="0"/>
              <a:t>pravidla pro strukturování dat v ISVS</a:t>
            </a:r>
            <a:r>
              <a:rPr lang="cs-CZ" dirty="0"/>
              <a:t> (§ 5a odst. 2 zákona) a</a:t>
            </a:r>
          </a:p>
          <a:p>
            <a:pPr lvl="1"/>
            <a:r>
              <a:rPr lang="cs-CZ" b="1" i="1" u="sng" dirty="0"/>
              <a:t>technické požadavky na ISVS </a:t>
            </a:r>
            <a:r>
              <a:rPr lang="cs-CZ" dirty="0"/>
              <a:t>(§ 5a odst. 2 zákona).</a:t>
            </a:r>
          </a:p>
          <a:p>
            <a:pPr lvl="1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02555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267744" y="404664"/>
            <a:ext cx="6514921" cy="1720603"/>
          </a:xfrm>
        </p:spPr>
        <p:txBody>
          <a:bodyPr>
            <a:normAutofit/>
          </a:bodyPr>
          <a:lstStyle/>
          <a:p>
            <a:r>
              <a:rPr lang="cs-CZ" dirty="0"/>
              <a:t>Dlouhodobé řízení informačních systémů - na pěti úrovních podrobnosti a zodpovědnosti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4282" y="2564904"/>
            <a:ext cx="8472518" cy="3561259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cs-CZ" sz="1800" dirty="0"/>
              <a:t>a) řízení </a:t>
            </a:r>
            <a:r>
              <a:rPr lang="cs-CZ" sz="1800" u="sng" dirty="0"/>
              <a:t>jednotlivých služeb</a:t>
            </a:r>
            <a:r>
              <a:rPr lang="cs-CZ" sz="1800" dirty="0"/>
              <a:t> informačních systémů,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cs-CZ" sz="1800" dirty="0"/>
              <a:t>b) řízení </a:t>
            </a:r>
            <a:r>
              <a:rPr lang="cs-CZ" sz="1800" u="sng" dirty="0"/>
              <a:t>jednotlivých informačních systémů </a:t>
            </a:r>
            <a:r>
              <a:rPr lang="cs-CZ" sz="1800" dirty="0"/>
              <a:t>jako autonomních funkčních celků v jednotlivých etapách a fázích jejich životního cyklu (dále jen „řízení životního cyklu“),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cs-CZ" sz="1800" dirty="0"/>
              <a:t>c) </a:t>
            </a:r>
            <a:r>
              <a:rPr lang="cs-CZ" sz="1800" u="sng" dirty="0"/>
              <a:t>výkon disciplín a schopností </a:t>
            </a:r>
            <a:r>
              <a:rPr lang="cs-CZ" sz="1800" dirty="0"/>
              <a:t>v orgánu veřejné správy související s vytvářením, správou, provozováním, užíváním a rozvojem informačních systémů (dále jen „řízení informatiky“),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cs-CZ" sz="1800" dirty="0"/>
              <a:t>d) řízení informatiky </a:t>
            </a:r>
            <a:r>
              <a:rPr lang="cs-CZ" sz="1800" u="sng" dirty="0"/>
              <a:t>ve spolupráci s ostatními útvary</a:t>
            </a:r>
            <a:r>
              <a:rPr lang="cs-CZ" sz="1800" dirty="0"/>
              <a:t> orgánu veřejné správy,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cs-CZ" sz="1800" dirty="0"/>
              <a:t>e) </a:t>
            </a:r>
            <a:r>
              <a:rPr lang="cs-CZ" sz="1800" u="sng" dirty="0"/>
              <a:t>koordinované řízení </a:t>
            </a:r>
            <a:r>
              <a:rPr lang="cs-CZ" sz="1800" dirty="0"/>
              <a:t>informatiky úřadů v rámci veřejné správy ČR a EU.</a:t>
            </a:r>
          </a:p>
          <a:p>
            <a:pPr marL="0" indent="0">
              <a:lnSpc>
                <a:spcPct val="110000"/>
              </a:lnSpc>
              <a:buNone/>
            </a:pPr>
            <a:endParaRPr lang="cs-CZ" sz="1800" dirty="0"/>
          </a:p>
        </p:txBody>
      </p:sp>
    </p:spTree>
    <p:extLst>
      <p:ext uri="{BB962C8B-B14F-4D97-AF65-F5344CB8AC3E}">
        <p14:creationId xmlns:p14="http://schemas.microsoft.com/office/powerpoint/2010/main" val="3260965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555776" y="274638"/>
            <a:ext cx="6131024" cy="1143000"/>
          </a:xfrm>
        </p:spPr>
        <p:txBody>
          <a:bodyPr/>
          <a:lstStyle/>
          <a:p>
            <a:r>
              <a:rPr lang="cs-CZ" dirty="0"/>
              <a:t>Klíčové úrovně řízení ve vyhlášce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Společné řízení ISVS v rámci řízení informatiky úřadu</a:t>
            </a:r>
          </a:p>
          <a:p>
            <a:pPr lvl="1"/>
            <a:r>
              <a:rPr lang="cs-CZ" dirty="0"/>
              <a:t>dokumentované zejména Informační koncepcí</a:t>
            </a:r>
          </a:p>
          <a:p>
            <a:r>
              <a:rPr lang="cs-CZ" dirty="0"/>
              <a:t>Řízení jednotlivého informačního systému v jeho životním cyklu</a:t>
            </a:r>
          </a:p>
          <a:p>
            <a:pPr lvl="1"/>
            <a:r>
              <a:rPr lang="cs-CZ" dirty="0"/>
              <a:t>dokumentované dokumentací tohoto systému (v sadách dle fází).</a:t>
            </a:r>
          </a:p>
        </p:txBody>
      </p:sp>
    </p:spTree>
    <p:extLst>
      <p:ext uri="{BB962C8B-B14F-4D97-AF65-F5344CB8AC3E}">
        <p14:creationId xmlns:p14="http://schemas.microsoft.com/office/powerpoint/2010/main" val="3798399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3E445D8-0319-4887-B303-144AA64C8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Informační koncepce OVS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DC59BF6-CC2D-4D7A-8D0D-337B5E1A1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cs-CZ" u="sng" dirty="0"/>
              <a:t>přehled aktuálního stavu ISVS</a:t>
            </a:r>
            <a:r>
              <a:rPr lang="cs-CZ" dirty="0"/>
              <a:t>, kterých je správcem, s nimi spojených vlivů, strategií a cílů, cílového stavu těchto ISVS v kontextu celkové architektury úřadu a Národního architektonického plánu a plán realizace jejich změn vedoucích k dosažení tohoto cílového stavu,</a:t>
            </a:r>
          </a:p>
          <a:p>
            <a:r>
              <a:rPr lang="cs-CZ" u="sng" dirty="0"/>
              <a:t>přehled současného stavu schopností řízení informatiky</a:t>
            </a:r>
            <a:r>
              <a:rPr lang="cs-CZ" dirty="0"/>
              <a:t>, s nimi spojených vlivů, strategií a cílů, cílového stavu těchto schopností a plán realizace změn, vedoucích k dosažení tohoto cílového stavu,</a:t>
            </a:r>
          </a:p>
          <a:p>
            <a:r>
              <a:rPr lang="cs-CZ" u="sng" dirty="0"/>
              <a:t>informace o postupech orgánu veřejné správy </a:t>
            </a:r>
            <a:r>
              <a:rPr lang="cs-CZ" dirty="0"/>
              <a:t>při vytváření a vydávání informační koncepce úřadu a při vyhodnocování jejího dodržování (dále jen „správa koncepce“).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969058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05A0B41-FA40-4A07-B784-56EB2EE1B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Provozní dokumentace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7F680EE-D92A-423E-A366-5BBD3CEF2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cs-CZ" dirty="0"/>
              <a:t>Typy dokumentů:</a:t>
            </a:r>
          </a:p>
          <a:p>
            <a:pPr lvl="1"/>
            <a:r>
              <a:rPr lang="cs-CZ" dirty="0"/>
              <a:t>charakteristika informačního systému, </a:t>
            </a:r>
          </a:p>
          <a:p>
            <a:pPr lvl="1"/>
            <a:r>
              <a:rPr lang="cs-CZ" dirty="0"/>
              <a:t>popis architektury informačního systému („architektonická dokumentace“),</a:t>
            </a:r>
          </a:p>
          <a:p>
            <a:pPr lvl="1"/>
            <a:r>
              <a:rPr lang="cs-CZ" dirty="0"/>
              <a:t>podrobný popis informačního systému, jeho funkcí, služeb, parametrů nastavení, programových modifikací, datového modelu a dalších vlastností,</a:t>
            </a:r>
          </a:p>
          <a:p>
            <a:pPr lvl="1"/>
            <a:r>
              <a:rPr lang="cs-CZ" dirty="0"/>
              <a:t>bezpečnostní dokumentace, </a:t>
            </a:r>
          </a:p>
          <a:p>
            <a:pPr lvl="1"/>
            <a:r>
              <a:rPr lang="cs-CZ" dirty="0"/>
              <a:t>dokumentace postupů a procesů včetně provozního řádu,</a:t>
            </a:r>
          </a:p>
          <a:p>
            <a:pPr lvl="1"/>
            <a:r>
              <a:rPr lang="cs-CZ" dirty="0"/>
              <a:t>protokoly z testů, kontrol, auditů a provozní protokoly,</a:t>
            </a:r>
          </a:p>
          <a:p>
            <a:pPr lvl="1"/>
            <a:r>
              <a:rPr lang="cs-CZ" dirty="0"/>
              <a:t>smluvní a licenční dokumentace. 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771142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AB81169-72C3-4501-9819-282D12F60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Provozní dokumentace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F257C51-38F9-4D79-A703-53C2B6731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cs-CZ" dirty="0"/>
              <a:t>sady dokumentů:</a:t>
            </a:r>
          </a:p>
          <a:p>
            <a:pPr lvl="1"/>
            <a:r>
              <a:rPr lang="cs-CZ" dirty="0"/>
              <a:t>plánovací dokumentace informačního systému sloužící primárně pro plánování vytvoření nebo rozvoje daného informačního systému, včetně žádosti a stanoviska ministerstva k záměru,</a:t>
            </a:r>
          </a:p>
          <a:p>
            <a:pPr lvl="1"/>
            <a:r>
              <a:rPr lang="cs-CZ" dirty="0"/>
              <a:t>dokumentace zadání pro vytvoření nebo rozvoj informačních systému a smluvní dokumentace,</a:t>
            </a:r>
          </a:p>
          <a:p>
            <a:pPr lvl="1"/>
            <a:r>
              <a:rPr lang="cs-CZ" dirty="0"/>
              <a:t>projektová a realizační dokumentace,</a:t>
            </a:r>
          </a:p>
          <a:p>
            <a:pPr lvl="1"/>
            <a:r>
              <a:rPr lang="cs-CZ" dirty="0"/>
              <a:t>dokumentace aktuálního stavu informačního systému pro uvedení informačního systému do produkčního provozu, </a:t>
            </a:r>
          </a:p>
          <a:p>
            <a:pPr lvl="1"/>
            <a:r>
              <a:rPr lang="cs-CZ" dirty="0"/>
              <a:t>dokumentace všech změn uskutečněných od převzetí nového nebo podstatně změněného informačního systému,</a:t>
            </a:r>
          </a:p>
          <a:p>
            <a:pPr lvl="1"/>
            <a:r>
              <a:rPr lang="cs-CZ" dirty="0"/>
              <a:t>dokumentace plánu a zajištění provozu obsahující zejména postupy a procesy pro zajištění plynulého provozu, provozu při řízených změnových požadavcích a při obnově provozu,</a:t>
            </a:r>
          </a:p>
          <a:p>
            <a:pPr lvl="1"/>
            <a:r>
              <a:rPr lang="cs-CZ" dirty="0"/>
              <a:t>dokumentace hodnocení informačního systému, včetně vyhodnocení jeho ekonomické výhodnosti</a:t>
            </a:r>
          </a:p>
          <a:p>
            <a:r>
              <a:rPr lang="cs-CZ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102433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194A35-6B85-40E1-9240-6D0241C00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Další požadavky na ISVS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39C5562-DA3F-438F-92F6-A014D13FB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Dekompozice ISVS</a:t>
            </a:r>
          </a:p>
          <a:p>
            <a:r>
              <a:rPr lang="cs-CZ" dirty="0"/>
              <a:t>Hodnocení ekonomické výhodnosti ISVS</a:t>
            </a:r>
          </a:p>
          <a:p>
            <a:r>
              <a:rPr lang="cs-CZ" dirty="0"/>
              <a:t>Zajišťování bezpečnosti ISVS</a:t>
            </a:r>
          </a:p>
          <a:p>
            <a:pPr lvl="1"/>
            <a:r>
              <a:rPr lang="cs-CZ" dirty="0"/>
              <a:t>Bezpečnostní úrovně ISVS</a:t>
            </a:r>
          </a:p>
          <a:p>
            <a:r>
              <a:rPr lang="cs-CZ" dirty="0"/>
              <a:t>Strukturování dat v ISVS</a:t>
            </a:r>
          </a:p>
          <a:p>
            <a:r>
              <a:rPr lang="cs-CZ" dirty="0"/>
              <a:t>Technické požadavky na ISVS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75691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sah 2">
            <a:extLst>
              <a:ext uri="{FF2B5EF4-FFF2-40B4-BE49-F238E27FC236}">
                <a16:creationId xmlns:a16="http://schemas.microsoft.com/office/drawing/2014/main" id="{C082C9B8-2469-4277-8EF8-BF5B23A621F4}"/>
              </a:ext>
            </a:extLst>
          </p:cNvPr>
          <p:cNvSpPr txBox="1">
            <a:spLocks/>
          </p:cNvSpPr>
          <p:nvPr/>
        </p:nvSpPr>
        <p:spPr>
          <a:xfrm>
            <a:off x="611560" y="1772816"/>
            <a:ext cx="7886110" cy="410445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endParaRPr lang="cs-CZ" sz="4600" dirty="0"/>
          </a:p>
          <a:p>
            <a:pPr marL="0" indent="0" algn="ctr">
              <a:buFont typeface="Arial" pitchFamily="34" charset="0"/>
              <a:buNone/>
            </a:pPr>
            <a:r>
              <a:rPr lang="cs-CZ" sz="4600" dirty="0">
                <a:solidFill>
                  <a:schemeClr val="accent1"/>
                </a:solidFill>
              </a:rPr>
              <a:t>Děkuji za pozornost</a:t>
            </a:r>
          </a:p>
          <a:p>
            <a:pPr marL="0" indent="0" algn="ctr">
              <a:buFont typeface="Arial" pitchFamily="34" charset="0"/>
              <a:buNone/>
            </a:pPr>
            <a:r>
              <a:rPr lang="cs-CZ" sz="4600" dirty="0">
                <a:solidFill>
                  <a:schemeClr val="accent1"/>
                </a:solidFill>
              </a:rPr>
              <a:t>radvan.novacek@mvcr.cz</a:t>
            </a:r>
          </a:p>
          <a:p>
            <a:pPr marL="0" indent="0" algn="r">
              <a:buFont typeface="Arial" pitchFamily="34" charset="0"/>
              <a:buNone/>
            </a:pPr>
            <a:endParaRPr lang="cs-CZ" sz="4600" dirty="0"/>
          </a:p>
          <a:p>
            <a:pPr marL="0" indent="0" algn="ctr">
              <a:buFont typeface="Arial" pitchFamily="34" charset="0"/>
              <a:buNone/>
            </a:pPr>
            <a:endParaRPr lang="cs-CZ" dirty="0"/>
          </a:p>
          <a:p>
            <a:pPr marL="0" indent="0">
              <a:buFont typeface="Arial" pitchFamily="34" charset="0"/>
              <a:buNone/>
            </a:pPr>
            <a:endParaRPr lang="cs-CZ" sz="1300" b="1" dirty="0"/>
          </a:p>
          <a:p>
            <a:pPr marL="0" indent="0">
              <a:buFont typeface="Arial" pitchFamily="34" charset="0"/>
              <a:buNone/>
            </a:pPr>
            <a:endParaRPr lang="cs-CZ" sz="1300" b="1" dirty="0"/>
          </a:p>
          <a:p>
            <a:pPr marL="0" indent="0">
              <a:buFont typeface="Arial" pitchFamily="34" charset="0"/>
              <a:buNone/>
            </a:pPr>
            <a:endParaRPr lang="cs-CZ" sz="1300" b="1" dirty="0"/>
          </a:p>
          <a:p>
            <a:pPr marL="0" indent="0">
              <a:buFont typeface="Arial" pitchFamily="34" charset="0"/>
              <a:buNone/>
            </a:pPr>
            <a:endParaRPr lang="cs-CZ" sz="1300" b="1" dirty="0"/>
          </a:p>
          <a:p>
            <a:pPr marL="0" indent="0">
              <a:buFont typeface="Arial" pitchFamily="34" charset="0"/>
              <a:buNone/>
            </a:pPr>
            <a:endParaRPr lang="cs-CZ" sz="1300" b="1" dirty="0"/>
          </a:p>
          <a:p>
            <a:pPr marL="0" indent="0">
              <a:buFont typeface="Arial" pitchFamily="34" charset="0"/>
              <a:buNone/>
            </a:pPr>
            <a:endParaRPr lang="cs-CZ" sz="1300" b="1" dirty="0"/>
          </a:p>
        </p:txBody>
      </p:sp>
    </p:spTree>
    <p:extLst>
      <p:ext uri="{BB962C8B-B14F-4D97-AF65-F5344CB8AC3E}">
        <p14:creationId xmlns:p14="http://schemas.microsoft.com/office/powerpoint/2010/main" val="1751364244"/>
      </p:ext>
    </p:extLst>
  </p:cSld>
  <p:clrMapOvr>
    <a:masterClrMapping/>
  </p:clrMapOvr>
</p:sld>
</file>

<file path=ppt/theme/theme1.xml><?xml version="1.0" encoding="utf-8"?>
<a:theme xmlns:a="http://schemas.openxmlformats.org/drawingml/2006/main" name="MV_sablona1_2007_nova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ADB006F-6099-4BAB-880E-BBD73E810297}">
  <ds:schemaRefs>
    <ds:schemaRef ds:uri="http://schemas.microsoft.com/office/2006/metadata/properties"/>
    <ds:schemaRef ds:uri="http://schemas.microsoft.com/office/infopath/2007/PartnerControls"/>
    <ds:schemaRef ds:uri="0a878acb-39c6-4ea7-8bdf-3bb46580a8be"/>
  </ds:schemaRefs>
</ds:datastoreItem>
</file>

<file path=customXml/itemProps2.xml><?xml version="1.0" encoding="utf-8"?>
<ds:datastoreItem xmlns:ds="http://schemas.openxmlformats.org/officeDocument/2006/customXml" ds:itemID="{567B4D89-7D2C-4291-AC3C-5BAB191671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9D88DB-F5E7-427E-87B3-487D0D3F5C94}"/>
</file>

<file path=docProps/app.xml><?xml version="1.0" encoding="utf-8"?>
<Properties xmlns="http://schemas.openxmlformats.org/officeDocument/2006/extended-properties" xmlns:vt="http://schemas.openxmlformats.org/officeDocument/2006/docPropsVTypes">
  <Template>MV_sablona1_2007</Template>
  <TotalTime>72</TotalTime>
  <Words>878</Words>
  <Application>Microsoft Office PowerPoint</Application>
  <PresentationFormat>Předvádění na obrazovce (4:3)</PresentationFormat>
  <Paragraphs>78</Paragraphs>
  <Slides>11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11</vt:i4>
      </vt:variant>
    </vt:vector>
  </HeadingPairs>
  <TitlesOfParts>
    <vt:vector size="14" baseType="lpstr">
      <vt:lpstr>Arial</vt:lpstr>
      <vt:lpstr>Calibri</vt:lpstr>
      <vt:lpstr>MV_sablona1_2007_nova</vt:lpstr>
      <vt:lpstr>Návrh vyhlášky o dlouhodobém řízení informačních systémů veřejné správy  </vt:lpstr>
      <vt:lpstr>Východiska</vt:lpstr>
      <vt:lpstr>Změny zmocnění</vt:lpstr>
      <vt:lpstr>Změny zmocnění</vt:lpstr>
      <vt:lpstr>Dlouhodobé řízení informačních systémů - na pěti úrovních podrobnosti a zodpovědnosti</vt:lpstr>
      <vt:lpstr>Klíčové úrovně řízení ve vyhlášce</vt:lpstr>
      <vt:lpstr>Informační koncepce OVS</vt:lpstr>
      <vt:lpstr>Provozní dokumentace</vt:lpstr>
      <vt:lpstr>Provozní dokumentace</vt:lpstr>
      <vt:lpstr>Další požadavky na ISVS</vt:lpstr>
      <vt:lpstr>Prezentace aplikace PowerPoint</vt:lpstr>
    </vt:vector>
  </TitlesOfParts>
  <Company>MV ČR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Radvan Nováček</dc:creator>
  <cp:lastModifiedBy>Radvan Nováček</cp:lastModifiedBy>
  <cp:revision>10</cp:revision>
  <dcterms:created xsi:type="dcterms:W3CDTF">2021-10-04T10:47:42Z</dcterms:created>
  <dcterms:modified xsi:type="dcterms:W3CDTF">2021-10-04T12:00:01Z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0x01010035F43A9A234346478FD3BA183CCDAA5B</vt:lpwstr>
  </property>
</Properties>
</file>
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82" r:id="rId4"/>
  </p:sldMasterIdLst>
  <p:notesMasterIdLst>
    <p:notesMasterId r:id="rId33"/>
  </p:notesMasterIdLst>
  <p:handoutMasterIdLst>
    <p:handoutMasterId r:id="rId34"/>
  </p:handoutMasterIdLst>
  <p:sldIdLst>
    <p:sldId id="4898" r:id="rId5"/>
    <p:sldId id="4396" r:id="rId6"/>
    <p:sldId id="4912" r:id="rId7"/>
    <p:sldId id="4398" r:id="rId8"/>
    <p:sldId id="4913" r:id="rId9"/>
    <p:sldId id="4927" r:id="rId10"/>
    <p:sldId id="4929" r:id="rId11"/>
    <p:sldId id="4922" r:id="rId12"/>
    <p:sldId id="4917" r:id="rId13"/>
    <p:sldId id="4918" r:id="rId14"/>
    <p:sldId id="4928" r:id="rId15"/>
    <p:sldId id="4865" r:id="rId16"/>
    <p:sldId id="4919" r:id="rId17"/>
    <p:sldId id="4923" r:id="rId18"/>
    <p:sldId id="4873" r:id="rId19"/>
    <p:sldId id="4921" r:id="rId20"/>
    <p:sldId id="4914" r:id="rId21"/>
    <p:sldId id="4915" r:id="rId22"/>
    <p:sldId id="4924" r:id="rId23"/>
    <p:sldId id="4931" r:id="rId24"/>
    <p:sldId id="4930" r:id="rId25"/>
    <p:sldId id="4932" r:id="rId26"/>
    <p:sldId id="4916" r:id="rId27"/>
    <p:sldId id="4926" r:id="rId28"/>
    <p:sldId id="4925" r:id="rId29"/>
    <p:sldId id="4920" r:id="rId30"/>
    <p:sldId id="4933" r:id="rId31"/>
    <p:sldId id="4501" r:id="rId32"/>
  </p:sldIdLst>
  <p:sldSz cx="12436475" cy="6994525"/>
  <p:notesSz cx="6797675" cy="9926638"/>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2266D7F5-89A7-478C-8A43-C1409DDC88B9}">
          <p14:sldIdLst>
            <p14:sldId id="4898"/>
          </p14:sldIdLst>
        </p14:section>
        <p14:section name="Body" id="{451DBD7D-3473-4893-8F99-1CBAC1C747B2}">
          <p14:sldIdLst>
            <p14:sldId id="4396"/>
            <p14:sldId id="4912"/>
            <p14:sldId id="4398"/>
            <p14:sldId id="4913"/>
            <p14:sldId id="4927"/>
            <p14:sldId id="4929"/>
            <p14:sldId id="4922"/>
            <p14:sldId id="4917"/>
            <p14:sldId id="4918"/>
            <p14:sldId id="4928"/>
            <p14:sldId id="4865"/>
            <p14:sldId id="4919"/>
            <p14:sldId id="4923"/>
            <p14:sldId id="4873"/>
            <p14:sldId id="4921"/>
            <p14:sldId id="4914"/>
            <p14:sldId id="4915"/>
            <p14:sldId id="4924"/>
            <p14:sldId id="4931"/>
            <p14:sldId id="4930"/>
            <p14:sldId id="4932"/>
            <p14:sldId id="4916"/>
            <p14:sldId id="4926"/>
            <p14:sldId id="4925"/>
            <p14:sldId id="4920"/>
            <p14:sldId id="4933"/>
            <p14:sldId id="4501"/>
          </p14:sldIdLst>
        </p14:section>
      </p14:sectionLst>
    </p:ex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3149" userDrawn="1">
          <p15:clr>
            <a:srgbClr val="A4A3A4"/>
          </p15:clr>
        </p15:guide>
        <p15:guide id="2" pos="2163" userDrawn="1">
          <p15:clr>
            <a:srgbClr val="A4A3A4"/>
          </p15:clr>
        </p15:guide>
        <p15:guide id="3" orient="horz" pos="3127">
          <p15:clr>
            <a:srgbClr val="A4A3A4"/>
          </p15:clr>
        </p15:guide>
        <p15:guide id="4"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ea Elena Preda" initials="AEP" lastIdx="1" clrIdx="0"/>
  <p:cmAuthor id="2" name="Ioana Monica Trusca (Shipley Associates)" initials="IMT(A" lastIdx="1" clrIdx="1"/>
  <p:cmAuthor id="3" name="Chrysostomos Kridiotis" initials="CK"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DFDFD"/>
    <a:srgbClr val="F1F1F1"/>
    <a:srgbClr val="F8F8F8"/>
    <a:srgbClr val="FAFAFA"/>
    <a:srgbClr val="EBEBEB"/>
    <a:srgbClr val="E9E9E9"/>
    <a:srgbClr val="ED2B5C"/>
    <a:srgbClr val="E1164B"/>
    <a:srgbClr val="005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89" autoAdjust="0"/>
    <p:restoredTop sz="81472" autoAdjust="0"/>
  </p:normalViewPr>
  <p:slideViewPr>
    <p:cSldViewPr snapToGrid="0">
      <p:cViewPr varScale="1">
        <p:scale>
          <a:sx n="127" d="100"/>
          <a:sy n="127" d="100"/>
        </p:scale>
        <p:origin x="978" y="132"/>
      </p:cViewPr>
      <p:guideLst>
        <p:guide orient="horz" pos="2203"/>
        <p:guide pos="3917"/>
      </p:guideLst>
    </p:cSldViewPr>
  </p:slideViewPr>
  <p:notesTextViewPr>
    <p:cViewPr>
      <p:scale>
        <a:sx n="1" d="1"/>
        <a:sy n="1" d="1"/>
      </p:scale>
      <p:origin x="0" y="0"/>
    </p:cViewPr>
  </p:notesTextViewPr>
  <p:notesViewPr>
    <p:cSldViewPr snapToGrid="0">
      <p:cViewPr>
        <p:scale>
          <a:sx n="1" d="2"/>
          <a:sy n="1" d="2"/>
        </p:scale>
        <p:origin x="0" y="0"/>
      </p:cViewPr>
      <p:guideLst>
        <p:guide orient="horz" pos="3149"/>
        <p:guide pos="2163"/>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6"/>
          <p:cNvSpPr>
            <a:spLocks noGrp="1"/>
          </p:cNvSpPr>
          <p:nvPr>
            <p:ph type="dt" sz="quarter" idx="1"/>
          </p:nvPr>
        </p:nvSpPr>
        <p:spPr>
          <a:xfrm>
            <a:off x="3850443" y="0"/>
            <a:ext cx="2945659" cy="496332"/>
          </a:xfrm>
          <a:prstGeom prst="rect">
            <a:avLst/>
          </a:prstGeom>
        </p:spPr>
        <p:txBody>
          <a:bodyPr vert="horz" lIns="95559" tIns="47780" rIns="95559" bIns="47780" rtlCol="0"/>
          <a:lstStyle>
            <a:lvl1pPr algn="r">
              <a:defRPr sz="1300"/>
            </a:lvl1pPr>
          </a:lstStyle>
          <a:p>
            <a:fld id="{827AAADD-8F94-4863-AB67-1D448E3F1BC3}" type="datetime1">
              <a:rPr lang="en-US" smtClean="0">
                <a:latin typeface="Segoe UI" pitchFamily="34" charset="0"/>
              </a:rPr>
              <a:t>11/23/2021</a:t>
            </a:fld>
            <a:endParaRPr lang="en-US">
              <a:latin typeface="Segoe UI" pitchFamily="34" charset="0"/>
            </a:endParaRPr>
          </a:p>
        </p:txBody>
      </p:sp>
      <p:sp>
        <p:nvSpPr>
          <p:cNvPr id="9" name="Slide Number Placeholder 8"/>
          <p:cNvSpPr>
            <a:spLocks noGrp="1"/>
          </p:cNvSpPr>
          <p:nvPr>
            <p:ph type="sldNum" sz="quarter" idx="3"/>
          </p:nvPr>
        </p:nvSpPr>
        <p:spPr>
          <a:xfrm>
            <a:off x="5732706" y="9428583"/>
            <a:ext cx="1063396" cy="496332"/>
          </a:xfrm>
          <a:prstGeom prst="rect">
            <a:avLst/>
          </a:prstGeom>
        </p:spPr>
        <p:txBody>
          <a:bodyPr vert="horz" lIns="95559" tIns="47780" rIns="95559" bIns="47780" rtlCol="0" anchor="b"/>
          <a:lstStyle>
            <a:lvl1pPr algn="r">
              <a:defRPr sz="1300"/>
            </a:lvl1pPr>
          </a:lstStyle>
          <a:p>
            <a:fld id="{0EC9E9D6-92A0-482B-A603-C9BA7FFB8190}" type="slidenum">
              <a:rPr lang="en-US" smtClean="0">
                <a:latin typeface="Segoe UI" pitchFamily="34" charset="0"/>
              </a:rPr>
              <a:t>‹#›</a:t>
            </a:fld>
            <a:endParaRPr lang="en-US">
              <a:latin typeface="Segoe UI" pitchFamily="34" charset="0"/>
            </a:endParaRPr>
          </a:p>
        </p:txBody>
      </p:sp>
      <p:sp>
        <p:nvSpPr>
          <p:cNvPr id="3" name="Footer Placeholder 2"/>
          <p:cNvSpPr>
            <a:spLocks noGrp="1"/>
          </p:cNvSpPr>
          <p:nvPr>
            <p:ph type="ftr" sz="quarter" idx="2"/>
          </p:nvPr>
        </p:nvSpPr>
        <p:spPr>
          <a:xfrm>
            <a:off x="317258" y="9428585"/>
            <a:ext cx="5415446" cy="498055"/>
          </a:xfrm>
          <a:prstGeom prst="rect">
            <a:avLst/>
          </a:prstGeom>
        </p:spPr>
        <p:txBody>
          <a:bodyPr vert="horz" lIns="95559" tIns="47780" rIns="95559" bIns="47780" rtlCol="0" anchor="b"/>
          <a:lstStyle>
            <a:lvl1pPr algn="l">
              <a:defRPr sz="1300"/>
            </a:lvl1pPr>
          </a:lstStyle>
          <a:p>
            <a:r>
              <a:rPr lang="en-US" sz="500"/>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45659" cy="496332"/>
          </a:xfrm>
          <a:prstGeom prst="rect">
            <a:avLst/>
          </a:prstGeom>
        </p:spPr>
        <p:txBody>
          <a:bodyPr vert="horz" lIns="95559" tIns="47780" rIns="95559" bIns="47780" rtlCol="0"/>
          <a:lstStyle>
            <a:lvl1pPr algn="l">
              <a:defRPr sz="13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5559" tIns="47780" rIns="95559" bIns="47780" rtlCol="0" anchor="ctr"/>
          <a:lstStyle/>
          <a:p>
            <a:endParaRPr lang="en-US"/>
          </a:p>
        </p:txBody>
      </p:sp>
      <p:sp>
        <p:nvSpPr>
          <p:cNvPr id="10" name="Footer Placeholder 9"/>
          <p:cNvSpPr>
            <a:spLocks noGrp="1"/>
          </p:cNvSpPr>
          <p:nvPr>
            <p:ph type="ftr" sz="quarter" idx="4"/>
          </p:nvPr>
        </p:nvSpPr>
        <p:spPr>
          <a:xfrm>
            <a:off x="1" y="9430306"/>
            <a:ext cx="5868659" cy="386431"/>
          </a:xfrm>
          <a:prstGeom prst="rect">
            <a:avLst/>
          </a:prstGeom>
        </p:spPr>
        <p:txBody>
          <a:bodyPr vert="horz" lIns="95559" tIns="47780" rIns="95559" bIns="47780" rtlCol="0" anchor="b"/>
          <a:lstStyle>
            <a:lvl1pPr marL="597248" indent="0" algn="l">
              <a:defRPr sz="1300"/>
            </a:lvl1p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11" name="Date Placeholder 10"/>
          <p:cNvSpPr>
            <a:spLocks noGrp="1"/>
          </p:cNvSpPr>
          <p:nvPr>
            <p:ph type="dt" idx="1"/>
          </p:nvPr>
        </p:nvSpPr>
        <p:spPr>
          <a:xfrm>
            <a:off x="3850443" y="0"/>
            <a:ext cx="2945659" cy="496332"/>
          </a:xfrm>
          <a:prstGeom prst="rect">
            <a:avLst/>
          </a:prstGeom>
        </p:spPr>
        <p:txBody>
          <a:bodyPr vert="horz" lIns="95559" tIns="47780" rIns="95559" bIns="47780" rtlCol="0"/>
          <a:lstStyle>
            <a:lvl1pPr algn="r">
              <a:defRPr sz="1300">
                <a:latin typeface="Segoe UI" pitchFamily="34" charset="0"/>
              </a:defRPr>
            </a:lvl1pPr>
          </a:lstStyle>
          <a:p>
            <a:fld id="{E74353ED-ACB2-44BF-A903-985B0AF962B7}" type="datetime1">
              <a:rPr lang="en-US" smtClean="0"/>
              <a:t>11/23/2021</a:t>
            </a:fld>
            <a:endParaRPr lang="en-US"/>
          </a:p>
        </p:txBody>
      </p:sp>
      <p:sp>
        <p:nvSpPr>
          <p:cNvPr id="12" name="Notes Placeholder 11"/>
          <p:cNvSpPr>
            <a:spLocks noGrp="1"/>
          </p:cNvSpPr>
          <p:nvPr>
            <p:ph type="body" sz="quarter" idx="3"/>
          </p:nvPr>
        </p:nvSpPr>
        <p:spPr>
          <a:xfrm>
            <a:off x="679768" y="4715154"/>
            <a:ext cx="5438140" cy="4466987"/>
          </a:xfrm>
          <a:prstGeom prst="rect">
            <a:avLst/>
          </a:prstGeom>
        </p:spPr>
        <p:txBody>
          <a:bodyPr vert="horz" lIns="95559" tIns="47780" rIns="95559" bIns="4778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857330" y="9428583"/>
            <a:ext cx="938772" cy="496332"/>
          </a:xfrm>
          <a:prstGeom prst="rect">
            <a:avLst/>
          </a:prstGeom>
        </p:spPr>
        <p:txBody>
          <a:bodyPr vert="horz" lIns="95559" tIns="47780" rIns="95559" bIns="47780" rtlCol="0" anchor="b"/>
          <a:lstStyle>
            <a:lvl1pPr algn="r">
              <a:defRPr sz="13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Segoe UI Light"/>
              <a:cs typeface="Segoe UI Light"/>
            </a:endParaRPr>
          </a:p>
        </p:txBody>
      </p:sp>
      <p:sp>
        <p:nvSpPr>
          <p:cNvPr id="4" name="Header Placeholder 3"/>
          <p:cNvSpPr>
            <a:spLocks noGrp="1"/>
          </p:cNvSpPr>
          <p:nvPr>
            <p:ph type="hdr" sz="quarter" idx="10"/>
          </p:nvPr>
        </p:nvSpPr>
        <p:spPr/>
        <p:txBody>
          <a:bodyPr/>
          <a:lstStyle/>
          <a:p>
            <a:pPr defTabSz="906810">
              <a:defRPr/>
            </a:pPr>
            <a:r>
              <a:rPr lang="en-US" sz="1800" kern="0">
                <a:solidFill>
                  <a:sysClr val="windowText" lastClr="000000"/>
                </a:solidFill>
              </a:rPr>
              <a:t>PRISM FY16</a:t>
            </a:r>
          </a:p>
        </p:txBody>
      </p:sp>
      <p:sp>
        <p:nvSpPr>
          <p:cNvPr id="5" name="Footer Placeholder 4"/>
          <p:cNvSpPr>
            <a:spLocks noGrp="1"/>
          </p:cNvSpPr>
          <p:nvPr>
            <p:ph type="ftr" sz="quarter" idx="11"/>
          </p:nvPr>
        </p:nvSpPr>
        <p:spPr/>
        <p:txBody>
          <a:bodyPr/>
          <a:lstStyle/>
          <a:p>
            <a:pPr marL="0" defTabSz="923635" eaLnBrk="0" hangingPunct="0">
              <a:defRPr/>
            </a:pPr>
            <a:r>
              <a:rPr lang="en-US" sz="400" ker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defTabSz="906810">
              <a:defRPr/>
            </a:pPr>
            <a:fld id="{495212B5-E2DB-4E03-8797-C963D92E3C2D}" type="datetime8">
              <a:rPr lang="en-US" sz="1800" kern="0">
                <a:solidFill>
                  <a:sysClr val="windowText" lastClr="000000"/>
                </a:solidFill>
              </a:rPr>
              <a:pPr defTabSz="906810">
                <a:defRPr/>
              </a:pPr>
              <a:t>11/23/2021 8:42 AM</a:t>
            </a:fld>
            <a:endParaRPr lang="en-US" sz="1800" kern="0">
              <a:solidFill>
                <a:sysClr val="windowText" lastClr="000000"/>
              </a:solidFill>
            </a:endParaRPr>
          </a:p>
        </p:txBody>
      </p:sp>
      <p:sp>
        <p:nvSpPr>
          <p:cNvPr id="7" name="Slide Number Placeholder 6"/>
          <p:cNvSpPr>
            <a:spLocks noGrp="1"/>
          </p:cNvSpPr>
          <p:nvPr>
            <p:ph type="sldNum" sz="quarter" idx="13"/>
          </p:nvPr>
        </p:nvSpPr>
        <p:spPr/>
        <p:txBody>
          <a:bodyPr/>
          <a:lstStyle/>
          <a:p>
            <a:pPr defTabSz="906810">
              <a:defRPr/>
            </a:pPr>
            <a:fld id="{B4008EB6-D09E-4580-8CD6-DDB14511944F}" type="slidenum">
              <a:rPr lang="en-US" sz="1800" kern="0">
                <a:solidFill>
                  <a:sysClr val="windowText" lastClr="000000"/>
                </a:solidFill>
              </a:rPr>
              <a:pPr defTabSz="906810">
                <a:defRPr/>
              </a:pPr>
              <a:t>2</a:t>
            </a:fld>
            <a:endParaRPr lang="en-US" sz="1800" kern="0">
              <a:solidFill>
                <a:sysClr val="windowText" lastClr="000000"/>
              </a:solidFill>
            </a:endParaRPr>
          </a:p>
        </p:txBody>
      </p:sp>
    </p:spTree>
    <p:extLst>
      <p:ext uri="{BB962C8B-B14F-4D97-AF65-F5344CB8AC3E}">
        <p14:creationId xmlns:p14="http://schemas.microsoft.com/office/powerpoint/2010/main" val="622572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Segoe UI Light"/>
              <a:cs typeface="Segoe UI Light"/>
            </a:endParaRPr>
          </a:p>
        </p:txBody>
      </p:sp>
      <p:sp>
        <p:nvSpPr>
          <p:cNvPr id="4" name="Header Placeholder 3"/>
          <p:cNvSpPr>
            <a:spLocks noGrp="1"/>
          </p:cNvSpPr>
          <p:nvPr>
            <p:ph type="hdr" sz="quarter" idx="10"/>
          </p:nvPr>
        </p:nvSpPr>
        <p:spPr/>
        <p:txBody>
          <a:bodyPr/>
          <a:lstStyle/>
          <a:p>
            <a:pPr defTabSz="906810">
              <a:defRPr/>
            </a:pPr>
            <a:r>
              <a:rPr lang="en-US" sz="1800" kern="0">
                <a:solidFill>
                  <a:sysClr val="windowText" lastClr="000000"/>
                </a:solidFill>
              </a:rPr>
              <a:t>PRISM FY16</a:t>
            </a:r>
          </a:p>
        </p:txBody>
      </p:sp>
      <p:sp>
        <p:nvSpPr>
          <p:cNvPr id="5" name="Footer Placeholder 4"/>
          <p:cNvSpPr>
            <a:spLocks noGrp="1"/>
          </p:cNvSpPr>
          <p:nvPr>
            <p:ph type="ftr" sz="quarter" idx="11"/>
          </p:nvPr>
        </p:nvSpPr>
        <p:spPr/>
        <p:txBody>
          <a:bodyPr/>
          <a:lstStyle/>
          <a:p>
            <a:pPr marL="0" defTabSz="923635" eaLnBrk="0" hangingPunct="0">
              <a:defRPr/>
            </a:pPr>
            <a:r>
              <a:rPr lang="en-US" sz="400" ker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defTabSz="906810">
              <a:defRPr/>
            </a:pPr>
            <a:fld id="{495212B5-E2DB-4E03-8797-C963D92E3C2D}" type="datetime8">
              <a:rPr lang="en-US" sz="1800" kern="0">
                <a:solidFill>
                  <a:sysClr val="windowText" lastClr="000000"/>
                </a:solidFill>
              </a:rPr>
              <a:pPr defTabSz="906810">
                <a:defRPr/>
              </a:pPr>
              <a:t>11/23/2021 8:42 AM</a:t>
            </a:fld>
            <a:endParaRPr lang="en-US" sz="1800" kern="0">
              <a:solidFill>
                <a:sysClr val="windowText" lastClr="000000"/>
              </a:solidFill>
            </a:endParaRPr>
          </a:p>
        </p:txBody>
      </p:sp>
      <p:sp>
        <p:nvSpPr>
          <p:cNvPr id="7" name="Slide Number Placeholder 6"/>
          <p:cNvSpPr>
            <a:spLocks noGrp="1"/>
          </p:cNvSpPr>
          <p:nvPr>
            <p:ph type="sldNum" sz="quarter" idx="13"/>
          </p:nvPr>
        </p:nvSpPr>
        <p:spPr/>
        <p:txBody>
          <a:bodyPr/>
          <a:lstStyle/>
          <a:p>
            <a:pPr defTabSz="906810">
              <a:defRPr/>
            </a:pPr>
            <a:fld id="{B4008EB6-D09E-4580-8CD6-DDB14511944F}" type="slidenum">
              <a:rPr lang="en-US" sz="1800" kern="0">
                <a:solidFill>
                  <a:sysClr val="windowText" lastClr="000000"/>
                </a:solidFill>
              </a:rPr>
              <a:pPr defTabSz="906810">
                <a:defRPr/>
              </a:pPr>
              <a:t>3</a:t>
            </a:fld>
            <a:endParaRPr lang="en-US" sz="1800" kern="0">
              <a:solidFill>
                <a:sysClr val="windowText" lastClr="000000"/>
              </a:solidFill>
            </a:endParaRPr>
          </a:p>
        </p:txBody>
      </p:sp>
    </p:spTree>
    <p:extLst>
      <p:ext uri="{BB962C8B-B14F-4D97-AF65-F5344CB8AC3E}">
        <p14:creationId xmlns:p14="http://schemas.microsoft.com/office/powerpoint/2010/main" val="678999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Footer Placeholder 3"/>
          <p:cNvSpPr>
            <a:spLocks noGrp="1"/>
          </p:cNvSpPr>
          <p:nvPr>
            <p:ph type="ftr" sz="quarter" idx="4"/>
          </p:nvPr>
        </p:nvSpPr>
        <p:spPr/>
        <p:txBody>
          <a:body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
          </p:nvPr>
        </p:nvSpPr>
        <p:spPr/>
        <p:txBody>
          <a:bodyPr/>
          <a:lstStyle/>
          <a:p>
            <a:fld id="{E74353ED-ACB2-44BF-A903-985B0AF962B7}" type="datetime1">
              <a:rPr lang="en-US" smtClean="0"/>
              <a:t>11/23/2021</a:t>
            </a:fld>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1952093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Footer Placeholder 3"/>
          <p:cNvSpPr>
            <a:spLocks noGrp="1"/>
          </p:cNvSpPr>
          <p:nvPr>
            <p:ph type="ftr" sz="quarter" idx="4"/>
          </p:nvPr>
        </p:nvSpPr>
        <p:spPr/>
        <p:txBody>
          <a:body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
          </p:nvPr>
        </p:nvSpPr>
        <p:spPr/>
        <p:txBody>
          <a:bodyPr/>
          <a:lstStyle/>
          <a:p>
            <a:fld id="{E74353ED-ACB2-44BF-A903-985B0AF962B7}" type="datetime1">
              <a:rPr lang="en-US" smtClean="0"/>
              <a:t>11/23/2021</a:t>
            </a:fld>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3686124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Footer Placeholder 3"/>
          <p:cNvSpPr>
            <a:spLocks noGrp="1"/>
          </p:cNvSpPr>
          <p:nvPr>
            <p:ph type="ftr" sz="quarter" idx="4"/>
          </p:nvPr>
        </p:nvSpPr>
        <p:spPr/>
        <p:txBody>
          <a:body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
          </p:nvPr>
        </p:nvSpPr>
        <p:spPr/>
        <p:txBody>
          <a:bodyPr/>
          <a:lstStyle/>
          <a:p>
            <a:fld id="{E74353ED-ACB2-44BF-A903-985B0AF962B7}" type="datetime1">
              <a:rPr lang="en-US" smtClean="0"/>
              <a:t>11/23/2021</a:t>
            </a:fld>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672354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Footer Placeholder 3"/>
          <p:cNvSpPr>
            <a:spLocks noGrp="1"/>
          </p:cNvSpPr>
          <p:nvPr>
            <p:ph type="ftr" sz="quarter" idx="4"/>
          </p:nvPr>
        </p:nvSpPr>
        <p:spPr/>
        <p:txBody>
          <a:body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
          </p:nvPr>
        </p:nvSpPr>
        <p:spPr/>
        <p:txBody>
          <a:bodyPr/>
          <a:lstStyle/>
          <a:p>
            <a:fld id="{E74353ED-ACB2-44BF-A903-985B0AF962B7}" type="datetime1">
              <a:rPr lang="en-US" smtClean="0"/>
              <a:t>11/23/2021</a:t>
            </a:fld>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462742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Footer Placeholder 3"/>
          <p:cNvSpPr>
            <a:spLocks noGrp="1"/>
          </p:cNvSpPr>
          <p:nvPr>
            <p:ph type="ftr" sz="quarter" idx="4"/>
          </p:nvPr>
        </p:nvSpPr>
        <p:spPr/>
        <p:txBody>
          <a:body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
          </p:nvPr>
        </p:nvSpPr>
        <p:spPr/>
        <p:txBody>
          <a:bodyPr/>
          <a:lstStyle/>
          <a:p>
            <a:fld id="{E74353ED-ACB2-44BF-A903-985B0AF962B7}" type="datetime1">
              <a:rPr lang="en-US" smtClean="0"/>
              <a:t>11/23/2021</a:t>
            </a:fld>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2428577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Footer Placeholder 3"/>
          <p:cNvSpPr>
            <a:spLocks noGrp="1"/>
          </p:cNvSpPr>
          <p:nvPr>
            <p:ph type="ftr" sz="quarter" idx="4"/>
          </p:nvPr>
        </p:nvSpPr>
        <p:spPr/>
        <p:txBody>
          <a:body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
          </p:nvPr>
        </p:nvSpPr>
        <p:spPr/>
        <p:txBody>
          <a:bodyPr/>
          <a:lstStyle/>
          <a:p>
            <a:fld id="{E74353ED-ACB2-44BF-A903-985B0AF962B7}" type="datetime1">
              <a:rPr lang="en-US" smtClean="0"/>
              <a:t>11/23/2021</a:t>
            </a:fld>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29162052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10"/>
          </p:nvPr>
        </p:nvSpPr>
        <p:spPr/>
        <p:txBody>
          <a:bodyPr/>
          <a:lstStyle/>
          <a:p>
            <a:pPr defTabSz="955283"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1"/>
          </p:nvPr>
        </p:nvSpPr>
        <p:spPr/>
        <p:txBody>
          <a:bodyPr/>
          <a:lstStyle/>
          <a:p>
            <a:fld id="{E74353ED-ACB2-44BF-A903-985B0AF962B7}" type="datetime1">
              <a:rPr lang="en-US" smtClean="0"/>
              <a:t>11/23/2021</a:t>
            </a:fld>
            <a:endParaRPr lang="en-US"/>
          </a:p>
        </p:txBody>
      </p:sp>
      <p:sp>
        <p:nvSpPr>
          <p:cNvPr id="6" name="Slide Number Placeholder 5"/>
          <p:cNvSpPr>
            <a:spLocks noGrp="1"/>
          </p:cNvSpPr>
          <p:nvPr>
            <p:ph type="sldNum" sz="quarter" idx="12"/>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815669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t="16426" r="9343" b="7083"/>
          <a:stretch/>
        </p:blipFill>
        <p:spPr bwMode="ltGray">
          <a:xfrm>
            <a:off x="0" y="0"/>
            <a:ext cx="12434711" cy="6994525"/>
          </a:xfrm>
          <a:prstGeom prst="rect">
            <a:avLst/>
          </a:prstGeom>
        </p:spPr>
      </p:pic>
      <p:sp>
        <p:nvSpPr>
          <p:cNvPr id="9" name="Title 1"/>
          <p:cNvSpPr>
            <a:spLocks noGrp="1"/>
          </p:cNvSpPr>
          <p:nvPr>
            <p:ph type="title" hasCustomPrompt="1"/>
          </p:nvPr>
        </p:nvSpPr>
        <p:spPr bwMode="auto">
          <a:xfrm>
            <a:off x="274702" y="2125677"/>
            <a:ext cx="6402388" cy="1828800"/>
          </a:xfrm>
          <a:noFill/>
        </p:spPr>
        <p:txBody>
          <a:bodyPr lIns="146304" tIns="91440" rIns="146304" bIns="91440" anchor="t" anchorCtr="0"/>
          <a:lstStyle>
            <a:lvl1pPr>
              <a:defRPr sz="5399" spc="-100" baseline="0">
                <a:gradFill>
                  <a:gsLst>
                    <a:gs pos="4040">
                      <a:srgbClr val="525252"/>
                    </a:gs>
                    <a:gs pos="17000">
                      <a:srgbClr val="525252"/>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58"/>
            <a:ext cx="6402388" cy="1825625"/>
          </a:xfrm>
        </p:spPr>
        <p:txBody>
          <a:bodyPr tIns="109728" bIns="109728">
            <a:noAutofit/>
          </a:bodyPr>
          <a:lstStyle>
            <a:lvl1pPr marL="0" indent="0">
              <a:spcBef>
                <a:spcPts val="0"/>
              </a:spcBef>
              <a:buNone/>
              <a:defRPr sz="3199">
                <a:gradFill>
                  <a:gsLst>
                    <a:gs pos="4040">
                      <a:srgbClr val="525252"/>
                    </a:gs>
                    <a:gs pos="17000">
                      <a:srgbClr val="525252"/>
                    </a:gs>
                  </a:gsLst>
                  <a:lin ang="5400000" scaled="0"/>
                </a:gradFill>
              </a:defRPr>
            </a:lvl1pPr>
          </a:lstStyle>
          <a:p>
            <a:pPr lvl="0"/>
            <a:r>
              <a:rPr lang="en-US" dirty="0"/>
              <a:t>Speaker Name</a:t>
            </a:r>
          </a:p>
        </p:txBody>
      </p:sp>
    </p:spTree>
    <p:extLst>
      <p:ext uri="{BB962C8B-B14F-4D97-AF65-F5344CB8AC3E}">
        <p14:creationId xmlns:p14="http://schemas.microsoft.com/office/powerpoint/2010/main" val="363121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hoto">
    <p:spTree>
      <p:nvGrpSpPr>
        <p:cNvPr id="1" name=""/>
        <p:cNvGrpSpPr/>
        <p:nvPr/>
      </p:nvGrpSpPr>
      <p:grpSpPr>
        <a:xfrm>
          <a:off x="0" y="0"/>
          <a:ext cx="0" cy="0"/>
          <a:chOff x="0" y="0"/>
          <a:chExt cx="0" cy="0"/>
        </a:xfrm>
      </p:grpSpPr>
      <p:pic>
        <p:nvPicPr>
          <p:cNvPr id="6" name="Picture 5" descr="A picture containing ground&#10;&#10;Description generated with very high confidence">
            <a:extLst>
              <a:ext uri="{FF2B5EF4-FFF2-40B4-BE49-F238E27FC236}">
                <a16:creationId xmlns:a16="http://schemas.microsoft.com/office/drawing/2014/main" id="{8FE8CD27-E0A4-4A8A-B22E-19C316C7AEB2}"/>
              </a:ext>
            </a:extLst>
          </p:cNvPr>
          <p:cNvPicPr>
            <a:picLocks noChangeAspect="1"/>
          </p:cNvPicPr>
          <p:nvPr userDrawn="1"/>
        </p:nvPicPr>
        <p:blipFill rotWithShape="1">
          <a:blip r:embed="rId2"/>
          <a:srcRect b="15637"/>
          <a:stretch/>
        </p:blipFill>
        <p:spPr>
          <a:xfrm>
            <a:off x="-1" y="0"/>
            <a:ext cx="12436475" cy="6994526"/>
          </a:xfrm>
          <a:prstGeom prst="rect">
            <a:avLst/>
          </a:prstGeom>
        </p:spPr>
      </p:pic>
      <p:sp>
        <p:nvSpPr>
          <p:cNvPr id="10" name="Rectangle 9"/>
          <p:cNvSpPr/>
          <p:nvPr userDrawn="1"/>
        </p:nvSpPr>
        <p:spPr>
          <a:xfrm>
            <a:off x="1" y="0"/>
            <a:ext cx="12436474" cy="7011816"/>
          </a:xfrm>
          <a:prstGeom prst="rect">
            <a:avLst/>
          </a:prstGeom>
          <a:gradFill flip="none" rotWithShape="1">
            <a:gsLst>
              <a:gs pos="0">
                <a:srgbClr val="000000">
                  <a:alpha val="0"/>
                </a:srgbClr>
              </a:gs>
              <a:gs pos="70000">
                <a:srgbClr val="000000">
                  <a:alpha val="27000"/>
                </a:srgbClr>
              </a:gs>
              <a:gs pos="100000">
                <a:srgbClr val="000000">
                  <a:alpha val="39000"/>
                </a:srgb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lIns="60952" rIns="60952" rtlCol="0" anchor="t">
            <a:noAutofit/>
          </a:bodyPr>
          <a:lstStyle/>
          <a:p>
            <a:pPr>
              <a:defRPr/>
            </a:pPr>
            <a:endParaRPr lang="en-US" sz="1200" b="1" err="1">
              <a:solidFill>
                <a:prstClr val="white"/>
              </a:solidFill>
              <a:latin typeface="Segoe UI" panose="020B0502040204020203" pitchFamily="34" charset="0"/>
              <a:cs typeface="Segoe UI" panose="020B0502040204020203" pitchFamily="34" charset="0"/>
            </a:endParaRPr>
          </a:p>
        </p:txBody>
      </p:sp>
      <p:sp>
        <p:nvSpPr>
          <p:cNvPr id="13" name="Title 1"/>
          <p:cNvSpPr>
            <a:spLocks noGrp="1"/>
          </p:cNvSpPr>
          <p:nvPr>
            <p:ph type="title" hasCustomPrompt="1"/>
          </p:nvPr>
        </p:nvSpPr>
        <p:spPr bwMode="ltGray">
          <a:xfrm>
            <a:off x="273050" y="2201862"/>
            <a:ext cx="7316788" cy="1830538"/>
          </a:xfrm>
          <a:noFill/>
        </p:spPr>
        <p:txBody>
          <a:bodyPr lIns="146304" tIns="91440" rIns="146304" bIns="91440" anchor="t" anchorCtr="0"/>
          <a:lstStyle>
            <a:lvl1pPr>
              <a:defRPr sz="5400" spc="-100" baseline="0">
                <a:gradFill>
                  <a:gsLst>
                    <a:gs pos="5833">
                      <a:srgbClr val="FFFFFF"/>
                    </a:gs>
                    <a:gs pos="18000">
                      <a:srgbClr val="FFFFFF"/>
                    </a:gs>
                  </a:gsLst>
                  <a:lin ang="5400000" scaled="0"/>
                </a:gradFill>
              </a:defRPr>
            </a:lvl1pPr>
          </a:lstStyle>
          <a:p>
            <a:r>
              <a:rPr lang="en-US"/>
              <a:t>Presentation title</a:t>
            </a:r>
          </a:p>
        </p:txBody>
      </p:sp>
      <p:sp>
        <p:nvSpPr>
          <p:cNvPr id="14" name="Text Placeholder 2"/>
          <p:cNvSpPr>
            <a:spLocks noGrp="1"/>
          </p:cNvSpPr>
          <p:nvPr>
            <p:ph type="body" sz="quarter" idx="14" hasCustomPrompt="1"/>
          </p:nvPr>
        </p:nvSpPr>
        <p:spPr bwMode="ltGray">
          <a:xfrm>
            <a:off x="273050" y="4046889"/>
            <a:ext cx="7316788" cy="1828800"/>
          </a:xfrm>
          <a:noFill/>
        </p:spPr>
        <p:txBody>
          <a:bodyPr tIns="109728" bIns="109728">
            <a:noAutofit/>
          </a:bodyPr>
          <a:lstStyle>
            <a:lvl1pPr marL="0" indent="0">
              <a:spcBef>
                <a:spcPts val="0"/>
              </a:spcBef>
              <a:buNone/>
              <a:defRPr sz="3200">
                <a:gradFill>
                  <a:gsLst>
                    <a:gs pos="1250">
                      <a:srgbClr val="FFFFFF"/>
                    </a:gs>
                    <a:gs pos="99000">
                      <a:srgbClr val="FFFFFF"/>
                    </a:gs>
                  </a:gsLst>
                  <a:lin ang="5400000" scaled="0"/>
                </a:gradFill>
              </a:defRPr>
            </a:lvl1pPr>
          </a:lstStyle>
          <a:p>
            <a:pPr lvl="0"/>
            <a:r>
              <a:rPr lang="en-US"/>
              <a:t>Speaker Name</a:t>
            </a:r>
          </a:p>
        </p:txBody>
      </p:sp>
    </p:spTree>
    <p:extLst>
      <p:ext uri="{BB962C8B-B14F-4D97-AF65-F5344CB8AC3E}">
        <p14:creationId xmlns:p14="http://schemas.microsoft.com/office/powerpoint/2010/main" val="16987440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descr="A picture containing ground&#10;&#10;Description generated with very high confidence">
            <a:extLst>
              <a:ext uri="{FF2B5EF4-FFF2-40B4-BE49-F238E27FC236}">
                <a16:creationId xmlns:a16="http://schemas.microsoft.com/office/drawing/2014/main" id="{64F36408-E121-4971-98CF-F82CA142BD92}"/>
              </a:ext>
            </a:extLst>
          </p:cNvPr>
          <p:cNvPicPr>
            <a:picLocks noChangeAspect="1"/>
          </p:cNvPicPr>
          <p:nvPr userDrawn="1"/>
        </p:nvPicPr>
        <p:blipFill rotWithShape="1">
          <a:blip r:embed="rId2"/>
          <a:srcRect b="15637"/>
          <a:stretch/>
        </p:blipFill>
        <p:spPr>
          <a:xfrm>
            <a:off x="-1" y="0"/>
            <a:ext cx="12436475" cy="6994526"/>
          </a:xfrm>
          <a:prstGeom prst="rect">
            <a:avLst/>
          </a:prstGeom>
        </p:spPr>
      </p:pic>
      <p:sp>
        <p:nvSpPr>
          <p:cNvPr id="6" name="Rectangle 5"/>
          <p:cNvSpPr/>
          <p:nvPr userDrawn="1"/>
        </p:nvSpPr>
        <p:spPr>
          <a:xfrm>
            <a:off x="1" y="0"/>
            <a:ext cx="12436474" cy="7002462"/>
          </a:xfrm>
          <a:prstGeom prst="rect">
            <a:avLst/>
          </a:prstGeom>
          <a:gradFill flip="none" rotWithShape="1">
            <a:gsLst>
              <a:gs pos="0">
                <a:srgbClr val="000000">
                  <a:alpha val="10000"/>
                </a:srgbClr>
              </a:gs>
              <a:gs pos="70000">
                <a:srgbClr val="000000">
                  <a:alpha val="70000"/>
                </a:srgbClr>
              </a:gs>
              <a:gs pos="100000">
                <a:srgbClr val="000000">
                  <a:alpha val="95000"/>
                </a:srgb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lIns="60952" rIns="60952" rtlCol="0" anchor="t">
            <a:noAutofit/>
          </a:bodyPr>
          <a:lstStyle/>
          <a:p>
            <a:pPr>
              <a:defRPr/>
            </a:pPr>
            <a:endParaRPr lang="en-US" sz="1200" b="1" err="1">
              <a:solidFill>
                <a:prstClr val="white"/>
              </a:solidFill>
              <a:latin typeface="Segoe UI" panose="020B0502040204020203" pitchFamily="34" charset="0"/>
              <a:cs typeface="Segoe UI" panose="020B0502040204020203" pitchFamily="34" charset="0"/>
            </a:endParaRPr>
          </a:p>
        </p:txBody>
      </p:sp>
      <p:sp>
        <p:nvSpPr>
          <p:cNvPr id="2" name="Title 1"/>
          <p:cNvSpPr>
            <a:spLocks noGrp="1"/>
          </p:cNvSpPr>
          <p:nvPr>
            <p:ph type="title" hasCustomPrompt="1"/>
          </p:nvPr>
        </p:nvSpPr>
        <p:spPr/>
        <p:txBody>
          <a:bodyPr/>
          <a:lstStyle>
            <a:lvl1pPr>
              <a:defRPr>
                <a:solidFill>
                  <a:schemeClr val="bg1"/>
                </a:solidFill>
              </a:defRPr>
            </a:lvl1pPr>
          </a:lstStyle>
          <a:p>
            <a:r>
              <a:rPr lang="en-US"/>
              <a:t>Agenda</a:t>
            </a:r>
          </a:p>
        </p:txBody>
      </p:sp>
      <p:sp>
        <p:nvSpPr>
          <p:cNvPr id="4" name="Text Placeholder 3"/>
          <p:cNvSpPr>
            <a:spLocks noGrp="1"/>
          </p:cNvSpPr>
          <p:nvPr>
            <p:ph type="body" sz="quarter" idx="11"/>
          </p:nvPr>
        </p:nvSpPr>
        <p:spPr>
          <a:xfrm>
            <a:off x="274639" y="1212849"/>
            <a:ext cx="11889564" cy="1969770"/>
          </a:xfrm>
        </p:spPr>
        <p:txBody>
          <a:bodyPr/>
          <a:lstStyle>
            <a:lvl1pPr marL="0" indent="0">
              <a:spcBef>
                <a:spcPts val="1800"/>
              </a:spcBef>
              <a:buNone/>
              <a:defRPr sz="3200">
                <a:solidFill>
                  <a:schemeClr val="bg1"/>
                </a:solidFill>
              </a:defRPr>
            </a:lvl1pPr>
            <a:lvl2pPr marL="28575" indent="0">
              <a:buNone/>
              <a:defRPr sz="2000">
                <a:solidFill>
                  <a:schemeClr val="bg1"/>
                </a:solidFill>
              </a:defRPr>
            </a:lvl2pPr>
            <a:lvl3pPr marL="223838" indent="0">
              <a:buNone/>
              <a:defRPr sz="2000">
                <a:solidFill>
                  <a:schemeClr val="bg1"/>
                </a:solidFill>
              </a:defRPr>
            </a:lvl3pPr>
            <a:lvl4pPr marL="476250" indent="0">
              <a:buNone/>
              <a:defRPr sz="1800">
                <a:solidFill>
                  <a:schemeClr val="bg1"/>
                </a:solidFill>
              </a:defRPr>
            </a:lvl4pPr>
            <a:lvl5pPr marL="739775" indent="0">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137879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slide w/black overlay">
    <p:spTree>
      <p:nvGrpSpPr>
        <p:cNvPr id="1" name=""/>
        <p:cNvGrpSpPr/>
        <p:nvPr/>
      </p:nvGrpSpPr>
      <p:grpSpPr>
        <a:xfrm>
          <a:off x="0" y="0"/>
          <a:ext cx="0" cy="0"/>
          <a:chOff x="0" y="0"/>
          <a:chExt cx="0" cy="0"/>
        </a:xfrm>
      </p:grpSpPr>
      <p:sp>
        <p:nvSpPr>
          <p:cNvPr id="7" name="Text Placeholder 6"/>
          <p:cNvSpPr>
            <a:spLocks noGrp="1"/>
          </p:cNvSpPr>
          <p:nvPr>
            <p:ph type="body" sz="quarter" idx="11" hasCustomPrompt="1"/>
          </p:nvPr>
        </p:nvSpPr>
        <p:spPr>
          <a:xfrm>
            <a:off x="1417637" y="3348815"/>
            <a:ext cx="15087600" cy="4949047"/>
          </a:xfrm>
        </p:spPr>
        <p:txBody>
          <a:bodyPr/>
          <a:lstStyle>
            <a:lvl1pPr marL="0" indent="0">
              <a:buNone/>
              <a:defRPr sz="34400">
                <a:gradFill flip="none" rotWithShape="1">
                  <a:gsLst>
                    <a:gs pos="1250">
                      <a:srgbClr val="000000">
                        <a:alpha val="51000"/>
                      </a:srgbClr>
                    </a:gs>
                    <a:gs pos="100000">
                      <a:srgbClr val="000000">
                        <a:alpha val="25000"/>
                      </a:srgbClr>
                    </a:gs>
                  </a:gsLst>
                  <a:lin ang="0" scaled="1"/>
                  <a:tileRect/>
                </a:gradFill>
                <a:latin typeface="+mn-lt"/>
              </a:defRPr>
            </a:lvl1pPr>
          </a:lstStyle>
          <a:p>
            <a:pPr lvl="0"/>
            <a:r>
              <a:rPr lang="en-US"/>
              <a:t>DEMO</a:t>
            </a:r>
            <a:endParaRPr lang="en-GB"/>
          </a:p>
        </p:txBody>
      </p:sp>
      <p:sp>
        <p:nvSpPr>
          <p:cNvPr id="4" name="Title 1"/>
          <p:cNvSpPr>
            <a:spLocks noGrp="1"/>
          </p:cNvSpPr>
          <p:nvPr>
            <p:ph type="title" hasCustomPrompt="1"/>
          </p:nvPr>
        </p:nvSpPr>
        <p:spPr>
          <a:xfrm>
            <a:off x="-5399" y="-1026"/>
            <a:ext cx="6758302" cy="699835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 h 10000"/>
              <a:gd name="connsiteX0" fmla="*/ 0 w 10000"/>
              <a:gd name="connsiteY0" fmla="*/ 0 h 9997"/>
              <a:gd name="connsiteX1" fmla="*/ 5160 w 10000"/>
              <a:gd name="connsiteY1" fmla="*/ 24 h 9997"/>
              <a:gd name="connsiteX2" fmla="*/ 10000 w 10000"/>
              <a:gd name="connsiteY2" fmla="*/ 9997 h 9997"/>
              <a:gd name="connsiteX3" fmla="*/ 0 w 10000"/>
              <a:gd name="connsiteY3" fmla="*/ 9997 h 9997"/>
              <a:gd name="connsiteX4" fmla="*/ 0 w 10000"/>
              <a:gd name="connsiteY4" fmla="*/ 0 h 9997"/>
              <a:gd name="connsiteX0" fmla="*/ 0 w 9679"/>
              <a:gd name="connsiteY0" fmla="*/ 0 h 10027"/>
              <a:gd name="connsiteX1" fmla="*/ 5160 w 9679"/>
              <a:gd name="connsiteY1" fmla="*/ 24 h 10027"/>
              <a:gd name="connsiteX2" fmla="*/ 9679 w 9679"/>
              <a:gd name="connsiteY2" fmla="*/ 10027 h 10027"/>
              <a:gd name="connsiteX3" fmla="*/ 0 w 9679"/>
              <a:gd name="connsiteY3" fmla="*/ 10000 h 10027"/>
              <a:gd name="connsiteX4" fmla="*/ 0 w 9679"/>
              <a:gd name="connsiteY4" fmla="*/ 0 h 10027"/>
              <a:gd name="connsiteX0" fmla="*/ 0 w 10000"/>
              <a:gd name="connsiteY0" fmla="*/ 10 h 10010"/>
              <a:gd name="connsiteX1" fmla="*/ 5302 w 10000"/>
              <a:gd name="connsiteY1" fmla="*/ 0 h 10010"/>
              <a:gd name="connsiteX2" fmla="*/ 10000 w 10000"/>
              <a:gd name="connsiteY2" fmla="*/ 10010 h 10010"/>
              <a:gd name="connsiteX3" fmla="*/ 0 w 10000"/>
              <a:gd name="connsiteY3" fmla="*/ 9983 h 10010"/>
              <a:gd name="connsiteX4" fmla="*/ 0 w 10000"/>
              <a:gd name="connsiteY4" fmla="*/ 10 h 10010"/>
              <a:gd name="connsiteX0" fmla="*/ 0 w 10000"/>
              <a:gd name="connsiteY0" fmla="*/ 10 h 10010"/>
              <a:gd name="connsiteX1" fmla="*/ 5302 w 10000"/>
              <a:gd name="connsiteY1" fmla="*/ 0 h 10010"/>
              <a:gd name="connsiteX2" fmla="*/ 10000 w 10000"/>
              <a:gd name="connsiteY2" fmla="*/ 10010 h 10010"/>
              <a:gd name="connsiteX3" fmla="*/ 4 w 10000"/>
              <a:gd name="connsiteY3" fmla="*/ 10010 h 10010"/>
              <a:gd name="connsiteX4" fmla="*/ 0 w 10000"/>
              <a:gd name="connsiteY4" fmla="*/ 10 h 10010"/>
              <a:gd name="connsiteX0" fmla="*/ 0 w 10000"/>
              <a:gd name="connsiteY0" fmla="*/ 21 h 10010"/>
              <a:gd name="connsiteX1" fmla="*/ 5302 w 10000"/>
              <a:gd name="connsiteY1" fmla="*/ 0 h 10010"/>
              <a:gd name="connsiteX2" fmla="*/ 10000 w 10000"/>
              <a:gd name="connsiteY2" fmla="*/ 10010 h 10010"/>
              <a:gd name="connsiteX3" fmla="*/ 4 w 10000"/>
              <a:gd name="connsiteY3" fmla="*/ 10010 h 10010"/>
              <a:gd name="connsiteX4" fmla="*/ 0 w 10000"/>
              <a:gd name="connsiteY4" fmla="*/ 21 h 10010"/>
              <a:gd name="connsiteX0" fmla="*/ 286 w 9997"/>
              <a:gd name="connsiteY0" fmla="*/ 216 h 10010"/>
              <a:gd name="connsiteX1" fmla="*/ 5299 w 9997"/>
              <a:gd name="connsiteY1" fmla="*/ 0 h 10010"/>
              <a:gd name="connsiteX2" fmla="*/ 9997 w 9997"/>
              <a:gd name="connsiteY2" fmla="*/ 10010 h 10010"/>
              <a:gd name="connsiteX3" fmla="*/ 1 w 9997"/>
              <a:gd name="connsiteY3" fmla="*/ 10010 h 10010"/>
              <a:gd name="connsiteX4" fmla="*/ 286 w 9997"/>
              <a:gd name="connsiteY4" fmla="*/ 216 h 10010"/>
              <a:gd name="connsiteX0" fmla="*/ 0 w 10007"/>
              <a:gd name="connsiteY0" fmla="*/ 29 h 10000"/>
              <a:gd name="connsiteX1" fmla="*/ 5308 w 10007"/>
              <a:gd name="connsiteY1" fmla="*/ 0 h 10000"/>
              <a:gd name="connsiteX2" fmla="*/ 10007 w 10007"/>
              <a:gd name="connsiteY2" fmla="*/ 10000 h 10000"/>
              <a:gd name="connsiteX3" fmla="*/ 8 w 10007"/>
              <a:gd name="connsiteY3" fmla="*/ 10000 h 10000"/>
              <a:gd name="connsiteX4" fmla="*/ 0 w 10007"/>
              <a:gd name="connsiteY4" fmla="*/ 29 h 10000"/>
              <a:gd name="connsiteX0" fmla="*/ 0 w 10007"/>
              <a:gd name="connsiteY0" fmla="*/ 0 h 9971"/>
              <a:gd name="connsiteX1" fmla="*/ 5316 w 10007"/>
              <a:gd name="connsiteY1" fmla="*/ 5 h 9971"/>
              <a:gd name="connsiteX2" fmla="*/ 10007 w 10007"/>
              <a:gd name="connsiteY2" fmla="*/ 9971 h 9971"/>
              <a:gd name="connsiteX3" fmla="*/ 8 w 10007"/>
              <a:gd name="connsiteY3" fmla="*/ 9971 h 9971"/>
              <a:gd name="connsiteX4" fmla="*/ 0 w 10007"/>
              <a:gd name="connsiteY4" fmla="*/ 0 h 9971"/>
              <a:gd name="connsiteX0" fmla="*/ 0 w 10000"/>
              <a:gd name="connsiteY0" fmla="*/ 3 h 10003"/>
              <a:gd name="connsiteX1" fmla="*/ 5292 w 10000"/>
              <a:gd name="connsiteY1" fmla="*/ 0 h 10003"/>
              <a:gd name="connsiteX2" fmla="*/ 10000 w 10000"/>
              <a:gd name="connsiteY2" fmla="*/ 10003 h 10003"/>
              <a:gd name="connsiteX3" fmla="*/ 8 w 10000"/>
              <a:gd name="connsiteY3" fmla="*/ 10003 h 10003"/>
              <a:gd name="connsiteX4" fmla="*/ 0 w 10000"/>
              <a:gd name="connsiteY4" fmla="*/ 3 h 10003"/>
              <a:gd name="connsiteX0" fmla="*/ 84 w 9993"/>
              <a:gd name="connsiteY0" fmla="*/ 114 h 10003"/>
              <a:gd name="connsiteX1" fmla="*/ 5285 w 9993"/>
              <a:gd name="connsiteY1" fmla="*/ 0 h 10003"/>
              <a:gd name="connsiteX2" fmla="*/ 9993 w 9993"/>
              <a:gd name="connsiteY2" fmla="*/ 10003 h 10003"/>
              <a:gd name="connsiteX3" fmla="*/ 1 w 9993"/>
              <a:gd name="connsiteY3" fmla="*/ 10003 h 10003"/>
              <a:gd name="connsiteX4" fmla="*/ 84 w 9993"/>
              <a:gd name="connsiteY4" fmla="*/ 114 h 10003"/>
              <a:gd name="connsiteX0" fmla="*/ 0 w 10003"/>
              <a:gd name="connsiteY0" fmla="*/ 3 h 10000"/>
              <a:gd name="connsiteX1" fmla="*/ 5292 w 10003"/>
              <a:gd name="connsiteY1" fmla="*/ 0 h 10000"/>
              <a:gd name="connsiteX2" fmla="*/ 10003 w 10003"/>
              <a:gd name="connsiteY2" fmla="*/ 10000 h 10000"/>
              <a:gd name="connsiteX3" fmla="*/ 4 w 10003"/>
              <a:gd name="connsiteY3" fmla="*/ 10000 h 10000"/>
              <a:gd name="connsiteX4" fmla="*/ 0 w 10003"/>
              <a:gd name="connsiteY4" fmla="*/ 3 h 10000"/>
              <a:gd name="connsiteX0" fmla="*/ 0 w 10003"/>
              <a:gd name="connsiteY0" fmla="*/ 3 h 10000"/>
              <a:gd name="connsiteX1" fmla="*/ 5292 w 10003"/>
              <a:gd name="connsiteY1" fmla="*/ 0 h 10000"/>
              <a:gd name="connsiteX2" fmla="*/ 10003 w 10003"/>
              <a:gd name="connsiteY2" fmla="*/ 10000 h 10000"/>
              <a:gd name="connsiteX3" fmla="*/ 0 w 10003"/>
              <a:gd name="connsiteY3" fmla="*/ 9996 h 10000"/>
              <a:gd name="connsiteX4" fmla="*/ 0 w 10003"/>
              <a:gd name="connsiteY4" fmla="*/ 3 h 10000"/>
              <a:gd name="connsiteX0" fmla="*/ 0 w 10003"/>
              <a:gd name="connsiteY0" fmla="*/ 3 h 10000"/>
              <a:gd name="connsiteX1" fmla="*/ 5292 w 10003"/>
              <a:gd name="connsiteY1" fmla="*/ 0 h 10000"/>
              <a:gd name="connsiteX2" fmla="*/ 10003 w 10003"/>
              <a:gd name="connsiteY2" fmla="*/ 10000 h 10000"/>
              <a:gd name="connsiteX3" fmla="*/ 67 w 10003"/>
              <a:gd name="connsiteY3" fmla="*/ 9920 h 10000"/>
              <a:gd name="connsiteX4" fmla="*/ 0 w 10003"/>
              <a:gd name="connsiteY4" fmla="*/ 3 h 10000"/>
              <a:gd name="connsiteX0" fmla="*/ 8 w 10011"/>
              <a:gd name="connsiteY0" fmla="*/ 3 h 10004"/>
              <a:gd name="connsiteX1" fmla="*/ 5300 w 10011"/>
              <a:gd name="connsiteY1" fmla="*/ 0 h 10004"/>
              <a:gd name="connsiteX2" fmla="*/ 10011 w 10011"/>
              <a:gd name="connsiteY2" fmla="*/ 10000 h 10004"/>
              <a:gd name="connsiteX3" fmla="*/ 0 w 10011"/>
              <a:gd name="connsiteY3" fmla="*/ 10004 h 10004"/>
              <a:gd name="connsiteX4" fmla="*/ 8 w 10011"/>
              <a:gd name="connsiteY4" fmla="*/ 3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1" h="10004">
                <a:moveTo>
                  <a:pt x="8" y="3"/>
                </a:moveTo>
                <a:lnTo>
                  <a:pt x="5300" y="0"/>
                </a:lnTo>
                <a:lnTo>
                  <a:pt x="10011" y="10000"/>
                </a:lnTo>
                <a:lnTo>
                  <a:pt x="0" y="10004"/>
                </a:lnTo>
                <a:cubicBezTo>
                  <a:pt x="-1" y="6665"/>
                  <a:pt x="9" y="3341"/>
                  <a:pt x="8" y="3"/>
                </a:cubicBezTo>
                <a:close/>
              </a:path>
            </a:pathLst>
          </a:custGeom>
          <a:solidFill>
            <a:srgbClr val="000000">
              <a:alpha val="70000"/>
            </a:srgbClr>
          </a:solidFill>
        </p:spPr>
        <p:txBody>
          <a:bodyPr lIns="365760" tIns="137160" rIns="137160" bIns="1097280" anchor="b" anchorCtr="0">
            <a:noAutofit/>
          </a:bodyPr>
          <a:lstStyle>
            <a:lvl1pPr>
              <a:defRPr sz="6600" spc="-102" baseline="0">
                <a:solidFill>
                  <a:schemeClr val="bg1"/>
                </a:solidFill>
              </a:defRPr>
            </a:lvl1pPr>
          </a:lstStyle>
          <a:p>
            <a:r>
              <a:rPr lang="en-US"/>
              <a:t>Demo title</a:t>
            </a:r>
          </a:p>
        </p:txBody>
      </p:sp>
      <p:sp>
        <p:nvSpPr>
          <p:cNvPr id="5" name="Picture Placeholder 4"/>
          <p:cNvSpPr>
            <a:spLocks noGrp="1"/>
          </p:cNvSpPr>
          <p:nvPr>
            <p:ph type="pic" sz="quarter" idx="10" hasCustomPrompt="1"/>
          </p:nvPr>
        </p:nvSpPr>
        <p:spPr>
          <a:xfrm>
            <a:off x="0" y="-4920"/>
            <a:ext cx="12436474" cy="7002244"/>
          </a:xfrm>
        </p:spPr>
        <p:txBody>
          <a:bodyPr/>
          <a:lstStyle>
            <a:lvl1pPr marL="0" indent="0">
              <a:buNone/>
              <a:defRPr baseline="0">
                <a:solidFill>
                  <a:schemeClr val="bg1"/>
                </a:solidFill>
              </a:defRPr>
            </a:lvl1pPr>
          </a:lstStyle>
          <a:p>
            <a:r>
              <a:rPr lang="en-US"/>
              <a:t>Click on icon to</a:t>
            </a:r>
            <a:br>
              <a:rPr lang="en-US"/>
            </a:br>
            <a:r>
              <a:rPr lang="en-US"/>
              <a:t>insert picture then</a:t>
            </a:r>
            <a:br>
              <a:rPr lang="en-US"/>
            </a:br>
            <a:r>
              <a:rPr lang="en-US"/>
              <a:t>send to back</a:t>
            </a:r>
          </a:p>
        </p:txBody>
      </p:sp>
    </p:spTree>
    <p:extLst>
      <p:ext uri="{BB962C8B-B14F-4D97-AF65-F5344CB8AC3E}">
        <p14:creationId xmlns:p14="http://schemas.microsoft.com/office/powerpoint/2010/main" val="190044792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4" name="Rectangle 3"/>
          <p:cNvSpPr/>
          <p:nvPr userDrawn="1"/>
        </p:nvSpPr>
        <p:spPr bwMode="auto">
          <a:xfrm>
            <a:off x="274702" y="1211287"/>
            <a:ext cx="10058336" cy="274317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91241">
                      <a:schemeClr val="tx1"/>
                    </a:gs>
                    <a:gs pos="57000">
                      <a:schemeClr val="tx1"/>
                    </a:gs>
                    <a:gs pos="18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8" y="3954463"/>
            <a:ext cx="10058401" cy="1829593"/>
          </a:xfrm>
          <a:noFill/>
        </p:spPr>
        <p:txBody>
          <a:bodyPr lIns="182880" tIns="146304" rIns="182880" bIns="146304">
            <a:noAutofit/>
          </a:bodyPr>
          <a:lstStyle>
            <a:lvl1pPr marL="0" indent="0">
              <a:spcBef>
                <a:spcPts val="0"/>
              </a:spcBef>
              <a:buNone/>
              <a:defRPr sz="3600" spc="0" baseline="0">
                <a:gradFill>
                  <a:gsLst>
                    <a:gs pos="91241">
                      <a:schemeClr val="tx1"/>
                    </a:gs>
                    <a:gs pos="57000">
                      <a:schemeClr val="tx1"/>
                    </a:gs>
                    <a:gs pos="18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29238619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BAB1AB-DB06-4C96-B412-4F8E89F0507F}"/>
              </a:ext>
            </a:extLst>
          </p:cNvPr>
          <p:cNvPicPr>
            <a:picLocks noChangeAspect="1"/>
          </p:cNvPicPr>
          <p:nvPr userDrawn="1"/>
        </p:nvPicPr>
        <p:blipFill>
          <a:blip r:embed="rId2">
            <a:duotone>
              <a:prstClr val="black"/>
              <a:schemeClr val="tx2">
                <a:tint val="45000"/>
                <a:satMod val="400000"/>
              </a:schemeClr>
            </a:duotone>
          </a:blip>
          <a:stretch>
            <a:fillRect/>
          </a:stretch>
        </p:blipFill>
        <p:spPr>
          <a:xfrm>
            <a:off x="0" y="-37865"/>
            <a:ext cx="12436475" cy="637305"/>
          </a:xfrm>
          <a:prstGeom prst="rect">
            <a:avLst/>
          </a:prstGeom>
          <a:solidFill>
            <a:schemeClr val="tx1">
              <a:lumMod val="40000"/>
              <a:lumOff val="60000"/>
            </a:schemeClr>
          </a:solidFill>
        </p:spPr>
      </p:pic>
      <p:sp>
        <p:nvSpPr>
          <p:cNvPr id="2" name="Title 1"/>
          <p:cNvSpPr>
            <a:spLocks noGrp="1"/>
          </p:cNvSpPr>
          <p:nvPr>
            <p:ph type="title"/>
          </p:nvPr>
        </p:nvSpPr>
        <p:spPr>
          <a:xfrm>
            <a:off x="71439" y="-30479"/>
            <a:ext cx="11889564" cy="629920"/>
          </a:xfrm>
        </p:spPr>
        <p:txBody>
          <a:bodyPr/>
          <a:lstStyle>
            <a:lvl1pPr>
              <a:defRPr lang="en-US" sz="3600" b="1" kern="1200" cap="none" spc="-102" baseline="0" dirty="0">
                <a:ln w="3175">
                  <a:noFill/>
                </a:ln>
                <a:solidFill>
                  <a:schemeClr val="bg1"/>
                </a:solidFill>
                <a:effectLst/>
                <a:latin typeface="+mj-lt"/>
                <a:ea typeface="+mn-ea"/>
                <a:cs typeface="Segoe UI" pitchFamily="34" charset="0"/>
              </a:defRPr>
            </a:lvl1pPr>
          </a:lstStyle>
          <a:p>
            <a:r>
              <a:rPr lang="en-US" dirty="0"/>
              <a:t>Click to edit Master title style</a:t>
            </a:r>
          </a:p>
        </p:txBody>
      </p:sp>
      <p:sp>
        <p:nvSpPr>
          <p:cNvPr id="4" name="Text Placeholder 3"/>
          <p:cNvSpPr>
            <a:spLocks noGrp="1"/>
          </p:cNvSpPr>
          <p:nvPr>
            <p:ph type="body" sz="quarter" idx="11"/>
          </p:nvPr>
        </p:nvSpPr>
        <p:spPr>
          <a:xfrm>
            <a:off x="274639" y="1212849"/>
            <a:ext cx="11889564" cy="1969770"/>
          </a:xfrm>
        </p:spPr>
        <p:txBody>
          <a:bodyPr/>
          <a:lstStyle>
            <a:lvl1pPr marL="0" indent="0">
              <a:spcBef>
                <a:spcPts val="1800"/>
              </a:spcBef>
              <a:buNone/>
              <a:defRPr sz="3200" baseline="0">
                <a:solidFill>
                  <a:srgbClr val="00619D"/>
                </a:solidFill>
              </a:defRPr>
            </a:lvl1pPr>
            <a:lvl2pPr marL="0" indent="0">
              <a:spcBef>
                <a:spcPts val="600"/>
              </a:spcBef>
              <a:buNone/>
              <a:defRPr sz="2000"/>
            </a:lvl2pPr>
            <a:lvl3pPr marL="223838" indent="0">
              <a:buNone/>
              <a:defRPr sz="2000"/>
            </a:lvl3pPr>
            <a:lvl4pPr marL="476250" indent="0">
              <a:buNone/>
              <a:defRPr sz="1800"/>
            </a:lvl4pPr>
            <a:lvl5pPr marL="739775" indent="0">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4">
            <a:extLst>
              <a:ext uri="{FF2B5EF4-FFF2-40B4-BE49-F238E27FC236}">
                <a16:creationId xmlns:a16="http://schemas.microsoft.com/office/drawing/2014/main" id="{DB513695-7592-4736-BB1C-E96FCB238208}"/>
              </a:ext>
            </a:extLst>
          </p:cNvPr>
          <p:cNvSpPr>
            <a:spLocks noGrp="1"/>
          </p:cNvSpPr>
          <p:nvPr>
            <p:ph type="sldNum" sz="quarter" idx="16"/>
          </p:nvPr>
        </p:nvSpPr>
        <p:spPr>
          <a:xfrm>
            <a:off x="0" y="6279905"/>
            <a:ext cx="711200" cy="244476"/>
          </a:xfrm>
          <a:prstGeom prst="rect">
            <a:avLst/>
          </a:prstGeom>
          <a:solidFill>
            <a:srgbClr val="7DA0D0"/>
          </a:solidFill>
        </p:spPr>
        <p:txBody>
          <a:bodyPr>
            <a:normAutofit fontScale="62500" lnSpcReduction="20000"/>
          </a:bodyPr>
          <a:lstStyle/>
          <a:p>
            <a:pPr algn="ctr"/>
            <a:fld id="{8F82E0A0-C266-4798-8C8F-B9F91E9DA37E}" type="slidenum">
              <a:rPr kumimoji="0" lang="en-US" sz="1867" b="1" smtClean="0">
                <a:solidFill>
                  <a:srgbClr val="FFFFFF"/>
                </a:solidFill>
              </a:rPr>
              <a:pPr algn="ctr"/>
              <a:t>‹#›</a:t>
            </a:fld>
            <a:endParaRPr kumimoji="0" lang="en-US" dirty="0"/>
          </a:p>
        </p:txBody>
      </p:sp>
    </p:spTree>
    <p:extLst>
      <p:ext uri="{BB962C8B-B14F-4D97-AF65-F5344CB8AC3E}">
        <p14:creationId xmlns:p14="http://schemas.microsoft.com/office/powerpoint/2010/main" val="64264873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non-bulleted text - two area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E923CA-E4EB-46D5-80FA-BD72E7F11DC9}"/>
              </a:ext>
            </a:extLst>
          </p:cNvPr>
          <p:cNvSpPr/>
          <p:nvPr userDrawn="1"/>
        </p:nvSpPr>
        <p:spPr bwMode="auto">
          <a:xfrm>
            <a:off x="-18019" y="0"/>
            <a:ext cx="4084637" cy="6994525"/>
          </a:xfrm>
          <a:prstGeom prst="rect">
            <a:avLst/>
          </a:prstGeom>
          <a:solidFill>
            <a:schemeClr val="bg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a:xfrm>
            <a:off x="274639" y="295274"/>
            <a:ext cx="3505198" cy="917575"/>
          </a:xfrm>
        </p:spPr>
        <p:txBody>
          <a:bodyPr/>
          <a:lstStyle>
            <a:lvl1pPr>
              <a:defRPr b="1">
                <a:solidFill>
                  <a:schemeClr val="tx2"/>
                </a:solidFill>
              </a:defRPr>
            </a:lvl1pPr>
          </a:lstStyle>
          <a:p>
            <a:r>
              <a:rPr lang="en-US"/>
              <a:t>Click to edit Master title style</a:t>
            </a:r>
          </a:p>
        </p:txBody>
      </p:sp>
      <p:sp>
        <p:nvSpPr>
          <p:cNvPr id="4" name="Text Placeholder 3"/>
          <p:cNvSpPr>
            <a:spLocks noGrp="1"/>
          </p:cNvSpPr>
          <p:nvPr>
            <p:ph type="body" sz="quarter" idx="11"/>
          </p:nvPr>
        </p:nvSpPr>
        <p:spPr>
          <a:xfrm>
            <a:off x="4359275" y="295274"/>
            <a:ext cx="7728727" cy="1969770"/>
          </a:xfrm>
        </p:spPr>
        <p:txBody>
          <a:bodyPr/>
          <a:lstStyle>
            <a:lvl1pPr marL="0" indent="0">
              <a:spcBef>
                <a:spcPts val="1800"/>
              </a:spcBef>
              <a:buNone/>
              <a:defRPr sz="3200" baseline="0">
                <a:solidFill>
                  <a:srgbClr val="00619D"/>
                </a:solidFill>
              </a:defRPr>
            </a:lvl1pPr>
            <a:lvl2pPr marL="0" indent="0">
              <a:spcBef>
                <a:spcPts val="600"/>
              </a:spcBef>
              <a:buNone/>
              <a:defRPr sz="2000"/>
            </a:lvl2pPr>
            <a:lvl3pPr marL="223838" indent="0">
              <a:buNone/>
              <a:defRPr sz="2000"/>
            </a:lvl3pPr>
            <a:lvl4pPr marL="476250" indent="0">
              <a:buNone/>
              <a:defRPr sz="1800"/>
            </a:lvl4pPr>
            <a:lvl5pPr marL="739775"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61000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backgrou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CEE4F4-92BE-470E-A9BD-F9704C249013}"/>
              </a:ext>
            </a:extLst>
          </p:cNvPr>
          <p:cNvSpPr/>
          <p:nvPr userDrawn="1"/>
        </p:nvSpPr>
        <p:spPr bwMode="auto">
          <a:xfrm>
            <a:off x="-1" y="0"/>
            <a:ext cx="12436475" cy="6995160"/>
          </a:xfrm>
          <a:prstGeom prst="rect">
            <a:avLst/>
          </a:prstGeom>
          <a:blipFill>
            <a:blip r:embed="rId2"/>
            <a:stretch>
              <a:fillRect/>
            </a:stretch>
          </a:blipFill>
        </p:spPr>
        <p:txBody>
          <a:bodyPr rot="0" spcFirstLastPara="0" vertOverflow="overflow" horzOverflow="overflow" vert="horz" wrap="square" lIns="146304" tIns="91440" rIns="146304" bIns="91440" numCol="1" spcCol="0" rtlCol="0" fromWordArt="0" anchor="t" anchorCtr="0" forceAA="0" compatLnSpc="1">
            <a:prstTxWarp prst="textNoShape">
              <a:avLst/>
            </a:prstTxWarp>
            <a:noAutofit/>
          </a:bodyPr>
          <a:lstStyle/>
          <a:p>
            <a:pPr marL="342900" marR="0" lvl="0" indent="-342900" fontAlgn="auto">
              <a:lnSpc>
                <a:spcPct val="90000"/>
              </a:lnSpc>
              <a:spcBef>
                <a:spcPct val="20000"/>
              </a:spcBef>
              <a:spcAft>
                <a:spcPts val="0"/>
              </a:spcAft>
              <a:buClr>
                <a:schemeClr val="tx1"/>
              </a:buClr>
              <a:buSzPct val="90000"/>
              <a:buFont typeface="Wingdings" panose="05000000000000000000" pitchFamily="2" charset="2"/>
              <a:buChar char="§"/>
              <a:tabLst/>
            </a:pPr>
            <a:endParaRPr lang="en-US" sz="4000" spc="0" baseline="0" err="1">
              <a:gradFill>
                <a:gsLst>
                  <a:gs pos="1250">
                    <a:schemeClr val="tx1"/>
                  </a:gs>
                  <a:gs pos="100000">
                    <a:schemeClr val="tx1"/>
                  </a:gs>
                </a:gsLst>
                <a:lin ang="5400000" scaled="0"/>
              </a:gradFill>
              <a:latin typeface="+mj-lt"/>
            </a:endParaRPr>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
          <p:cNvSpPr>
            <a:spLocks noGrp="1"/>
          </p:cNvSpPr>
          <p:nvPr>
            <p:ph type="body" sz="quarter" idx="11"/>
          </p:nvPr>
        </p:nvSpPr>
        <p:spPr>
          <a:xfrm>
            <a:off x="274639" y="1212849"/>
            <a:ext cx="11889564" cy="1969770"/>
          </a:xfrm>
        </p:spPr>
        <p:txBody>
          <a:bodyPr/>
          <a:lstStyle>
            <a:lvl1pPr marL="0" indent="0">
              <a:spcBef>
                <a:spcPts val="1800"/>
              </a:spcBef>
              <a:buNone/>
              <a:defRPr sz="3200">
                <a:solidFill>
                  <a:schemeClr val="bg1"/>
                </a:solidFill>
              </a:defRPr>
            </a:lvl1pPr>
            <a:lvl2pPr marL="28575" indent="0">
              <a:spcBef>
                <a:spcPts val="600"/>
              </a:spcBef>
              <a:buNone/>
              <a:defRPr sz="2000">
                <a:solidFill>
                  <a:schemeClr val="bg1"/>
                </a:solidFill>
              </a:defRPr>
            </a:lvl2pPr>
            <a:lvl3pPr marL="223838" indent="0">
              <a:buNone/>
              <a:defRPr sz="2000">
                <a:solidFill>
                  <a:schemeClr val="bg1"/>
                </a:solidFill>
              </a:defRPr>
            </a:lvl3pPr>
            <a:lvl4pPr marL="476250" indent="0">
              <a:buNone/>
              <a:defRPr sz="1800">
                <a:solidFill>
                  <a:schemeClr val="bg1"/>
                </a:solidFill>
              </a:defRPr>
            </a:lvl4pPr>
            <a:lvl5pPr marL="739775" indent="0">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963892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982081"/>
          </a:xfrm>
        </p:spPr>
        <p:txBody>
          <a:bodyPr wrap="square">
            <a:spAutoFit/>
          </a:bodyPr>
          <a:lstStyle>
            <a:lvl1pPr marL="0" indent="0">
              <a:spcBef>
                <a:spcPts val="1224"/>
              </a:spcBef>
              <a:buClr>
                <a:schemeClr val="tx1"/>
              </a:buClr>
              <a:buFont typeface="Wingdings" pitchFamily="2" charset="2"/>
              <a:buNone/>
              <a:defRPr lang="en-US" sz="3200" kern="1200" spc="0" baseline="0" dirty="0">
                <a:solidFill>
                  <a:srgbClr val="00619D"/>
                </a:solidFill>
                <a:latin typeface="+mj-lt"/>
                <a:ea typeface="+mn-ea"/>
                <a:cs typeface="+mn-cs"/>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82081"/>
          </a:xfrm>
        </p:spPr>
        <p:txBody>
          <a:bodyPr wrap="square">
            <a:spAutoFit/>
          </a:bodyPr>
          <a:lstStyle>
            <a:lvl1pPr marL="0" indent="0">
              <a:spcBef>
                <a:spcPts val="1224"/>
              </a:spcBef>
              <a:buClr>
                <a:schemeClr val="tx1"/>
              </a:buClr>
              <a:buFont typeface="Wingdings" pitchFamily="2" charset="2"/>
              <a:buNone/>
              <a:defRPr lang="en-US" sz="3200" kern="1200" spc="0" baseline="0" dirty="0">
                <a:solidFill>
                  <a:srgbClr val="00619D"/>
                </a:solidFill>
                <a:latin typeface="+mj-lt"/>
                <a:ea typeface="+mn-ea"/>
                <a:cs typeface="+mn-cs"/>
              </a:defRPr>
            </a:lvl1pPr>
            <a:lvl2pPr marL="0" indent="0">
              <a:buNone/>
              <a:defRPr sz="2000"/>
            </a:lvl2pPr>
            <a:lvl3pPr marL="231775" indent="0">
              <a:buNone/>
              <a:tabLst/>
              <a:defRPr sz="2000"/>
            </a:lvl3pPr>
            <a:lvl4pPr marL="460375" indent="0">
              <a:buNone/>
              <a:defRPr/>
            </a:lvl4pPr>
            <a:lvl5pPr marL="685800" indent="0">
              <a:buNone/>
              <a:tabLst/>
              <a:defRPr/>
            </a:lvl5pPr>
          </a:lstStyle>
          <a:p>
            <a:pPr marL="0" marR="0" lvl="0" indent="0" algn="l" defTabSz="932742" rtl="0" eaLnBrk="1" fontAlgn="auto" latinLnBrk="0" hangingPunct="1">
              <a:lnSpc>
                <a:spcPct val="90000"/>
              </a:lnSpc>
              <a:spcBef>
                <a:spcPts val="1224"/>
              </a:spcBef>
              <a:spcAft>
                <a:spcPts val="0"/>
              </a:spcAft>
              <a:buClr>
                <a:schemeClr val="tx1"/>
              </a:buClr>
              <a:buSzPct val="90000"/>
              <a:buFont typeface="Wingdings" pitchFamily="2" charset="2"/>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883987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982081"/>
          </a:xfrm>
        </p:spPr>
        <p:txBody>
          <a:bodyPr wrap="square">
            <a:spAutoFit/>
          </a:bodyPr>
          <a:lstStyle>
            <a:lvl1pPr marL="0" indent="0">
              <a:spcBef>
                <a:spcPts val="1224"/>
              </a:spcBef>
              <a:buClr>
                <a:schemeClr val="tx1"/>
              </a:buClr>
              <a:buFont typeface="Wingdings" pitchFamily="2" charset="2"/>
              <a:buNone/>
              <a:defRPr sz="3200">
                <a:gradFill>
                  <a:gsLst>
                    <a:gs pos="5109">
                      <a:schemeClr val="tx2"/>
                    </a:gs>
                    <a:gs pos="25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82081"/>
          </a:xfrm>
        </p:spPr>
        <p:txBody>
          <a:bodyPr wrap="square">
            <a:spAutoFit/>
          </a:bodyPr>
          <a:lstStyle>
            <a:lvl1pPr marL="0" indent="0">
              <a:spcBef>
                <a:spcPts val="1224"/>
              </a:spcBef>
              <a:buClr>
                <a:schemeClr val="tx1"/>
              </a:buClr>
              <a:buFont typeface="Wingdings" pitchFamily="2" charset="2"/>
              <a:buNone/>
              <a:defRPr sz="3200">
                <a:gradFill>
                  <a:gsLst>
                    <a:gs pos="100000">
                      <a:schemeClr val="tx2"/>
                    </a:gs>
                    <a:gs pos="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85081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p:cNvSpPr>
            <a:spLocks noGrp="1"/>
          </p:cNvSpPr>
          <p:nvPr>
            <p:ph type="title"/>
          </p:nvPr>
        </p:nvSpPr>
        <p:spPr>
          <a:xfrm>
            <a:off x="282576" y="1211263"/>
            <a:ext cx="11889564" cy="917575"/>
          </a:xfrm>
        </p:spPr>
        <p:txBody>
          <a:bodyPr/>
          <a:lstStyle>
            <a:lvl1pPr>
              <a:defRPr sz="7200" baseline="0"/>
            </a:lvl1pPr>
          </a:lstStyle>
          <a:p>
            <a:r>
              <a:rPr lang="en-US"/>
              <a:t>Click to edit Master title style</a:t>
            </a:r>
          </a:p>
        </p:txBody>
      </p:sp>
    </p:spTree>
    <p:extLst>
      <p:ext uri="{BB962C8B-B14F-4D97-AF65-F5344CB8AC3E}">
        <p14:creationId xmlns:p14="http://schemas.microsoft.com/office/powerpoint/2010/main" val="291529329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act Layout">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a:t>Click to edit Master title style</a:t>
            </a:r>
          </a:p>
        </p:txBody>
      </p:sp>
    </p:spTree>
    <p:extLst>
      <p:ext uri="{BB962C8B-B14F-4D97-AF65-F5344CB8AC3E}">
        <p14:creationId xmlns:p14="http://schemas.microsoft.com/office/powerpoint/2010/main" val="23901613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Fact Layout_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a:t>Click to edit Master title style</a:t>
            </a:r>
          </a:p>
        </p:txBody>
      </p:sp>
    </p:spTree>
    <p:extLst>
      <p:ext uri="{BB962C8B-B14F-4D97-AF65-F5344CB8AC3E}">
        <p14:creationId xmlns:p14="http://schemas.microsoft.com/office/powerpoint/2010/main" val="253860340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89038" y="1201806"/>
            <a:ext cx="10058399" cy="917575"/>
          </a:xfrm>
        </p:spPr>
        <p:txBody>
          <a:bodyPr/>
          <a:lstStyle>
            <a:lvl1pPr marL="233363" indent="-233363">
              <a:defRPr sz="6000" baseline="0"/>
            </a:lvl1pPr>
          </a:lstStyle>
          <a:p>
            <a:r>
              <a:rPr lang="en-US"/>
              <a:t>“Sample quote goes here. Design is easier than it looks, and more important than it seems.”</a:t>
            </a:r>
          </a:p>
        </p:txBody>
      </p:sp>
      <p:sp>
        <p:nvSpPr>
          <p:cNvPr id="4" name="Text Placeholder 3"/>
          <p:cNvSpPr>
            <a:spLocks noGrp="1"/>
          </p:cNvSpPr>
          <p:nvPr>
            <p:ph type="body" sz="quarter" idx="10" hasCustomPrompt="1"/>
          </p:nvPr>
        </p:nvSpPr>
        <p:spPr>
          <a:xfrm>
            <a:off x="5761038" y="5126038"/>
            <a:ext cx="5486400" cy="1071062"/>
          </a:xfrm>
        </p:spPr>
        <p:txBody>
          <a:bodyPr/>
          <a:lstStyle>
            <a:lvl1pPr marL="0" indent="0">
              <a:spcBef>
                <a:spcPts val="0"/>
              </a:spcBef>
              <a:buNone/>
              <a:defRPr sz="3200" baseline="0">
                <a:latin typeface="+mj-lt"/>
              </a:defRPr>
            </a:lvl1pPr>
          </a:lstStyle>
          <a:p>
            <a:pPr lvl="0"/>
            <a:r>
              <a:rPr lang="en-US"/>
              <a:t>Author Name</a:t>
            </a:r>
          </a:p>
          <a:p>
            <a:pPr lvl="0"/>
            <a:r>
              <a:rPr lang="en-US"/>
              <a:t>Title</a:t>
            </a:r>
          </a:p>
        </p:txBody>
      </p:sp>
    </p:spTree>
    <p:extLst>
      <p:ext uri="{BB962C8B-B14F-4D97-AF65-F5344CB8AC3E}">
        <p14:creationId xmlns:p14="http://schemas.microsoft.com/office/powerpoint/2010/main" val="318336336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Layout_Accent Color 1">
    <p:bg>
      <p:bgPr>
        <a:solidFill>
          <a:schemeClr val="accent1"/>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89038" y="2125663"/>
            <a:ext cx="10058399" cy="917575"/>
          </a:xfrm>
        </p:spPr>
        <p:txBody>
          <a:bodyPr/>
          <a:lstStyle>
            <a:lvl1pPr marL="282575" indent="-282575">
              <a:tabLst>
                <a:tab pos="282575" algn="l"/>
              </a:tabLst>
              <a:defRPr sz="6000" baseline="0"/>
            </a:lvl1pPr>
          </a:lstStyle>
          <a:p>
            <a:r>
              <a:rPr lang="en-US"/>
              <a:t>“	Add a quote here. Design is easier than it looks, and more important than it seems.”</a:t>
            </a:r>
          </a:p>
        </p:txBody>
      </p:sp>
      <p:sp>
        <p:nvSpPr>
          <p:cNvPr id="4" name="Text Placeholder 3"/>
          <p:cNvSpPr>
            <a:spLocks noGrp="1"/>
          </p:cNvSpPr>
          <p:nvPr>
            <p:ph type="body" sz="quarter" idx="10" hasCustomPrompt="1"/>
          </p:nvPr>
        </p:nvSpPr>
        <p:spPr>
          <a:xfrm>
            <a:off x="5761038" y="4868847"/>
            <a:ext cx="5486400" cy="1071062"/>
          </a:xfrm>
        </p:spPr>
        <p:txBody>
          <a:bodyPr/>
          <a:lstStyle>
            <a:lvl1pPr marL="0" indent="0">
              <a:spcBef>
                <a:spcPts val="0"/>
              </a:spcBef>
              <a:buNone/>
              <a:defRPr sz="3200" baseline="0">
                <a:latin typeface="+mj-lt"/>
              </a:defRPr>
            </a:lvl1pPr>
          </a:lstStyle>
          <a:p>
            <a:pPr lvl="0"/>
            <a:r>
              <a:rPr lang="en-US"/>
              <a:t>Author’s Name</a:t>
            </a:r>
          </a:p>
          <a:p>
            <a:pPr lvl="0"/>
            <a:r>
              <a:rPr lang="en-US"/>
              <a:t>Title</a:t>
            </a:r>
          </a:p>
        </p:txBody>
      </p:sp>
    </p:spTree>
    <p:extLst>
      <p:ext uri="{BB962C8B-B14F-4D97-AF65-F5344CB8AC3E}">
        <p14:creationId xmlns:p14="http://schemas.microsoft.com/office/powerpoint/2010/main" val="12433338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Idea &amp; 3 Points">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82576" y="2430462"/>
            <a:ext cx="11887200" cy="932563"/>
          </a:xfrm>
        </p:spPr>
        <p:txBody>
          <a:bodyPr/>
          <a:lstStyle>
            <a:lvl1pPr marL="0" indent="0">
              <a:buNone/>
              <a:defRPr sz="5400">
                <a:gradFill>
                  <a:gsLst>
                    <a:gs pos="3333">
                      <a:schemeClr val="tx1"/>
                    </a:gs>
                    <a:gs pos="3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p:txBody>
      </p:sp>
      <p:sp>
        <p:nvSpPr>
          <p:cNvPr id="4" name="Title 1"/>
          <p:cNvSpPr>
            <a:spLocks noGrp="1"/>
          </p:cNvSpPr>
          <p:nvPr>
            <p:ph type="title"/>
          </p:nvPr>
        </p:nvSpPr>
        <p:spPr>
          <a:xfrm>
            <a:off x="282576" y="1211263"/>
            <a:ext cx="11889564" cy="917575"/>
          </a:xfrm>
        </p:spPr>
        <p:txBody>
          <a:bodyPr/>
          <a:lstStyle>
            <a:lvl1pPr>
              <a:defRPr sz="7200" baseline="0">
                <a:gradFill>
                  <a:gsLst>
                    <a:gs pos="1250">
                      <a:schemeClr val="tx1"/>
                    </a:gs>
                    <a:gs pos="100000">
                      <a:schemeClr val="tx1"/>
                    </a:gs>
                  </a:gsLst>
                  <a:lin ang="5400000" scaled="0"/>
                </a:gradFill>
              </a:defRPr>
            </a:lvl1pPr>
          </a:lstStyle>
          <a:p>
            <a:r>
              <a:rPr lang="en-US"/>
              <a:t>Click to edit Master title style</a:t>
            </a:r>
          </a:p>
        </p:txBody>
      </p:sp>
    </p:spTree>
    <p:extLst>
      <p:ext uri="{BB962C8B-B14F-4D97-AF65-F5344CB8AC3E}">
        <p14:creationId xmlns:p14="http://schemas.microsoft.com/office/powerpoint/2010/main" val="48033091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itle w/black overlay">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5399" y="-1026"/>
            <a:ext cx="6758302" cy="699835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 h 10000"/>
              <a:gd name="connsiteX0" fmla="*/ 0 w 10000"/>
              <a:gd name="connsiteY0" fmla="*/ 0 h 9997"/>
              <a:gd name="connsiteX1" fmla="*/ 5160 w 10000"/>
              <a:gd name="connsiteY1" fmla="*/ 24 h 9997"/>
              <a:gd name="connsiteX2" fmla="*/ 10000 w 10000"/>
              <a:gd name="connsiteY2" fmla="*/ 9997 h 9997"/>
              <a:gd name="connsiteX3" fmla="*/ 0 w 10000"/>
              <a:gd name="connsiteY3" fmla="*/ 9997 h 9997"/>
              <a:gd name="connsiteX4" fmla="*/ 0 w 10000"/>
              <a:gd name="connsiteY4" fmla="*/ 0 h 9997"/>
              <a:gd name="connsiteX0" fmla="*/ 0 w 9679"/>
              <a:gd name="connsiteY0" fmla="*/ 0 h 10027"/>
              <a:gd name="connsiteX1" fmla="*/ 5160 w 9679"/>
              <a:gd name="connsiteY1" fmla="*/ 24 h 10027"/>
              <a:gd name="connsiteX2" fmla="*/ 9679 w 9679"/>
              <a:gd name="connsiteY2" fmla="*/ 10027 h 10027"/>
              <a:gd name="connsiteX3" fmla="*/ 0 w 9679"/>
              <a:gd name="connsiteY3" fmla="*/ 10000 h 10027"/>
              <a:gd name="connsiteX4" fmla="*/ 0 w 9679"/>
              <a:gd name="connsiteY4" fmla="*/ 0 h 10027"/>
              <a:gd name="connsiteX0" fmla="*/ 0 w 10000"/>
              <a:gd name="connsiteY0" fmla="*/ 10 h 10010"/>
              <a:gd name="connsiteX1" fmla="*/ 5302 w 10000"/>
              <a:gd name="connsiteY1" fmla="*/ 0 h 10010"/>
              <a:gd name="connsiteX2" fmla="*/ 10000 w 10000"/>
              <a:gd name="connsiteY2" fmla="*/ 10010 h 10010"/>
              <a:gd name="connsiteX3" fmla="*/ 0 w 10000"/>
              <a:gd name="connsiteY3" fmla="*/ 9983 h 10010"/>
              <a:gd name="connsiteX4" fmla="*/ 0 w 10000"/>
              <a:gd name="connsiteY4" fmla="*/ 10 h 10010"/>
              <a:gd name="connsiteX0" fmla="*/ 0 w 10000"/>
              <a:gd name="connsiteY0" fmla="*/ 10 h 10010"/>
              <a:gd name="connsiteX1" fmla="*/ 5302 w 10000"/>
              <a:gd name="connsiteY1" fmla="*/ 0 h 10010"/>
              <a:gd name="connsiteX2" fmla="*/ 10000 w 10000"/>
              <a:gd name="connsiteY2" fmla="*/ 10010 h 10010"/>
              <a:gd name="connsiteX3" fmla="*/ 4 w 10000"/>
              <a:gd name="connsiteY3" fmla="*/ 10010 h 10010"/>
              <a:gd name="connsiteX4" fmla="*/ 0 w 10000"/>
              <a:gd name="connsiteY4" fmla="*/ 10 h 10010"/>
              <a:gd name="connsiteX0" fmla="*/ 0 w 10000"/>
              <a:gd name="connsiteY0" fmla="*/ 21 h 10010"/>
              <a:gd name="connsiteX1" fmla="*/ 5302 w 10000"/>
              <a:gd name="connsiteY1" fmla="*/ 0 h 10010"/>
              <a:gd name="connsiteX2" fmla="*/ 10000 w 10000"/>
              <a:gd name="connsiteY2" fmla="*/ 10010 h 10010"/>
              <a:gd name="connsiteX3" fmla="*/ 4 w 10000"/>
              <a:gd name="connsiteY3" fmla="*/ 10010 h 10010"/>
              <a:gd name="connsiteX4" fmla="*/ 0 w 10000"/>
              <a:gd name="connsiteY4" fmla="*/ 21 h 10010"/>
              <a:gd name="connsiteX0" fmla="*/ 286 w 9997"/>
              <a:gd name="connsiteY0" fmla="*/ 216 h 10010"/>
              <a:gd name="connsiteX1" fmla="*/ 5299 w 9997"/>
              <a:gd name="connsiteY1" fmla="*/ 0 h 10010"/>
              <a:gd name="connsiteX2" fmla="*/ 9997 w 9997"/>
              <a:gd name="connsiteY2" fmla="*/ 10010 h 10010"/>
              <a:gd name="connsiteX3" fmla="*/ 1 w 9997"/>
              <a:gd name="connsiteY3" fmla="*/ 10010 h 10010"/>
              <a:gd name="connsiteX4" fmla="*/ 286 w 9997"/>
              <a:gd name="connsiteY4" fmla="*/ 216 h 10010"/>
              <a:gd name="connsiteX0" fmla="*/ 0 w 10007"/>
              <a:gd name="connsiteY0" fmla="*/ 29 h 10000"/>
              <a:gd name="connsiteX1" fmla="*/ 5308 w 10007"/>
              <a:gd name="connsiteY1" fmla="*/ 0 h 10000"/>
              <a:gd name="connsiteX2" fmla="*/ 10007 w 10007"/>
              <a:gd name="connsiteY2" fmla="*/ 10000 h 10000"/>
              <a:gd name="connsiteX3" fmla="*/ 8 w 10007"/>
              <a:gd name="connsiteY3" fmla="*/ 10000 h 10000"/>
              <a:gd name="connsiteX4" fmla="*/ 0 w 10007"/>
              <a:gd name="connsiteY4" fmla="*/ 29 h 10000"/>
              <a:gd name="connsiteX0" fmla="*/ 0 w 10007"/>
              <a:gd name="connsiteY0" fmla="*/ 0 h 9971"/>
              <a:gd name="connsiteX1" fmla="*/ 5316 w 10007"/>
              <a:gd name="connsiteY1" fmla="*/ 5 h 9971"/>
              <a:gd name="connsiteX2" fmla="*/ 10007 w 10007"/>
              <a:gd name="connsiteY2" fmla="*/ 9971 h 9971"/>
              <a:gd name="connsiteX3" fmla="*/ 8 w 10007"/>
              <a:gd name="connsiteY3" fmla="*/ 9971 h 9971"/>
              <a:gd name="connsiteX4" fmla="*/ 0 w 10007"/>
              <a:gd name="connsiteY4" fmla="*/ 0 h 9971"/>
              <a:gd name="connsiteX0" fmla="*/ 0 w 10000"/>
              <a:gd name="connsiteY0" fmla="*/ 3 h 10003"/>
              <a:gd name="connsiteX1" fmla="*/ 5292 w 10000"/>
              <a:gd name="connsiteY1" fmla="*/ 0 h 10003"/>
              <a:gd name="connsiteX2" fmla="*/ 10000 w 10000"/>
              <a:gd name="connsiteY2" fmla="*/ 10003 h 10003"/>
              <a:gd name="connsiteX3" fmla="*/ 8 w 10000"/>
              <a:gd name="connsiteY3" fmla="*/ 10003 h 10003"/>
              <a:gd name="connsiteX4" fmla="*/ 0 w 10000"/>
              <a:gd name="connsiteY4" fmla="*/ 3 h 10003"/>
              <a:gd name="connsiteX0" fmla="*/ 84 w 9993"/>
              <a:gd name="connsiteY0" fmla="*/ 114 h 10003"/>
              <a:gd name="connsiteX1" fmla="*/ 5285 w 9993"/>
              <a:gd name="connsiteY1" fmla="*/ 0 h 10003"/>
              <a:gd name="connsiteX2" fmla="*/ 9993 w 9993"/>
              <a:gd name="connsiteY2" fmla="*/ 10003 h 10003"/>
              <a:gd name="connsiteX3" fmla="*/ 1 w 9993"/>
              <a:gd name="connsiteY3" fmla="*/ 10003 h 10003"/>
              <a:gd name="connsiteX4" fmla="*/ 84 w 9993"/>
              <a:gd name="connsiteY4" fmla="*/ 114 h 10003"/>
              <a:gd name="connsiteX0" fmla="*/ 0 w 10003"/>
              <a:gd name="connsiteY0" fmla="*/ 3 h 10000"/>
              <a:gd name="connsiteX1" fmla="*/ 5292 w 10003"/>
              <a:gd name="connsiteY1" fmla="*/ 0 h 10000"/>
              <a:gd name="connsiteX2" fmla="*/ 10003 w 10003"/>
              <a:gd name="connsiteY2" fmla="*/ 10000 h 10000"/>
              <a:gd name="connsiteX3" fmla="*/ 4 w 10003"/>
              <a:gd name="connsiteY3" fmla="*/ 10000 h 10000"/>
              <a:gd name="connsiteX4" fmla="*/ 0 w 10003"/>
              <a:gd name="connsiteY4" fmla="*/ 3 h 10000"/>
              <a:gd name="connsiteX0" fmla="*/ 0 w 10003"/>
              <a:gd name="connsiteY0" fmla="*/ 3 h 10000"/>
              <a:gd name="connsiteX1" fmla="*/ 5292 w 10003"/>
              <a:gd name="connsiteY1" fmla="*/ 0 h 10000"/>
              <a:gd name="connsiteX2" fmla="*/ 10003 w 10003"/>
              <a:gd name="connsiteY2" fmla="*/ 10000 h 10000"/>
              <a:gd name="connsiteX3" fmla="*/ 0 w 10003"/>
              <a:gd name="connsiteY3" fmla="*/ 9996 h 10000"/>
              <a:gd name="connsiteX4" fmla="*/ 0 w 10003"/>
              <a:gd name="connsiteY4" fmla="*/ 3 h 10000"/>
              <a:gd name="connsiteX0" fmla="*/ 0 w 10003"/>
              <a:gd name="connsiteY0" fmla="*/ 3 h 10000"/>
              <a:gd name="connsiteX1" fmla="*/ 5292 w 10003"/>
              <a:gd name="connsiteY1" fmla="*/ 0 h 10000"/>
              <a:gd name="connsiteX2" fmla="*/ 10003 w 10003"/>
              <a:gd name="connsiteY2" fmla="*/ 10000 h 10000"/>
              <a:gd name="connsiteX3" fmla="*/ 67 w 10003"/>
              <a:gd name="connsiteY3" fmla="*/ 9920 h 10000"/>
              <a:gd name="connsiteX4" fmla="*/ 0 w 10003"/>
              <a:gd name="connsiteY4" fmla="*/ 3 h 10000"/>
              <a:gd name="connsiteX0" fmla="*/ 8 w 10011"/>
              <a:gd name="connsiteY0" fmla="*/ 3 h 10004"/>
              <a:gd name="connsiteX1" fmla="*/ 5300 w 10011"/>
              <a:gd name="connsiteY1" fmla="*/ 0 h 10004"/>
              <a:gd name="connsiteX2" fmla="*/ 10011 w 10011"/>
              <a:gd name="connsiteY2" fmla="*/ 10000 h 10004"/>
              <a:gd name="connsiteX3" fmla="*/ 0 w 10011"/>
              <a:gd name="connsiteY3" fmla="*/ 10004 h 10004"/>
              <a:gd name="connsiteX4" fmla="*/ 8 w 10011"/>
              <a:gd name="connsiteY4" fmla="*/ 3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1" h="10004">
                <a:moveTo>
                  <a:pt x="8" y="3"/>
                </a:moveTo>
                <a:lnTo>
                  <a:pt x="5300" y="0"/>
                </a:lnTo>
                <a:lnTo>
                  <a:pt x="10011" y="10000"/>
                </a:lnTo>
                <a:lnTo>
                  <a:pt x="0" y="10004"/>
                </a:lnTo>
                <a:cubicBezTo>
                  <a:pt x="-1" y="6665"/>
                  <a:pt x="9" y="3341"/>
                  <a:pt x="8" y="3"/>
                </a:cubicBezTo>
                <a:close/>
              </a:path>
            </a:pathLst>
          </a:custGeom>
          <a:solidFill>
            <a:srgbClr val="000000">
              <a:alpha val="70000"/>
            </a:srgbClr>
          </a:solidFill>
        </p:spPr>
        <p:txBody>
          <a:bodyPr lIns="365760" tIns="137160" rIns="137160" bIns="1097280" anchor="b" anchorCtr="0">
            <a:noAutofit/>
          </a:bodyPr>
          <a:lstStyle>
            <a:lvl1pPr>
              <a:defRPr sz="6600" spc="-102" baseline="0">
                <a:solidFill>
                  <a:schemeClr val="bg1"/>
                </a:solidFill>
              </a:defRPr>
            </a:lvl1pPr>
          </a:lstStyle>
          <a:p>
            <a:r>
              <a:rPr lang="en-US"/>
              <a:t>Section title</a:t>
            </a:r>
          </a:p>
        </p:txBody>
      </p:sp>
      <p:sp>
        <p:nvSpPr>
          <p:cNvPr id="5" name="Picture Placeholder 4"/>
          <p:cNvSpPr>
            <a:spLocks noGrp="1"/>
          </p:cNvSpPr>
          <p:nvPr>
            <p:ph type="pic" sz="quarter" idx="10" hasCustomPrompt="1"/>
          </p:nvPr>
        </p:nvSpPr>
        <p:spPr>
          <a:xfrm>
            <a:off x="0" y="-4920"/>
            <a:ext cx="12436475" cy="6999445"/>
          </a:xfrm>
        </p:spPr>
        <p:txBody>
          <a:bodyPr/>
          <a:lstStyle>
            <a:lvl1pPr marL="0" indent="0">
              <a:buNone/>
              <a:defRPr baseline="0">
                <a:solidFill>
                  <a:schemeClr val="bg1"/>
                </a:solidFill>
              </a:defRPr>
            </a:lvl1pPr>
          </a:lstStyle>
          <a:p>
            <a:r>
              <a:rPr lang="en-US"/>
              <a:t>Click on icon to</a:t>
            </a:r>
            <a:br>
              <a:rPr lang="en-US"/>
            </a:br>
            <a:r>
              <a:rPr lang="en-US"/>
              <a:t>insert picture then</a:t>
            </a:r>
            <a:br>
              <a:rPr lang="en-US"/>
            </a:br>
            <a:r>
              <a:rPr lang="en-US"/>
              <a:t>send to back</a:t>
            </a:r>
          </a:p>
        </p:txBody>
      </p:sp>
    </p:spTree>
    <p:extLst>
      <p:ext uri="{BB962C8B-B14F-4D97-AF65-F5344CB8AC3E}">
        <p14:creationId xmlns:p14="http://schemas.microsoft.com/office/powerpoint/2010/main" val="66715846"/>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_embedded">
    <p:spTree>
      <p:nvGrpSpPr>
        <p:cNvPr id="1" name=""/>
        <p:cNvGrpSpPr/>
        <p:nvPr/>
      </p:nvGrpSpPr>
      <p:grpSpPr>
        <a:xfrm>
          <a:off x="0" y="0"/>
          <a:ext cx="0" cy="0"/>
          <a:chOff x="0" y="0"/>
          <a:chExt cx="0" cy="0"/>
        </a:xfrm>
      </p:grpSpPr>
      <p:sp>
        <p:nvSpPr>
          <p:cNvPr id="2" name="Title 1"/>
          <p:cNvSpPr>
            <a:spLocks noGrp="1"/>
          </p:cNvSpPr>
          <p:nvPr>
            <p:ph type="title"/>
          </p:nvPr>
        </p:nvSpPr>
        <p:spPr>
          <a:xfrm>
            <a:off x="233184" y="272009"/>
            <a:ext cx="2518629" cy="2664431"/>
          </a:xfrm>
        </p:spPr>
        <p:txBody>
          <a:bodyPr anchor="t"/>
          <a:lstStyle/>
          <a:p>
            <a:r>
              <a:rPr lang="en-US"/>
              <a:t>Click to edit Master title style</a:t>
            </a:r>
          </a:p>
        </p:txBody>
      </p:sp>
      <p:pic>
        <p:nvPicPr>
          <p:cNvPr id="11" name="Content Placeholder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751813" y="595830"/>
            <a:ext cx="9296023" cy="5802865"/>
          </a:xfrm>
          <a:prstGeom prst="rect">
            <a:avLst/>
          </a:prstGeom>
        </p:spPr>
      </p:pic>
      <p:sp>
        <p:nvSpPr>
          <p:cNvPr id="13" name="Media Placeholder 8"/>
          <p:cNvSpPr>
            <a:spLocks noGrp="1"/>
          </p:cNvSpPr>
          <p:nvPr>
            <p:ph type="media" sz="quarter" idx="11" hasCustomPrompt="1"/>
          </p:nvPr>
        </p:nvSpPr>
        <p:spPr>
          <a:xfrm>
            <a:off x="3334207" y="1158505"/>
            <a:ext cx="8116095" cy="4599871"/>
          </a:xfrm>
        </p:spPr>
        <p:txBody>
          <a:bodyPr/>
          <a:lstStyle>
            <a:lvl1pPr>
              <a:defRPr baseline="0"/>
            </a:lvl1pPr>
          </a:lstStyle>
          <a:p>
            <a:r>
              <a:rPr lang="en-US"/>
              <a:t>Click to insert demo video</a:t>
            </a:r>
          </a:p>
        </p:txBody>
      </p:sp>
    </p:spTree>
    <p:extLst>
      <p:ext uri="{BB962C8B-B14F-4D97-AF65-F5344CB8AC3E}">
        <p14:creationId xmlns:p14="http://schemas.microsoft.com/office/powerpoint/2010/main" val="86529931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271" r:id="rId1"/>
    <p:sldLayoutId id="2147484269" r:id="rId2"/>
    <p:sldLayoutId id="2147484268" r:id="rId3"/>
    <p:sldLayoutId id="2147484266" r:id="rId4"/>
    <p:sldLayoutId id="2147484105" r:id="rId5"/>
    <p:sldLayoutId id="2147484212" r:id="rId6"/>
    <p:sldLayoutId id="2147484270" r:id="rId7"/>
    <p:sldLayoutId id="2147484267" r:id="rId8"/>
    <p:sldLayoutId id="2147484100" r:id="rId9"/>
    <p:sldLayoutId id="2147484213" r:id="rId10"/>
    <p:sldLayoutId id="2147484092" r:id="rId11"/>
    <p:sldLayoutId id="2147484190" r:id="rId12"/>
    <p:sldLayoutId id="2147484195" r:id="rId13"/>
    <p:sldLayoutId id="2147484209" r:id="rId14"/>
    <p:sldLayoutId id="2147484196" r:id="rId15"/>
    <p:sldLayoutId id="2147484208" r:id="rId16"/>
    <p:sldLayoutId id="2147484192" r:id="rId17"/>
    <p:sldLayoutId id="2147484265" r:id="rId18"/>
    <p:sldLayoutId id="2147484093" r:id="rId19"/>
    <p:sldLayoutId id="2147484263" r:id="rId20"/>
  </p:sldLayoutIdLst>
  <p:transition>
    <p:fade/>
  </p:transition>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userDrawn="1">
          <p15:clr>
            <a:srgbClr val="5ACBF0"/>
          </p15:clr>
        </p15:guide>
        <p15:guide id="2" pos="173" userDrawn="1">
          <p15:clr>
            <a:srgbClr val="5ACBF0"/>
          </p15:clr>
        </p15:guide>
        <p15:guide id="3" pos="7661" userDrawn="1">
          <p15:clr>
            <a:srgbClr val="5ACBF0"/>
          </p15:clr>
        </p15:guide>
        <p15:guide id="4" orient="horz" pos="4219" userDrawn="1">
          <p15:clr>
            <a:srgbClr val="5ACBF0"/>
          </p15:clr>
        </p15:guide>
        <p15:guide id="5" pos="749" userDrawn="1">
          <p15:clr>
            <a:srgbClr val="5ACBF0"/>
          </p15:clr>
        </p15:guide>
        <p15:guide id="6" pos="1325" userDrawn="1">
          <p15:clr>
            <a:srgbClr val="5ACBF0"/>
          </p15:clr>
        </p15:guide>
        <p15:guide id="7" pos="1901" userDrawn="1">
          <p15:clr>
            <a:srgbClr val="5ACBF0"/>
          </p15:clr>
        </p15:guide>
        <p15:guide id="8" pos="2477" userDrawn="1">
          <p15:clr>
            <a:srgbClr val="5ACBF0"/>
          </p15:clr>
        </p15:guide>
        <p15:guide id="9" pos="3053" userDrawn="1">
          <p15:clr>
            <a:srgbClr val="5ACBF0"/>
          </p15:clr>
        </p15:guide>
        <p15:guide id="10" pos="3629" userDrawn="1">
          <p15:clr>
            <a:srgbClr val="5ACBF0"/>
          </p15:clr>
        </p15:guide>
        <p15:guide id="11" pos="4205" userDrawn="1">
          <p15:clr>
            <a:srgbClr val="5ACBF0"/>
          </p15:clr>
        </p15:guide>
        <p15:guide id="12" pos="4781" userDrawn="1">
          <p15:clr>
            <a:srgbClr val="5ACBF0"/>
          </p15:clr>
        </p15:guide>
        <p15:guide id="13" pos="5357" userDrawn="1">
          <p15:clr>
            <a:srgbClr val="5ACBF0"/>
          </p15:clr>
        </p15:guide>
        <p15:guide id="14" pos="5933" userDrawn="1">
          <p15:clr>
            <a:srgbClr val="5ACBF0"/>
          </p15:clr>
        </p15:guide>
        <p15:guide id="15" pos="6509" userDrawn="1">
          <p15:clr>
            <a:srgbClr val="5ACBF0"/>
          </p15:clr>
        </p15:guide>
        <p15:guide id="16" pos="7085" userDrawn="1">
          <p15:clr>
            <a:srgbClr val="5ACBF0"/>
          </p15:clr>
        </p15:guide>
        <p15:guide id="17" orient="horz" pos="763" userDrawn="1">
          <p15:clr>
            <a:srgbClr val="5ACBF0"/>
          </p15:clr>
        </p15:guide>
        <p15:guide id="18" orient="horz" pos="1339" userDrawn="1">
          <p15:clr>
            <a:srgbClr val="5ACBF0"/>
          </p15:clr>
        </p15:guide>
        <p15:guide id="19" orient="horz" pos="1915" userDrawn="1">
          <p15:clr>
            <a:srgbClr val="5ACBF0"/>
          </p15:clr>
        </p15:guide>
        <p15:guide id="20" orient="horz" pos="2491" userDrawn="1">
          <p15:clr>
            <a:srgbClr val="5ACBF0"/>
          </p15:clr>
        </p15:guide>
        <p15:guide id="21" orient="horz" pos="3067" userDrawn="1">
          <p15:clr>
            <a:srgbClr val="5ACBF0"/>
          </p15:clr>
        </p15:guide>
        <p15:guide id="22" orient="horz" pos="3643" userDrawn="1">
          <p15:clr>
            <a:srgbClr val="5ACBF0"/>
          </p15:clr>
        </p15:guide>
        <p15:guide id="23" pos="288" userDrawn="1">
          <p15:clr>
            <a:srgbClr val="C35EA4"/>
          </p15:clr>
        </p15:guide>
        <p15:guide id="24" pos="7546" userDrawn="1">
          <p15:clr>
            <a:srgbClr val="C35EA4"/>
          </p15:clr>
        </p15:guide>
        <p15:guide id="25" orient="horz" pos="302" userDrawn="1">
          <p15:clr>
            <a:srgbClr val="C35EA4"/>
          </p15:clr>
        </p15:guide>
        <p15:guide id="26" orient="horz" pos="4104"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s://tma.identitaobcana.cz/mobileapi/login" TargetMode="External"/><Relationship Id="rId2" Type="http://schemas.openxmlformats.org/officeDocument/2006/relationships/hyperlink" Target="https://tma.identitaobcana.cz/mobileapi/register" TargetMode="External"/><Relationship Id="rId1" Type="http://schemas.openxmlformats.org/officeDocument/2006/relationships/slideLayout" Target="../slideLayouts/slideLayout6.xml"/><Relationship Id="rId5" Type="http://schemas.openxmlformats.org/officeDocument/2006/relationships/hyperlink" Target="https://tnia.identitaobcana.cz/FPSTS/oauth2/authorize" TargetMode="External"/><Relationship Id="rId4" Type="http://schemas.openxmlformats.org/officeDocument/2006/relationships/hyperlink" Target="https://tnia.identitaobcana.cz/FPSTS/mobile/token"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71F2B7-BC8F-41A7-AAB7-C7D6AB12BC35}"/>
              </a:ext>
            </a:extLst>
          </p:cNvPr>
          <p:cNvSpPr>
            <a:spLocks noGrp="1"/>
          </p:cNvSpPr>
          <p:nvPr>
            <p:ph type="title"/>
          </p:nvPr>
        </p:nvSpPr>
        <p:spPr>
          <a:xfrm>
            <a:off x="-272143" y="1889317"/>
            <a:ext cx="7815834" cy="2663956"/>
          </a:xfrm>
        </p:spPr>
        <p:txBody>
          <a:bodyPr/>
          <a:lstStyle/>
          <a:p>
            <a:pPr algn="ctr"/>
            <a:r>
              <a:rPr lang="cs-CZ" dirty="0"/>
              <a:t>Nevizuální přihlašování k NIA </a:t>
            </a:r>
            <a:br>
              <a:rPr lang="cs-CZ" dirty="0"/>
            </a:br>
            <a:r>
              <a:rPr lang="cs-CZ" dirty="0"/>
              <a:t>z mobilních aplikací</a:t>
            </a:r>
          </a:p>
        </p:txBody>
      </p:sp>
      <p:sp>
        <p:nvSpPr>
          <p:cNvPr id="5" name="Text Placeholder 4">
            <a:extLst>
              <a:ext uri="{FF2B5EF4-FFF2-40B4-BE49-F238E27FC236}">
                <a16:creationId xmlns:a16="http://schemas.microsoft.com/office/drawing/2014/main" id="{89B55E7C-F1C8-4D38-95C6-3E0A1C4CF45F}"/>
              </a:ext>
            </a:extLst>
          </p:cNvPr>
          <p:cNvSpPr>
            <a:spLocks noGrp="1"/>
          </p:cNvSpPr>
          <p:nvPr>
            <p:ph type="body" sz="quarter" idx="14"/>
          </p:nvPr>
        </p:nvSpPr>
        <p:spPr>
          <a:xfrm>
            <a:off x="274702" y="4553273"/>
            <a:ext cx="6402388" cy="896675"/>
          </a:xfrm>
        </p:spPr>
        <p:txBody>
          <a:bodyPr/>
          <a:lstStyle/>
          <a:p>
            <a:r>
              <a:rPr lang="cs-CZ" dirty="0"/>
              <a:t>Petr Kuchař</a:t>
            </a:r>
          </a:p>
          <a:p>
            <a:r>
              <a:rPr lang="en-US" dirty="0"/>
              <a:t>Robert Hernady</a:t>
            </a:r>
            <a:endParaRPr lang="cs-CZ" dirty="0"/>
          </a:p>
          <a:p>
            <a:r>
              <a:rPr lang="cs-CZ" dirty="0"/>
              <a:t>Jiří Holaň</a:t>
            </a:r>
          </a:p>
        </p:txBody>
      </p:sp>
    </p:spTree>
    <p:extLst>
      <p:ext uri="{BB962C8B-B14F-4D97-AF65-F5344CB8AC3E}">
        <p14:creationId xmlns:p14="http://schemas.microsoft.com/office/powerpoint/2010/main" val="85968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7B21C5-91FB-4432-82A7-8448D55F940D}"/>
              </a:ext>
            </a:extLst>
          </p:cNvPr>
          <p:cNvSpPr/>
          <p:nvPr/>
        </p:nvSpPr>
        <p:spPr bwMode="auto">
          <a:xfrm>
            <a:off x="579919" y="1211585"/>
            <a:ext cx="5363720" cy="4571351"/>
          </a:xfrm>
          <a:custGeom>
            <a:avLst/>
            <a:gdLst>
              <a:gd name="connsiteX0" fmla="*/ 0 w 5562600"/>
              <a:gd name="connsiteY0" fmla="*/ 0 h 6035675"/>
              <a:gd name="connsiteX1" fmla="*/ 5562600 w 5562600"/>
              <a:gd name="connsiteY1" fmla="*/ 0 h 6035675"/>
              <a:gd name="connsiteX2" fmla="*/ 5562600 w 5562600"/>
              <a:gd name="connsiteY2" fmla="*/ 6035675 h 6035675"/>
              <a:gd name="connsiteX3" fmla="*/ 0 w 5562600"/>
              <a:gd name="connsiteY3" fmla="*/ 6035675 h 6035675"/>
              <a:gd name="connsiteX4" fmla="*/ 0 w 5562600"/>
              <a:gd name="connsiteY4" fmla="*/ 0 h 6035675"/>
              <a:gd name="connsiteX0" fmla="*/ 5562600 w 5654040"/>
              <a:gd name="connsiteY0" fmla="*/ 6035675 h 6127115"/>
              <a:gd name="connsiteX1" fmla="*/ 0 w 5654040"/>
              <a:gd name="connsiteY1" fmla="*/ 6035675 h 6127115"/>
              <a:gd name="connsiteX2" fmla="*/ 0 w 5654040"/>
              <a:gd name="connsiteY2" fmla="*/ 0 h 6127115"/>
              <a:gd name="connsiteX3" fmla="*/ 5562600 w 5654040"/>
              <a:gd name="connsiteY3" fmla="*/ 0 h 6127115"/>
              <a:gd name="connsiteX4" fmla="*/ 5654040 w 5654040"/>
              <a:gd name="connsiteY4" fmla="*/ 6127115 h 6127115"/>
              <a:gd name="connsiteX0" fmla="*/ 5562600 w 5562600"/>
              <a:gd name="connsiteY0" fmla="*/ 6035675 h 6035675"/>
              <a:gd name="connsiteX1" fmla="*/ 0 w 5562600"/>
              <a:gd name="connsiteY1" fmla="*/ 6035675 h 6035675"/>
              <a:gd name="connsiteX2" fmla="*/ 0 w 5562600"/>
              <a:gd name="connsiteY2" fmla="*/ 0 h 6035675"/>
              <a:gd name="connsiteX3" fmla="*/ 5562600 w 5562600"/>
              <a:gd name="connsiteY3" fmla="*/ 0 h 6035675"/>
              <a:gd name="connsiteX0" fmla="*/ 5562600 w 5562600"/>
              <a:gd name="connsiteY0" fmla="*/ 6035675 h 6035675"/>
              <a:gd name="connsiteX1" fmla="*/ 5440680 w 5562600"/>
              <a:gd name="connsiteY1" fmla="*/ 6028055 h 6035675"/>
              <a:gd name="connsiteX2" fmla="*/ 0 w 5562600"/>
              <a:gd name="connsiteY2" fmla="*/ 6035675 h 6035675"/>
              <a:gd name="connsiteX3" fmla="*/ 0 w 5562600"/>
              <a:gd name="connsiteY3" fmla="*/ 0 h 6035675"/>
              <a:gd name="connsiteX4" fmla="*/ 5562600 w 5562600"/>
              <a:gd name="connsiteY4" fmla="*/ 0 h 6035675"/>
              <a:gd name="connsiteX0" fmla="*/ 5562600 w 5562600"/>
              <a:gd name="connsiteY0" fmla="*/ 6035675 h 6035675"/>
              <a:gd name="connsiteX1" fmla="*/ 0 w 5562600"/>
              <a:gd name="connsiteY1" fmla="*/ 6035675 h 6035675"/>
              <a:gd name="connsiteX2" fmla="*/ 0 w 5562600"/>
              <a:gd name="connsiteY2" fmla="*/ 0 h 6035675"/>
              <a:gd name="connsiteX3" fmla="*/ 5562600 w 5562600"/>
              <a:gd name="connsiteY3" fmla="*/ 0 h 6035675"/>
              <a:gd name="connsiteX0" fmla="*/ 0 w 5562600"/>
              <a:gd name="connsiteY0" fmla="*/ 6035675 h 6035675"/>
              <a:gd name="connsiteX1" fmla="*/ 0 w 5562600"/>
              <a:gd name="connsiteY1" fmla="*/ 0 h 6035675"/>
              <a:gd name="connsiteX2" fmla="*/ 5562600 w 5562600"/>
              <a:gd name="connsiteY2" fmla="*/ 0 h 6035675"/>
            </a:gdLst>
            <a:ahLst/>
            <a:cxnLst>
              <a:cxn ang="0">
                <a:pos x="connsiteX0" y="connsiteY0"/>
              </a:cxn>
              <a:cxn ang="0">
                <a:pos x="connsiteX1" y="connsiteY1"/>
              </a:cxn>
              <a:cxn ang="0">
                <a:pos x="connsiteX2" y="connsiteY2"/>
              </a:cxn>
            </a:cxnLst>
            <a:rect l="l" t="t" r="r" b="b"/>
            <a:pathLst>
              <a:path w="5562600" h="6035675">
                <a:moveTo>
                  <a:pt x="0" y="6035675"/>
                </a:moveTo>
                <a:lnTo>
                  <a:pt x="0" y="0"/>
                </a:lnTo>
                <a:lnTo>
                  <a:pt x="5562600" y="0"/>
                </a:lnTo>
              </a:path>
            </a:pathLst>
          </a:cu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E9FBF2E5-B65A-413C-9267-377D5B4D43EC}"/>
              </a:ext>
            </a:extLst>
          </p:cNvPr>
          <p:cNvSpPr>
            <a:spLocks noGrp="1"/>
          </p:cNvSpPr>
          <p:nvPr>
            <p:ph type="title"/>
          </p:nvPr>
        </p:nvSpPr>
        <p:spPr/>
        <p:txBody>
          <a:bodyPr/>
          <a:lstStyle/>
          <a:p>
            <a:r>
              <a:rPr lang="cs-CZ" dirty="0"/>
              <a:t>Cíl projektu</a:t>
            </a:r>
          </a:p>
        </p:txBody>
      </p:sp>
      <p:sp>
        <p:nvSpPr>
          <p:cNvPr id="10" name="Text Placeholder 9">
            <a:extLst>
              <a:ext uri="{FF2B5EF4-FFF2-40B4-BE49-F238E27FC236}">
                <a16:creationId xmlns:a16="http://schemas.microsoft.com/office/drawing/2014/main" id="{76C885D5-837B-465D-803C-730EDB0CB639}"/>
              </a:ext>
            </a:extLst>
          </p:cNvPr>
          <p:cNvSpPr>
            <a:spLocks noGrp="1"/>
          </p:cNvSpPr>
          <p:nvPr>
            <p:ph type="body" sz="quarter" idx="11"/>
          </p:nvPr>
        </p:nvSpPr>
        <p:spPr>
          <a:xfrm>
            <a:off x="874246" y="1657291"/>
            <a:ext cx="11089154" cy="3748719"/>
          </a:xfrm>
        </p:spPr>
        <p:txBody>
          <a:bodyPr vert="horz" wrap="square" lIns="0" tIns="0" rIns="0" bIns="0" rtlCol="0">
            <a:spAutoFit/>
          </a:bodyPr>
          <a:lstStyle/>
          <a:p>
            <a:pPr marL="0" indent="0">
              <a:lnSpc>
                <a:spcPct val="100000"/>
              </a:lnSpc>
              <a:spcAft>
                <a:spcPts val="600"/>
              </a:spcAft>
              <a:buNone/>
            </a:pPr>
            <a:r>
              <a:rPr lang="cs-CZ" sz="2040" dirty="0"/>
              <a:t>Umožnit poskytovatelům služeb (</a:t>
            </a:r>
            <a:r>
              <a:rPr lang="cs-CZ" sz="2040" dirty="0" err="1"/>
              <a:t>SeP</a:t>
            </a:r>
            <a:r>
              <a:rPr lang="cs-CZ" sz="2040" dirty="0"/>
              <a:t>) vytvoření </a:t>
            </a:r>
            <a:r>
              <a:rPr lang="cs-CZ" sz="2040" b="1" dirty="0"/>
              <a:t>takových</a:t>
            </a:r>
            <a:r>
              <a:rPr lang="cs-CZ" sz="2040" dirty="0"/>
              <a:t> vlastních mobilních aplikací a vlastních </a:t>
            </a:r>
            <a:r>
              <a:rPr lang="cs-CZ" sz="2040" b="1" dirty="0" err="1"/>
              <a:t>backendových</a:t>
            </a:r>
            <a:r>
              <a:rPr lang="cs-CZ" sz="2040" dirty="0"/>
              <a:t> API, které </a:t>
            </a:r>
            <a:r>
              <a:rPr lang="cs-CZ" sz="2040" b="1" dirty="0"/>
              <a:t>dohromady</a:t>
            </a:r>
            <a:r>
              <a:rPr lang="cs-CZ" sz="2040" dirty="0"/>
              <a:t> budou umět ověřit identitu občana prostřednictvím volání webových služeb, </a:t>
            </a:r>
            <a:r>
              <a:rPr lang="cs-CZ" sz="2040" b="1" dirty="0"/>
              <a:t>tedy nevizuálně bez interakce občana.</a:t>
            </a:r>
          </a:p>
          <a:p>
            <a:pPr marL="0" indent="0">
              <a:lnSpc>
                <a:spcPct val="100000"/>
              </a:lnSpc>
              <a:spcAft>
                <a:spcPts val="600"/>
              </a:spcAft>
              <a:buNone/>
            </a:pPr>
            <a:r>
              <a:rPr lang="cs-CZ" sz="2040" b="1" dirty="0"/>
              <a:t>Původně generická</a:t>
            </a:r>
            <a:r>
              <a:rPr lang="cs-CZ" sz="2040" dirty="0"/>
              <a:t> Mobilní aplikace bude muset být uživatelem </a:t>
            </a:r>
            <a:r>
              <a:rPr lang="cs-CZ" sz="2040" b="1" dirty="0"/>
              <a:t>nejprve</a:t>
            </a:r>
            <a:r>
              <a:rPr lang="cs-CZ" sz="2040" dirty="0"/>
              <a:t> registrována k užívání a následně bude umožňovat opakované přihlašování k NIA nevizuálním způsobem.</a:t>
            </a:r>
          </a:p>
          <a:p>
            <a:pPr>
              <a:lnSpc>
                <a:spcPct val="100000"/>
              </a:lnSpc>
              <a:spcAft>
                <a:spcPts val="600"/>
              </a:spcAft>
            </a:pPr>
            <a:r>
              <a:rPr lang="cs-CZ" sz="2040" dirty="0"/>
              <a:t>Mobilní aplikace </a:t>
            </a:r>
            <a:r>
              <a:rPr lang="cs-CZ" sz="2040" b="1" dirty="0"/>
              <a:t>bude předávat</a:t>
            </a:r>
            <a:r>
              <a:rPr lang="cs-CZ" sz="2040" dirty="0"/>
              <a:t> informaci o provedeném přihlášení </a:t>
            </a:r>
            <a:r>
              <a:rPr lang="cs-CZ" sz="2040" b="1" dirty="0"/>
              <a:t>do</a:t>
            </a:r>
            <a:r>
              <a:rPr lang="cs-CZ" sz="2040" dirty="0"/>
              <a:t> API poskytovatele služeb, které následně z NIA získá JSON Web Token s detaily o přihlášeném uživateli.</a:t>
            </a:r>
          </a:p>
          <a:p>
            <a:pPr marL="0" indent="0">
              <a:lnSpc>
                <a:spcPct val="100000"/>
              </a:lnSpc>
              <a:spcAft>
                <a:spcPts val="600"/>
              </a:spcAft>
              <a:buNone/>
            </a:pPr>
            <a:r>
              <a:rPr lang="cs-CZ" sz="2040" b="1" dirty="0"/>
              <a:t>Fakt registrace</a:t>
            </a:r>
            <a:r>
              <a:rPr lang="cs-CZ" sz="2040" dirty="0"/>
              <a:t> bude opakovaně kontrolován na NIA, aby uživatel mohl </a:t>
            </a:r>
            <a:r>
              <a:rPr lang="cs-CZ" sz="2040" b="1" dirty="0"/>
              <a:t>např. při ztrátě zařízení</a:t>
            </a:r>
            <a:r>
              <a:rPr lang="cs-CZ" sz="2040" dirty="0"/>
              <a:t> možnosti nevizuálního přihlašování </a:t>
            </a:r>
            <a:r>
              <a:rPr lang="cs-CZ" sz="2040" b="1" dirty="0"/>
              <a:t>zabránit</a:t>
            </a:r>
            <a:r>
              <a:rPr lang="cs-CZ" sz="2040" dirty="0"/>
              <a:t>. </a:t>
            </a:r>
          </a:p>
        </p:txBody>
      </p:sp>
      <p:sp>
        <p:nvSpPr>
          <p:cNvPr id="6" name="Oval 5">
            <a:extLst>
              <a:ext uri="{FF2B5EF4-FFF2-40B4-BE49-F238E27FC236}">
                <a16:creationId xmlns:a16="http://schemas.microsoft.com/office/drawing/2014/main" id="{58631DCE-681D-4CC5-AF7B-8C78BC12A8ED}"/>
              </a:ext>
            </a:extLst>
          </p:cNvPr>
          <p:cNvSpPr/>
          <p:nvPr/>
        </p:nvSpPr>
        <p:spPr bwMode="auto">
          <a:xfrm>
            <a:off x="134213" y="765879"/>
            <a:ext cx="891413" cy="891413"/>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Freeform: Shape 6">
            <a:extLst>
              <a:ext uri="{FF2B5EF4-FFF2-40B4-BE49-F238E27FC236}">
                <a16:creationId xmlns:a16="http://schemas.microsoft.com/office/drawing/2014/main" id="{26758A86-A31F-4772-91C2-A0958888B8FF}"/>
              </a:ext>
            </a:extLst>
          </p:cNvPr>
          <p:cNvSpPr/>
          <p:nvPr/>
        </p:nvSpPr>
        <p:spPr bwMode="auto">
          <a:xfrm>
            <a:off x="258318" y="960333"/>
            <a:ext cx="643208" cy="502504"/>
          </a:xfrm>
          <a:custGeom>
            <a:avLst/>
            <a:gdLst/>
            <a:ahLst/>
            <a:cxnLst/>
            <a:rect l="l" t="t" r="r" b="b"/>
            <a:pathLst>
              <a:path w="382191" h="298586">
                <a:moveTo>
                  <a:pt x="346361" y="0"/>
                </a:moveTo>
                <a:cubicBezTo>
                  <a:pt x="357309" y="0"/>
                  <a:pt x="365686" y="3069"/>
                  <a:pt x="371492" y="9206"/>
                </a:cubicBezTo>
                <a:cubicBezTo>
                  <a:pt x="377297" y="15344"/>
                  <a:pt x="380200" y="23555"/>
                  <a:pt x="380200" y="33840"/>
                </a:cubicBezTo>
                <a:cubicBezTo>
                  <a:pt x="380200" y="48769"/>
                  <a:pt x="373731" y="59551"/>
                  <a:pt x="360792" y="66187"/>
                </a:cubicBezTo>
                <a:cubicBezTo>
                  <a:pt x="342545" y="76471"/>
                  <a:pt x="328777" y="87834"/>
                  <a:pt x="319488" y="100275"/>
                </a:cubicBezTo>
                <a:cubicBezTo>
                  <a:pt x="310198" y="112716"/>
                  <a:pt x="304558" y="128890"/>
                  <a:pt x="302568" y="148795"/>
                </a:cubicBezTo>
                <a:lnTo>
                  <a:pt x="309037" y="148795"/>
                </a:lnTo>
                <a:cubicBezTo>
                  <a:pt x="327616" y="148795"/>
                  <a:pt x="344453" y="156011"/>
                  <a:pt x="359548" y="170443"/>
                </a:cubicBezTo>
                <a:cubicBezTo>
                  <a:pt x="374643" y="184875"/>
                  <a:pt x="382191" y="202873"/>
                  <a:pt x="382191" y="224437"/>
                </a:cubicBezTo>
                <a:cubicBezTo>
                  <a:pt x="382191" y="245338"/>
                  <a:pt x="374643" y="262922"/>
                  <a:pt x="359548" y="277188"/>
                </a:cubicBezTo>
                <a:cubicBezTo>
                  <a:pt x="344453" y="291453"/>
                  <a:pt x="325791" y="298586"/>
                  <a:pt x="303563" y="298586"/>
                </a:cubicBezTo>
                <a:cubicBezTo>
                  <a:pt x="279013" y="298586"/>
                  <a:pt x="258775" y="288633"/>
                  <a:pt x="242851" y="268728"/>
                </a:cubicBezTo>
                <a:cubicBezTo>
                  <a:pt x="226926" y="248822"/>
                  <a:pt x="218964" y="221120"/>
                  <a:pt x="218964" y="185621"/>
                </a:cubicBezTo>
                <a:cubicBezTo>
                  <a:pt x="218964" y="160075"/>
                  <a:pt x="223111" y="136023"/>
                  <a:pt x="231405" y="113463"/>
                </a:cubicBezTo>
                <a:cubicBezTo>
                  <a:pt x="239699" y="90903"/>
                  <a:pt x="250398" y="71246"/>
                  <a:pt x="263503" y="54492"/>
                </a:cubicBezTo>
                <a:cubicBezTo>
                  <a:pt x="276607" y="37738"/>
                  <a:pt x="290707" y="24467"/>
                  <a:pt x="305803" y="14680"/>
                </a:cubicBezTo>
                <a:cubicBezTo>
                  <a:pt x="320898" y="4893"/>
                  <a:pt x="334417" y="0"/>
                  <a:pt x="346361" y="0"/>
                </a:cubicBezTo>
                <a:close/>
                <a:moveTo>
                  <a:pt x="127397" y="0"/>
                </a:moveTo>
                <a:cubicBezTo>
                  <a:pt x="138014" y="0"/>
                  <a:pt x="146308" y="3152"/>
                  <a:pt x="152279" y="9455"/>
                </a:cubicBezTo>
                <a:cubicBezTo>
                  <a:pt x="158251" y="15759"/>
                  <a:pt x="161237" y="23887"/>
                  <a:pt x="161237" y="33840"/>
                </a:cubicBezTo>
                <a:cubicBezTo>
                  <a:pt x="161237" y="48437"/>
                  <a:pt x="154768" y="59220"/>
                  <a:pt x="141829" y="66187"/>
                </a:cubicBezTo>
                <a:cubicBezTo>
                  <a:pt x="124245" y="75808"/>
                  <a:pt x="110311" y="87088"/>
                  <a:pt x="100027" y="100026"/>
                </a:cubicBezTo>
                <a:cubicBezTo>
                  <a:pt x="89742" y="112965"/>
                  <a:pt x="83936" y="129221"/>
                  <a:pt x="82609" y="148795"/>
                </a:cubicBezTo>
                <a:lnTo>
                  <a:pt x="89576" y="148795"/>
                </a:lnTo>
                <a:cubicBezTo>
                  <a:pt x="108487" y="148795"/>
                  <a:pt x="125490" y="156011"/>
                  <a:pt x="140585" y="170443"/>
                </a:cubicBezTo>
                <a:cubicBezTo>
                  <a:pt x="155680" y="184875"/>
                  <a:pt x="163228" y="202873"/>
                  <a:pt x="163228" y="224437"/>
                </a:cubicBezTo>
                <a:cubicBezTo>
                  <a:pt x="163228" y="245670"/>
                  <a:pt x="155680" y="263171"/>
                  <a:pt x="140585" y="276939"/>
                </a:cubicBezTo>
                <a:cubicBezTo>
                  <a:pt x="125490" y="290707"/>
                  <a:pt x="106828" y="297591"/>
                  <a:pt x="84600" y="297591"/>
                </a:cubicBezTo>
                <a:cubicBezTo>
                  <a:pt x="60381" y="297591"/>
                  <a:pt x="40227" y="287887"/>
                  <a:pt x="24136" y="268479"/>
                </a:cubicBezTo>
                <a:cubicBezTo>
                  <a:pt x="8046" y="249071"/>
                  <a:pt x="0" y="221451"/>
                  <a:pt x="0" y="185621"/>
                </a:cubicBezTo>
                <a:cubicBezTo>
                  <a:pt x="0" y="152777"/>
                  <a:pt x="7050" y="122006"/>
                  <a:pt x="21150" y="93308"/>
                </a:cubicBezTo>
                <a:cubicBezTo>
                  <a:pt x="35250" y="64611"/>
                  <a:pt x="52502" y="41885"/>
                  <a:pt x="72905" y="25131"/>
                </a:cubicBezTo>
                <a:cubicBezTo>
                  <a:pt x="93309" y="8377"/>
                  <a:pt x="111473" y="0"/>
                  <a:pt x="127397" y="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077132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7B21C5-91FB-4432-82A7-8448D55F940D}"/>
              </a:ext>
            </a:extLst>
          </p:cNvPr>
          <p:cNvSpPr/>
          <p:nvPr/>
        </p:nvSpPr>
        <p:spPr bwMode="auto">
          <a:xfrm>
            <a:off x="579919" y="1211585"/>
            <a:ext cx="5363720" cy="4571351"/>
          </a:xfrm>
          <a:custGeom>
            <a:avLst/>
            <a:gdLst>
              <a:gd name="connsiteX0" fmla="*/ 0 w 5562600"/>
              <a:gd name="connsiteY0" fmla="*/ 0 h 6035675"/>
              <a:gd name="connsiteX1" fmla="*/ 5562600 w 5562600"/>
              <a:gd name="connsiteY1" fmla="*/ 0 h 6035675"/>
              <a:gd name="connsiteX2" fmla="*/ 5562600 w 5562600"/>
              <a:gd name="connsiteY2" fmla="*/ 6035675 h 6035675"/>
              <a:gd name="connsiteX3" fmla="*/ 0 w 5562600"/>
              <a:gd name="connsiteY3" fmla="*/ 6035675 h 6035675"/>
              <a:gd name="connsiteX4" fmla="*/ 0 w 5562600"/>
              <a:gd name="connsiteY4" fmla="*/ 0 h 6035675"/>
              <a:gd name="connsiteX0" fmla="*/ 5562600 w 5654040"/>
              <a:gd name="connsiteY0" fmla="*/ 6035675 h 6127115"/>
              <a:gd name="connsiteX1" fmla="*/ 0 w 5654040"/>
              <a:gd name="connsiteY1" fmla="*/ 6035675 h 6127115"/>
              <a:gd name="connsiteX2" fmla="*/ 0 w 5654040"/>
              <a:gd name="connsiteY2" fmla="*/ 0 h 6127115"/>
              <a:gd name="connsiteX3" fmla="*/ 5562600 w 5654040"/>
              <a:gd name="connsiteY3" fmla="*/ 0 h 6127115"/>
              <a:gd name="connsiteX4" fmla="*/ 5654040 w 5654040"/>
              <a:gd name="connsiteY4" fmla="*/ 6127115 h 6127115"/>
              <a:gd name="connsiteX0" fmla="*/ 5562600 w 5562600"/>
              <a:gd name="connsiteY0" fmla="*/ 6035675 h 6035675"/>
              <a:gd name="connsiteX1" fmla="*/ 0 w 5562600"/>
              <a:gd name="connsiteY1" fmla="*/ 6035675 h 6035675"/>
              <a:gd name="connsiteX2" fmla="*/ 0 w 5562600"/>
              <a:gd name="connsiteY2" fmla="*/ 0 h 6035675"/>
              <a:gd name="connsiteX3" fmla="*/ 5562600 w 5562600"/>
              <a:gd name="connsiteY3" fmla="*/ 0 h 6035675"/>
              <a:gd name="connsiteX0" fmla="*/ 5562600 w 5562600"/>
              <a:gd name="connsiteY0" fmla="*/ 6035675 h 6035675"/>
              <a:gd name="connsiteX1" fmla="*/ 5440680 w 5562600"/>
              <a:gd name="connsiteY1" fmla="*/ 6028055 h 6035675"/>
              <a:gd name="connsiteX2" fmla="*/ 0 w 5562600"/>
              <a:gd name="connsiteY2" fmla="*/ 6035675 h 6035675"/>
              <a:gd name="connsiteX3" fmla="*/ 0 w 5562600"/>
              <a:gd name="connsiteY3" fmla="*/ 0 h 6035675"/>
              <a:gd name="connsiteX4" fmla="*/ 5562600 w 5562600"/>
              <a:gd name="connsiteY4" fmla="*/ 0 h 6035675"/>
              <a:gd name="connsiteX0" fmla="*/ 5562600 w 5562600"/>
              <a:gd name="connsiteY0" fmla="*/ 6035675 h 6035675"/>
              <a:gd name="connsiteX1" fmla="*/ 0 w 5562600"/>
              <a:gd name="connsiteY1" fmla="*/ 6035675 h 6035675"/>
              <a:gd name="connsiteX2" fmla="*/ 0 w 5562600"/>
              <a:gd name="connsiteY2" fmla="*/ 0 h 6035675"/>
              <a:gd name="connsiteX3" fmla="*/ 5562600 w 5562600"/>
              <a:gd name="connsiteY3" fmla="*/ 0 h 6035675"/>
              <a:gd name="connsiteX0" fmla="*/ 0 w 5562600"/>
              <a:gd name="connsiteY0" fmla="*/ 6035675 h 6035675"/>
              <a:gd name="connsiteX1" fmla="*/ 0 w 5562600"/>
              <a:gd name="connsiteY1" fmla="*/ 0 h 6035675"/>
              <a:gd name="connsiteX2" fmla="*/ 5562600 w 5562600"/>
              <a:gd name="connsiteY2" fmla="*/ 0 h 6035675"/>
            </a:gdLst>
            <a:ahLst/>
            <a:cxnLst>
              <a:cxn ang="0">
                <a:pos x="connsiteX0" y="connsiteY0"/>
              </a:cxn>
              <a:cxn ang="0">
                <a:pos x="connsiteX1" y="connsiteY1"/>
              </a:cxn>
              <a:cxn ang="0">
                <a:pos x="connsiteX2" y="connsiteY2"/>
              </a:cxn>
            </a:cxnLst>
            <a:rect l="l" t="t" r="r" b="b"/>
            <a:pathLst>
              <a:path w="5562600" h="6035675">
                <a:moveTo>
                  <a:pt x="0" y="6035675"/>
                </a:moveTo>
                <a:lnTo>
                  <a:pt x="0" y="0"/>
                </a:lnTo>
                <a:lnTo>
                  <a:pt x="5562600" y="0"/>
                </a:lnTo>
              </a:path>
            </a:pathLst>
          </a:cu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E9FBF2E5-B65A-413C-9267-377D5B4D43EC}"/>
              </a:ext>
            </a:extLst>
          </p:cNvPr>
          <p:cNvSpPr>
            <a:spLocks noGrp="1"/>
          </p:cNvSpPr>
          <p:nvPr>
            <p:ph type="title"/>
          </p:nvPr>
        </p:nvSpPr>
        <p:spPr/>
        <p:txBody>
          <a:bodyPr/>
          <a:lstStyle/>
          <a:p>
            <a:r>
              <a:rPr lang="cs-CZ" dirty="0"/>
              <a:t>Co cílem projektu NENÍ</a:t>
            </a:r>
          </a:p>
        </p:txBody>
      </p:sp>
      <p:sp>
        <p:nvSpPr>
          <p:cNvPr id="10" name="Text Placeholder 9">
            <a:extLst>
              <a:ext uri="{FF2B5EF4-FFF2-40B4-BE49-F238E27FC236}">
                <a16:creationId xmlns:a16="http://schemas.microsoft.com/office/drawing/2014/main" id="{76C885D5-837B-465D-803C-730EDB0CB639}"/>
              </a:ext>
            </a:extLst>
          </p:cNvPr>
          <p:cNvSpPr>
            <a:spLocks noGrp="1"/>
          </p:cNvSpPr>
          <p:nvPr>
            <p:ph type="body" sz="quarter" idx="11"/>
          </p:nvPr>
        </p:nvSpPr>
        <p:spPr>
          <a:xfrm>
            <a:off x="874246" y="1657291"/>
            <a:ext cx="10117604" cy="1563505"/>
          </a:xfrm>
        </p:spPr>
        <p:txBody>
          <a:bodyPr vert="horz" wrap="square" lIns="0" tIns="0" rIns="0" bIns="0" rtlCol="0">
            <a:spAutoFit/>
          </a:bodyPr>
          <a:lstStyle/>
          <a:p>
            <a:pPr marL="0" indent="0">
              <a:lnSpc>
                <a:spcPct val="100000"/>
              </a:lnSpc>
              <a:spcAft>
                <a:spcPts val="600"/>
              </a:spcAft>
              <a:buNone/>
            </a:pPr>
            <a:r>
              <a:rPr lang="cs-CZ" sz="2040" dirty="0"/>
              <a:t>Mobilní aplikace poskytovatele služeb není na úrovni poskytovatele identity (</a:t>
            </a:r>
            <a:r>
              <a:rPr lang="cs-CZ" sz="2040" b="1" dirty="0"/>
              <a:t>není to Identity provider</a:t>
            </a:r>
            <a:r>
              <a:rPr lang="cs-CZ" sz="2040" dirty="0"/>
              <a:t>). </a:t>
            </a:r>
          </a:p>
          <a:p>
            <a:pPr marL="0" indent="0">
              <a:lnSpc>
                <a:spcPct val="100000"/>
              </a:lnSpc>
              <a:spcAft>
                <a:spcPts val="600"/>
              </a:spcAft>
              <a:buNone/>
            </a:pPr>
            <a:r>
              <a:rPr lang="cs-CZ" sz="2040" b="1" dirty="0"/>
              <a:t>Není ji tedy možné používat</a:t>
            </a:r>
            <a:r>
              <a:rPr lang="cs-CZ" sz="2040" dirty="0"/>
              <a:t> pro přihlašování k portálům a jiným službám ostatních poskytovatelů služeb. </a:t>
            </a:r>
          </a:p>
        </p:txBody>
      </p:sp>
      <p:sp>
        <p:nvSpPr>
          <p:cNvPr id="6" name="Oval 5">
            <a:extLst>
              <a:ext uri="{FF2B5EF4-FFF2-40B4-BE49-F238E27FC236}">
                <a16:creationId xmlns:a16="http://schemas.microsoft.com/office/drawing/2014/main" id="{58631DCE-681D-4CC5-AF7B-8C78BC12A8ED}"/>
              </a:ext>
            </a:extLst>
          </p:cNvPr>
          <p:cNvSpPr/>
          <p:nvPr/>
        </p:nvSpPr>
        <p:spPr bwMode="auto">
          <a:xfrm>
            <a:off x="134213" y="765879"/>
            <a:ext cx="891413" cy="891413"/>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Freeform: Shape 6">
            <a:extLst>
              <a:ext uri="{FF2B5EF4-FFF2-40B4-BE49-F238E27FC236}">
                <a16:creationId xmlns:a16="http://schemas.microsoft.com/office/drawing/2014/main" id="{26758A86-A31F-4772-91C2-A0958888B8FF}"/>
              </a:ext>
            </a:extLst>
          </p:cNvPr>
          <p:cNvSpPr/>
          <p:nvPr/>
        </p:nvSpPr>
        <p:spPr bwMode="auto">
          <a:xfrm>
            <a:off x="258318" y="960333"/>
            <a:ext cx="643208" cy="502504"/>
          </a:xfrm>
          <a:custGeom>
            <a:avLst/>
            <a:gdLst/>
            <a:ahLst/>
            <a:cxnLst/>
            <a:rect l="l" t="t" r="r" b="b"/>
            <a:pathLst>
              <a:path w="382191" h="298586">
                <a:moveTo>
                  <a:pt x="346361" y="0"/>
                </a:moveTo>
                <a:cubicBezTo>
                  <a:pt x="357309" y="0"/>
                  <a:pt x="365686" y="3069"/>
                  <a:pt x="371492" y="9206"/>
                </a:cubicBezTo>
                <a:cubicBezTo>
                  <a:pt x="377297" y="15344"/>
                  <a:pt x="380200" y="23555"/>
                  <a:pt x="380200" y="33840"/>
                </a:cubicBezTo>
                <a:cubicBezTo>
                  <a:pt x="380200" y="48769"/>
                  <a:pt x="373731" y="59551"/>
                  <a:pt x="360792" y="66187"/>
                </a:cubicBezTo>
                <a:cubicBezTo>
                  <a:pt x="342545" y="76471"/>
                  <a:pt x="328777" y="87834"/>
                  <a:pt x="319488" y="100275"/>
                </a:cubicBezTo>
                <a:cubicBezTo>
                  <a:pt x="310198" y="112716"/>
                  <a:pt x="304558" y="128890"/>
                  <a:pt x="302568" y="148795"/>
                </a:cubicBezTo>
                <a:lnTo>
                  <a:pt x="309037" y="148795"/>
                </a:lnTo>
                <a:cubicBezTo>
                  <a:pt x="327616" y="148795"/>
                  <a:pt x="344453" y="156011"/>
                  <a:pt x="359548" y="170443"/>
                </a:cubicBezTo>
                <a:cubicBezTo>
                  <a:pt x="374643" y="184875"/>
                  <a:pt x="382191" y="202873"/>
                  <a:pt x="382191" y="224437"/>
                </a:cubicBezTo>
                <a:cubicBezTo>
                  <a:pt x="382191" y="245338"/>
                  <a:pt x="374643" y="262922"/>
                  <a:pt x="359548" y="277188"/>
                </a:cubicBezTo>
                <a:cubicBezTo>
                  <a:pt x="344453" y="291453"/>
                  <a:pt x="325791" y="298586"/>
                  <a:pt x="303563" y="298586"/>
                </a:cubicBezTo>
                <a:cubicBezTo>
                  <a:pt x="279013" y="298586"/>
                  <a:pt x="258775" y="288633"/>
                  <a:pt x="242851" y="268728"/>
                </a:cubicBezTo>
                <a:cubicBezTo>
                  <a:pt x="226926" y="248822"/>
                  <a:pt x="218964" y="221120"/>
                  <a:pt x="218964" y="185621"/>
                </a:cubicBezTo>
                <a:cubicBezTo>
                  <a:pt x="218964" y="160075"/>
                  <a:pt x="223111" y="136023"/>
                  <a:pt x="231405" y="113463"/>
                </a:cubicBezTo>
                <a:cubicBezTo>
                  <a:pt x="239699" y="90903"/>
                  <a:pt x="250398" y="71246"/>
                  <a:pt x="263503" y="54492"/>
                </a:cubicBezTo>
                <a:cubicBezTo>
                  <a:pt x="276607" y="37738"/>
                  <a:pt x="290707" y="24467"/>
                  <a:pt x="305803" y="14680"/>
                </a:cubicBezTo>
                <a:cubicBezTo>
                  <a:pt x="320898" y="4893"/>
                  <a:pt x="334417" y="0"/>
                  <a:pt x="346361" y="0"/>
                </a:cubicBezTo>
                <a:close/>
                <a:moveTo>
                  <a:pt x="127397" y="0"/>
                </a:moveTo>
                <a:cubicBezTo>
                  <a:pt x="138014" y="0"/>
                  <a:pt x="146308" y="3152"/>
                  <a:pt x="152279" y="9455"/>
                </a:cubicBezTo>
                <a:cubicBezTo>
                  <a:pt x="158251" y="15759"/>
                  <a:pt x="161237" y="23887"/>
                  <a:pt x="161237" y="33840"/>
                </a:cubicBezTo>
                <a:cubicBezTo>
                  <a:pt x="161237" y="48437"/>
                  <a:pt x="154768" y="59220"/>
                  <a:pt x="141829" y="66187"/>
                </a:cubicBezTo>
                <a:cubicBezTo>
                  <a:pt x="124245" y="75808"/>
                  <a:pt x="110311" y="87088"/>
                  <a:pt x="100027" y="100026"/>
                </a:cubicBezTo>
                <a:cubicBezTo>
                  <a:pt x="89742" y="112965"/>
                  <a:pt x="83936" y="129221"/>
                  <a:pt x="82609" y="148795"/>
                </a:cubicBezTo>
                <a:lnTo>
                  <a:pt x="89576" y="148795"/>
                </a:lnTo>
                <a:cubicBezTo>
                  <a:pt x="108487" y="148795"/>
                  <a:pt x="125490" y="156011"/>
                  <a:pt x="140585" y="170443"/>
                </a:cubicBezTo>
                <a:cubicBezTo>
                  <a:pt x="155680" y="184875"/>
                  <a:pt x="163228" y="202873"/>
                  <a:pt x="163228" y="224437"/>
                </a:cubicBezTo>
                <a:cubicBezTo>
                  <a:pt x="163228" y="245670"/>
                  <a:pt x="155680" y="263171"/>
                  <a:pt x="140585" y="276939"/>
                </a:cubicBezTo>
                <a:cubicBezTo>
                  <a:pt x="125490" y="290707"/>
                  <a:pt x="106828" y="297591"/>
                  <a:pt x="84600" y="297591"/>
                </a:cubicBezTo>
                <a:cubicBezTo>
                  <a:pt x="60381" y="297591"/>
                  <a:pt x="40227" y="287887"/>
                  <a:pt x="24136" y="268479"/>
                </a:cubicBezTo>
                <a:cubicBezTo>
                  <a:pt x="8046" y="249071"/>
                  <a:pt x="0" y="221451"/>
                  <a:pt x="0" y="185621"/>
                </a:cubicBezTo>
                <a:cubicBezTo>
                  <a:pt x="0" y="152777"/>
                  <a:pt x="7050" y="122006"/>
                  <a:pt x="21150" y="93308"/>
                </a:cubicBezTo>
                <a:cubicBezTo>
                  <a:pt x="35250" y="64611"/>
                  <a:pt x="52502" y="41885"/>
                  <a:pt x="72905" y="25131"/>
                </a:cubicBezTo>
                <a:cubicBezTo>
                  <a:pt x="93309" y="8377"/>
                  <a:pt x="111473" y="0"/>
                  <a:pt x="127397" y="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lnSpc>
                <a:spcPct val="90000"/>
              </a:lnSpc>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7736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CA7E7-736B-49C5-9C15-D08760F7EFF9}"/>
              </a:ext>
            </a:extLst>
          </p:cNvPr>
          <p:cNvSpPr>
            <a:spLocks noGrp="1"/>
          </p:cNvSpPr>
          <p:nvPr>
            <p:ph type="title"/>
          </p:nvPr>
        </p:nvSpPr>
        <p:spPr/>
        <p:txBody>
          <a:bodyPr/>
          <a:lstStyle/>
          <a:p>
            <a:r>
              <a:rPr lang="cs-CZ" dirty="0"/>
              <a:t>Předpoklady pro implementaci přihlašování z MA</a:t>
            </a:r>
          </a:p>
        </p:txBody>
      </p:sp>
      <p:sp>
        <p:nvSpPr>
          <p:cNvPr id="3" name="Oval 2">
            <a:extLst>
              <a:ext uri="{FF2B5EF4-FFF2-40B4-BE49-F238E27FC236}">
                <a16:creationId xmlns:a16="http://schemas.microsoft.com/office/drawing/2014/main" id="{E430DC6F-91AB-43A3-840C-DEC67FC4872D}"/>
              </a:ext>
            </a:extLst>
          </p:cNvPr>
          <p:cNvSpPr/>
          <p:nvPr/>
        </p:nvSpPr>
        <p:spPr>
          <a:xfrm>
            <a:off x="636672" y="3187523"/>
            <a:ext cx="982799" cy="982799"/>
          </a:xfrm>
          <a:prstGeom prst="ellipse">
            <a:avLst/>
          </a:prstGeom>
          <a:solidFill>
            <a:srgbClr val="229DFF"/>
          </a:solidFill>
          <a:ln w="889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914224">
              <a:lnSpc>
                <a:spcPct val="90000"/>
              </a:lnSpc>
              <a:defRPr/>
            </a:pPr>
            <a:r>
              <a:rPr lang="cs-CZ" sz="2800" kern="0" spc="120" dirty="0">
                <a:solidFill>
                  <a:srgbClr val="FFFFFF"/>
                </a:solidFill>
                <a:latin typeface="Segoe UI"/>
                <a:ea typeface="Segoe UI Black" panose="020B0A02040204020203" pitchFamily="34" charset="0"/>
                <a:cs typeface="Segoe UI Semilight" panose="020B0402040204020203" pitchFamily="34" charset="0"/>
              </a:rPr>
              <a:t>NIA</a:t>
            </a:r>
            <a:endParaRPr lang="en-US" sz="2800" kern="0" spc="30" dirty="0">
              <a:solidFill>
                <a:srgbClr val="FFFFFF"/>
              </a:solidFill>
              <a:latin typeface="Segoe UI"/>
              <a:ea typeface="Segoe UI" pitchFamily="34" charset="0"/>
              <a:cs typeface="Segoe UI Semilight" panose="020B0402040204020203" pitchFamily="34" charset="0"/>
            </a:endParaRPr>
          </a:p>
        </p:txBody>
      </p:sp>
      <p:sp>
        <p:nvSpPr>
          <p:cNvPr id="5" name="Oval 4">
            <a:extLst>
              <a:ext uri="{FF2B5EF4-FFF2-40B4-BE49-F238E27FC236}">
                <a16:creationId xmlns:a16="http://schemas.microsoft.com/office/drawing/2014/main" id="{6FB6FF0D-30A6-4CED-9898-47238C3A40F3}"/>
              </a:ext>
            </a:extLst>
          </p:cNvPr>
          <p:cNvSpPr/>
          <p:nvPr/>
        </p:nvSpPr>
        <p:spPr>
          <a:xfrm>
            <a:off x="636672" y="1069557"/>
            <a:ext cx="982799" cy="982799"/>
          </a:xfrm>
          <a:prstGeom prst="ellipse">
            <a:avLst/>
          </a:prstGeom>
          <a:solidFill>
            <a:srgbClr val="002050"/>
          </a:solidFill>
          <a:ln w="889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914224">
              <a:lnSpc>
                <a:spcPct val="90000"/>
              </a:lnSpc>
              <a:defRPr/>
            </a:pPr>
            <a:r>
              <a:rPr lang="cs-CZ" sz="2800" kern="0" spc="120" dirty="0" err="1">
                <a:solidFill>
                  <a:srgbClr val="FFFFFF"/>
                </a:solidFill>
                <a:latin typeface="Segoe UI"/>
                <a:ea typeface="Segoe UI Black" panose="020B0A02040204020203" pitchFamily="34" charset="0"/>
                <a:cs typeface="Segoe UI Black" panose="020B0A02040204020203" pitchFamily="34" charset="0"/>
              </a:rPr>
              <a:t>SeP</a:t>
            </a:r>
            <a:endParaRPr lang="en-US" sz="2800" kern="0" spc="120" dirty="0">
              <a:solidFill>
                <a:srgbClr val="FFFFFF"/>
              </a:solidFill>
              <a:latin typeface="Segoe UI"/>
              <a:ea typeface="Segoe UI Black" panose="020B0A02040204020203" pitchFamily="34" charset="0"/>
              <a:cs typeface="Segoe UI Black" panose="020B0A02040204020203" pitchFamily="34" charset="0"/>
            </a:endParaRPr>
          </a:p>
        </p:txBody>
      </p:sp>
      <p:sp>
        <p:nvSpPr>
          <p:cNvPr id="6" name="Rectangle 5">
            <a:extLst>
              <a:ext uri="{FF2B5EF4-FFF2-40B4-BE49-F238E27FC236}">
                <a16:creationId xmlns:a16="http://schemas.microsoft.com/office/drawing/2014/main" id="{671A4676-EC26-4C0E-81A8-9A912071A167}"/>
              </a:ext>
            </a:extLst>
          </p:cNvPr>
          <p:cNvSpPr/>
          <p:nvPr/>
        </p:nvSpPr>
        <p:spPr>
          <a:xfrm>
            <a:off x="1804175" y="3149218"/>
            <a:ext cx="9899740" cy="1671291"/>
          </a:xfrm>
          <a:prstGeom prst="rect">
            <a:avLst/>
          </a:prstGeom>
        </p:spPr>
        <p:txBody>
          <a:bodyPr wrap="square">
            <a:spAutoFit/>
          </a:bodyPr>
          <a:lstStyle/>
          <a:p>
            <a:pPr defTabSz="932597">
              <a:lnSpc>
                <a:spcPct val="90000"/>
              </a:lnSpc>
              <a:spcAft>
                <a:spcPts val="612"/>
              </a:spcAft>
              <a:defRPr/>
            </a:pPr>
            <a:r>
              <a:rPr lang="cs-CZ" sz="1836" b="1" kern="0" dirty="0">
                <a:solidFill>
                  <a:srgbClr val="00B050"/>
                </a:solidFill>
                <a:latin typeface="Segoe UI"/>
              </a:rPr>
              <a:t>NIA poskytuje </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rozhraní pro registraci mobilní aplikace</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rozhraní pro přihlášení mobilní aplikace </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rozhraní pro API, které si z NIA vyzvedne JWT</a:t>
            </a:r>
          </a:p>
          <a:p>
            <a:pPr marL="342900" indent="-342900">
              <a:lnSpc>
                <a:spcPct val="90000"/>
              </a:lnSpc>
              <a:spcAft>
                <a:spcPts val="612"/>
              </a:spcAft>
              <a:buFont typeface="Arial" panose="020B0604020202020204" pitchFamily="34" charset="0"/>
              <a:buChar char="•"/>
              <a:defRPr/>
            </a:pPr>
            <a:endParaRPr lang="en-US" sz="1836" kern="0" dirty="0">
              <a:gradFill>
                <a:gsLst>
                  <a:gs pos="2917">
                    <a:srgbClr val="505050"/>
                  </a:gs>
                  <a:gs pos="30000">
                    <a:srgbClr val="505050"/>
                  </a:gs>
                </a:gsLst>
                <a:lin ang="5400000" scaled="0"/>
              </a:gradFill>
              <a:latin typeface="Segoe UI"/>
            </a:endParaRPr>
          </a:p>
        </p:txBody>
      </p:sp>
      <p:sp>
        <p:nvSpPr>
          <p:cNvPr id="7" name="Rectangle 6">
            <a:extLst>
              <a:ext uri="{FF2B5EF4-FFF2-40B4-BE49-F238E27FC236}">
                <a16:creationId xmlns:a16="http://schemas.microsoft.com/office/drawing/2014/main" id="{52370A5F-D86E-4563-AA9B-72B6307E7A88}"/>
              </a:ext>
            </a:extLst>
          </p:cNvPr>
          <p:cNvSpPr/>
          <p:nvPr/>
        </p:nvSpPr>
        <p:spPr>
          <a:xfrm>
            <a:off x="1804176" y="1062842"/>
            <a:ext cx="9899741" cy="2333652"/>
          </a:xfrm>
          <a:prstGeom prst="rect">
            <a:avLst/>
          </a:prstGeom>
        </p:spPr>
        <p:txBody>
          <a:bodyPr wrap="square">
            <a:spAutoFit/>
          </a:bodyPr>
          <a:lstStyle/>
          <a:p>
            <a:pPr defTabSz="932597">
              <a:lnSpc>
                <a:spcPct val="90000"/>
              </a:lnSpc>
              <a:spcAft>
                <a:spcPts val="612"/>
              </a:spcAft>
              <a:defRPr/>
            </a:pPr>
            <a:r>
              <a:rPr lang="cs-CZ" sz="1836" b="1" kern="0" dirty="0">
                <a:solidFill>
                  <a:srgbClr val="00B050"/>
                </a:solidFill>
                <a:latin typeface="Segoe UI"/>
              </a:rPr>
              <a:t>Poskytovatel služby musí</a:t>
            </a:r>
            <a:endParaRPr lang="en-US" sz="1836" b="1" kern="0" dirty="0">
              <a:solidFill>
                <a:srgbClr val="00B050"/>
              </a:solidFill>
              <a:latin typeface="Segoe UI"/>
            </a:endParaRP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vytvořit svoji mobilní aplikaci</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vytvořit svoje API</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zabezpečit komunikace mezi svým API a mobilní aplikaci</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provést registraci svého API a mobilní aplikace v NIA</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definovat a zaregistrovat sadu atributů, které budou obsahem JWT (JSON Web Token) </a:t>
            </a:r>
          </a:p>
          <a:p>
            <a:pPr>
              <a:lnSpc>
                <a:spcPct val="90000"/>
              </a:lnSpc>
              <a:spcAft>
                <a:spcPts val="612"/>
              </a:spcAft>
              <a:defRPr/>
            </a:pPr>
            <a:endParaRPr lang="en-US" sz="1836" kern="0" dirty="0">
              <a:gradFill>
                <a:gsLst>
                  <a:gs pos="2917">
                    <a:srgbClr val="505050"/>
                  </a:gs>
                  <a:gs pos="30000">
                    <a:srgbClr val="505050"/>
                  </a:gs>
                </a:gsLst>
                <a:lin ang="5400000" scaled="0"/>
              </a:gradFill>
              <a:latin typeface="Segoe UI"/>
            </a:endParaRPr>
          </a:p>
        </p:txBody>
      </p:sp>
      <p:sp>
        <p:nvSpPr>
          <p:cNvPr id="9" name="Oval 8">
            <a:extLst>
              <a:ext uri="{FF2B5EF4-FFF2-40B4-BE49-F238E27FC236}">
                <a16:creationId xmlns:a16="http://schemas.microsoft.com/office/drawing/2014/main" id="{9207B6F6-4F7D-4883-9B2F-012301AACC32}"/>
              </a:ext>
            </a:extLst>
          </p:cNvPr>
          <p:cNvSpPr/>
          <p:nvPr/>
        </p:nvSpPr>
        <p:spPr>
          <a:xfrm>
            <a:off x="636668" y="4776847"/>
            <a:ext cx="982799" cy="982799"/>
          </a:xfrm>
          <a:prstGeom prst="ellipse">
            <a:avLst/>
          </a:prstGeom>
          <a:solidFill>
            <a:schemeClr val="accent3">
              <a:lumMod val="75000"/>
            </a:schemeClr>
          </a:solidFill>
          <a:ln w="889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914224">
              <a:lnSpc>
                <a:spcPct val="90000"/>
              </a:lnSpc>
              <a:defRPr/>
            </a:pPr>
            <a:r>
              <a:rPr lang="cs-CZ" sz="2800" kern="0" spc="120" dirty="0">
                <a:solidFill>
                  <a:srgbClr val="FFFFFF"/>
                </a:solidFill>
                <a:latin typeface="Segoe UI"/>
                <a:ea typeface="Segoe UI Black" panose="020B0A02040204020203" pitchFamily="34" charset="0"/>
                <a:cs typeface="Segoe UI Semilight" panose="020B0402040204020203" pitchFamily="34" charset="0"/>
              </a:rPr>
              <a:t>U</a:t>
            </a:r>
            <a:endParaRPr lang="en-US" sz="2800" kern="0" spc="30" dirty="0">
              <a:solidFill>
                <a:srgbClr val="FFFFFF"/>
              </a:solidFill>
              <a:latin typeface="Segoe UI"/>
              <a:ea typeface="Segoe UI" pitchFamily="34" charset="0"/>
              <a:cs typeface="Segoe UI Semilight" panose="020B0402040204020203" pitchFamily="34" charset="0"/>
            </a:endParaRPr>
          </a:p>
        </p:txBody>
      </p:sp>
      <p:sp>
        <p:nvSpPr>
          <p:cNvPr id="10" name="Rectangle 9">
            <a:extLst>
              <a:ext uri="{FF2B5EF4-FFF2-40B4-BE49-F238E27FC236}">
                <a16:creationId xmlns:a16="http://schemas.microsoft.com/office/drawing/2014/main" id="{F9CA5800-8FEF-4686-891D-DC4647BFA9D2}"/>
              </a:ext>
            </a:extLst>
          </p:cNvPr>
          <p:cNvSpPr/>
          <p:nvPr/>
        </p:nvSpPr>
        <p:spPr>
          <a:xfrm>
            <a:off x="1804171" y="4738542"/>
            <a:ext cx="9899740" cy="2434000"/>
          </a:xfrm>
          <a:prstGeom prst="rect">
            <a:avLst/>
          </a:prstGeom>
        </p:spPr>
        <p:txBody>
          <a:bodyPr wrap="square">
            <a:spAutoFit/>
          </a:bodyPr>
          <a:lstStyle/>
          <a:p>
            <a:pPr defTabSz="932597">
              <a:lnSpc>
                <a:spcPct val="90000"/>
              </a:lnSpc>
              <a:spcAft>
                <a:spcPts val="612"/>
              </a:spcAft>
              <a:defRPr/>
            </a:pPr>
            <a:r>
              <a:rPr lang="cs-CZ" sz="1836" b="1" kern="0" dirty="0">
                <a:solidFill>
                  <a:srgbClr val="00B050"/>
                </a:solidFill>
                <a:latin typeface="Segoe UI"/>
              </a:rPr>
              <a:t>Uživatel </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nainstaluje si aplikaci od poskytovatele služby</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po prvním spuštění aplikace provede interaktivní přihlášení přes NIA, které zajistí registraci aplikace v NIA</a:t>
            </a:r>
          </a:p>
          <a:p>
            <a:pPr marL="342900" indent="-342900">
              <a:lnSpc>
                <a:spcPct val="90000"/>
              </a:lnSpc>
              <a:spcAft>
                <a:spcPts val="612"/>
              </a:spcAft>
              <a:buFont typeface="Arial" panose="020B0604020202020204" pitchFamily="34" charset="0"/>
              <a:buChar char="•"/>
              <a:defRPr/>
            </a:pPr>
            <a:r>
              <a:rPr lang="cs-CZ" sz="1836" kern="0" dirty="0">
                <a:gradFill>
                  <a:gsLst>
                    <a:gs pos="2917">
                      <a:srgbClr val="505050"/>
                    </a:gs>
                    <a:gs pos="30000">
                      <a:srgbClr val="505050"/>
                    </a:gs>
                  </a:gsLst>
                  <a:lin ang="5400000" scaled="0"/>
                </a:gradFill>
              </a:rPr>
              <a:t>podle potřeby bude opakovat interaktivní přihlášení z aplikace pokud z nějakého důvodu bude registrace v NIA zrušena/zneplatněna (změna konfigurace </a:t>
            </a:r>
            <a:r>
              <a:rPr lang="cs-CZ" sz="1836" kern="0" dirty="0" err="1">
                <a:gradFill>
                  <a:gsLst>
                    <a:gs pos="2917">
                      <a:srgbClr val="505050"/>
                    </a:gs>
                    <a:gs pos="30000">
                      <a:srgbClr val="505050"/>
                    </a:gs>
                  </a:gsLst>
                  <a:lin ang="5400000" scaled="0"/>
                </a:gradFill>
              </a:rPr>
              <a:t>SePa</a:t>
            </a:r>
            <a:r>
              <a:rPr lang="cs-CZ" sz="1836" kern="0" dirty="0">
                <a:gradFill>
                  <a:gsLst>
                    <a:gs pos="2917">
                      <a:srgbClr val="505050"/>
                    </a:gs>
                    <a:gs pos="30000">
                      <a:srgbClr val="505050"/>
                    </a:gs>
                  </a:gsLst>
                  <a:lin ang="5400000" scaled="0"/>
                </a:gradFill>
              </a:rPr>
              <a:t> anebo každých 6 měsíců.)</a:t>
            </a:r>
          </a:p>
          <a:p>
            <a:pPr marL="342900" indent="-342900">
              <a:lnSpc>
                <a:spcPct val="90000"/>
              </a:lnSpc>
              <a:spcAft>
                <a:spcPts val="612"/>
              </a:spcAft>
              <a:buFont typeface="Arial" panose="020B0604020202020204" pitchFamily="34" charset="0"/>
              <a:buChar char="•"/>
              <a:defRPr/>
            </a:pPr>
            <a:endParaRPr lang="en-US" sz="1836" kern="0" dirty="0">
              <a:gradFill>
                <a:gsLst>
                  <a:gs pos="2917">
                    <a:srgbClr val="505050"/>
                  </a:gs>
                  <a:gs pos="30000">
                    <a:srgbClr val="505050"/>
                  </a:gs>
                </a:gsLst>
                <a:lin ang="5400000" scaled="0"/>
              </a:gradFill>
              <a:latin typeface="Segoe UI"/>
            </a:endParaRPr>
          </a:p>
        </p:txBody>
      </p:sp>
    </p:spTree>
    <p:extLst>
      <p:ext uri="{BB962C8B-B14F-4D97-AF65-F5344CB8AC3E}">
        <p14:creationId xmlns:p14="http://schemas.microsoft.com/office/powerpoint/2010/main" val="2512688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2C92042-7713-4C51-8C04-309D40641031}"/>
              </a:ext>
            </a:extLst>
          </p:cNvPr>
          <p:cNvSpPr/>
          <p:nvPr/>
        </p:nvSpPr>
        <p:spPr bwMode="auto">
          <a:xfrm>
            <a:off x="1577038" y="753661"/>
            <a:ext cx="2985180" cy="6060796"/>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Poskytovatel služby</a:t>
            </a:r>
          </a:p>
        </p:txBody>
      </p:sp>
      <p:sp>
        <p:nvSpPr>
          <p:cNvPr id="63" name="Title 62">
            <a:extLst>
              <a:ext uri="{FF2B5EF4-FFF2-40B4-BE49-F238E27FC236}">
                <a16:creationId xmlns:a16="http://schemas.microsoft.com/office/drawing/2014/main" id="{BB664752-5281-44BB-A019-58AA5F42AA85}"/>
              </a:ext>
            </a:extLst>
          </p:cNvPr>
          <p:cNvSpPr>
            <a:spLocks noGrp="1"/>
          </p:cNvSpPr>
          <p:nvPr>
            <p:ph type="title"/>
          </p:nvPr>
        </p:nvSpPr>
        <p:spPr/>
        <p:txBody>
          <a:bodyPr/>
          <a:lstStyle/>
          <a:p>
            <a:r>
              <a:rPr lang="cs-CZ" b="0" dirty="0"/>
              <a:t>Základní architektura</a:t>
            </a:r>
            <a:endParaRPr lang="en-GB" b="0" dirty="0"/>
          </a:p>
        </p:txBody>
      </p:sp>
      <p:grpSp>
        <p:nvGrpSpPr>
          <p:cNvPr id="10" name="Group 9">
            <a:extLst>
              <a:ext uri="{FF2B5EF4-FFF2-40B4-BE49-F238E27FC236}">
                <a16:creationId xmlns:a16="http://schemas.microsoft.com/office/drawing/2014/main" id="{F9CD7D13-B0C3-4443-91BB-0A251E7C55F8}"/>
              </a:ext>
            </a:extLst>
          </p:cNvPr>
          <p:cNvGrpSpPr/>
          <p:nvPr/>
        </p:nvGrpSpPr>
        <p:grpSpPr>
          <a:xfrm>
            <a:off x="2188084" y="5069794"/>
            <a:ext cx="1663589" cy="1224834"/>
            <a:chOff x="4693668" y="3902337"/>
            <a:chExt cx="1663589" cy="1224834"/>
          </a:xfrm>
        </p:grpSpPr>
        <p:sp>
          <p:nvSpPr>
            <p:cNvPr id="8" name="Rectangle: Rounded Corners 7">
              <a:extLst>
                <a:ext uri="{FF2B5EF4-FFF2-40B4-BE49-F238E27FC236}">
                  <a16:creationId xmlns:a16="http://schemas.microsoft.com/office/drawing/2014/main" id="{B2205858-3513-4AD3-8BB0-327920FCDFCF}"/>
                </a:ext>
              </a:extLst>
            </p:cNvPr>
            <p:cNvSpPr/>
            <p:nvPr/>
          </p:nvSpPr>
          <p:spPr bwMode="auto">
            <a:xfrm>
              <a:off x="4693668" y="3902337"/>
              <a:ext cx="1663589" cy="1224834"/>
            </a:xfrm>
            <a:prstGeom prst="round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Mobilní aplikace</a:t>
              </a:r>
            </a:p>
          </p:txBody>
        </p:sp>
        <p:sp>
          <p:nvSpPr>
            <p:cNvPr id="6" name="UniversalApp_E8CC" title="Icon of a cellphone in front of a tablet">
              <a:extLst>
                <a:ext uri="{FF2B5EF4-FFF2-40B4-BE49-F238E27FC236}">
                  <a16:creationId xmlns:a16="http://schemas.microsoft.com/office/drawing/2014/main" id="{BCD1E41E-9934-4ECD-B97D-C68175E5A371}"/>
                </a:ext>
              </a:extLst>
            </p:cNvPr>
            <p:cNvSpPr>
              <a:spLocks noChangeAspect="1" noEditPoints="1"/>
            </p:cNvSpPr>
            <p:nvPr/>
          </p:nvSpPr>
          <p:spPr bwMode="auto">
            <a:xfrm>
              <a:off x="5265968" y="4253829"/>
              <a:ext cx="502849" cy="368998"/>
            </a:xfrm>
            <a:custGeom>
              <a:avLst/>
              <a:gdLst>
                <a:gd name="T0" fmla="*/ 1250 w 3750"/>
                <a:gd name="T1" fmla="*/ 2750 h 2750"/>
                <a:gd name="T2" fmla="*/ 0 w 3750"/>
                <a:gd name="T3" fmla="*/ 2750 h 2750"/>
                <a:gd name="T4" fmla="*/ 0 w 3750"/>
                <a:gd name="T5" fmla="*/ 750 h 2750"/>
                <a:gd name="T6" fmla="*/ 1250 w 3750"/>
                <a:gd name="T7" fmla="*/ 750 h 2750"/>
                <a:gd name="T8" fmla="*/ 1250 w 3750"/>
                <a:gd name="T9" fmla="*/ 2750 h 2750"/>
                <a:gd name="T10" fmla="*/ 375 w 3750"/>
                <a:gd name="T11" fmla="*/ 2250 h 2750"/>
                <a:gd name="T12" fmla="*/ 875 w 3750"/>
                <a:gd name="T13" fmla="*/ 2250 h 2750"/>
                <a:gd name="T14" fmla="*/ 1875 w 3750"/>
                <a:gd name="T15" fmla="*/ 1750 h 2750"/>
                <a:gd name="T16" fmla="*/ 2375 w 3750"/>
                <a:gd name="T17" fmla="*/ 1750 h 2750"/>
                <a:gd name="T18" fmla="*/ 1250 w 3750"/>
                <a:gd name="T19" fmla="*/ 2250 h 2750"/>
                <a:gd name="T20" fmla="*/ 3625 w 3750"/>
                <a:gd name="T21" fmla="*/ 2250 h 2750"/>
                <a:gd name="T22" fmla="*/ 3750 w 3750"/>
                <a:gd name="T23" fmla="*/ 2125 h 2750"/>
                <a:gd name="T24" fmla="*/ 3750 w 3750"/>
                <a:gd name="T25" fmla="*/ 125 h 2750"/>
                <a:gd name="T26" fmla="*/ 3625 w 3750"/>
                <a:gd name="T27" fmla="*/ 0 h 2750"/>
                <a:gd name="T28" fmla="*/ 625 w 3750"/>
                <a:gd name="T29" fmla="*/ 0 h 2750"/>
                <a:gd name="T30" fmla="*/ 500 w 3750"/>
                <a:gd name="T31" fmla="*/ 125 h 2750"/>
                <a:gd name="T32" fmla="*/ 500 w 3750"/>
                <a:gd name="T33" fmla="*/ 75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50" h="2750">
                  <a:moveTo>
                    <a:pt x="1250" y="2750"/>
                  </a:moveTo>
                  <a:cubicBezTo>
                    <a:pt x="0" y="2750"/>
                    <a:pt x="0" y="2750"/>
                    <a:pt x="0" y="2750"/>
                  </a:cubicBezTo>
                  <a:cubicBezTo>
                    <a:pt x="0" y="750"/>
                    <a:pt x="0" y="750"/>
                    <a:pt x="0" y="750"/>
                  </a:cubicBezTo>
                  <a:cubicBezTo>
                    <a:pt x="1250" y="750"/>
                    <a:pt x="1250" y="750"/>
                    <a:pt x="1250" y="750"/>
                  </a:cubicBezTo>
                  <a:lnTo>
                    <a:pt x="1250" y="2750"/>
                  </a:lnTo>
                  <a:close/>
                  <a:moveTo>
                    <a:pt x="375" y="2250"/>
                  </a:moveTo>
                  <a:cubicBezTo>
                    <a:pt x="875" y="2250"/>
                    <a:pt x="875" y="2250"/>
                    <a:pt x="875" y="2250"/>
                  </a:cubicBezTo>
                  <a:moveTo>
                    <a:pt x="1875" y="1750"/>
                  </a:moveTo>
                  <a:cubicBezTo>
                    <a:pt x="2375" y="1750"/>
                    <a:pt x="2375" y="1750"/>
                    <a:pt x="2375" y="1750"/>
                  </a:cubicBezTo>
                  <a:moveTo>
                    <a:pt x="1250" y="2250"/>
                  </a:moveTo>
                  <a:cubicBezTo>
                    <a:pt x="3625" y="2250"/>
                    <a:pt x="3625" y="2250"/>
                    <a:pt x="3625" y="2250"/>
                  </a:cubicBezTo>
                  <a:cubicBezTo>
                    <a:pt x="3694" y="2250"/>
                    <a:pt x="3750" y="2194"/>
                    <a:pt x="3750" y="2125"/>
                  </a:cubicBezTo>
                  <a:cubicBezTo>
                    <a:pt x="3750" y="125"/>
                    <a:pt x="3750" y="125"/>
                    <a:pt x="3750" y="125"/>
                  </a:cubicBezTo>
                  <a:cubicBezTo>
                    <a:pt x="3750" y="56"/>
                    <a:pt x="3694" y="0"/>
                    <a:pt x="3625" y="0"/>
                  </a:cubicBezTo>
                  <a:cubicBezTo>
                    <a:pt x="625" y="0"/>
                    <a:pt x="625" y="0"/>
                    <a:pt x="625" y="0"/>
                  </a:cubicBezTo>
                  <a:cubicBezTo>
                    <a:pt x="556" y="0"/>
                    <a:pt x="500" y="56"/>
                    <a:pt x="500" y="125"/>
                  </a:cubicBezTo>
                  <a:cubicBezTo>
                    <a:pt x="500" y="750"/>
                    <a:pt x="500" y="750"/>
                    <a:pt x="500" y="750"/>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sz="900">
                <a:gradFill>
                  <a:gsLst>
                    <a:gs pos="0">
                      <a:srgbClr val="505050"/>
                    </a:gs>
                    <a:gs pos="100000">
                      <a:srgbClr val="505050"/>
                    </a:gs>
                  </a:gsLst>
                </a:gradFill>
              </a:endParaRPr>
            </a:p>
          </p:txBody>
        </p:sp>
      </p:grpSp>
      <p:grpSp>
        <p:nvGrpSpPr>
          <p:cNvPr id="11" name="Group 10">
            <a:extLst>
              <a:ext uri="{FF2B5EF4-FFF2-40B4-BE49-F238E27FC236}">
                <a16:creationId xmlns:a16="http://schemas.microsoft.com/office/drawing/2014/main" id="{D3C3160F-ADA5-427D-9658-EFABC61BDA18}"/>
              </a:ext>
            </a:extLst>
          </p:cNvPr>
          <p:cNvGrpSpPr/>
          <p:nvPr/>
        </p:nvGrpSpPr>
        <p:grpSpPr>
          <a:xfrm>
            <a:off x="2188084" y="2872483"/>
            <a:ext cx="1698116" cy="1224834"/>
            <a:chOff x="6357257" y="1849425"/>
            <a:chExt cx="1663589" cy="1224834"/>
          </a:xfrm>
        </p:grpSpPr>
        <p:sp>
          <p:nvSpPr>
            <p:cNvPr id="9" name="Rectangle: Rounded Corners 8">
              <a:extLst>
                <a:ext uri="{FF2B5EF4-FFF2-40B4-BE49-F238E27FC236}">
                  <a16:creationId xmlns:a16="http://schemas.microsoft.com/office/drawing/2014/main" id="{3674F749-349C-41D7-8093-C92A1C061D89}"/>
                </a:ext>
              </a:extLst>
            </p:cNvPr>
            <p:cNvSpPr/>
            <p:nvPr/>
          </p:nvSpPr>
          <p:spPr bwMode="auto">
            <a:xfrm>
              <a:off x="6357257" y="1849425"/>
              <a:ext cx="1663589" cy="1224834"/>
            </a:xfrm>
            <a:prstGeom prst="round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API</a:t>
              </a:r>
            </a:p>
          </p:txBody>
        </p:sp>
        <p:grpSp>
          <p:nvGrpSpPr>
            <p:cNvPr id="26" name="Group 25">
              <a:extLst>
                <a:ext uri="{FF2B5EF4-FFF2-40B4-BE49-F238E27FC236}">
                  <a16:creationId xmlns:a16="http://schemas.microsoft.com/office/drawing/2014/main" id="{49CA8D08-7977-4331-AB62-1C0EE52E2264}"/>
                </a:ext>
              </a:extLst>
            </p:cNvPr>
            <p:cNvGrpSpPr/>
            <p:nvPr/>
          </p:nvGrpSpPr>
          <p:grpSpPr>
            <a:xfrm>
              <a:off x="6879297" y="2030985"/>
              <a:ext cx="619507" cy="565502"/>
              <a:chOff x="7389516" y="3535988"/>
              <a:chExt cx="619595" cy="565582"/>
            </a:xfrm>
          </p:grpSpPr>
          <p:sp>
            <p:nvSpPr>
              <p:cNvPr id="27" name="Freeform 47">
                <a:extLst>
                  <a:ext uri="{FF2B5EF4-FFF2-40B4-BE49-F238E27FC236}">
                    <a16:creationId xmlns:a16="http://schemas.microsoft.com/office/drawing/2014/main" id="{B18AC8F6-3B82-42FC-9687-497C6E268F39}"/>
                  </a:ext>
                </a:extLst>
              </p:cNvPr>
              <p:cNvSpPr>
                <a:spLocks/>
              </p:cNvSpPr>
              <p:nvPr/>
            </p:nvSpPr>
            <p:spPr bwMode="auto">
              <a:xfrm>
                <a:off x="7389516" y="3535988"/>
                <a:ext cx="619595" cy="307425"/>
              </a:xfrm>
              <a:custGeom>
                <a:avLst/>
                <a:gdLst>
                  <a:gd name="T0" fmla="*/ 1037 w 1051"/>
                  <a:gd name="T1" fmla="*/ 189 h 522"/>
                  <a:gd name="T2" fmla="*/ 1014 w 1051"/>
                  <a:gd name="T3" fmla="*/ 201 h 522"/>
                  <a:gd name="T4" fmla="*/ 974 w 1051"/>
                  <a:gd name="T5" fmla="*/ 324 h 522"/>
                  <a:gd name="T6" fmla="*/ 504 w 1051"/>
                  <a:gd name="T7" fmla="*/ 0 h 522"/>
                  <a:gd name="T8" fmla="*/ 0 w 1051"/>
                  <a:gd name="T9" fmla="*/ 504 h 522"/>
                  <a:gd name="T10" fmla="*/ 18 w 1051"/>
                  <a:gd name="T11" fmla="*/ 522 h 522"/>
                  <a:gd name="T12" fmla="*/ 36 w 1051"/>
                  <a:gd name="T13" fmla="*/ 504 h 522"/>
                  <a:gd name="T14" fmla="*/ 504 w 1051"/>
                  <a:gd name="T15" fmla="*/ 36 h 522"/>
                  <a:gd name="T16" fmla="*/ 946 w 1051"/>
                  <a:gd name="T17" fmla="*/ 351 h 522"/>
                  <a:gd name="T18" fmla="*/ 807 w 1051"/>
                  <a:gd name="T19" fmla="*/ 307 h 522"/>
                  <a:gd name="T20" fmla="*/ 785 w 1051"/>
                  <a:gd name="T21" fmla="*/ 318 h 522"/>
                  <a:gd name="T22" fmla="*/ 796 w 1051"/>
                  <a:gd name="T23" fmla="*/ 341 h 522"/>
                  <a:gd name="T24" fmla="*/ 963 w 1051"/>
                  <a:gd name="T25" fmla="*/ 395 h 522"/>
                  <a:gd name="T26" fmla="*/ 978 w 1051"/>
                  <a:gd name="T27" fmla="*/ 398 h 522"/>
                  <a:gd name="T28" fmla="*/ 979 w 1051"/>
                  <a:gd name="T29" fmla="*/ 397 h 522"/>
                  <a:gd name="T30" fmla="*/ 992 w 1051"/>
                  <a:gd name="T31" fmla="*/ 385 h 522"/>
                  <a:gd name="T32" fmla="*/ 1048 w 1051"/>
                  <a:gd name="T33" fmla="*/ 212 h 522"/>
                  <a:gd name="T34" fmla="*/ 1037 w 1051"/>
                  <a:gd name="T35" fmla="*/ 189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1" h="522">
                    <a:moveTo>
                      <a:pt x="1037" y="189"/>
                    </a:moveTo>
                    <a:cubicBezTo>
                      <a:pt x="1027" y="186"/>
                      <a:pt x="1017" y="192"/>
                      <a:pt x="1014" y="201"/>
                    </a:cubicBezTo>
                    <a:cubicBezTo>
                      <a:pt x="974" y="324"/>
                      <a:pt x="974" y="324"/>
                      <a:pt x="974" y="324"/>
                    </a:cubicBezTo>
                    <a:cubicBezTo>
                      <a:pt x="901" y="131"/>
                      <a:pt x="714" y="0"/>
                      <a:pt x="504" y="0"/>
                    </a:cubicBezTo>
                    <a:cubicBezTo>
                      <a:pt x="226" y="0"/>
                      <a:pt x="0" y="226"/>
                      <a:pt x="0" y="504"/>
                    </a:cubicBezTo>
                    <a:cubicBezTo>
                      <a:pt x="0" y="514"/>
                      <a:pt x="8" y="522"/>
                      <a:pt x="18" y="522"/>
                    </a:cubicBezTo>
                    <a:cubicBezTo>
                      <a:pt x="28" y="522"/>
                      <a:pt x="36" y="514"/>
                      <a:pt x="36" y="504"/>
                    </a:cubicBezTo>
                    <a:cubicBezTo>
                      <a:pt x="36" y="246"/>
                      <a:pt x="246" y="36"/>
                      <a:pt x="504" y="36"/>
                    </a:cubicBezTo>
                    <a:cubicBezTo>
                      <a:pt x="704" y="36"/>
                      <a:pt x="882" y="164"/>
                      <a:pt x="946" y="351"/>
                    </a:cubicBezTo>
                    <a:cubicBezTo>
                      <a:pt x="807" y="307"/>
                      <a:pt x="807" y="307"/>
                      <a:pt x="807" y="307"/>
                    </a:cubicBezTo>
                    <a:cubicBezTo>
                      <a:pt x="798" y="303"/>
                      <a:pt x="788" y="309"/>
                      <a:pt x="785" y="318"/>
                    </a:cubicBezTo>
                    <a:cubicBezTo>
                      <a:pt x="782" y="328"/>
                      <a:pt x="787" y="338"/>
                      <a:pt x="796" y="341"/>
                    </a:cubicBezTo>
                    <a:cubicBezTo>
                      <a:pt x="963" y="395"/>
                      <a:pt x="963" y="395"/>
                      <a:pt x="963" y="395"/>
                    </a:cubicBezTo>
                    <a:cubicBezTo>
                      <a:pt x="967" y="398"/>
                      <a:pt x="973" y="399"/>
                      <a:pt x="978" y="398"/>
                    </a:cubicBezTo>
                    <a:cubicBezTo>
                      <a:pt x="978" y="397"/>
                      <a:pt x="979" y="397"/>
                      <a:pt x="979" y="397"/>
                    </a:cubicBezTo>
                    <a:cubicBezTo>
                      <a:pt x="985" y="396"/>
                      <a:pt x="990" y="392"/>
                      <a:pt x="992" y="385"/>
                    </a:cubicBezTo>
                    <a:cubicBezTo>
                      <a:pt x="1048" y="212"/>
                      <a:pt x="1048" y="212"/>
                      <a:pt x="1048" y="212"/>
                    </a:cubicBezTo>
                    <a:cubicBezTo>
                      <a:pt x="1051" y="203"/>
                      <a:pt x="1046" y="192"/>
                      <a:pt x="1037" y="189"/>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8" name="Freeform 48">
                <a:extLst>
                  <a:ext uri="{FF2B5EF4-FFF2-40B4-BE49-F238E27FC236}">
                    <a16:creationId xmlns:a16="http://schemas.microsoft.com/office/drawing/2014/main" id="{3DB560B1-D67E-415A-B409-4473772793AE}"/>
                  </a:ext>
                </a:extLst>
              </p:cNvPr>
              <p:cNvSpPr>
                <a:spLocks/>
              </p:cNvSpPr>
              <p:nvPr/>
            </p:nvSpPr>
            <p:spPr bwMode="auto">
              <a:xfrm>
                <a:off x="7389516" y="3794145"/>
                <a:ext cx="619595" cy="307425"/>
              </a:xfrm>
              <a:custGeom>
                <a:avLst/>
                <a:gdLst>
                  <a:gd name="T0" fmla="*/ 1033 w 1051"/>
                  <a:gd name="T1" fmla="*/ 0 h 522"/>
                  <a:gd name="T2" fmla="*/ 1015 w 1051"/>
                  <a:gd name="T3" fmla="*/ 18 h 522"/>
                  <a:gd name="T4" fmla="*/ 547 w 1051"/>
                  <a:gd name="T5" fmla="*/ 486 h 522"/>
                  <a:gd name="T6" fmla="*/ 105 w 1051"/>
                  <a:gd name="T7" fmla="*/ 170 h 522"/>
                  <a:gd name="T8" fmla="*/ 244 w 1051"/>
                  <a:gd name="T9" fmla="*/ 215 h 522"/>
                  <a:gd name="T10" fmla="*/ 266 w 1051"/>
                  <a:gd name="T11" fmla="*/ 204 h 522"/>
                  <a:gd name="T12" fmla="*/ 255 w 1051"/>
                  <a:gd name="T13" fmla="*/ 181 h 522"/>
                  <a:gd name="T14" fmla="*/ 88 w 1051"/>
                  <a:gd name="T15" fmla="*/ 127 h 522"/>
                  <a:gd name="T16" fmla="*/ 73 w 1051"/>
                  <a:gd name="T17" fmla="*/ 124 h 522"/>
                  <a:gd name="T18" fmla="*/ 72 w 1051"/>
                  <a:gd name="T19" fmla="*/ 124 h 522"/>
                  <a:gd name="T20" fmla="*/ 59 w 1051"/>
                  <a:gd name="T21" fmla="*/ 136 h 522"/>
                  <a:gd name="T22" fmla="*/ 3 w 1051"/>
                  <a:gd name="T23" fmla="*/ 310 h 522"/>
                  <a:gd name="T24" fmla="*/ 14 w 1051"/>
                  <a:gd name="T25" fmla="*/ 332 h 522"/>
                  <a:gd name="T26" fmla="*/ 20 w 1051"/>
                  <a:gd name="T27" fmla="*/ 333 h 522"/>
                  <a:gd name="T28" fmla="*/ 37 w 1051"/>
                  <a:gd name="T29" fmla="*/ 321 h 522"/>
                  <a:gd name="T30" fmla="*/ 77 w 1051"/>
                  <a:gd name="T31" fmla="*/ 198 h 522"/>
                  <a:gd name="T32" fmla="*/ 547 w 1051"/>
                  <a:gd name="T33" fmla="*/ 522 h 522"/>
                  <a:gd name="T34" fmla="*/ 1051 w 1051"/>
                  <a:gd name="T35" fmla="*/ 18 h 522"/>
                  <a:gd name="T36" fmla="*/ 1033 w 1051"/>
                  <a:gd name="T37"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1" h="522">
                    <a:moveTo>
                      <a:pt x="1033" y="0"/>
                    </a:moveTo>
                    <a:cubicBezTo>
                      <a:pt x="1023" y="0"/>
                      <a:pt x="1015" y="8"/>
                      <a:pt x="1015" y="18"/>
                    </a:cubicBezTo>
                    <a:cubicBezTo>
                      <a:pt x="1015" y="276"/>
                      <a:pt x="805" y="486"/>
                      <a:pt x="547" y="486"/>
                    </a:cubicBezTo>
                    <a:cubicBezTo>
                      <a:pt x="346" y="486"/>
                      <a:pt x="169" y="358"/>
                      <a:pt x="105" y="170"/>
                    </a:cubicBezTo>
                    <a:cubicBezTo>
                      <a:pt x="244" y="215"/>
                      <a:pt x="244" y="215"/>
                      <a:pt x="244" y="215"/>
                    </a:cubicBezTo>
                    <a:cubicBezTo>
                      <a:pt x="253" y="218"/>
                      <a:pt x="263" y="213"/>
                      <a:pt x="266" y="204"/>
                    </a:cubicBezTo>
                    <a:cubicBezTo>
                      <a:pt x="269" y="194"/>
                      <a:pt x="264" y="184"/>
                      <a:pt x="255" y="181"/>
                    </a:cubicBezTo>
                    <a:cubicBezTo>
                      <a:pt x="88" y="127"/>
                      <a:pt x="88" y="127"/>
                      <a:pt x="88" y="127"/>
                    </a:cubicBezTo>
                    <a:cubicBezTo>
                      <a:pt x="84" y="124"/>
                      <a:pt x="78" y="123"/>
                      <a:pt x="73" y="124"/>
                    </a:cubicBezTo>
                    <a:cubicBezTo>
                      <a:pt x="73" y="124"/>
                      <a:pt x="72" y="124"/>
                      <a:pt x="72" y="124"/>
                    </a:cubicBezTo>
                    <a:cubicBezTo>
                      <a:pt x="66" y="126"/>
                      <a:pt x="61" y="130"/>
                      <a:pt x="59" y="136"/>
                    </a:cubicBezTo>
                    <a:cubicBezTo>
                      <a:pt x="3" y="310"/>
                      <a:pt x="3" y="310"/>
                      <a:pt x="3" y="310"/>
                    </a:cubicBezTo>
                    <a:cubicBezTo>
                      <a:pt x="0" y="319"/>
                      <a:pt x="5" y="329"/>
                      <a:pt x="14" y="332"/>
                    </a:cubicBezTo>
                    <a:cubicBezTo>
                      <a:pt x="16" y="333"/>
                      <a:pt x="18" y="333"/>
                      <a:pt x="20" y="333"/>
                    </a:cubicBezTo>
                    <a:cubicBezTo>
                      <a:pt x="27" y="333"/>
                      <a:pt x="34" y="328"/>
                      <a:pt x="37" y="321"/>
                    </a:cubicBezTo>
                    <a:cubicBezTo>
                      <a:pt x="77" y="198"/>
                      <a:pt x="77" y="198"/>
                      <a:pt x="77" y="198"/>
                    </a:cubicBezTo>
                    <a:cubicBezTo>
                      <a:pt x="150" y="391"/>
                      <a:pt x="337" y="522"/>
                      <a:pt x="547" y="522"/>
                    </a:cubicBezTo>
                    <a:cubicBezTo>
                      <a:pt x="825" y="522"/>
                      <a:pt x="1051" y="296"/>
                      <a:pt x="1051" y="18"/>
                    </a:cubicBezTo>
                    <a:cubicBezTo>
                      <a:pt x="1051" y="8"/>
                      <a:pt x="1043" y="0"/>
                      <a:pt x="1033" y="0"/>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9" name="Processing_E9F5" title="Icon of two interlocked gears">
                <a:extLst>
                  <a:ext uri="{FF2B5EF4-FFF2-40B4-BE49-F238E27FC236}">
                    <a16:creationId xmlns:a16="http://schemas.microsoft.com/office/drawing/2014/main" id="{C40E11B4-9E32-4889-9022-14B5999DEF4F}"/>
                  </a:ext>
                </a:extLst>
              </p:cNvPr>
              <p:cNvSpPr>
                <a:spLocks noChangeAspect="1" noEditPoints="1"/>
              </p:cNvSpPr>
              <p:nvPr/>
            </p:nvSpPr>
            <p:spPr bwMode="auto">
              <a:xfrm>
                <a:off x="7528874" y="3675608"/>
                <a:ext cx="340879" cy="296883"/>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dirty="0"/>
              </a:p>
            </p:txBody>
          </p:sp>
        </p:grpSp>
      </p:grpSp>
      <p:grpSp>
        <p:nvGrpSpPr>
          <p:cNvPr id="14" name="Group 13">
            <a:extLst>
              <a:ext uri="{FF2B5EF4-FFF2-40B4-BE49-F238E27FC236}">
                <a16:creationId xmlns:a16="http://schemas.microsoft.com/office/drawing/2014/main" id="{E628AD01-A580-4DFF-B83C-12DDC42B8C29}"/>
              </a:ext>
            </a:extLst>
          </p:cNvPr>
          <p:cNvGrpSpPr/>
          <p:nvPr/>
        </p:nvGrpSpPr>
        <p:grpSpPr>
          <a:xfrm>
            <a:off x="2096208" y="1441242"/>
            <a:ext cx="1903295" cy="1186075"/>
            <a:chOff x="3505200" y="1164770"/>
            <a:chExt cx="1903295" cy="1186075"/>
          </a:xfrm>
        </p:grpSpPr>
        <p:sp>
          <p:nvSpPr>
            <p:cNvPr id="12" name="Rectangle: Rounded Corners 11">
              <a:extLst>
                <a:ext uri="{FF2B5EF4-FFF2-40B4-BE49-F238E27FC236}">
                  <a16:creationId xmlns:a16="http://schemas.microsoft.com/office/drawing/2014/main" id="{BD7B674C-F88D-485B-9262-0523D825ECA7}"/>
                </a:ext>
              </a:extLst>
            </p:cNvPr>
            <p:cNvSpPr/>
            <p:nvPr/>
          </p:nvSpPr>
          <p:spPr bwMode="auto">
            <a:xfrm>
              <a:off x="3505200" y="1164770"/>
              <a:ext cx="1903295" cy="1186075"/>
            </a:xfrm>
            <a:prstGeom prst="round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Informační systém</a:t>
              </a:r>
            </a:p>
          </p:txBody>
        </p:sp>
        <p:sp>
          <p:nvSpPr>
            <p:cNvPr id="13" name="Flowchart: Magnetic Disk 12">
              <a:extLst>
                <a:ext uri="{FF2B5EF4-FFF2-40B4-BE49-F238E27FC236}">
                  <a16:creationId xmlns:a16="http://schemas.microsoft.com/office/drawing/2014/main" id="{E5EA2CF4-B711-4DFC-AE60-D7572BB66BF0}"/>
                </a:ext>
              </a:extLst>
            </p:cNvPr>
            <p:cNvSpPr/>
            <p:nvPr/>
          </p:nvSpPr>
          <p:spPr bwMode="auto">
            <a:xfrm>
              <a:off x="4152157" y="1883153"/>
              <a:ext cx="609380" cy="256166"/>
            </a:xfrm>
            <a:prstGeom prst="flowChartMagneticDisk">
              <a:avLst/>
            </a:prstGeom>
            <a:solidFill>
              <a:schemeClr val="accent4">
                <a:lumMod val="60000"/>
                <a:lumOff val="40000"/>
              </a:schemeClr>
            </a:solidFill>
            <a:ln>
              <a:solidFill>
                <a:schemeClr val="accent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15" name="Rectangle: Rounded Corners 14">
            <a:extLst>
              <a:ext uri="{FF2B5EF4-FFF2-40B4-BE49-F238E27FC236}">
                <a16:creationId xmlns:a16="http://schemas.microsoft.com/office/drawing/2014/main" id="{BAF971EC-E6B3-474C-B2CA-727A2E700811}"/>
              </a:ext>
            </a:extLst>
          </p:cNvPr>
          <p:cNvSpPr/>
          <p:nvPr/>
        </p:nvSpPr>
        <p:spPr bwMode="auto">
          <a:xfrm>
            <a:off x="7026417" y="753661"/>
            <a:ext cx="2985180" cy="6158768"/>
          </a:xfrm>
          <a:prstGeom prst="roundRect">
            <a:avLst/>
          </a:prstGeom>
          <a:solidFill>
            <a:schemeClr val="accent6">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NIA</a:t>
            </a:r>
          </a:p>
        </p:txBody>
      </p:sp>
      <p:grpSp>
        <p:nvGrpSpPr>
          <p:cNvPr id="19" name="Group 18">
            <a:extLst>
              <a:ext uri="{FF2B5EF4-FFF2-40B4-BE49-F238E27FC236}">
                <a16:creationId xmlns:a16="http://schemas.microsoft.com/office/drawing/2014/main" id="{B53C5B93-5FAB-4FBB-B7B0-3DEA96D0E902}"/>
              </a:ext>
            </a:extLst>
          </p:cNvPr>
          <p:cNvGrpSpPr/>
          <p:nvPr/>
        </p:nvGrpSpPr>
        <p:grpSpPr>
          <a:xfrm>
            <a:off x="7736167" y="4179409"/>
            <a:ext cx="1619560" cy="1178036"/>
            <a:chOff x="3374571" y="2030985"/>
            <a:chExt cx="1619560" cy="1178036"/>
          </a:xfrm>
        </p:grpSpPr>
        <p:sp>
          <p:nvSpPr>
            <p:cNvPr id="16" name="Rectangle: Rounded Corners 15">
              <a:extLst>
                <a:ext uri="{FF2B5EF4-FFF2-40B4-BE49-F238E27FC236}">
                  <a16:creationId xmlns:a16="http://schemas.microsoft.com/office/drawing/2014/main" id="{BE051771-1517-4FA1-B7CC-F01A295FF07F}"/>
                </a:ext>
              </a:extLst>
            </p:cNvPr>
            <p:cNvSpPr/>
            <p:nvPr/>
          </p:nvSpPr>
          <p:spPr bwMode="auto">
            <a:xfrm>
              <a:off x="3374571" y="2030985"/>
              <a:ext cx="1619560" cy="1178036"/>
            </a:xfrm>
            <a:prstGeom prst="round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Registrace MA</a:t>
              </a:r>
            </a:p>
          </p:txBody>
        </p:sp>
        <p:sp>
          <p:nvSpPr>
            <p:cNvPr id="53" name="plan" title="Icon of a circle with an arrow projecting from it between two exes">
              <a:extLst>
                <a:ext uri="{FF2B5EF4-FFF2-40B4-BE49-F238E27FC236}">
                  <a16:creationId xmlns:a16="http://schemas.microsoft.com/office/drawing/2014/main" id="{D9A5C394-EB85-4505-BD36-5DF9D6D3C56A}"/>
                </a:ext>
              </a:extLst>
            </p:cNvPr>
            <p:cNvSpPr>
              <a:spLocks noChangeAspect="1" noEditPoints="1"/>
            </p:cNvSpPr>
            <p:nvPr/>
          </p:nvSpPr>
          <p:spPr bwMode="auto">
            <a:xfrm>
              <a:off x="3999883" y="2301459"/>
              <a:ext cx="364274" cy="365708"/>
            </a:xfrm>
            <a:custGeom>
              <a:avLst/>
              <a:gdLst>
                <a:gd name="T0" fmla="*/ 116 w 352"/>
                <a:gd name="T1" fmla="*/ 117 h 352"/>
                <a:gd name="T2" fmla="*/ 0 w 352"/>
                <a:gd name="T3" fmla="*/ 0 h 352"/>
                <a:gd name="T4" fmla="*/ 116 w 352"/>
                <a:gd name="T5" fmla="*/ 0 h 352"/>
                <a:gd name="T6" fmla="*/ 0 w 352"/>
                <a:gd name="T7" fmla="*/ 117 h 352"/>
                <a:gd name="T8" fmla="*/ 352 w 352"/>
                <a:gd name="T9" fmla="*/ 352 h 352"/>
                <a:gd name="T10" fmla="*/ 235 w 352"/>
                <a:gd name="T11" fmla="*/ 236 h 352"/>
                <a:gd name="T12" fmla="*/ 352 w 352"/>
                <a:gd name="T13" fmla="*/ 236 h 352"/>
                <a:gd name="T14" fmla="*/ 235 w 352"/>
                <a:gd name="T15" fmla="*/ 352 h 352"/>
                <a:gd name="T16" fmla="*/ 66 w 352"/>
                <a:gd name="T17" fmla="*/ 218 h 352"/>
                <a:gd name="T18" fmla="*/ 2 w 352"/>
                <a:gd name="T19" fmla="*/ 282 h 352"/>
                <a:gd name="T20" fmla="*/ 66 w 352"/>
                <a:gd name="T21" fmla="*/ 347 h 352"/>
                <a:gd name="T22" fmla="*/ 130 w 352"/>
                <a:gd name="T23" fmla="*/ 282 h 352"/>
                <a:gd name="T24" fmla="*/ 66 w 352"/>
                <a:gd name="T25" fmla="*/ 218 h 352"/>
                <a:gd name="T26" fmla="*/ 113 w 352"/>
                <a:gd name="T27" fmla="*/ 239 h 352"/>
                <a:gd name="T28" fmla="*/ 345 w 352"/>
                <a:gd name="T29" fmla="*/ 8 h 352"/>
                <a:gd name="T30" fmla="*/ 345 w 352"/>
                <a:gd name="T31" fmla="*/ 83 h 352"/>
                <a:gd name="T32" fmla="*/ 345 w 352"/>
                <a:gd name="T33" fmla="*/ 7 h 352"/>
                <a:gd name="T34" fmla="*/ 269 w 352"/>
                <a:gd name="T35"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2" h="352">
                  <a:moveTo>
                    <a:pt x="116" y="117"/>
                  </a:moveTo>
                  <a:cubicBezTo>
                    <a:pt x="0" y="0"/>
                    <a:pt x="0" y="0"/>
                    <a:pt x="0" y="0"/>
                  </a:cubicBezTo>
                  <a:moveTo>
                    <a:pt x="116" y="0"/>
                  </a:moveTo>
                  <a:cubicBezTo>
                    <a:pt x="0" y="117"/>
                    <a:pt x="0" y="117"/>
                    <a:pt x="0" y="117"/>
                  </a:cubicBezTo>
                  <a:moveTo>
                    <a:pt x="352" y="352"/>
                  </a:moveTo>
                  <a:cubicBezTo>
                    <a:pt x="235" y="236"/>
                    <a:pt x="235" y="236"/>
                    <a:pt x="235" y="236"/>
                  </a:cubicBezTo>
                  <a:moveTo>
                    <a:pt x="352" y="236"/>
                  </a:moveTo>
                  <a:cubicBezTo>
                    <a:pt x="235" y="352"/>
                    <a:pt x="235" y="352"/>
                    <a:pt x="235" y="352"/>
                  </a:cubicBezTo>
                  <a:moveTo>
                    <a:pt x="66" y="218"/>
                  </a:moveTo>
                  <a:cubicBezTo>
                    <a:pt x="30" y="218"/>
                    <a:pt x="2" y="247"/>
                    <a:pt x="2" y="282"/>
                  </a:cubicBezTo>
                  <a:cubicBezTo>
                    <a:pt x="2" y="318"/>
                    <a:pt x="30" y="347"/>
                    <a:pt x="66" y="347"/>
                  </a:cubicBezTo>
                  <a:cubicBezTo>
                    <a:pt x="101" y="347"/>
                    <a:pt x="130" y="318"/>
                    <a:pt x="130" y="282"/>
                  </a:cubicBezTo>
                  <a:cubicBezTo>
                    <a:pt x="130" y="247"/>
                    <a:pt x="101" y="218"/>
                    <a:pt x="66" y="218"/>
                  </a:cubicBezTo>
                  <a:close/>
                  <a:moveTo>
                    <a:pt x="113" y="239"/>
                  </a:moveTo>
                  <a:cubicBezTo>
                    <a:pt x="345" y="8"/>
                    <a:pt x="345" y="8"/>
                    <a:pt x="345" y="8"/>
                  </a:cubicBezTo>
                  <a:moveTo>
                    <a:pt x="345" y="83"/>
                  </a:moveTo>
                  <a:cubicBezTo>
                    <a:pt x="345" y="7"/>
                    <a:pt x="345" y="7"/>
                    <a:pt x="345" y="7"/>
                  </a:cubicBezTo>
                  <a:cubicBezTo>
                    <a:pt x="269" y="7"/>
                    <a:pt x="269" y="7"/>
                    <a:pt x="269" y="7"/>
                  </a:cubicBezTo>
                </a:path>
              </a:pathLst>
            </a:custGeom>
            <a:noFill/>
            <a:ln w="15875" cap="sq">
              <a:solidFill>
                <a:schemeClr val="accent2"/>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a:gradFill>
                  <a:gsLst>
                    <a:gs pos="0">
                      <a:srgbClr val="505050"/>
                    </a:gs>
                    <a:gs pos="100000">
                      <a:srgbClr val="505050"/>
                    </a:gs>
                  </a:gsLst>
                  <a:lin ang="5400000" scaled="1"/>
                </a:gradFill>
              </a:endParaRPr>
            </a:p>
          </p:txBody>
        </p:sp>
      </p:grpSp>
      <p:grpSp>
        <p:nvGrpSpPr>
          <p:cNvPr id="20" name="Group 19">
            <a:extLst>
              <a:ext uri="{FF2B5EF4-FFF2-40B4-BE49-F238E27FC236}">
                <a16:creationId xmlns:a16="http://schemas.microsoft.com/office/drawing/2014/main" id="{6160FC8F-2B44-45D3-A844-783E233E317F}"/>
              </a:ext>
            </a:extLst>
          </p:cNvPr>
          <p:cNvGrpSpPr/>
          <p:nvPr/>
        </p:nvGrpSpPr>
        <p:grpSpPr>
          <a:xfrm>
            <a:off x="7736167" y="5454719"/>
            <a:ext cx="1619560" cy="1178036"/>
            <a:chOff x="3374571" y="3705584"/>
            <a:chExt cx="1619560" cy="1178036"/>
          </a:xfrm>
        </p:grpSpPr>
        <p:sp>
          <p:nvSpPr>
            <p:cNvPr id="17" name="Rectangle: Rounded Corners 16">
              <a:extLst>
                <a:ext uri="{FF2B5EF4-FFF2-40B4-BE49-F238E27FC236}">
                  <a16:creationId xmlns:a16="http://schemas.microsoft.com/office/drawing/2014/main" id="{60E65A87-4DB2-4B2C-B23F-27A8934B3A7E}"/>
                </a:ext>
              </a:extLst>
            </p:cNvPr>
            <p:cNvSpPr/>
            <p:nvPr/>
          </p:nvSpPr>
          <p:spPr bwMode="auto">
            <a:xfrm>
              <a:off x="3374571" y="3705584"/>
              <a:ext cx="1619560" cy="1178036"/>
            </a:xfrm>
            <a:prstGeom prst="round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Přihlášení MA</a:t>
              </a:r>
            </a:p>
          </p:txBody>
        </p:sp>
        <p:grpSp>
          <p:nvGrpSpPr>
            <p:cNvPr id="74" name="Group 73">
              <a:extLst>
                <a:ext uri="{FF2B5EF4-FFF2-40B4-BE49-F238E27FC236}">
                  <a16:creationId xmlns:a16="http://schemas.microsoft.com/office/drawing/2014/main" id="{16EF7963-EF8C-4EDC-97FC-D98CB087EDCF}"/>
                </a:ext>
              </a:extLst>
            </p:cNvPr>
            <p:cNvGrpSpPr/>
            <p:nvPr/>
          </p:nvGrpSpPr>
          <p:grpSpPr>
            <a:xfrm>
              <a:off x="3930595" y="3853418"/>
              <a:ext cx="502849" cy="575942"/>
              <a:chOff x="10509456" y="3277136"/>
              <a:chExt cx="502920" cy="523658"/>
            </a:xfrm>
          </p:grpSpPr>
          <p:sp>
            <p:nvSpPr>
              <p:cNvPr id="75" name="network" title="Icon of a device or computer network">
                <a:extLst>
                  <a:ext uri="{FF2B5EF4-FFF2-40B4-BE49-F238E27FC236}">
                    <a16:creationId xmlns:a16="http://schemas.microsoft.com/office/drawing/2014/main" id="{F9B2BE91-EF1B-4F81-83AB-FF1DE6C29875}"/>
                  </a:ext>
                </a:extLst>
              </p:cNvPr>
              <p:cNvSpPr>
                <a:spLocks noChangeAspect="1" noEditPoints="1"/>
              </p:cNvSpPr>
              <p:nvPr/>
            </p:nvSpPr>
            <p:spPr bwMode="auto">
              <a:xfrm>
                <a:off x="10509456" y="3277136"/>
                <a:ext cx="502920" cy="523658"/>
              </a:xfrm>
              <a:custGeom>
                <a:avLst/>
                <a:gdLst>
                  <a:gd name="T0" fmla="*/ 328 w 388"/>
                  <a:gd name="T1" fmla="*/ 260 h 404"/>
                  <a:gd name="T2" fmla="*/ 15 w 388"/>
                  <a:gd name="T3" fmla="*/ 260 h 404"/>
                  <a:gd name="T4" fmla="*/ 15 w 388"/>
                  <a:gd name="T5" fmla="*/ 57 h 404"/>
                  <a:gd name="T6" fmla="*/ 328 w 388"/>
                  <a:gd name="T7" fmla="*/ 57 h 404"/>
                  <a:gd name="T8" fmla="*/ 328 w 388"/>
                  <a:gd name="T9" fmla="*/ 260 h 404"/>
                  <a:gd name="T10" fmla="*/ 328 w 388"/>
                  <a:gd name="T11" fmla="*/ 203 h 404"/>
                  <a:gd name="T12" fmla="*/ 388 w 388"/>
                  <a:gd name="T13" fmla="*/ 203 h 404"/>
                  <a:gd name="T14" fmla="*/ 388 w 388"/>
                  <a:gd name="T15" fmla="*/ 0 h 404"/>
                  <a:gd name="T16" fmla="*/ 69 w 388"/>
                  <a:gd name="T17" fmla="*/ 0 h 404"/>
                  <a:gd name="T18" fmla="*/ 69 w 388"/>
                  <a:gd name="T19" fmla="*/ 57 h 404"/>
                  <a:gd name="T20" fmla="*/ 271 w 388"/>
                  <a:gd name="T21" fmla="*/ 404 h 404"/>
                  <a:gd name="T22" fmla="*/ 271 w 388"/>
                  <a:gd name="T23" fmla="*/ 347 h 404"/>
                  <a:gd name="T24" fmla="*/ 215 w 388"/>
                  <a:gd name="T25" fmla="*/ 347 h 404"/>
                  <a:gd name="T26" fmla="*/ 215 w 388"/>
                  <a:gd name="T27" fmla="*/ 318 h 404"/>
                  <a:gd name="T28" fmla="*/ 157 w 388"/>
                  <a:gd name="T29" fmla="*/ 318 h 404"/>
                  <a:gd name="T30" fmla="*/ 157 w 388"/>
                  <a:gd name="T31" fmla="*/ 347 h 404"/>
                  <a:gd name="T32" fmla="*/ 97 w 388"/>
                  <a:gd name="T33" fmla="*/ 347 h 404"/>
                  <a:gd name="T34" fmla="*/ 97 w 388"/>
                  <a:gd name="T35" fmla="*/ 404 h 404"/>
                  <a:gd name="T36" fmla="*/ 187 w 388"/>
                  <a:gd name="T37" fmla="*/ 404 h 404"/>
                  <a:gd name="T38" fmla="*/ 271 w 388"/>
                  <a:gd name="T39" fmla="*/ 404 h 404"/>
                  <a:gd name="T40" fmla="*/ 97 w 388"/>
                  <a:gd name="T41" fmla="*/ 374 h 404"/>
                  <a:gd name="T42" fmla="*/ 0 w 388"/>
                  <a:gd name="T43" fmla="*/ 374 h 404"/>
                  <a:gd name="T44" fmla="*/ 271 w 388"/>
                  <a:gd name="T45" fmla="*/ 374 h 404"/>
                  <a:gd name="T46" fmla="*/ 369 w 388"/>
                  <a:gd name="T47" fmla="*/ 374 h 404"/>
                  <a:gd name="T48" fmla="*/ 184 w 388"/>
                  <a:gd name="T49" fmla="*/ 318 h 404"/>
                  <a:gd name="T50" fmla="*/ 184 w 388"/>
                  <a:gd name="T51" fmla="*/ 26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8" h="404">
                    <a:moveTo>
                      <a:pt x="328" y="260"/>
                    </a:moveTo>
                    <a:lnTo>
                      <a:pt x="15" y="260"/>
                    </a:lnTo>
                    <a:lnTo>
                      <a:pt x="15" y="57"/>
                    </a:lnTo>
                    <a:lnTo>
                      <a:pt x="328" y="57"/>
                    </a:lnTo>
                    <a:lnTo>
                      <a:pt x="328" y="260"/>
                    </a:lnTo>
                    <a:moveTo>
                      <a:pt x="328" y="203"/>
                    </a:moveTo>
                    <a:lnTo>
                      <a:pt x="388" y="203"/>
                    </a:lnTo>
                    <a:lnTo>
                      <a:pt x="388" y="0"/>
                    </a:lnTo>
                    <a:lnTo>
                      <a:pt x="69" y="0"/>
                    </a:lnTo>
                    <a:lnTo>
                      <a:pt x="69" y="57"/>
                    </a:lnTo>
                    <a:moveTo>
                      <a:pt x="271" y="404"/>
                    </a:moveTo>
                    <a:lnTo>
                      <a:pt x="271" y="347"/>
                    </a:lnTo>
                    <a:lnTo>
                      <a:pt x="215" y="347"/>
                    </a:lnTo>
                    <a:lnTo>
                      <a:pt x="215" y="318"/>
                    </a:lnTo>
                    <a:lnTo>
                      <a:pt x="157" y="318"/>
                    </a:lnTo>
                    <a:lnTo>
                      <a:pt x="157" y="347"/>
                    </a:lnTo>
                    <a:lnTo>
                      <a:pt x="97" y="347"/>
                    </a:lnTo>
                    <a:lnTo>
                      <a:pt x="97" y="404"/>
                    </a:lnTo>
                    <a:lnTo>
                      <a:pt x="187" y="404"/>
                    </a:lnTo>
                    <a:lnTo>
                      <a:pt x="271" y="404"/>
                    </a:lnTo>
                    <a:moveTo>
                      <a:pt x="97" y="374"/>
                    </a:moveTo>
                    <a:lnTo>
                      <a:pt x="0" y="374"/>
                    </a:lnTo>
                    <a:moveTo>
                      <a:pt x="271" y="374"/>
                    </a:moveTo>
                    <a:lnTo>
                      <a:pt x="369" y="374"/>
                    </a:lnTo>
                    <a:moveTo>
                      <a:pt x="184" y="318"/>
                    </a:moveTo>
                    <a:lnTo>
                      <a:pt x="184" y="260"/>
                    </a:ln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76" name="Lock" title="Icon of a padlock">
                <a:extLst>
                  <a:ext uri="{FF2B5EF4-FFF2-40B4-BE49-F238E27FC236}">
                    <a16:creationId xmlns:a16="http://schemas.microsoft.com/office/drawing/2014/main" id="{71178FCD-377C-4D0F-B6C7-707E79AF0674}"/>
                  </a:ext>
                </a:extLst>
              </p:cNvPr>
              <p:cNvSpPr>
                <a:spLocks noChangeAspect="1" noEditPoints="1"/>
              </p:cNvSpPr>
              <p:nvPr/>
            </p:nvSpPr>
            <p:spPr bwMode="auto">
              <a:xfrm>
                <a:off x="10663868" y="3393037"/>
                <a:ext cx="132294" cy="184900"/>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grpSp>
      </p:grpSp>
      <p:grpSp>
        <p:nvGrpSpPr>
          <p:cNvPr id="21" name="Group 20">
            <a:extLst>
              <a:ext uri="{FF2B5EF4-FFF2-40B4-BE49-F238E27FC236}">
                <a16:creationId xmlns:a16="http://schemas.microsoft.com/office/drawing/2014/main" id="{2BD82AE9-C1D7-4BF0-BF3C-A08BFEA532DC}"/>
              </a:ext>
            </a:extLst>
          </p:cNvPr>
          <p:cNvGrpSpPr/>
          <p:nvPr/>
        </p:nvGrpSpPr>
        <p:grpSpPr>
          <a:xfrm>
            <a:off x="7709227" y="1451468"/>
            <a:ext cx="1619560" cy="1178036"/>
            <a:chOff x="10190278" y="1293777"/>
            <a:chExt cx="1619560" cy="1178036"/>
          </a:xfrm>
        </p:grpSpPr>
        <p:sp>
          <p:nvSpPr>
            <p:cNvPr id="18" name="Rectangle: Rounded Corners 17">
              <a:extLst>
                <a:ext uri="{FF2B5EF4-FFF2-40B4-BE49-F238E27FC236}">
                  <a16:creationId xmlns:a16="http://schemas.microsoft.com/office/drawing/2014/main" id="{FD3B23F8-05ED-4F06-9F1E-6D90A7A5F93E}"/>
                </a:ext>
              </a:extLst>
            </p:cNvPr>
            <p:cNvSpPr/>
            <p:nvPr/>
          </p:nvSpPr>
          <p:spPr bwMode="auto">
            <a:xfrm>
              <a:off x="10190278" y="1293777"/>
              <a:ext cx="1619560" cy="1178036"/>
            </a:xfrm>
            <a:prstGeom prst="round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Vyzvednutí JWT</a:t>
              </a:r>
            </a:p>
          </p:txBody>
        </p:sp>
        <p:sp>
          <p:nvSpPr>
            <p:cNvPr id="62" name="Freeform: Shape 61">
              <a:extLst>
                <a:ext uri="{FF2B5EF4-FFF2-40B4-BE49-F238E27FC236}">
                  <a16:creationId xmlns:a16="http://schemas.microsoft.com/office/drawing/2014/main" id="{D6B15088-08E0-4512-8A2D-6C288FA37A22}"/>
                </a:ext>
              </a:extLst>
            </p:cNvPr>
            <p:cNvSpPr/>
            <p:nvPr/>
          </p:nvSpPr>
          <p:spPr>
            <a:xfrm>
              <a:off x="10815698" y="1654810"/>
              <a:ext cx="6491" cy="6491"/>
            </a:xfrm>
            <a:custGeom>
              <a:avLst/>
              <a:gdLst/>
              <a:ahLst/>
              <a:cxnLst/>
              <a:rect l="0" t="0" r="0" b="0"/>
              <a:pathLst>
                <a:path w="9525" h="9525">
                  <a:moveTo>
                    <a:pt x="10001" y="9049"/>
                  </a:moveTo>
                  <a:cubicBezTo>
                    <a:pt x="10001" y="9049"/>
                    <a:pt x="10001" y="9049"/>
                    <a:pt x="10001" y="9049"/>
                  </a:cubicBezTo>
                  <a:lnTo>
                    <a:pt x="7144" y="7144"/>
                  </a:lnTo>
                  <a:lnTo>
                    <a:pt x="10001" y="9049"/>
                  </a:ln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sp>
          <p:nvSpPr>
            <p:cNvPr id="64" name="Freeform: Shape 63">
              <a:extLst>
                <a:ext uri="{FF2B5EF4-FFF2-40B4-BE49-F238E27FC236}">
                  <a16:creationId xmlns:a16="http://schemas.microsoft.com/office/drawing/2014/main" id="{5B66FA8F-06D0-40AA-A4E7-2CE476EFE2C3}"/>
                </a:ext>
              </a:extLst>
            </p:cNvPr>
            <p:cNvSpPr/>
            <p:nvPr/>
          </p:nvSpPr>
          <p:spPr>
            <a:xfrm>
              <a:off x="10815698" y="1652862"/>
              <a:ext cx="12983" cy="12983"/>
            </a:xfrm>
            <a:custGeom>
              <a:avLst/>
              <a:gdLst/>
              <a:ahLst/>
              <a:cxnLst/>
              <a:rect l="0" t="0" r="0" b="0"/>
              <a:pathLst>
                <a:path w="19050" h="19050">
                  <a:moveTo>
                    <a:pt x="9049" y="7144"/>
                  </a:moveTo>
                  <a:cubicBezTo>
                    <a:pt x="8096" y="8096"/>
                    <a:pt x="7144" y="9049"/>
                    <a:pt x="7144" y="10001"/>
                  </a:cubicBezTo>
                  <a:lnTo>
                    <a:pt x="10001" y="11906"/>
                  </a:lnTo>
                  <a:cubicBezTo>
                    <a:pt x="10954" y="10954"/>
                    <a:pt x="11906" y="10001"/>
                    <a:pt x="11906" y="9049"/>
                  </a:cubicBezTo>
                  <a:lnTo>
                    <a:pt x="9049" y="7144"/>
                  </a:ln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sp>
          <p:nvSpPr>
            <p:cNvPr id="65" name="Freeform: Shape 64">
              <a:extLst>
                <a:ext uri="{FF2B5EF4-FFF2-40B4-BE49-F238E27FC236}">
                  <a16:creationId xmlns:a16="http://schemas.microsoft.com/office/drawing/2014/main" id="{3BC6AAF9-1D03-4312-9AA3-4C507B9A95EA}"/>
                </a:ext>
              </a:extLst>
            </p:cNvPr>
            <p:cNvSpPr/>
            <p:nvPr/>
          </p:nvSpPr>
          <p:spPr>
            <a:xfrm>
              <a:off x="10817644" y="1654160"/>
              <a:ext cx="32456" cy="19474"/>
            </a:xfrm>
            <a:custGeom>
              <a:avLst/>
              <a:gdLst/>
              <a:ahLst/>
              <a:cxnLst/>
              <a:rect l="0" t="0" r="0" b="0"/>
              <a:pathLst>
                <a:path w="47625" h="28575">
                  <a:moveTo>
                    <a:pt x="39529" y="25241"/>
                  </a:moveTo>
                  <a:lnTo>
                    <a:pt x="9049" y="7144"/>
                  </a:lnTo>
                  <a:cubicBezTo>
                    <a:pt x="8096" y="8096"/>
                    <a:pt x="7144" y="9049"/>
                    <a:pt x="7144" y="10001"/>
                  </a:cubicBezTo>
                  <a:lnTo>
                    <a:pt x="40481" y="29051"/>
                  </a:lnTo>
                  <a:lnTo>
                    <a:pt x="37624" y="27146"/>
                  </a:lnTo>
                  <a:cubicBezTo>
                    <a:pt x="38576" y="26194"/>
                    <a:pt x="38576" y="26194"/>
                    <a:pt x="39529" y="25241"/>
                  </a:cubicBez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sp>
          <p:nvSpPr>
            <p:cNvPr id="66" name="Freeform: Shape 65">
              <a:extLst>
                <a:ext uri="{FF2B5EF4-FFF2-40B4-BE49-F238E27FC236}">
                  <a16:creationId xmlns:a16="http://schemas.microsoft.com/office/drawing/2014/main" id="{1EF9FA72-5AB2-4007-BF5A-52894FBC959B}"/>
                </a:ext>
              </a:extLst>
            </p:cNvPr>
            <p:cNvSpPr/>
            <p:nvPr/>
          </p:nvSpPr>
          <p:spPr>
            <a:xfrm>
              <a:off x="10838416" y="1666494"/>
              <a:ext cx="12983" cy="12983"/>
            </a:xfrm>
            <a:custGeom>
              <a:avLst/>
              <a:gdLst/>
              <a:ahLst/>
              <a:cxnLst/>
              <a:rect l="0" t="0" r="0" b="0"/>
              <a:pathLst>
                <a:path w="19050" h="19050">
                  <a:moveTo>
                    <a:pt x="9049" y="7144"/>
                  </a:moveTo>
                  <a:cubicBezTo>
                    <a:pt x="8096" y="8096"/>
                    <a:pt x="8096" y="9049"/>
                    <a:pt x="7144" y="10001"/>
                  </a:cubicBezTo>
                  <a:lnTo>
                    <a:pt x="10001" y="11906"/>
                  </a:lnTo>
                  <a:lnTo>
                    <a:pt x="11906" y="9049"/>
                  </a:lnTo>
                  <a:lnTo>
                    <a:pt x="9049" y="7144"/>
                  </a:ln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grpSp>
          <p:nvGrpSpPr>
            <p:cNvPr id="68" name="Group 67">
              <a:extLst>
                <a:ext uri="{FF2B5EF4-FFF2-40B4-BE49-F238E27FC236}">
                  <a16:creationId xmlns:a16="http://schemas.microsoft.com/office/drawing/2014/main" id="{35C9070B-CF58-4999-ADB7-7021338DB12D}"/>
                </a:ext>
              </a:extLst>
            </p:cNvPr>
            <p:cNvGrpSpPr/>
            <p:nvPr/>
          </p:nvGrpSpPr>
          <p:grpSpPr>
            <a:xfrm>
              <a:off x="10776636" y="1533534"/>
              <a:ext cx="502849" cy="502849"/>
              <a:chOff x="7465985" y="1525964"/>
              <a:chExt cx="502920" cy="502920"/>
            </a:xfrm>
          </p:grpSpPr>
          <p:sp>
            <p:nvSpPr>
              <p:cNvPr id="71" name="Family_EBDA" title="Icon of a family of people">
                <a:extLst>
                  <a:ext uri="{FF2B5EF4-FFF2-40B4-BE49-F238E27FC236}">
                    <a16:creationId xmlns:a16="http://schemas.microsoft.com/office/drawing/2014/main" id="{9D6AFD21-3CF0-4615-8071-CD0DA8CC440B}"/>
                  </a:ext>
                </a:extLst>
              </p:cNvPr>
              <p:cNvSpPr>
                <a:spLocks noChangeAspect="1" noEditPoints="1"/>
              </p:cNvSpPr>
              <p:nvPr/>
            </p:nvSpPr>
            <p:spPr bwMode="auto">
              <a:xfrm>
                <a:off x="7572857" y="1646949"/>
                <a:ext cx="289176" cy="260951"/>
              </a:xfrm>
              <a:custGeom>
                <a:avLst/>
                <a:gdLst>
                  <a:gd name="T0" fmla="*/ 1498 w 3740"/>
                  <a:gd name="T1" fmla="*/ 1874 h 3374"/>
                  <a:gd name="T2" fmla="*/ 874 w 3740"/>
                  <a:gd name="T3" fmla="*/ 2498 h 3374"/>
                  <a:gd name="T4" fmla="*/ 250 w 3740"/>
                  <a:gd name="T5" fmla="*/ 1874 h 3374"/>
                  <a:gd name="T6" fmla="*/ 874 w 3740"/>
                  <a:gd name="T7" fmla="*/ 1249 h 3374"/>
                  <a:gd name="T8" fmla="*/ 1498 w 3740"/>
                  <a:gd name="T9" fmla="*/ 1874 h 3374"/>
                  <a:gd name="T10" fmla="*/ 2123 w 3740"/>
                  <a:gd name="T11" fmla="*/ 0 h 3374"/>
                  <a:gd name="T12" fmla="*/ 1498 w 3740"/>
                  <a:gd name="T13" fmla="*/ 625 h 3374"/>
                  <a:gd name="T14" fmla="*/ 2123 w 3740"/>
                  <a:gd name="T15" fmla="*/ 1249 h 3374"/>
                  <a:gd name="T16" fmla="*/ 2747 w 3740"/>
                  <a:gd name="T17" fmla="*/ 625 h 3374"/>
                  <a:gd name="T18" fmla="*/ 2123 w 3740"/>
                  <a:gd name="T19" fmla="*/ 0 h 3374"/>
                  <a:gd name="T20" fmla="*/ 2997 w 3740"/>
                  <a:gd name="T21" fmla="*/ 1726 h 3374"/>
                  <a:gd name="T22" fmla="*/ 2497 w 3740"/>
                  <a:gd name="T23" fmla="*/ 2225 h 3374"/>
                  <a:gd name="T24" fmla="*/ 2997 w 3740"/>
                  <a:gd name="T25" fmla="*/ 2725 h 3374"/>
                  <a:gd name="T26" fmla="*/ 3496 w 3740"/>
                  <a:gd name="T27" fmla="*/ 2225 h 3374"/>
                  <a:gd name="T28" fmla="*/ 2997 w 3740"/>
                  <a:gd name="T29" fmla="*/ 1726 h 3374"/>
                  <a:gd name="T30" fmla="*/ 1748 w 3740"/>
                  <a:gd name="T31" fmla="*/ 3372 h 3374"/>
                  <a:gd name="T32" fmla="*/ 874 w 3740"/>
                  <a:gd name="T33" fmla="*/ 2498 h 3374"/>
                  <a:gd name="T34" fmla="*/ 0 w 3740"/>
                  <a:gd name="T35" fmla="*/ 3372 h 3374"/>
                  <a:gd name="T36" fmla="*/ 2906 w 3740"/>
                  <a:gd name="T37" fmla="*/ 1734 h 3374"/>
                  <a:gd name="T38" fmla="*/ 2123 w 3740"/>
                  <a:gd name="T39" fmla="*/ 1249 h 3374"/>
                  <a:gd name="T40" fmla="*/ 1453 w 3740"/>
                  <a:gd name="T41" fmla="*/ 1561 h 3374"/>
                  <a:gd name="T42" fmla="*/ 3740 w 3740"/>
                  <a:gd name="T43" fmla="*/ 3374 h 3374"/>
                  <a:gd name="T44" fmla="*/ 3740 w 3740"/>
                  <a:gd name="T45" fmla="*/ 3351 h 3374"/>
                  <a:gd name="T46" fmla="*/ 2997 w 3740"/>
                  <a:gd name="T47" fmla="*/ 2725 h 3374"/>
                  <a:gd name="T48" fmla="*/ 2253 w 3740"/>
                  <a:gd name="T49" fmla="*/ 3351 h 3374"/>
                  <a:gd name="T50" fmla="*/ 2253 w 3740"/>
                  <a:gd name="T51" fmla="*/ 3374 h 3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40" h="3374">
                    <a:moveTo>
                      <a:pt x="1498" y="1874"/>
                    </a:moveTo>
                    <a:cubicBezTo>
                      <a:pt x="1498" y="2218"/>
                      <a:pt x="1219" y="2498"/>
                      <a:pt x="874" y="2498"/>
                    </a:cubicBezTo>
                    <a:cubicBezTo>
                      <a:pt x="529" y="2498"/>
                      <a:pt x="250" y="2218"/>
                      <a:pt x="250" y="1874"/>
                    </a:cubicBezTo>
                    <a:cubicBezTo>
                      <a:pt x="250" y="1529"/>
                      <a:pt x="529" y="1249"/>
                      <a:pt x="874" y="1249"/>
                    </a:cubicBezTo>
                    <a:cubicBezTo>
                      <a:pt x="1219" y="1249"/>
                      <a:pt x="1498" y="1529"/>
                      <a:pt x="1498" y="1874"/>
                    </a:cubicBezTo>
                    <a:close/>
                    <a:moveTo>
                      <a:pt x="2123" y="0"/>
                    </a:moveTo>
                    <a:cubicBezTo>
                      <a:pt x="1778" y="0"/>
                      <a:pt x="1498" y="280"/>
                      <a:pt x="1498" y="625"/>
                    </a:cubicBezTo>
                    <a:cubicBezTo>
                      <a:pt x="1498" y="970"/>
                      <a:pt x="1778" y="1249"/>
                      <a:pt x="2123" y="1249"/>
                    </a:cubicBezTo>
                    <a:cubicBezTo>
                      <a:pt x="2468" y="1249"/>
                      <a:pt x="2747" y="970"/>
                      <a:pt x="2747" y="625"/>
                    </a:cubicBezTo>
                    <a:cubicBezTo>
                      <a:pt x="2747" y="280"/>
                      <a:pt x="2468" y="0"/>
                      <a:pt x="2123" y="0"/>
                    </a:cubicBezTo>
                    <a:close/>
                    <a:moveTo>
                      <a:pt x="2997" y="1726"/>
                    </a:moveTo>
                    <a:cubicBezTo>
                      <a:pt x="2721" y="1726"/>
                      <a:pt x="2497" y="1950"/>
                      <a:pt x="2497" y="2225"/>
                    </a:cubicBezTo>
                    <a:cubicBezTo>
                      <a:pt x="2497" y="2501"/>
                      <a:pt x="2721" y="2725"/>
                      <a:pt x="2997" y="2725"/>
                    </a:cubicBezTo>
                    <a:cubicBezTo>
                      <a:pt x="3273" y="2725"/>
                      <a:pt x="3496" y="2501"/>
                      <a:pt x="3496" y="2225"/>
                    </a:cubicBezTo>
                    <a:cubicBezTo>
                      <a:pt x="3496" y="1950"/>
                      <a:pt x="3273" y="1726"/>
                      <a:pt x="2997" y="1726"/>
                    </a:cubicBezTo>
                    <a:close/>
                    <a:moveTo>
                      <a:pt x="1748" y="3372"/>
                    </a:moveTo>
                    <a:cubicBezTo>
                      <a:pt x="1748" y="2889"/>
                      <a:pt x="1357" y="2498"/>
                      <a:pt x="874" y="2498"/>
                    </a:cubicBezTo>
                    <a:cubicBezTo>
                      <a:pt x="391" y="2498"/>
                      <a:pt x="0" y="2889"/>
                      <a:pt x="0" y="3372"/>
                    </a:cubicBezTo>
                    <a:moveTo>
                      <a:pt x="2906" y="1734"/>
                    </a:moveTo>
                    <a:cubicBezTo>
                      <a:pt x="2763" y="1447"/>
                      <a:pt x="2466" y="1249"/>
                      <a:pt x="2123" y="1249"/>
                    </a:cubicBezTo>
                    <a:cubicBezTo>
                      <a:pt x="1854" y="1249"/>
                      <a:pt x="1614" y="1370"/>
                      <a:pt x="1453" y="1561"/>
                    </a:cubicBezTo>
                    <a:moveTo>
                      <a:pt x="3740" y="3374"/>
                    </a:moveTo>
                    <a:cubicBezTo>
                      <a:pt x="3740" y="3351"/>
                      <a:pt x="3740" y="3351"/>
                      <a:pt x="3740" y="3351"/>
                    </a:cubicBezTo>
                    <a:cubicBezTo>
                      <a:pt x="3680" y="2996"/>
                      <a:pt x="3370" y="2725"/>
                      <a:pt x="2997" y="2725"/>
                    </a:cubicBezTo>
                    <a:cubicBezTo>
                      <a:pt x="2624" y="2725"/>
                      <a:pt x="2314" y="2995"/>
                      <a:pt x="2253" y="3351"/>
                    </a:cubicBezTo>
                    <a:cubicBezTo>
                      <a:pt x="2253" y="3374"/>
                      <a:pt x="2253" y="3374"/>
                      <a:pt x="2253" y="3374"/>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72" name="Oval 71">
                <a:extLst>
                  <a:ext uri="{FF2B5EF4-FFF2-40B4-BE49-F238E27FC236}">
                    <a16:creationId xmlns:a16="http://schemas.microsoft.com/office/drawing/2014/main" id="{96CE7BCE-0410-4657-BD39-4126982FDB65}"/>
                  </a:ext>
                </a:extLst>
              </p:cNvPr>
              <p:cNvSpPr/>
              <p:nvPr/>
            </p:nvSpPr>
            <p:spPr bwMode="auto">
              <a:xfrm>
                <a:off x="7465985" y="1525964"/>
                <a:ext cx="502920" cy="502920"/>
              </a:xfrm>
              <a:prstGeom prst="ellipse">
                <a:avLst/>
              </a:prstGeom>
              <a:noFill/>
              <a:ln w="158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70" name="arrow" title="Icon of an arrow">
              <a:extLst>
                <a:ext uri="{FF2B5EF4-FFF2-40B4-BE49-F238E27FC236}">
                  <a16:creationId xmlns:a16="http://schemas.microsoft.com/office/drawing/2014/main" id="{A17043E1-E0A1-4B2F-A421-A0AE50F1B155}"/>
                </a:ext>
              </a:extLst>
            </p:cNvPr>
            <p:cNvSpPr>
              <a:spLocks noChangeAspect="1" noEditPoints="1"/>
            </p:cNvSpPr>
            <p:nvPr/>
          </p:nvSpPr>
          <p:spPr bwMode="auto">
            <a:xfrm rot="16200000">
              <a:off x="11177036" y="1710151"/>
              <a:ext cx="162139" cy="149616"/>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5875" cap="sq">
              <a:solidFill>
                <a:schemeClr val="accent2"/>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grpSp>
      <p:cxnSp>
        <p:nvCxnSpPr>
          <p:cNvPr id="32" name="Straight Arrow Connector 31">
            <a:extLst>
              <a:ext uri="{FF2B5EF4-FFF2-40B4-BE49-F238E27FC236}">
                <a16:creationId xmlns:a16="http://schemas.microsoft.com/office/drawing/2014/main" id="{256E48CA-3343-4FD0-9473-2469C5DE2BE4}"/>
              </a:ext>
            </a:extLst>
          </p:cNvPr>
          <p:cNvCxnSpPr>
            <a:stCxn id="9" idx="3"/>
            <a:endCxn id="18" idx="1"/>
          </p:cNvCxnSpPr>
          <p:nvPr/>
        </p:nvCxnSpPr>
        <p:spPr>
          <a:xfrm flipV="1">
            <a:off x="3886200" y="2040486"/>
            <a:ext cx="3823027" cy="1444414"/>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99C1D95-B6BE-4125-9B96-39CF24E2EA08}"/>
              </a:ext>
            </a:extLst>
          </p:cNvPr>
          <p:cNvCxnSpPr>
            <a:cxnSpLocks/>
            <a:stCxn id="8" idx="3"/>
            <a:endCxn id="16" idx="1"/>
          </p:cNvCxnSpPr>
          <p:nvPr/>
        </p:nvCxnSpPr>
        <p:spPr>
          <a:xfrm flipV="1">
            <a:off x="3851673" y="4768427"/>
            <a:ext cx="3884494" cy="913784"/>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F577E42-2C45-45C8-8E67-4DB5477F2F5A}"/>
              </a:ext>
            </a:extLst>
          </p:cNvPr>
          <p:cNvCxnSpPr>
            <a:cxnSpLocks/>
            <a:endCxn id="17" idx="1"/>
          </p:cNvCxnSpPr>
          <p:nvPr/>
        </p:nvCxnSpPr>
        <p:spPr>
          <a:xfrm>
            <a:off x="3896549" y="5730026"/>
            <a:ext cx="3839618" cy="313711"/>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B27D748-BA12-439C-A472-220F74AE6313}"/>
              </a:ext>
            </a:extLst>
          </p:cNvPr>
          <p:cNvCxnSpPr>
            <a:cxnSpLocks/>
            <a:stCxn id="8" idx="3"/>
            <a:endCxn id="23" idx="1"/>
          </p:cNvCxnSpPr>
          <p:nvPr/>
        </p:nvCxnSpPr>
        <p:spPr>
          <a:xfrm flipV="1">
            <a:off x="3851673" y="3392735"/>
            <a:ext cx="3849835" cy="228947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C0ED4A3-5B50-4F5B-9D5F-2B7FB7D158D2}"/>
              </a:ext>
            </a:extLst>
          </p:cNvPr>
          <p:cNvCxnSpPr>
            <a:cxnSpLocks/>
            <a:stCxn id="8" idx="0"/>
            <a:endCxn id="9" idx="2"/>
          </p:cNvCxnSpPr>
          <p:nvPr/>
        </p:nvCxnSpPr>
        <p:spPr>
          <a:xfrm flipV="1">
            <a:off x="3019879" y="4097317"/>
            <a:ext cx="17263" cy="972477"/>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79800D2-8EA6-4153-B5CD-5124589E16F4}"/>
              </a:ext>
            </a:extLst>
          </p:cNvPr>
          <p:cNvCxnSpPr>
            <a:cxnSpLocks/>
            <a:stCxn id="9" idx="0"/>
            <a:endCxn id="12" idx="2"/>
          </p:cNvCxnSpPr>
          <p:nvPr/>
        </p:nvCxnSpPr>
        <p:spPr>
          <a:xfrm flipV="1">
            <a:off x="3037142" y="2627317"/>
            <a:ext cx="10714" cy="245166"/>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BDB95FBB-0B15-446E-83B0-99F28E216555}"/>
              </a:ext>
            </a:extLst>
          </p:cNvPr>
          <p:cNvSpPr/>
          <p:nvPr/>
        </p:nvSpPr>
        <p:spPr bwMode="auto">
          <a:xfrm>
            <a:off x="10859437" y="1482700"/>
            <a:ext cx="1310792" cy="2656114"/>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cs-CZ" sz="2400" dirty="0">
                <a:gradFill>
                  <a:gsLst>
                    <a:gs pos="0">
                      <a:srgbClr val="FFFFFF"/>
                    </a:gs>
                    <a:gs pos="100000">
                      <a:srgbClr val="FFFFFF"/>
                    </a:gs>
                  </a:gsLst>
                  <a:lin ang="5400000" scaled="0"/>
                </a:gradFill>
                <a:ea typeface="Segoe UI" pitchFamily="34" charset="0"/>
                <a:cs typeface="Segoe UI" pitchFamily="34" charset="0"/>
              </a:rPr>
              <a:t>ISZR</a:t>
            </a:r>
          </a:p>
        </p:txBody>
      </p:sp>
      <p:cxnSp>
        <p:nvCxnSpPr>
          <p:cNvPr id="84" name="Straight Arrow Connector 83">
            <a:extLst>
              <a:ext uri="{FF2B5EF4-FFF2-40B4-BE49-F238E27FC236}">
                <a16:creationId xmlns:a16="http://schemas.microsoft.com/office/drawing/2014/main" id="{65BBEE84-5E40-4253-B1D7-4BFF3EA2C11D}"/>
              </a:ext>
            </a:extLst>
          </p:cNvPr>
          <p:cNvCxnSpPr>
            <a:cxnSpLocks/>
            <a:stCxn id="18" idx="3"/>
            <a:endCxn id="82" idx="1"/>
          </p:cNvCxnSpPr>
          <p:nvPr/>
        </p:nvCxnSpPr>
        <p:spPr>
          <a:xfrm>
            <a:off x="9328787" y="2040486"/>
            <a:ext cx="1530650" cy="770271"/>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EA8758F-85E3-43D0-9CAC-0F0D7BA374E8}"/>
              </a:ext>
            </a:extLst>
          </p:cNvPr>
          <p:cNvCxnSpPr>
            <a:cxnSpLocks/>
            <a:stCxn id="23" idx="3"/>
            <a:endCxn id="82" idx="1"/>
          </p:cNvCxnSpPr>
          <p:nvPr/>
        </p:nvCxnSpPr>
        <p:spPr>
          <a:xfrm flipV="1">
            <a:off x="9336505" y="2810757"/>
            <a:ext cx="1522932" cy="581978"/>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Pentagon 3">
            <a:extLst>
              <a:ext uri="{FF2B5EF4-FFF2-40B4-BE49-F238E27FC236}">
                <a16:creationId xmlns:a16="http://schemas.microsoft.com/office/drawing/2014/main" id="{F044D0C4-03D2-435E-9DCD-C880843C83D7}"/>
              </a:ext>
            </a:extLst>
          </p:cNvPr>
          <p:cNvSpPr/>
          <p:nvPr/>
        </p:nvSpPr>
        <p:spPr bwMode="auto">
          <a:xfrm>
            <a:off x="5471032" y="2329914"/>
            <a:ext cx="318463" cy="283007"/>
          </a:xfrm>
          <a:prstGeom prst="pentag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Box 4">
            <a:extLst>
              <a:ext uri="{FF2B5EF4-FFF2-40B4-BE49-F238E27FC236}">
                <a16:creationId xmlns:a16="http://schemas.microsoft.com/office/drawing/2014/main" id="{BDB69F3E-C2E5-4166-A1E5-D941100D36F9}"/>
              </a:ext>
            </a:extLst>
          </p:cNvPr>
          <p:cNvSpPr txBox="1"/>
          <p:nvPr/>
        </p:nvSpPr>
        <p:spPr>
          <a:xfrm flipH="1">
            <a:off x="5347683" y="2495807"/>
            <a:ext cx="610501" cy="420115"/>
          </a:xfrm>
          <a:prstGeom prst="rect">
            <a:avLst/>
          </a:prstGeom>
          <a:noFill/>
        </p:spPr>
        <p:txBody>
          <a:bodyPr wrap="square" lIns="182880" tIns="146304" rIns="182880" bIns="146304" rtlCol="0">
            <a:spAutoFit/>
          </a:bodyPr>
          <a:lstStyle/>
          <a:p>
            <a:pPr>
              <a:lnSpc>
                <a:spcPct val="90000"/>
              </a:lnSpc>
              <a:spcAft>
                <a:spcPts val="600"/>
              </a:spcAft>
            </a:pPr>
            <a:r>
              <a:rPr lang="cs-CZ" sz="900" dirty="0">
                <a:gradFill>
                  <a:gsLst>
                    <a:gs pos="2917">
                      <a:schemeClr val="tx1"/>
                    </a:gs>
                    <a:gs pos="30000">
                      <a:schemeClr val="tx1"/>
                    </a:gs>
                  </a:gsLst>
                  <a:lin ang="5400000" scaled="0"/>
                </a:gradFill>
              </a:rPr>
              <a:t>JWT</a:t>
            </a:r>
          </a:p>
        </p:txBody>
      </p:sp>
      <p:sp>
        <p:nvSpPr>
          <p:cNvPr id="51" name="Rectangle: Rounded Corners 22">
            <a:extLst>
              <a:ext uri="{FF2B5EF4-FFF2-40B4-BE49-F238E27FC236}">
                <a16:creationId xmlns:a16="http://schemas.microsoft.com/office/drawing/2014/main" id="{1720F097-F923-4C57-AA61-29C0DCF328AC}"/>
              </a:ext>
            </a:extLst>
          </p:cNvPr>
          <p:cNvSpPr/>
          <p:nvPr/>
        </p:nvSpPr>
        <p:spPr bwMode="auto">
          <a:xfrm>
            <a:off x="7701508" y="2720244"/>
            <a:ext cx="1634997" cy="1344982"/>
          </a:xfrm>
          <a:prstGeom prst="roundRect">
            <a:avLst/>
          </a:prstGeom>
          <a:solidFill>
            <a:schemeClr val="accent4">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Interaktivní přihlášení</a:t>
            </a:r>
          </a:p>
        </p:txBody>
      </p:sp>
      <p:sp>
        <p:nvSpPr>
          <p:cNvPr id="52" name="Commitments_EC4D" title="Icon of a handshake">
            <a:extLst>
              <a:ext uri="{FF2B5EF4-FFF2-40B4-BE49-F238E27FC236}">
                <a16:creationId xmlns:a16="http://schemas.microsoft.com/office/drawing/2014/main" id="{7CC4A499-24A5-4549-B9EE-5981874247DC}"/>
              </a:ext>
            </a:extLst>
          </p:cNvPr>
          <p:cNvSpPr>
            <a:spLocks noChangeAspect="1" noEditPoints="1"/>
          </p:cNvSpPr>
          <p:nvPr/>
        </p:nvSpPr>
        <p:spPr bwMode="auto">
          <a:xfrm>
            <a:off x="8307737" y="3445842"/>
            <a:ext cx="414108" cy="45757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dirty="0">
              <a:gradFill>
                <a:gsLst>
                  <a:gs pos="0">
                    <a:srgbClr val="505050"/>
                  </a:gs>
                  <a:gs pos="100000">
                    <a:srgbClr val="505050"/>
                  </a:gs>
                </a:gsLst>
                <a:lin ang="5400000" scaled="1"/>
              </a:gradFill>
            </a:endParaRPr>
          </a:p>
        </p:txBody>
      </p:sp>
    </p:spTree>
    <p:extLst>
      <p:ext uri="{BB962C8B-B14F-4D97-AF65-F5344CB8AC3E}">
        <p14:creationId xmlns:p14="http://schemas.microsoft.com/office/powerpoint/2010/main" val="180831944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1BED3-370C-4B12-9D78-976E3364E740}"/>
              </a:ext>
            </a:extLst>
          </p:cNvPr>
          <p:cNvSpPr>
            <a:spLocks noGrp="1"/>
          </p:cNvSpPr>
          <p:nvPr>
            <p:ph type="title"/>
          </p:nvPr>
        </p:nvSpPr>
        <p:spPr/>
        <p:txBody>
          <a:bodyPr/>
          <a:lstStyle/>
          <a:p>
            <a:r>
              <a:rPr lang="cs-CZ" dirty="0"/>
              <a:t>Procesy mobilní aplikace a API</a:t>
            </a:r>
          </a:p>
        </p:txBody>
      </p:sp>
      <p:sp>
        <p:nvSpPr>
          <p:cNvPr id="3" name="Text Placeholder 2">
            <a:extLst>
              <a:ext uri="{FF2B5EF4-FFF2-40B4-BE49-F238E27FC236}">
                <a16:creationId xmlns:a16="http://schemas.microsoft.com/office/drawing/2014/main" id="{14B48179-5860-46A9-8C1A-6BB41F1AAB58}"/>
              </a:ext>
            </a:extLst>
          </p:cNvPr>
          <p:cNvSpPr>
            <a:spLocks noGrp="1"/>
          </p:cNvSpPr>
          <p:nvPr>
            <p:ph type="body" sz="quarter" idx="11"/>
          </p:nvPr>
        </p:nvSpPr>
        <p:spPr>
          <a:xfrm>
            <a:off x="168841" y="714085"/>
            <a:ext cx="11889564" cy="6906506"/>
          </a:xfrm>
        </p:spPr>
        <p:txBody>
          <a:bodyPr/>
          <a:lstStyle/>
          <a:p>
            <a:r>
              <a:rPr lang="cs-CZ" dirty="0"/>
              <a:t>Mobilní aplikace ve spolupráci s </a:t>
            </a:r>
            <a:r>
              <a:rPr lang="cs-CZ" dirty="0" err="1"/>
              <a:t>backend</a:t>
            </a:r>
            <a:r>
              <a:rPr lang="cs-CZ" dirty="0"/>
              <a:t> API po spuštění anebo při běhu mobilní aplikace zopakuje po definovaném intervalu </a:t>
            </a:r>
          </a:p>
          <a:p>
            <a:pPr marL="457200" indent="-457200">
              <a:buFont typeface="Wingdings" panose="05000000000000000000" pitchFamily="2" charset="2"/>
              <a:buChar char="Ø"/>
            </a:pPr>
            <a:r>
              <a:rPr lang="cs-CZ" dirty="0"/>
              <a:t>nevizuální přihlášení z mobilní aplikace k NIA pro kontrolu, že mobilní aplikace má stále oprávnění se přihlásit (např. uživatel NIA toto oprávnění neodebral)</a:t>
            </a:r>
          </a:p>
          <a:p>
            <a:pPr marL="933450" lvl="3" indent="-457200">
              <a:buFont typeface="Arial" panose="020B0604020202020204" pitchFamily="34" charset="0"/>
              <a:buChar char="•"/>
            </a:pPr>
            <a:r>
              <a:rPr lang="cs-CZ" sz="2400" dirty="0">
                <a:solidFill>
                  <a:srgbClr val="00619D"/>
                </a:solidFill>
                <a:latin typeface="+mj-lt"/>
              </a:rPr>
              <a:t>Doporučeno jednou za 1 hodinu</a:t>
            </a:r>
          </a:p>
          <a:p>
            <a:pPr marL="457200" indent="-457200">
              <a:buFont typeface="Wingdings" panose="05000000000000000000" pitchFamily="2" charset="2"/>
              <a:buChar char="Ø"/>
            </a:pPr>
            <a:r>
              <a:rPr lang="cs-CZ" dirty="0"/>
              <a:t>a po nevizuálním přihlášení k NIA zavolá NIA </a:t>
            </a:r>
            <a:r>
              <a:rPr lang="cs-CZ" dirty="0" err="1"/>
              <a:t>Federation</a:t>
            </a:r>
            <a:r>
              <a:rPr lang="cs-CZ" dirty="0"/>
              <a:t> Providera a získá JWT. Tím bude provedena kontrola platnosti údajů v registru obyvatel. </a:t>
            </a:r>
          </a:p>
          <a:p>
            <a:pPr marL="933450" lvl="3" indent="-457200">
              <a:buFont typeface="Arial" panose="020B0604020202020204" pitchFamily="34" charset="0"/>
              <a:buChar char="•"/>
            </a:pPr>
            <a:r>
              <a:rPr lang="cs-CZ" sz="2400" dirty="0">
                <a:solidFill>
                  <a:srgbClr val="00619D"/>
                </a:solidFill>
                <a:latin typeface="+mj-lt"/>
              </a:rPr>
              <a:t>Doporučeno jednou za 24 hodin</a:t>
            </a:r>
          </a:p>
          <a:p>
            <a:r>
              <a:rPr lang="cs-CZ" sz="2400" dirty="0"/>
              <a:t>Např. uživatel spustí aplikaci po jednom měsíci. V toto případě budou provedeny oba kroky. Pokud provede opakované spuštění aplikace v ten samý den po uplynutí jedné hodiny, provede mobilní aplikace pouze první bod. </a:t>
            </a:r>
          </a:p>
          <a:p>
            <a:endParaRPr lang="cs-CZ" dirty="0"/>
          </a:p>
        </p:txBody>
      </p:sp>
    </p:spTree>
    <p:extLst>
      <p:ext uri="{BB962C8B-B14F-4D97-AF65-F5344CB8AC3E}">
        <p14:creationId xmlns:p14="http://schemas.microsoft.com/office/powerpoint/2010/main" val="124624468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2C92042-7713-4C51-8C04-309D40641031}"/>
              </a:ext>
            </a:extLst>
          </p:cNvPr>
          <p:cNvSpPr/>
          <p:nvPr/>
        </p:nvSpPr>
        <p:spPr bwMode="auto">
          <a:xfrm>
            <a:off x="1577038" y="753661"/>
            <a:ext cx="2985180" cy="6060796"/>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Poskytovatel služby</a:t>
            </a:r>
          </a:p>
        </p:txBody>
      </p:sp>
      <p:sp>
        <p:nvSpPr>
          <p:cNvPr id="63" name="Title 62">
            <a:extLst>
              <a:ext uri="{FF2B5EF4-FFF2-40B4-BE49-F238E27FC236}">
                <a16:creationId xmlns:a16="http://schemas.microsoft.com/office/drawing/2014/main" id="{BB664752-5281-44BB-A019-58AA5F42AA85}"/>
              </a:ext>
            </a:extLst>
          </p:cNvPr>
          <p:cNvSpPr>
            <a:spLocks noGrp="1"/>
          </p:cNvSpPr>
          <p:nvPr>
            <p:ph type="title"/>
          </p:nvPr>
        </p:nvSpPr>
        <p:spPr/>
        <p:txBody>
          <a:bodyPr/>
          <a:lstStyle/>
          <a:p>
            <a:r>
              <a:rPr lang="cs-CZ" b="0" dirty="0"/>
              <a:t>Doporučené časy pro komunikaci s NIA</a:t>
            </a:r>
            <a:endParaRPr lang="en-GB" b="0" dirty="0"/>
          </a:p>
        </p:txBody>
      </p:sp>
      <p:grpSp>
        <p:nvGrpSpPr>
          <p:cNvPr id="10" name="Group 9">
            <a:extLst>
              <a:ext uri="{FF2B5EF4-FFF2-40B4-BE49-F238E27FC236}">
                <a16:creationId xmlns:a16="http://schemas.microsoft.com/office/drawing/2014/main" id="{F9CD7D13-B0C3-4443-91BB-0A251E7C55F8}"/>
              </a:ext>
            </a:extLst>
          </p:cNvPr>
          <p:cNvGrpSpPr/>
          <p:nvPr/>
        </p:nvGrpSpPr>
        <p:grpSpPr>
          <a:xfrm>
            <a:off x="2188084" y="5069794"/>
            <a:ext cx="1663589" cy="1224834"/>
            <a:chOff x="4693668" y="3902337"/>
            <a:chExt cx="1663589" cy="1224834"/>
          </a:xfrm>
        </p:grpSpPr>
        <p:sp>
          <p:nvSpPr>
            <p:cNvPr id="8" name="Rectangle: Rounded Corners 7">
              <a:extLst>
                <a:ext uri="{FF2B5EF4-FFF2-40B4-BE49-F238E27FC236}">
                  <a16:creationId xmlns:a16="http://schemas.microsoft.com/office/drawing/2014/main" id="{B2205858-3513-4AD3-8BB0-327920FCDFCF}"/>
                </a:ext>
              </a:extLst>
            </p:cNvPr>
            <p:cNvSpPr/>
            <p:nvPr/>
          </p:nvSpPr>
          <p:spPr bwMode="auto">
            <a:xfrm>
              <a:off x="4693668" y="3902337"/>
              <a:ext cx="1663589" cy="1224834"/>
            </a:xfrm>
            <a:prstGeom prst="round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Mobilní aplikace</a:t>
              </a:r>
            </a:p>
          </p:txBody>
        </p:sp>
        <p:sp>
          <p:nvSpPr>
            <p:cNvPr id="6" name="UniversalApp_E8CC" title="Icon of a cellphone in front of a tablet">
              <a:extLst>
                <a:ext uri="{FF2B5EF4-FFF2-40B4-BE49-F238E27FC236}">
                  <a16:creationId xmlns:a16="http://schemas.microsoft.com/office/drawing/2014/main" id="{BCD1E41E-9934-4ECD-B97D-C68175E5A371}"/>
                </a:ext>
              </a:extLst>
            </p:cNvPr>
            <p:cNvSpPr>
              <a:spLocks noChangeAspect="1" noEditPoints="1"/>
            </p:cNvSpPr>
            <p:nvPr/>
          </p:nvSpPr>
          <p:spPr bwMode="auto">
            <a:xfrm>
              <a:off x="5265968" y="4253829"/>
              <a:ext cx="502849" cy="368998"/>
            </a:xfrm>
            <a:custGeom>
              <a:avLst/>
              <a:gdLst>
                <a:gd name="T0" fmla="*/ 1250 w 3750"/>
                <a:gd name="T1" fmla="*/ 2750 h 2750"/>
                <a:gd name="T2" fmla="*/ 0 w 3750"/>
                <a:gd name="T3" fmla="*/ 2750 h 2750"/>
                <a:gd name="T4" fmla="*/ 0 w 3750"/>
                <a:gd name="T5" fmla="*/ 750 h 2750"/>
                <a:gd name="T6" fmla="*/ 1250 w 3750"/>
                <a:gd name="T7" fmla="*/ 750 h 2750"/>
                <a:gd name="T8" fmla="*/ 1250 w 3750"/>
                <a:gd name="T9" fmla="*/ 2750 h 2750"/>
                <a:gd name="T10" fmla="*/ 375 w 3750"/>
                <a:gd name="T11" fmla="*/ 2250 h 2750"/>
                <a:gd name="T12" fmla="*/ 875 w 3750"/>
                <a:gd name="T13" fmla="*/ 2250 h 2750"/>
                <a:gd name="T14" fmla="*/ 1875 w 3750"/>
                <a:gd name="T15" fmla="*/ 1750 h 2750"/>
                <a:gd name="T16" fmla="*/ 2375 w 3750"/>
                <a:gd name="T17" fmla="*/ 1750 h 2750"/>
                <a:gd name="T18" fmla="*/ 1250 w 3750"/>
                <a:gd name="T19" fmla="*/ 2250 h 2750"/>
                <a:gd name="T20" fmla="*/ 3625 w 3750"/>
                <a:gd name="T21" fmla="*/ 2250 h 2750"/>
                <a:gd name="T22" fmla="*/ 3750 w 3750"/>
                <a:gd name="T23" fmla="*/ 2125 h 2750"/>
                <a:gd name="T24" fmla="*/ 3750 w 3750"/>
                <a:gd name="T25" fmla="*/ 125 h 2750"/>
                <a:gd name="T26" fmla="*/ 3625 w 3750"/>
                <a:gd name="T27" fmla="*/ 0 h 2750"/>
                <a:gd name="T28" fmla="*/ 625 w 3750"/>
                <a:gd name="T29" fmla="*/ 0 h 2750"/>
                <a:gd name="T30" fmla="*/ 500 w 3750"/>
                <a:gd name="T31" fmla="*/ 125 h 2750"/>
                <a:gd name="T32" fmla="*/ 500 w 3750"/>
                <a:gd name="T33" fmla="*/ 75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50" h="2750">
                  <a:moveTo>
                    <a:pt x="1250" y="2750"/>
                  </a:moveTo>
                  <a:cubicBezTo>
                    <a:pt x="0" y="2750"/>
                    <a:pt x="0" y="2750"/>
                    <a:pt x="0" y="2750"/>
                  </a:cubicBezTo>
                  <a:cubicBezTo>
                    <a:pt x="0" y="750"/>
                    <a:pt x="0" y="750"/>
                    <a:pt x="0" y="750"/>
                  </a:cubicBezTo>
                  <a:cubicBezTo>
                    <a:pt x="1250" y="750"/>
                    <a:pt x="1250" y="750"/>
                    <a:pt x="1250" y="750"/>
                  </a:cubicBezTo>
                  <a:lnTo>
                    <a:pt x="1250" y="2750"/>
                  </a:lnTo>
                  <a:close/>
                  <a:moveTo>
                    <a:pt x="375" y="2250"/>
                  </a:moveTo>
                  <a:cubicBezTo>
                    <a:pt x="875" y="2250"/>
                    <a:pt x="875" y="2250"/>
                    <a:pt x="875" y="2250"/>
                  </a:cubicBezTo>
                  <a:moveTo>
                    <a:pt x="1875" y="1750"/>
                  </a:moveTo>
                  <a:cubicBezTo>
                    <a:pt x="2375" y="1750"/>
                    <a:pt x="2375" y="1750"/>
                    <a:pt x="2375" y="1750"/>
                  </a:cubicBezTo>
                  <a:moveTo>
                    <a:pt x="1250" y="2250"/>
                  </a:moveTo>
                  <a:cubicBezTo>
                    <a:pt x="3625" y="2250"/>
                    <a:pt x="3625" y="2250"/>
                    <a:pt x="3625" y="2250"/>
                  </a:cubicBezTo>
                  <a:cubicBezTo>
                    <a:pt x="3694" y="2250"/>
                    <a:pt x="3750" y="2194"/>
                    <a:pt x="3750" y="2125"/>
                  </a:cubicBezTo>
                  <a:cubicBezTo>
                    <a:pt x="3750" y="125"/>
                    <a:pt x="3750" y="125"/>
                    <a:pt x="3750" y="125"/>
                  </a:cubicBezTo>
                  <a:cubicBezTo>
                    <a:pt x="3750" y="56"/>
                    <a:pt x="3694" y="0"/>
                    <a:pt x="3625" y="0"/>
                  </a:cubicBezTo>
                  <a:cubicBezTo>
                    <a:pt x="625" y="0"/>
                    <a:pt x="625" y="0"/>
                    <a:pt x="625" y="0"/>
                  </a:cubicBezTo>
                  <a:cubicBezTo>
                    <a:pt x="556" y="0"/>
                    <a:pt x="500" y="56"/>
                    <a:pt x="500" y="125"/>
                  </a:cubicBezTo>
                  <a:cubicBezTo>
                    <a:pt x="500" y="750"/>
                    <a:pt x="500" y="750"/>
                    <a:pt x="500" y="750"/>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sz="900">
                <a:gradFill>
                  <a:gsLst>
                    <a:gs pos="0">
                      <a:srgbClr val="505050"/>
                    </a:gs>
                    <a:gs pos="100000">
                      <a:srgbClr val="505050"/>
                    </a:gs>
                  </a:gsLst>
                </a:gradFill>
              </a:endParaRPr>
            </a:p>
          </p:txBody>
        </p:sp>
      </p:grpSp>
      <p:grpSp>
        <p:nvGrpSpPr>
          <p:cNvPr id="11" name="Group 10">
            <a:extLst>
              <a:ext uri="{FF2B5EF4-FFF2-40B4-BE49-F238E27FC236}">
                <a16:creationId xmlns:a16="http://schemas.microsoft.com/office/drawing/2014/main" id="{D3C3160F-ADA5-427D-9658-EFABC61BDA18}"/>
              </a:ext>
            </a:extLst>
          </p:cNvPr>
          <p:cNvGrpSpPr/>
          <p:nvPr/>
        </p:nvGrpSpPr>
        <p:grpSpPr>
          <a:xfrm>
            <a:off x="2188084" y="2872483"/>
            <a:ext cx="1698116" cy="1224834"/>
            <a:chOff x="6357257" y="1849425"/>
            <a:chExt cx="1663589" cy="1224834"/>
          </a:xfrm>
        </p:grpSpPr>
        <p:sp>
          <p:nvSpPr>
            <p:cNvPr id="9" name="Rectangle: Rounded Corners 8">
              <a:extLst>
                <a:ext uri="{FF2B5EF4-FFF2-40B4-BE49-F238E27FC236}">
                  <a16:creationId xmlns:a16="http://schemas.microsoft.com/office/drawing/2014/main" id="{3674F749-349C-41D7-8093-C92A1C061D89}"/>
                </a:ext>
              </a:extLst>
            </p:cNvPr>
            <p:cNvSpPr/>
            <p:nvPr/>
          </p:nvSpPr>
          <p:spPr bwMode="auto">
            <a:xfrm>
              <a:off x="6357257" y="1849425"/>
              <a:ext cx="1663589" cy="1224834"/>
            </a:xfrm>
            <a:prstGeom prst="round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API</a:t>
              </a:r>
            </a:p>
          </p:txBody>
        </p:sp>
        <p:grpSp>
          <p:nvGrpSpPr>
            <p:cNvPr id="26" name="Group 25">
              <a:extLst>
                <a:ext uri="{FF2B5EF4-FFF2-40B4-BE49-F238E27FC236}">
                  <a16:creationId xmlns:a16="http://schemas.microsoft.com/office/drawing/2014/main" id="{49CA8D08-7977-4331-AB62-1C0EE52E2264}"/>
                </a:ext>
              </a:extLst>
            </p:cNvPr>
            <p:cNvGrpSpPr/>
            <p:nvPr/>
          </p:nvGrpSpPr>
          <p:grpSpPr>
            <a:xfrm>
              <a:off x="6879297" y="2030985"/>
              <a:ext cx="619507" cy="565502"/>
              <a:chOff x="7389516" y="3535988"/>
              <a:chExt cx="619595" cy="565582"/>
            </a:xfrm>
          </p:grpSpPr>
          <p:sp>
            <p:nvSpPr>
              <p:cNvPr id="27" name="Freeform 47">
                <a:extLst>
                  <a:ext uri="{FF2B5EF4-FFF2-40B4-BE49-F238E27FC236}">
                    <a16:creationId xmlns:a16="http://schemas.microsoft.com/office/drawing/2014/main" id="{B18AC8F6-3B82-42FC-9687-497C6E268F39}"/>
                  </a:ext>
                </a:extLst>
              </p:cNvPr>
              <p:cNvSpPr>
                <a:spLocks/>
              </p:cNvSpPr>
              <p:nvPr/>
            </p:nvSpPr>
            <p:spPr bwMode="auto">
              <a:xfrm>
                <a:off x="7389516" y="3535988"/>
                <a:ext cx="619595" cy="307425"/>
              </a:xfrm>
              <a:custGeom>
                <a:avLst/>
                <a:gdLst>
                  <a:gd name="T0" fmla="*/ 1037 w 1051"/>
                  <a:gd name="T1" fmla="*/ 189 h 522"/>
                  <a:gd name="T2" fmla="*/ 1014 w 1051"/>
                  <a:gd name="T3" fmla="*/ 201 h 522"/>
                  <a:gd name="T4" fmla="*/ 974 w 1051"/>
                  <a:gd name="T5" fmla="*/ 324 h 522"/>
                  <a:gd name="T6" fmla="*/ 504 w 1051"/>
                  <a:gd name="T7" fmla="*/ 0 h 522"/>
                  <a:gd name="T8" fmla="*/ 0 w 1051"/>
                  <a:gd name="T9" fmla="*/ 504 h 522"/>
                  <a:gd name="T10" fmla="*/ 18 w 1051"/>
                  <a:gd name="T11" fmla="*/ 522 h 522"/>
                  <a:gd name="T12" fmla="*/ 36 w 1051"/>
                  <a:gd name="T13" fmla="*/ 504 h 522"/>
                  <a:gd name="T14" fmla="*/ 504 w 1051"/>
                  <a:gd name="T15" fmla="*/ 36 h 522"/>
                  <a:gd name="T16" fmla="*/ 946 w 1051"/>
                  <a:gd name="T17" fmla="*/ 351 h 522"/>
                  <a:gd name="T18" fmla="*/ 807 w 1051"/>
                  <a:gd name="T19" fmla="*/ 307 h 522"/>
                  <a:gd name="T20" fmla="*/ 785 w 1051"/>
                  <a:gd name="T21" fmla="*/ 318 h 522"/>
                  <a:gd name="T22" fmla="*/ 796 w 1051"/>
                  <a:gd name="T23" fmla="*/ 341 h 522"/>
                  <a:gd name="T24" fmla="*/ 963 w 1051"/>
                  <a:gd name="T25" fmla="*/ 395 h 522"/>
                  <a:gd name="T26" fmla="*/ 978 w 1051"/>
                  <a:gd name="T27" fmla="*/ 398 h 522"/>
                  <a:gd name="T28" fmla="*/ 979 w 1051"/>
                  <a:gd name="T29" fmla="*/ 397 h 522"/>
                  <a:gd name="T30" fmla="*/ 992 w 1051"/>
                  <a:gd name="T31" fmla="*/ 385 h 522"/>
                  <a:gd name="T32" fmla="*/ 1048 w 1051"/>
                  <a:gd name="T33" fmla="*/ 212 h 522"/>
                  <a:gd name="T34" fmla="*/ 1037 w 1051"/>
                  <a:gd name="T35" fmla="*/ 189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1" h="522">
                    <a:moveTo>
                      <a:pt x="1037" y="189"/>
                    </a:moveTo>
                    <a:cubicBezTo>
                      <a:pt x="1027" y="186"/>
                      <a:pt x="1017" y="192"/>
                      <a:pt x="1014" y="201"/>
                    </a:cubicBezTo>
                    <a:cubicBezTo>
                      <a:pt x="974" y="324"/>
                      <a:pt x="974" y="324"/>
                      <a:pt x="974" y="324"/>
                    </a:cubicBezTo>
                    <a:cubicBezTo>
                      <a:pt x="901" y="131"/>
                      <a:pt x="714" y="0"/>
                      <a:pt x="504" y="0"/>
                    </a:cubicBezTo>
                    <a:cubicBezTo>
                      <a:pt x="226" y="0"/>
                      <a:pt x="0" y="226"/>
                      <a:pt x="0" y="504"/>
                    </a:cubicBezTo>
                    <a:cubicBezTo>
                      <a:pt x="0" y="514"/>
                      <a:pt x="8" y="522"/>
                      <a:pt x="18" y="522"/>
                    </a:cubicBezTo>
                    <a:cubicBezTo>
                      <a:pt x="28" y="522"/>
                      <a:pt x="36" y="514"/>
                      <a:pt x="36" y="504"/>
                    </a:cubicBezTo>
                    <a:cubicBezTo>
                      <a:pt x="36" y="246"/>
                      <a:pt x="246" y="36"/>
                      <a:pt x="504" y="36"/>
                    </a:cubicBezTo>
                    <a:cubicBezTo>
                      <a:pt x="704" y="36"/>
                      <a:pt x="882" y="164"/>
                      <a:pt x="946" y="351"/>
                    </a:cubicBezTo>
                    <a:cubicBezTo>
                      <a:pt x="807" y="307"/>
                      <a:pt x="807" y="307"/>
                      <a:pt x="807" y="307"/>
                    </a:cubicBezTo>
                    <a:cubicBezTo>
                      <a:pt x="798" y="303"/>
                      <a:pt x="788" y="309"/>
                      <a:pt x="785" y="318"/>
                    </a:cubicBezTo>
                    <a:cubicBezTo>
                      <a:pt x="782" y="328"/>
                      <a:pt x="787" y="338"/>
                      <a:pt x="796" y="341"/>
                    </a:cubicBezTo>
                    <a:cubicBezTo>
                      <a:pt x="963" y="395"/>
                      <a:pt x="963" y="395"/>
                      <a:pt x="963" y="395"/>
                    </a:cubicBezTo>
                    <a:cubicBezTo>
                      <a:pt x="967" y="398"/>
                      <a:pt x="973" y="399"/>
                      <a:pt x="978" y="398"/>
                    </a:cubicBezTo>
                    <a:cubicBezTo>
                      <a:pt x="978" y="397"/>
                      <a:pt x="979" y="397"/>
                      <a:pt x="979" y="397"/>
                    </a:cubicBezTo>
                    <a:cubicBezTo>
                      <a:pt x="985" y="396"/>
                      <a:pt x="990" y="392"/>
                      <a:pt x="992" y="385"/>
                    </a:cubicBezTo>
                    <a:cubicBezTo>
                      <a:pt x="1048" y="212"/>
                      <a:pt x="1048" y="212"/>
                      <a:pt x="1048" y="212"/>
                    </a:cubicBezTo>
                    <a:cubicBezTo>
                      <a:pt x="1051" y="203"/>
                      <a:pt x="1046" y="192"/>
                      <a:pt x="1037" y="189"/>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8" name="Freeform 48">
                <a:extLst>
                  <a:ext uri="{FF2B5EF4-FFF2-40B4-BE49-F238E27FC236}">
                    <a16:creationId xmlns:a16="http://schemas.microsoft.com/office/drawing/2014/main" id="{3DB560B1-D67E-415A-B409-4473772793AE}"/>
                  </a:ext>
                </a:extLst>
              </p:cNvPr>
              <p:cNvSpPr>
                <a:spLocks/>
              </p:cNvSpPr>
              <p:nvPr/>
            </p:nvSpPr>
            <p:spPr bwMode="auto">
              <a:xfrm>
                <a:off x="7389516" y="3794145"/>
                <a:ext cx="619595" cy="307425"/>
              </a:xfrm>
              <a:custGeom>
                <a:avLst/>
                <a:gdLst>
                  <a:gd name="T0" fmla="*/ 1033 w 1051"/>
                  <a:gd name="T1" fmla="*/ 0 h 522"/>
                  <a:gd name="T2" fmla="*/ 1015 w 1051"/>
                  <a:gd name="T3" fmla="*/ 18 h 522"/>
                  <a:gd name="T4" fmla="*/ 547 w 1051"/>
                  <a:gd name="T5" fmla="*/ 486 h 522"/>
                  <a:gd name="T6" fmla="*/ 105 w 1051"/>
                  <a:gd name="T7" fmla="*/ 170 h 522"/>
                  <a:gd name="T8" fmla="*/ 244 w 1051"/>
                  <a:gd name="T9" fmla="*/ 215 h 522"/>
                  <a:gd name="T10" fmla="*/ 266 w 1051"/>
                  <a:gd name="T11" fmla="*/ 204 h 522"/>
                  <a:gd name="T12" fmla="*/ 255 w 1051"/>
                  <a:gd name="T13" fmla="*/ 181 h 522"/>
                  <a:gd name="T14" fmla="*/ 88 w 1051"/>
                  <a:gd name="T15" fmla="*/ 127 h 522"/>
                  <a:gd name="T16" fmla="*/ 73 w 1051"/>
                  <a:gd name="T17" fmla="*/ 124 h 522"/>
                  <a:gd name="T18" fmla="*/ 72 w 1051"/>
                  <a:gd name="T19" fmla="*/ 124 h 522"/>
                  <a:gd name="T20" fmla="*/ 59 w 1051"/>
                  <a:gd name="T21" fmla="*/ 136 h 522"/>
                  <a:gd name="T22" fmla="*/ 3 w 1051"/>
                  <a:gd name="T23" fmla="*/ 310 h 522"/>
                  <a:gd name="T24" fmla="*/ 14 w 1051"/>
                  <a:gd name="T25" fmla="*/ 332 h 522"/>
                  <a:gd name="T26" fmla="*/ 20 w 1051"/>
                  <a:gd name="T27" fmla="*/ 333 h 522"/>
                  <a:gd name="T28" fmla="*/ 37 w 1051"/>
                  <a:gd name="T29" fmla="*/ 321 h 522"/>
                  <a:gd name="T30" fmla="*/ 77 w 1051"/>
                  <a:gd name="T31" fmla="*/ 198 h 522"/>
                  <a:gd name="T32" fmla="*/ 547 w 1051"/>
                  <a:gd name="T33" fmla="*/ 522 h 522"/>
                  <a:gd name="T34" fmla="*/ 1051 w 1051"/>
                  <a:gd name="T35" fmla="*/ 18 h 522"/>
                  <a:gd name="T36" fmla="*/ 1033 w 1051"/>
                  <a:gd name="T37"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1" h="522">
                    <a:moveTo>
                      <a:pt x="1033" y="0"/>
                    </a:moveTo>
                    <a:cubicBezTo>
                      <a:pt x="1023" y="0"/>
                      <a:pt x="1015" y="8"/>
                      <a:pt x="1015" y="18"/>
                    </a:cubicBezTo>
                    <a:cubicBezTo>
                      <a:pt x="1015" y="276"/>
                      <a:pt x="805" y="486"/>
                      <a:pt x="547" y="486"/>
                    </a:cubicBezTo>
                    <a:cubicBezTo>
                      <a:pt x="346" y="486"/>
                      <a:pt x="169" y="358"/>
                      <a:pt x="105" y="170"/>
                    </a:cubicBezTo>
                    <a:cubicBezTo>
                      <a:pt x="244" y="215"/>
                      <a:pt x="244" y="215"/>
                      <a:pt x="244" y="215"/>
                    </a:cubicBezTo>
                    <a:cubicBezTo>
                      <a:pt x="253" y="218"/>
                      <a:pt x="263" y="213"/>
                      <a:pt x="266" y="204"/>
                    </a:cubicBezTo>
                    <a:cubicBezTo>
                      <a:pt x="269" y="194"/>
                      <a:pt x="264" y="184"/>
                      <a:pt x="255" y="181"/>
                    </a:cubicBezTo>
                    <a:cubicBezTo>
                      <a:pt x="88" y="127"/>
                      <a:pt x="88" y="127"/>
                      <a:pt x="88" y="127"/>
                    </a:cubicBezTo>
                    <a:cubicBezTo>
                      <a:pt x="84" y="124"/>
                      <a:pt x="78" y="123"/>
                      <a:pt x="73" y="124"/>
                    </a:cubicBezTo>
                    <a:cubicBezTo>
                      <a:pt x="73" y="124"/>
                      <a:pt x="72" y="124"/>
                      <a:pt x="72" y="124"/>
                    </a:cubicBezTo>
                    <a:cubicBezTo>
                      <a:pt x="66" y="126"/>
                      <a:pt x="61" y="130"/>
                      <a:pt x="59" y="136"/>
                    </a:cubicBezTo>
                    <a:cubicBezTo>
                      <a:pt x="3" y="310"/>
                      <a:pt x="3" y="310"/>
                      <a:pt x="3" y="310"/>
                    </a:cubicBezTo>
                    <a:cubicBezTo>
                      <a:pt x="0" y="319"/>
                      <a:pt x="5" y="329"/>
                      <a:pt x="14" y="332"/>
                    </a:cubicBezTo>
                    <a:cubicBezTo>
                      <a:pt x="16" y="333"/>
                      <a:pt x="18" y="333"/>
                      <a:pt x="20" y="333"/>
                    </a:cubicBezTo>
                    <a:cubicBezTo>
                      <a:pt x="27" y="333"/>
                      <a:pt x="34" y="328"/>
                      <a:pt x="37" y="321"/>
                    </a:cubicBezTo>
                    <a:cubicBezTo>
                      <a:pt x="77" y="198"/>
                      <a:pt x="77" y="198"/>
                      <a:pt x="77" y="198"/>
                    </a:cubicBezTo>
                    <a:cubicBezTo>
                      <a:pt x="150" y="391"/>
                      <a:pt x="337" y="522"/>
                      <a:pt x="547" y="522"/>
                    </a:cubicBezTo>
                    <a:cubicBezTo>
                      <a:pt x="825" y="522"/>
                      <a:pt x="1051" y="296"/>
                      <a:pt x="1051" y="18"/>
                    </a:cubicBezTo>
                    <a:cubicBezTo>
                      <a:pt x="1051" y="8"/>
                      <a:pt x="1043" y="0"/>
                      <a:pt x="1033" y="0"/>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9" name="Processing_E9F5" title="Icon of two interlocked gears">
                <a:extLst>
                  <a:ext uri="{FF2B5EF4-FFF2-40B4-BE49-F238E27FC236}">
                    <a16:creationId xmlns:a16="http://schemas.microsoft.com/office/drawing/2014/main" id="{C40E11B4-9E32-4889-9022-14B5999DEF4F}"/>
                  </a:ext>
                </a:extLst>
              </p:cNvPr>
              <p:cNvSpPr>
                <a:spLocks noChangeAspect="1" noEditPoints="1"/>
              </p:cNvSpPr>
              <p:nvPr/>
            </p:nvSpPr>
            <p:spPr bwMode="auto">
              <a:xfrm>
                <a:off x="7528874" y="3675608"/>
                <a:ext cx="340879" cy="296883"/>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dirty="0"/>
              </a:p>
            </p:txBody>
          </p:sp>
        </p:grpSp>
      </p:grpSp>
      <p:grpSp>
        <p:nvGrpSpPr>
          <p:cNvPr id="14" name="Group 13">
            <a:extLst>
              <a:ext uri="{FF2B5EF4-FFF2-40B4-BE49-F238E27FC236}">
                <a16:creationId xmlns:a16="http://schemas.microsoft.com/office/drawing/2014/main" id="{E628AD01-A580-4DFF-B83C-12DDC42B8C29}"/>
              </a:ext>
            </a:extLst>
          </p:cNvPr>
          <p:cNvGrpSpPr/>
          <p:nvPr/>
        </p:nvGrpSpPr>
        <p:grpSpPr>
          <a:xfrm>
            <a:off x="2096208" y="1441242"/>
            <a:ext cx="1903295" cy="1186075"/>
            <a:chOff x="3505200" y="1164770"/>
            <a:chExt cx="1903295" cy="1186075"/>
          </a:xfrm>
        </p:grpSpPr>
        <p:sp>
          <p:nvSpPr>
            <p:cNvPr id="12" name="Rectangle: Rounded Corners 11">
              <a:extLst>
                <a:ext uri="{FF2B5EF4-FFF2-40B4-BE49-F238E27FC236}">
                  <a16:creationId xmlns:a16="http://schemas.microsoft.com/office/drawing/2014/main" id="{BD7B674C-F88D-485B-9262-0523D825ECA7}"/>
                </a:ext>
              </a:extLst>
            </p:cNvPr>
            <p:cNvSpPr/>
            <p:nvPr/>
          </p:nvSpPr>
          <p:spPr bwMode="auto">
            <a:xfrm>
              <a:off x="3505200" y="1164770"/>
              <a:ext cx="1903295" cy="1186075"/>
            </a:xfrm>
            <a:prstGeom prst="round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Informační systém</a:t>
              </a:r>
            </a:p>
          </p:txBody>
        </p:sp>
        <p:sp>
          <p:nvSpPr>
            <p:cNvPr id="13" name="Flowchart: Magnetic Disk 12">
              <a:extLst>
                <a:ext uri="{FF2B5EF4-FFF2-40B4-BE49-F238E27FC236}">
                  <a16:creationId xmlns:a16="http://schemas.microsoft.com/office/drawing/2014/main" id="{E5EA2CF4-B711-4DFC-AE60-D7572BB66BF0}"/>
                </a:ext>
              </a:extLst>
            </p:cNvPr>
            <p:cNvSpPr/>
            <p:nvPr/>
          </p:nvSpPr>
          <p:spPr bwMode="auto">
            <a:xfrm>
              <a:off x="4152157" y="1883153"/>
              <a:ext cx="609380" cy="256166"/>
            </a:xfrm>
            <a:prstGeom prst="flowChartMagneticDisk">
              <a:avLst/>
            </a:prstGeom>
            <a:solidFill>
              <a:schemeClr val="accent4">
                <a:lumMod val="60000"/>
                <a:lumOff val="40000"/>
              </a:schemeClr>
            </a:solidFill>
            <a:ln>
              <a:solidFill>
                <a:schemeClr val="accent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15" name="Rectangle: Rounded Corners 14">
            <a:extLst>
              <a:ext uri="{FF2B5EF4-FFF2-40B4-BE49-F238E27FC236}">
                <a16:creationId xmlns:a16="http://schemas.microsoft.com/office/drawing/2014/main" id="{BAF971EC-E6B3-474C-B2CA-727A2E700811}"/>
              </a:ext>
            </a:extLst>
          </p:cNvPr>
          <p:cNvSpPr/>
          <p:nvPr/>
        </p:nvSpPr>
        <p:spPr bwMode="auto">
          <a:xfrm>
            <a:off x="7026417" y="753661"/>
            <a:ext cx="2985180" cy="6158768"/>
          </a:xfrm>
          <a:prstGeom prst="roundRect">
            <a:avLst/>
          </a:prstGeom>
          <a:solidFill>
            <a:schemeClr val="accent6">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NIA</a:t>
            </a:r>
          </a:p>
        </p:txBody>
      </p:sp>
      <p:grpSp>
        <p:nvGrpSpPr>
          <p:cNvPr id="19" name="Group 18">
            <a:extLst>
              <a:ext uri="{FF2B5EF4-FFF2-40B4-BE49-F238E27FC236}">
                <a16:creationId xmlns:a16="http://schemas.microsoft.com/office/drawing/2014/main" id="{B53C5B93-5FAB-4FBB-B7B0-3DEA96D0E902}"/>
              </a:ext>
            </a:extLst>
          </p:cNvPr>
          <p:cNvGrpSpPr/>
          <p:nvPr/>
        </p:nvGrpSpPr>
        <p:grpSpPr>
          <a:xfrm>
            <a:off x="7736167" y="4179409"/>
            <a:ext cx="1619560" cy="1178036"/>
            <a:chOff x="3374571" y="2030985"/>
            <a:chExt cx="1619560" cy="1178036"/>
          </a:xfrm>
        </p:grpSpPr>
        <p:sp>
          <p:nvSpPr>
            <p:cNvPr id="16" name="Rectangle: Rounded Corners 15">
              <a:extLst>
                <a:ext uri="{FF2B5EF4-FFF2-40B4-BE49-F238E27FC236}">
                  <a16:creationId xmlns:a16="http://schemas.microsoft.com/office/drawing/2014/main" id="{BE051771-1517-4FA1-B7CC-F01A295FF07F}"/>
                </a:ext>
              </a:extLst>
            </p:cNvPr>
            <p:cNvSpPr/>
            <p:nvPr/>
          </p:nvSpPr>
          <p:spPr bwMode="auto">
            <a:xfrm>
              <a:off x="3374571" y="2030985"/>
              <a:ext cx="1619560" cy="1178036"/>
            </a:xfrm>
            <a:prstGeom prst="round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Registrace MA</a:t>
              </a:r>
            </a:p>
          </p:txBody>
        </p:sp>
        <p:sp>
          <p:nvSpPr>
            <p:cNvPr id="53" name="plan" title="Icon of a circle with an arrow projecting from it between two exes">
              <a:extLst>
                <a:ext uri="{FF2B5EF4-FFF2-40B4-BE49-F238E27FC236}">
                  <a16:creationId xmlns:a16="http://schemas.microsoft.com/office/drawing/2014/main" id="{D9A5C394-EB85-4505-BD36-5DF9D6D3C56A}"/>
                </a:ext>
              </a:extLst>
            </p:cNvPr>
            <p:cNvSpPr>
              <a:spLocks noChangeAspect="1" noEditPoints="1"/>
            </p:cNvSpPr>
            <p:nvPr/>
          </p:nvSpPr>
          <p:spPr bwMode="auto">
            <a:xfrm>
              <a:off x="3999883" y="2301459"/>
              <a:ext cx="364274" cy="365708"/>
            </a:xfrm>
            <a:custGeom>
              <a:avLst/>
              <a:gdLst>
                <a:gd name="T0" fmla="*/ 116 w 352"/>
                <a:gd name="T1" fmla="*/ 117 h 352"/>
                <a:gd name="T2" fmla="*/ 0 w 352"/>
                <a:gd name="T3" fmla="*/ 0 h 352"/>
                <a:gd name="T4" fmla="*/ 116 w 352"/>
                <a:gd name="T5" fmla="*/ 0 h 352"/>
                <a:gd name="T6" fmla="*/ 0 w 352"/>
                <a:gd name="T7" fmla="*/ 117 h 352"/>
                <a:gd name="T8" fmla="*/ 352 w 352"/>
                <a:gd name="T9" fmla="*/ 352 h 352"/>
                <a:gd name="T10" fmla="*/ 235 w 352"/>
                <a:gd name="T11" fmla="*/ 236 h 352"/>
                <a:gd name="T12" fmla="*/ 352 w 352"/>
                <a:gd name="T13" fmla="*/ 236 h 352"/>
                <a:gd name="T14" fmla="*/ 235 w 352"/>
                <a:gd name="T15" fmla="*/ 352 h 352"/>
                <a:gd name="T16" fmla="*/ 66 w 352"/>
                <a:gd name="T17" fmla="*/ 218 h 352"/>
                <a:gd name="T18" fmla="*/ 2 w 352"/>
                <a:gd name="T19" fmla="*/ 282 h 352"/>
                <a:gd name="T20" fmla="*/ 66 w 352"/>
                <a:gd name="T21" fmla="*/ 347 h 352"/>
                <a:gd name="T22" fmla="*/ 130 w 352"/>
                <a:gd name="T23" fmla="*/ 282 h 352"/>
                <a:gd name="T24" fmla="*/ 66 w 352"/>
                <a:gd name="T25" fmla="*/ 218 h 352"/>
                <a:gd name="T26" fmla="*/ 113 w 352"/>
                <a:gd name="T27" fmla="*/ 239 h 352"/>
                <a:gd name="T28" fmla="*/ 345 w 352"/>
                <a:gd name="T29" fmla="*/ 8 h 352"/>
                <a:gd name="T30" fmla="*/ 345 w 352"/>
                <a:gd name="T31" fmla="*/ 83 h 352"/>
                <a:gd name="T32" fmla="*/ 345 w 352"/>
                <a:gd name="T33" fmla="*/ 7 h 352"/>
                <a:gd name="T34" fmla="*/ 269 w 352"/>
                <a:gd name="T35"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2" h="352">
                  <a:moveTo>
                    <a:pt x="116" y="117"/>
                  </a:moveTo>
                  <a:cubicBezTo>
                    <a:pt x="0" y="0"/>
                    <a:pt x="0" y="0"/>
                    <a:pt x="0" y="0"/>
                  </a:cubicBezTo>
                  <a:moveTo>
                    <a:pt x="116" y="0"/>
                  </a:moveTo>
                  <a:cubicBezTo>
                    <a:pt x="0" y="117"/>
                    <a:pt x="0" y="117"/>
                    <a:pt x="0" y="117"/>
                  </a:cubicBezTo>
                  <a:moveTo>
                    <a:pt x="352" y="352"/>
                  </a:moveTo>
                  <a:cubicBezTo>
                    <a:pt x="235" y="236"/>
                    <a:pt x="235" y="236"/>
                    <a:pt x="235" y="236"/>
                  </a:cubicBezTo>
                  <a:moveTo>
                    <a:pt x="352" y="236"/>
                  </a:moveTo>
                  <a:cubicBezTo>
                    <a:pt x="235" y="352"/>
                    <a:pt x="235" y="352"/>
                    <a:pt x="235" y="352"/>
                  </a:cubicBezTo>
                  <a:moveTo>
                    <a:pt x="66" y="218"/>
                  </a:moveTo>
                  <a:cubicBezTo>
                    <a:pt x="30" y="218"/>
                    <a:pt x="2" y="247"/>
                    <a:pt x="2" y="282"/>
                  </a:cubicBezTo>
                  <a:cubicBezTo>
                    <a:pt x="2" y="318"/>
                    <a:pt x="30" y="347"/>
                    <a:pt x="66" y="347"/>
                  </a:cubicBezTo>
                  <a:cubicBezTo>
                    <a:pt x="101" y="347"/>
                    <a:pt x="130" y="318"/>
                    <a:pt x="130" y="282"/>
                  </a:cubicBezTo>
                  <a:cubicBezTo>
                    <a:pt x="130" y="247"/>
                    <a:pt x="101" y="218"/>
                    <a:pt x="66" y="218"/>
                  </a:cubicBezTo>
                  <a:close/>
                  <a:moveTo>
                    <a:pt x="113" y="239"/>
                  </a:moveTo>
                  <a:cubicBezTo>
                    <a:pt x="345" y="8"/>
                    <a:pt x="345" y="8"/>
                    <a:pt x="345" y="8"/>
                  </a:cubicBezTo>
                  <a:moveTo>
                    <a:pt x="345" y="83"/>
                  </a:moveTo>
                  <a:cubicBezTo>
                    <a:pt x="345" y="7"/>
                    <a:pt x="345" y="7"/>
                    <a:pt x="345" y="7"/>
                  </a:cubicBezTo>
                  <a:cubicBezTo>
                    <a:pt x="269" y="7"/>
                    <a:pt x="269" y="7"/>
                    <a:pt x="269" y="7"/>
                  </a:cubicBezTo>
                </a:path>
              </a:pathLst>
            </a:custGeom>
            <a:noFill/>
            <a:ln w="15875" cap="sq">
              <a:solidFill>
                <a:schemeClr val="accent2"/>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a:gradFill>
                  <a:gsLst>
                    <a:gs pos="0">
                      <a:srgbClr val="505050"/>
                    </a:gs>
                    <a:gs pos="100000">
                      <a:srgbClr val="505050"/>
                    </a:gs>
                  </a:gsLst>
                  <a:lin ang="5400000" scaled="1"/>
                </a:gradFill>
              </a:endParaRPr>
            </a:p>
          </p:txBody>
        </p:sp>
      </p:grpSp>
      <p:grpSp>
        <p:nvGrpSpPr>
          <p:cNvPr id="20" name="Group 19">
            <a:extLst>
              <a:ext uri="{FF2B5EF4-FFF2-40B4-BE49-F238E27FC236}">
                <a16:creationId xmlns:a16="http://schemas.microsoft.com/office/drawing/2014/main" id="{6160FC8F-2B44-45D3-A844-783E233E317F}"/>
              </a:ext>
            </a:extLst>
          </p:cNvPr>
          <p:cNvGrpSpPr/>
          <p:nvPr/>
        </p:nvGrpSpPr>
        <p:grpSpPr>
          <a:xfrm>
            <a:off x="7736167" y="5454719"/>
            <a:ext cx="1619560" cy="1178036"/>
            <a:chOff x="3374571" y="3705584"/>
            <a:chExt cx="1619560" cy="1178036"/>
          </a:xfrm>
        </p:grpSpPr>
        <p:sp>
          <p:nvSpPr>
            <p:cNvPr id="17" name="Rectangle: Rounded Corners 16">
              <a:extLst>
                <a:ext uri="{FF2B5EF4-FFF2-40B4-BE49-F238E27FC236}">
                  <a16:creationId xmlns:a16="http://schemas.microsoft.com/office/drawing/2014/main" id="{60E65A87-4DB2-4B2C-B23F-27A8934B3A7E}"/>
                </a:ext>
              </a:extLst>
            </p:cNvPr>
            <p:cNvSpPr/>
            <p:nvPr/>
          </p:nvSpPr>
          <p:spPr bwMode="auto">
            <a:xfrm>
              <a:off x="3374571" y="3705584"/>
              <a:ext cx="1619560" cy="1178036"/>
            </a:xfrm>
            <a:prstGeom prst="round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Přihlášení MA</a:t>
              </a:r>
            </a:p>
          </p:txBody>
        </p:sp>
        <p:grpSp>
          <p:nvGrpSpPr>
            <p:cNvPr id="74" name="Group 73">
              <a:extLst>
                <a:ext uri="{FF2B5EF4-FFF2-40B4-BE49-F238E27FC236}">
                  <a16:creationId xmlns:a16="http://schemas.microsoft.com/office/drawing/2014/main" id="{16EF7963-EF8C-4EDC-97FC-D98CB087EDCF}"/>
                </a:ext>
              </a:extLst>
            </p:cNvPr>
            <p:cNvGrpSpPr/>
            <p:nvPr/>
          </p:nvGrpSpPr>
          <p:grpSpPr>
            <a:xfrm>
              <a:off x="3930595" y="3853418"/>
              <a:ext cx="502849" cy="575942"/>
              <a:chOff x="10509456" y="3277136"/>
              <a:chExt cx="502920" cy="523658"/>
            </a:xfrm>
          </p:grpSpPr>
          <p:sp>
            <p:nvSpPr>
              <p:cNvPr id="75" name="network" title="Icon of a device or computer network">
                <a:extLst>
                  <a:ext uri="{FF2B5EF4-FFF2-40B4-BE49-F238E27FC236}">
                    <a16:creationId xmlns:a16="http://schemas.microsoft.com/office/drawing/2014/main" id="{F9B2BE91-EF1B-4F81-83AB-FF1DE6C29875}"/>
                  </a:ext>
                </a:extLst>
              </p:cNvPr>
              <p:cNvSpPr>
                <a:spLocks noChangeAspect="1" noEditPoints="1"/>
              </p:cNvSpPr>
              <p:nvPr/>
            </p:nvSpPr>
            <p:spPr bwMode="auto">
              <a:xfrm>
                <a:off x="10509456" y="3277136"/>
                <a:ext cx="502920" cy="523658"/>
              </a:xfrm>
              <a:custGeom>
                <a:avLst/>
                <a:gdLst>
                  <a:gd name="T0" fmla="*/ 328 w 388"/>
                  <a:gd name="T1" fmla="*/ 260 h 404"/>
                  <a:gd name="T2" fmla="*/ 15 w 388"/>
                  <a:gd name="T3" fmla="*/ 260 h 404"/>
                  <a:gd name="T4" fmla="*/ 15 w 388"/>
                  <a:gd name="T5" fmla="*/ 57 h 404"/>
                  <a:gd name="T6" fmla="*/ 328 w 388"/>
                  <a:gd name="T7" fmla="*/ 57 h 404"/>
                  <a:gd name="T8" fmla="*/ 328 w 388"/>
                  <a:gd name="T9" fmla="*/ 260 h 404"/>
                  <a:gd name="T10" fmla="*/ 328 w 388"/>
                  <a:gd name="T11" fmla="*/ 203 h 404"/>
                  <a:gd name="T12" fmla="*/ 388 w 388"/>
                  <a:gd name="T13" fmla="*/ 203 h 404"/>
                  <a:gd name="T14" fmla="*/ 388 w 388"/>
                  <a:gd name="T15" fmla="*/ 0 h 404"/>
                  <a:gd name="T16" fmla="*/ 69 w 388"/>
                  <a:gd name="T17" fmla="*/ 0 h 404"/>
                  <a:gd name="T18" fmla="*/ 69 w 388"/>
                  <a:gd name="T19" fmla="*/ 57 h 404"/>
                  <a:gd name="T20" fmla="*/ 271 w 388"/>
                  <a:gd name="T21" fmla="*/ 404 h 404"/>
                  <a:gd name="T22" fmla="*/ 271 w 388"/>
                  <a:gd name="T23" fmla="*/ 347 h 404"/>
                  <a:gd name="T24" fmla="*/ 215 w 388"/>
                  <a:gd name="T25" fmla="*/ 347 h 404"/>
                  <a:gd name="T26" fmla="*/ 215 w 388"/>
                  <a:gd name="T27" fmla="*/ 318 h 404"/>
                  <a:gd name="T28" fmla="*/ 157 w 388"/>
                  <a:gd name="T29" fmla="*/ 318 h 404"/>
                  <a:gd name="T30" fmla="*/ 157 w 388"/>
                  <a:gd name="T31" fmla="*/ 347 h 404"/>
                  <a:gd name="T32" fmla="*/ 97 w 388"/>
                  <a:gd name="T33" fmla="*/ 347 h 404"/>
                  <a:gd name="T34" fmla="*/ 97 w 388"/>
                  <a:gd name="T35" fmla="*/ 404 h 404"/>
                  <a:gd name="T36" fmla="*/ 187 w 388"/>
                  <a:gd name="T37" fmla="*/ 404 h 404"/>
                  <a:gd name="T38" fmla="*/ 271 w 388"/>
                  <a:gd name="T39" fmla="*/ 404 h 404"/>
                  <a:gd name="T40" fmla="*/ 97 w 388"/>
                  <a:gd name="T41" fmla="*/ 374 h 404"/>
                  <a:gd name="T42" fmla="*/ 0 w 388"/>
                  <a:gd name="T43" fmla="*/ 374 h 404"/>
                  <a:gd name="T44" fmla="*/ 271 w 388"/>
                  <a:gd name="T45" fmla="*/ 374 h 404"/>
                  <a:gd name="T46" fmla="*/ 369 w 388"/>
                  <a:gd name="T47" fmla="*/ 374 h 404"/>
                  <a:gd name="T48" fmla="*/ 184 w 388"/>
                  <a:gd name="T49" fmla="*/ 318 h 404"/>
                  <a:gd name="T50" fmla="*/ 184 w 388"/>
                  <a:gd name="T51" fmla="*/ 26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8" h="404">
                    <a:moveTo>
                      <a:pt x="328" y="260"/>
                    </a:moveTo>
                    <a:lnTo>
                      <a:pt x="15" y="260"/>
                    </a:lnTo>
                    <a:lnTo>
                      <a:pt x="15" y="57"/>
                    </a:lnTo>
                    <a:lnTo>
                      <a:pt x="328" y="57"/>
                    </a:lnTo>
                    <a:lnTo>
                      <a:pt x="328" y="260"/>
                    </a:lnTo>
                    <a:moveTo>
                      <a:pt x="328" y="203"/>
                    </a:moveTo>
                    <a:lnTo>
                      <a:pt x="388" y="203"/>
                    </a:lnTo>
                    <a:lnTo>
                      <a:pt x="388" y="0"/>
                    </a:lnTo>
                    <a:lnTo>
                      <a:pt x="69" y="0"/>
                    </a:lnTo>
                    <a:lnTo>
                      <a:pt x="69" y="57"/>
                    </a:lnTo>
                    <a:moveTo>
                      <a:pt x="271" y="404"/>
                    </a:moveTo>
                    <a:lnTo>
                      <a:pt x="271" y="347"/>
                    </a:lnTo>
                    <a:lnTo>
                      <a:pt x="215" y="347"/>
                    </a:lnTo>
                    <a:lnTo>
                      <a:pt x="215" y="318"/>
                    </a:lnTo>
                    <a:lnTo>
                      <a:pt x="157" y="318"/>
                    </a:lnTo>
                    <a:lnTo>
                      <a:pt x="157" y="347"/>
                    </a:lnTo>
                    <a:lnTo>
                      <a:pt x="97" y="347"/>
                    </a:lnTo>
                    <a:lnTo>
                      <a:pt x="97" y="404"/>
                    </a:lnTo>
                    <a:lnTo>
                      <a:pt x="187" y="404"/>
                    </a:lnTo>
                    <a:lnTo>
                      <a:pt x="271" y="404"/>
                    </a:lnTo>
                    <a:moveTo>
                      <a:pt x="97" y="374"/>
                    </a:moveTo>
                    <a:lnTo>
                      <a:pt x="0" y="374"/>
                    </a:lnTo>
                    <a:moveTo>
                      <a:pt x="271" y="374"/>
                    </a:moveTo>
                    <a:lnTo>
                      <a:pt x="369" y="374"/>
                    </a:lnTo>
                    <a:moveTo>
                      <a:pt x="184" y="318"/>
                    </a:moveTo>
                    <a:lnTo>
                      <a:pt x="184" y="260"/>
                    </a:ln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76" name="Lock" title="Icon of a padlock">
                <a:extLst>
                  <a:ext uri="{FF2B5EF4-FFF2-40B4-BE49-F238E27FC236}">
                    <a16:creationId xmlns:a16="http://schemas.microsoft.com/office/drawing/2014/main" id="{71178FCD-377C-4D0F-B6C7-707E79AF0674}"/>
                  </a:ext>
                </a:extLst>
              </p:cNvPr>
              <p:cNvSpPr>
                <a:spLocks noChangeAspect="1" noEditPoints="1"/>
              </p:cNvSpPr>
              <p:nvPr/>
            </p:nvSpPr>
            <p:spPr bwMode="auto">
              <a:xfrm>
                <a:off x="10663868" y="3393037"/>
                <a:ext cx="132294" cy="184900"/>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grpSp>
      </p:grpSp>
      <p:grpSp>
        <p:nvGrpSpPr>
          <p:cNvPr id="21" name="Group 20">
            <a:extLst>
              <a:ext uri="{FF2B5EF4-FFF2-40B4-BE49-F238E27FC236}">
                <a16:creationId xmlns:a16="http://schemas.microsoft.com/office/drawing/2014/main" id="{2BD82AE9-C1D7-4BF0-BF3C-A08BFEA532DC}"/>
              </a:ext>
            </a:extLst>
          </p:cNvPr>
          <p:cNvGrpSpPr/>
          <p:nvPr/>
        </p:nvGrpSpPr>
        <p:grpSpPr>
          <a:xfrm>
            <a:off x="7709227" y="1451468"/>
            <a:ext cx="1619560" cy="1178036"/>
            <a:chOff x="10190278" y="1293777"/>
            <a:chExt cx="1619560" cy="1178036"/>
          </a:xfrm>
        </p:grpSpPr>
        <p:sp>
          <p:nvSpPr>
            <p:cNvPr id="18" name="Rectangle: Rounded Corners 17">
              <a:extLst>
                <a:ext uri="{FF2B5EF4-FFF2-40B4-BE49-F238E27FC236}">
                  <a16:creationId xmlns:a16="http://schemas.microsoft.com/office/drawing/2014/main" id="{FD3B23F8-05ED-4F06-9F1E-6D90A7A5F93E}"/>
                </a:ext>
              </a:extLst>
            </p:cNvPr>
            <p:cNvSpPr/>
            <p:nvPr/>
          </p:nvSpPr>
          <p:spPr bwMode="auto">
            <a:xfrm>
              <a:off x="10190278" y="1293777"/>
              <a:ext cx="1619560" cy="1178036"/>
            </a:xfrm>
            <a:prstGeom prst="round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Vyzvednutí JWT</a:t>
              </a:r>
            </a:p>
          </p:txBody>
        </p:sp>
        <p:sp>
          <p:nvSpPr>
            <p:cNvPr id="62" name="Freeform: Shape 61">
              <a:extLst>
                <a:ext uri="{FF2B5EF4-FFF2-40B4-BE49-F238E27FC236}">
                  <a16:creationId xmlns:a16="http://schemas.microsoft.com/office/drawing/2014/main" id="{D6B15088-08E0-4512-8A2D-6C288FA37A22}"/>
                </a:ext>
              </a:extLst>
            </p:cNvPr>
            <p:cNvSpPr/>
            <p:nvPr/>
          </p:nvSpPr>
          <p:spPr>
            <a:xfrm>
              <a:off x="10815698" y="1654810"/>
              <a:ext cx="6491" cy="6491"/>
            </a:xfrm>
            <a:custGeom>
              <a:avLst/>
              <a:gdLst/>
              <a:ahLst/>
              <a:cxnLst/>
              <a:rect l="0" t="0" r="0" b="0"/>
              <a:pathLst>
                <a:path w="9525" h="9525">
                  <a:moveTo>
                    <a:pt x="10001" y="9049"/>
                  </a:moveTo>
                  <a:cubicBezTo>
                    <a:pt x="10001" y="9049"/>
                    <a:pt x="10001" y="9049"/>
                    <a:pt x="10001" y="9049"/>
                  </a:cubicBezTo>
                  <a:lnTo>
                    <a:pt x="7144" y="7144"/>
                  </a:lnTo>
                  <a:lnTo>
                    <a:pt x="10001" y="9049"/>
                  </a:ln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sp>
          <p:nvSpPr>
            <p:cNvPr id="64" name="Freeform: Shape 63">
              <a:extLst>
                <a:ext uri="{FF2B5EF4-FFF2-40B4-BE49-F238E27FC236}">
                  <a16:creationId xmlns:a16="http://schemas.microsoft.com/office/drawing/2014/main" id="{5B66FA8F-06D0-40AA-A4E7-2CE476EFE2C3}"/>
                </a:ext>
              </a:extLst>
            </p:cNvPr>
            <p:cNvSpPr/>
            <p:nvPr/>
          </p:nvSpPr>
          <p:spPr>
            <a:xfrm>
              <a:off x="10815698" y="1652862"/>
              <a:ext cx="12983" cy="12983"/>
            </a:xfrm>
            <a:custGeom>
              <a:avLst/>
              <a:gdLst/>
              <a:ahLst/>
              <a:cxnLst/>
              <a:rect l="0" t="0" r="0" b="0"/>
              <a:pathLst>
                <a:path w="19050" h="19050">
                  <a:moveTo>
                    <a:pt x="9049" y="7144"/>
                  </a:moveTo>
                  <a:cubicBezTo>
                    <a:pt x="8096" y="8096"/>
                    <a:pt x="7144" y="9049"/>
                    <a:pt x="7144" y="10001"/>
                  </a:cubicBezTo>
                  <a:lnTo>
                    <a:pt x="10001" y="11906"/>
                  </a:lnTo>
                  <a:cubicBezTo>
                    <a:pt x="10954" y="10954"/>
                    <a:pt x="11906" y="10001"/>
                    <a:pt x="11906" y="9049"/>
                  </a:cubicBezTo>
                  <a:lnTo>
                    <a:pt x="9049" y="7144"/>
                  </a:ln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sp>
          <p:nvSpPr>
            <p:cNvPr id="65" name="Freeform: Shape 64">
              <a:extLst>
                <a:ext uri="{FF2B5EF4-FFF2-40B4-BE49-F238E27FC236}">
                  <a16:creationId xmlns:a16="http://schemas.microsoft.com/office/drawing/2014/main" id="{3BC6AAF9-1D03-4312-9AA3-4C507B9A95EA}"/>
                </a:ext>
              </a:extLst>
            </p:cNvPr>
            <p:cNvSpPr/>
            <p:nvPr/>
          </p:nvSpPr>
          <p:spPr>
            <a:xfrm>
              <a:off x="10817644" y="1654160"/>
              <a:ext cx="32456" cy="19474"/>
            </a:xfrm>
            <a:custGeom>
              <a:avLst/>
              <a:gdLst/>
              <a:ahLst/>
              <a:cxnLst/>
              <a:rect l="0" t="0" r="0" b="0"/>
              <a:pathLst>
                <a:path w="47625" h="28575">
                  <a:moveTo>
                    <a:pt x="39529" y="25241"/>
                  </a:moveTo>
                  <a:lnTo>
                    <a:pt x="9049" y="7144"/>
                  </a:lnTo>
                  <a:cubicBezTo>
                    <a:pt x="8096" y="8096"/>
                    <a:pt x="7144" y="9049"/>
                    <a:pt x="7144" y="10001"/>
                  </a:cubicBezTo>
                  <a:lnTo>
                    <a:pt x="40481" y="29051"/>
                  </a:lnTo>
                  <a:lnTo>
                    <a:pt x="37624" y="27146"/>
                  </a:lnTo>
                  <a:cubicBezTo>
                    <a:pt x="38576" y="26194"/>
                    <a:pt x="38576" y="26194"/>
                    <a:pt x="39529" y="25241"/>
                  </a:cubicBez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sp>
          <p:nvSpPr>
            <p:cNvPr id="66" name="Freeform: Shape 65">
              <a:extLst>
                <a:ext uri="{FF2B5EF4-FFF2-40B4-BE49-F238E27FC236}">
                  <a16:creationId xmlns:a16="http://schemas.microsoft.com/office/drawing/2014/main" id="{1EF9FA72-5AB2-4007-BF5A-52894FBC959B}"/>
                </a:ext>
              </a:extLst>
            </p:cNvPr>
            <p:cNvSpPr/>
            <p:nvPr/>
          </p:nvSpPr>
          <p:spPr>
            <a:xfrm>
              <a:off x="10838416" y="1666494"/>
              <a:ext cx="12983" cy="12983"/>
            </a:xfrm>
            <a:custGeom>
              <a:avLst/>
              <a:gdLst/>
              <a:ahLst/>
              <a:cxnLst/>
              <a:rect l="0" t="0" r="0" b="0"/>
              <a:pathLst>
                <a:path w="19050" h="19050">
                  <a:moveTo>
                    <a:pt x="9049" y="7144"/>
                  </a:moveTo>
                  <a:cubicBezTo>
                    <a:pt x="8096" y="8096"/>
                    <a:pt x="8096" y="9049"/>
                    <a:pt x="7144" y="10001"/>
                  </a:cubicBezTo>
                  <a:lnTo>
                    <a:pt x="10001" y="11906"/>
                  </a:lnTo>
                  <a:lnTo>
                    <a:pt x="11906" y="9049"/>
                  </a:lnTo>
                  <a:lnTo>
                    <a:pt x="9049" y="7144"/>
                  </a:lnTo>
                  <a:close/>
                </a:path>
              </a:pathLst>
            </a:custGeom>
            <a:solidFill>
              <a:schemeClr val="accent2"/>
            </a:solidFill>
            <a:ln w="9525" cap="flat">
              <a:noFill/>
              <a:prstDash val="solid"/>
              <a:miter/>
            </a:ln>
          </p:spPr>
          <p:txBody>
            <a:bodyPr/>
            <a:lstStyle/>
            <a:p>
              <a:pPr defTabSz="914224">
                <a:defRPr/>
              </a:pPr>
              <a:endParaRPr lang="en-US" kern="0">
                <a:solidFill>
                  <a:srgbClr val="353535"/>
                </a:solidFill>
                <a:latin typeface="Segoe UI Semilight"/>
              </a:endParaRPr>
            </a:p>
          </p:txBody>
        </p:sp>
        <p:grpSp>
          <p:nvGrpSpPr>
            <p:cNvPr id="68" name="Group 67">
              <a:extLst>
                <a:ext uri="{FF2B5EF4-FFF2-40B4-BE49-F238E27FC236}">
                  <a16:creationId xmlns:a16="http://schemas.microsoft.com/office/drawing/2014/main" id="{35C9070B-CF58-4999-ADB7-7021338DB12D}"/>
                </a:ext>
              </a:extLst>
            </p:cNvPr>
            <p:cNvGrpSpPr/>
            <p:nvPr/>
          </p:nvGrpSpPr>
          <p:grpSpPr>
            <a:xfrm>
              <a:off x="10776636" y="1533534"/>
              <a:ext cx="502849" cy="502849"/>
              <a:chOff x="7465985" y="1525964"/>
              <a:chExt cx="502920" cy="502920"/>
            </a:xfrm>
          </p:grpSpPr>
          <p:sp>
            <p:nvSpPr>
              <p:cNvPr id="71" name="Family_EBDA" title="Icon of a family of people">
                <a:extLst>
                  <a:ext uri="{FF2B5EF4-FFF2-40B4-BE49-F238E27FC236}">
                    <a16:creationId xmlns:a16="http://schemas.microsoft.com/office/drawing/2014/main" id="{9D6AFD21-3CF0-4615-8071-CD0DA8CC440B}"/>
                  </a:ext>
                </a:extLst>
              </p:cNvPr>
              <p:cNvSpPr>
                <a:spLocks noChangeAspect="1" noEditPoints="1"/>
              </p:cNvSpPr>
              <p:nvPr/>
            </p:nvSpPr>
            <p:spPr bwMode="auto">
              <a:xfrm>
                <a:off x="7572857" y="1646949"/>
                <a:ext cx="289176" cy="260951"/>
              </a:xfrm>
              <a:custGeom>
                <a:avLst/>
                <a:gdLst>
                  <a:gd name="T0" fmla="*/ 1498 w 3740"/>
                  <a:gd name="T1" fmla="*/ 1874 h 3374"/>
                  <a:gd name="T2" fmla="*/ 874 w 3740"/>
                  <a:gd name="T3" fmla="*/ 2498 h 3374"/>
                  <a:gd name="T4" fmla="*/ 250 w 3740"/>
                  <a:gd name="T5" fmla="*/ 1874 h 3374"/>
                  <a:gd name="T6" fmla="*/ 874 w 3740"/>
                  <a:gd name="T7" fmla="*/ 1249 h 3374"/>
                  <a:gd name="T8" fmla="*/ 1498 w 3740"/>
                  <a:gd name="T9" fmla="*/ 1874 h 3374"/>
                  <a:gd name="T10" fmla="*/ 2123 w 3740"/>
                  <a:gd name="T11" fmla="*/ 0 h 3374"/>
                  <a:gd name="T12" fmla="*/ 1498 w 3740"/>
                  <a:gd name="T13" fmla="*/ 625 h 3374"/>
                  <a:gd name="T14" fmla="*/ 2123 w 3740"/>
                  <a:gd name="T15" fmla="*/ 1249 h 3374"/>
                  <a:gd name="T16" fmla="*/ 2747 w 3740"/>
                  <a:gd name="T17" fmla="*/ 625 h 3374"/>
                  <a:gd name="T18" fmla="*/ 2123 w 3740"/>
                  <a:gd name="T19" fmla="*/ 0 h 3374"/>
                  <a:gd name="T20" fmla="*/ 2997 w 3740"/>
                  <a:gd name="T21" fmla="*/ 1726 h 3374"/>
                  <a:gd name="T22" fmla="*/ 2497 w 3740"/>
                  <a:gd name="T23" fmla="*/ 2225 h 3374"/>
                  <a:gd name="T24" fmla="*/ 2997 w 3740"/>
                  <a:gd name="T25" fmla="*/ 2725 h 3374"/>
                  <a:gd name="T26" fmla="*/ 3496 w 3740"/>
                  <a:gd name="T27" fmla="*/ 2225 h 3374"/>
                  <a:gd name="T28" fmla="*/ 2997 w 3740"/>
                  <a:gd name="T29" fmla="*/ 1726 h 3374"/>
                  <a:gd name="T30" fmla="*/ 1748 w 3740"/>
                  <a:gd name="T31" fmla="*/ 3372 h 3374"/>
                  <a:gd name="T32" fmla="*/ 874 w 3740"/>
                  <a:gd name="T33" fmla="*/ 2498 h 3374"/>
                  <a:gd name="T34" fmla="*/ 0 w 3740"/>
                  <a:gd name="T35" fmla="*/ 3372 h 3374"/>
                  <a:gd name="T36" fmla="*/ 2906 w 3740"/>
                  <a:gd name="T37" fmla="*/ 1734 h 3374"/>
                  <a:gd name="T38" fmla="*/ 2123 w 3740"/>
                  <a:gd name="T39" fmla="*/ 1249 h 3374"/>
                  <a:gd name="T40" fmla="*/ 1453 w 3740"/>
                  <a:gd name="T41" fmla="*/ 1561 h 3374"/>
                  <a:gd name="T42" fmla="*/ 3740 w 3740"/>
                  <a:gd name="T43" fmla="*/ 3374 h 3374"/>
                  <a:gd name="T44" fmla="*/ 3740 w 3740"/>
                  <a:gd name="T45" fmla="*/ 3351 h 3374"/>
                  <a:gd name="T46" fmla="*/ 2997 w 3740"/>
                  <a:gd name="T47" fmla="*/ 2725 h 3374"/>
                  <a:gd name="T48" fmla="*/ 2253 w 3740"/>
                  <a:gd name="T49" fmla="*/ 3351 h 3374"/>
                  <a:gd name="T50" fmla="*/ 2253 w 3740"/>
                  <a:gd name="T51" fmla="*/ 3374 h 3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40" h="3374">
                    <a:moveTo>
                      <a:pt x="1498" y="1874"/>
                    </a:moveTo>
                    <a:cubicBezTo>
                      <a:pt x="1498" y="2218"/>
                      <a:pt x="1219" y="2498"/>
                      <a:pt x="874" y="2498"/>
                    </a:cubicBezTo>
                    <a:cubicBezTo>
                      <a:pt x="529" y="2498"/>
                      <a:pt x="250" y="2218"/>
                      <a:pt x="250" y="1874"/>
                    </a:cubicBezTo>
                    <a:cubicBezTo>
                      <a:pt x="250" y="1529"/>
                      <a:pt x="529" y="1249"/>
                      <a:pt x="874" y="1249"/>
                    </a:cubicBezTo>
                    <a:cubicBezTo>
                      <a:pt x="1219" y="1249"/>
                      <a:pt x="1498" y="1529"/>
                      <a:pt x="1498" y="1874"/>
                    </a:cubicBezTo>
                    <a:close/>
                    <a:moveTo>
                      <a:pt x="2123" y="0"/>
                    </a:moveTo>
                    <a:cubicBezTo>
                      <a:pt x="1778" y="0"/>
                      <a:pt x="1498" y="280"/>
                      <a:pt x="1498" y="625"/>
                    </a:cubicBezTo>
                    <a:cubicBezTo>
                      <a:pt x="1498" y="970"/>
                      <a:pt x="1778" y="1249"/>
                      <a:pt x="2123" y="1249"/>
                    </a:cubicBezTo>
                    <a:cubicBezTo>
                      <a:pt x="2468" y="1249"/>
                      <a:pt x="2747" y="970"/>
                      <a:pt x="2747" y="625"/>
                    </a:cubicBezTo>
                    <a:cubicBezTo>
                      <a:pt x="2747" y="280"/>
                      <a:pt x="2468" y="0"/>
                      <a:pt x="2123" y="0"/>
                    </a:cubicBezTo>
                    <a:close/>
                    <a:moveTo>
                      <a:pt x="2997" y="1726"/>
                    </a:moveTo>
                    <a:cubicBezTo>
                      <a:pt x="2721" y="1726"/>
                      <a:pt x="2497" y="1950"/>
                      <a:pt x="2497" y="2225"/>
                    </a:cubicBezTo>
                    <a:cubicBezTo>
                      <a:pt x="2497" y="2501"/>
                      <a:pt x="2721" y="2725"/>
                      <a:pt x="2997" y="2725"/>
                    </a:cubicBezTo>
                    <a:cubicBezTo>
                      <a:pt x="3273" y="2725"/>
                      <a:pt x="3496" y="2501"/>
                      <a:pt x="3496" y="2225"/>
                    </a:cubicBezTo>
                    <a:cubicBezTo>
                      <a:pt x="3496" y="1950"/>
                      <a:pt x="3273" y="1726"/>
                      <a:pt x="2997" y="1726"/>
                    </a:cubicBezTo>
                    <a:close/>
                    <a:moveTo>
                      <a:pt x="1748" y="3372"/>
                    </a:moveTo>
                    <a:cubicBezTo>
                      <a:pt x="1748" y="2889"/>
                      <a:pt x="1357" y="2498"/>
                      <a:pt x="874" y="2498"/>
                    </a:cubicBezTo>
                    <a:cubicBezTo>
                      <a:pt x="391" y="2498"/>
                      <a:pt x="0" y="2889"/>
                      <a:pt x="0" y="3372"/>
                    </a:cubicBezTo>
                    <a:moveTo>
                      <a:pt x="2906" y="1734"/>
                    </a:moveTo>
                    <a:cubicBezTo>
                      <a:pt x="2763" y="1447"/>
                      <a:pt x="2466" y="1249"/>
                      <a:pt x="2123" y="1249"/>
                    </a:cubicBezTo>
                    <a:cubicBezTo>
                      <a:pt x="1854" y="1249"/>
                      <a:pt x="1614" y="1370"/>
                      <a:pt x="1453" y="1561"/>
                    </a:cubicBezTo>
                    <a:moveTo>
                      <a:pt x="3740" y="3374"/>
                    </a:moveTo>
                    <a:cubicBezTo>
                      <a:pt x="3740" y="3351"/>
                      <a:pt x="3740" y="3351"/>
                      <a:pt x="3740" y="3351"/>
                    </a:cubicBezTo>
                    <a:cubicBezTo>
                      <a:pt x="3680" y="2996"/>
                      <a:pt x="3370" y="2725"/>
                      <a:pt x="2997" y="2725"/>
                    </a:cubicBezTo>
                    <a:cubicBezTo>
                      <a:pt x="2624" y="2725"/>
                      <a:pt x="2314" y="2995"/>
                      <a:pt x="2253" y="3351"/>
                    </a:cubicBezTo>
                    <a:cubicBezTo>
                      <a:pt x="2253" y="3374"/>
                      <a:pt x="2253" y="3374"/>
                      <a:pt x="2253" y="3374"/>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72" name="Oval 71">
                <a:extLst>
                  <a:ext uri="{FF2B5EF4-FFF2-40B4-BE49-F238E27FC236}">
                    <a16:creationId xmlns:a16="http://schemas.microsoft.com/office/drawing/2014/main" id="{96CE7BCE-0410-4657-BD39-4126982FDB65}"/>
                  </a:ext>
                </a:extLst>
              </p:cNvPr>
              <p:cNvSpPr/>
              <p:nvPr/>
            </p:nvSpPr>
            <p:spPr bwMode="auto">
              <a:xfrm>
                <a:off x="7465985" y="1525964"/>
                <a:ext cx="502920" cy="502920"/>
              </a:xfrm>
              <a:prstGeom prst="ellipse">
                <a:avLst/>
              </a:prstGeom>
              <a:noFill/>
              <a:ln w="158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70" name="arrow" title="Icon of an arrow">
              <a:extLst>
                <a:ext uri="{FF2B5EF4-FFF2-40B4-BE49-F238E27FC236}">
                  <a16:creationId xmlns:a16="http://schemas.microsoft.com/office/drawing/2014/main" id="{A17043E1-E0A1-4B2F-A421-A0AE50F1B155}"/>
                </a:ext>
              </a:extLst>
            </p:cNvPr>
            <p:cNvSpPr>
              <a:spLocks noChangeAspect="1" noEditPoints="1"/>
            </p:cNvSpPr>
            <p:nvPr/>
          </p:nvSpPr>
          <p:spPr bwMode="auto">
            <a:xfrm rot="16200000">
              <a:off x="11177036" y="1710151"/>
              <a:ext cx="162139" cy="149616"/>
            </a:xfrm>
            <a:custGeom>
              <a:avLst/>
              <a:gdLst>
                <a:gd name="T0" fmla="*/ 133 w 246"/>
                <a:gd name="T1" fmla="*/ 0 h 227"/>
                <a:gd name="T2" fmla="*/ 246 w 246"/>
                <a:gd name="T3" fmla="*/ 113 h 227"/>
                <a:gd name="T4" fmla="*/ 133 w 246"/>
                <a:gd name="T5" fmla="*/ 227 h 227"/>
                <a:gd name="T6" fmla="*/ 246 w 246"/>
                <a:gd name="T7" fmla="*/ 113 h 227"/>
                <a:gd name="T8" fmla="*/ 0 w 246"/>
                <a:gd name="T9" fmla="*/ 113 h 227"/>
              </a:gdLst>
              <a:ahLst/>
              <a:cxnLst>
                <a:cxn ang="0">
                  <a:pos x="T0" y="T1"/>
                </a:cxn>
                <a:cxn ang="0">
                  <a:pos x="T2" y="T3"/>
                </a:cxn>
                <a:cxn ang="0">
                  <a:pos x="T4" y="T5"/>
                </a:cxn>
                <a:cxn ang="0">
                  <a:pos x="T6" y="T7"/>
                </a:cxn>
                <a:cxn ang="0">
                  <a:pos x="T8" y="T9"/>
                </a:cxn>
              </a:cxnLst>
              <a:rect l="0" t="0" r="r" b="b"/>
              <a:pathLst>
                <a:path w="246" h="227">
                  <a:moveTo>
                    <a:pt x="133" y="0"/>
                  </a:moveTo>
                  <a:lnTo>
                    <a:pt x="246" y="113"/>
                  </a:lnTo>
                  <a:lnTo>
                    <a:pt x="133" y="227"/>
                  </a:lnTo>
                  <a:moveTo>
                    <a:pt x="246" y="113"/>
                  </a:moveTo>
                  <a:lnTo>
                    <a:pt x="0" y="113"/>
                  </a:lnTo>
                </a:path>
              </a:pathLst>
            </a:custGeom>
            <a:noFill/>
            <a:ln w="15875" cap="sq">
              <a:solidFill>
                <a:schemeClr val="accent2"/>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grpSp>
      <p:sp>
        <p:nvSpPr>
          <p:cNvPr id="23" name="Rectangle: Rounded Corners 22">
            <a:extLst>
              <a:ext uri="{FF2B5EF4-FFF2-40B4-BE49-F238E27FC236}">
                <a16:creationId xmlns:a16="http://schemas.microsoft.com/office/drawing/2014/main" id="{1720F097-F923-4C57-AA61-29C0DCF328AC}"/>
              </a:ext>
            </a:extLst>
          </p:cNvPr>
          <p:cNvSpPr/>
          <p:nvPr/>
        </p:nvSpPr>
        <p:spPr bwMode="auto">
          <a:xfrm>
            <a:off x="7701508" y="2720244"/>
            <a:ext cx="1634997" cy="1344982"/>
          </a:xfrm>
          <a:prstGeom prst="roundRect">
            <a:avLst/>
          </a:prstGeom>
          <a:solidFill>
            <a:schemeClr val="accent4">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Interaktivní přihlášení</a:t>
            </a:r>
          </a:p>
        </p:txBody>
      </p:sp>
      <p:sp>
        <p:nvSpPr>
          <p:cNvPr id="22" name="Commitments_EC4D" title="Icon of a handshake">
            <a:extLst>
              <a:ext uri="{FF2B5EF4-FFF2-40B4-BE49-F238E27FC236}">
                <a16:creationId xmlns:a16="http://schemas.microsoft.com/office/drawing/2014/main" id="{7CC4A499-24A5-4549-B9EE-5981874247DC}"/>
              </a:ext>
            </a:extLst>
          </p:cNvPr>
          <p:cNvSpPr>
            <a:spLocks noChangeAspect="1" noEditPoints="1"/>
          </p:cNvSpPr>
          <p:nvPr/>
        </p:nvSpPr>
        <p:spPr bwMode="auto">
          <a:xfrm>
            <a:off x="8307737" y="3445842"/>
            <a:ext cx="414108" cy="45757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dirty="0">
              <a:gradFill>
                <a:gsLst>
                  <a:gs pos="0">
                    <a:srgbClr val="505050"/>
                  </a:gs>
                  <a:gs pos="100000">
                    <a:srgbClr val="505050"/>
                  </a:gs>
                </a:gsLst>
                <a:lin ang="5400000" scaled="1"/>
              </a:gradFill>
            </a:endParaRPr>
          </a:p>
        </p:txBody>
      </p:sp>
      <p:cxnSp>
        <p:nvCxnSpPr>
          <p:cNvPr id="32" name="Straight Arrow Connector 31">
            <a:extLst>
              <a:ext uri="{FF2B5EF4-FFF2-40B4-BE49-F238E27FC236}">
                <a16:creationId xmlns:a16="http://schemas.microsoft.com/office/drawing/2014/main" id="{256E48CA-3343-4FD0-9473-2469C5DE2BE4}"/>
              </a:ext>
            </a:extLst>
          </p:cNvPr>
          <p:cNvCxnSpPr>
            <a:stCxn id="9" idx="3"/>
            <a:endCxn id="18" idx="1"/>
          </p:cNvCxnSpPr>
          <p:nvPr/>
        </p:nvCxnSpPr>
        <p:spPr>
          <a:xfrm flipV="1">
            <a:off x="3886200" y="2040486"/>
            <a:ext cx="3823027" cy="1444414"/>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99C1D95-B6BE-4125-9B96-39CF24E2EA08}"/>
              </a:ext>
            </a:extLst>
          </p:cNvPr>
          <p:cNvCxnSpPr>
            <a:cxnSpLocks/>
            <a:stCxn id="8" idx="3"/>
            <a:endCxn id="16" idx="1"/>
          </p:cNvCxnSpPr>
          <p:nvPr/>
        </p:nvCxnSpPr>
        <p:spPr>
          <a:xfrm flipV="1">
            <a:off x="3851673" y="4768427"/>
            <a:ext cx="3884494" cy="913784"/>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F577E42-2C45-45C8-8E67-4DB5477F2F5A}"/>
              </a:ext>
            </a:extLst>
          </p:cNvPr>
          <p:cNvCxnSpPr>
            <a:cxnSpLocks/>
            <a:endCxn id="17" idx="1"/>
          </p:cNvCxnSpPr>
          <p:nvPr/>
        </p:nvCxnSpPr>
        <p:spPr>
          <a:xfrm>
            <a:off x="3896549" y="5730026"/>
            <a:ext cx="3839618" cy="313711"/>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B27D748-BA12-439C-A472-220F74AE6313}"/>
              </a:ext>
            </a:extLst>
          </p:cNvPr>
          <p:cNvCxnSpPr>
            <a:cxnSpLocks/>
            <a:stCxn id="8" idx="3"/>
            <a:endCxn id="23" idx="1"/>
          </p:cNvCxnSpPr>
          <p:nvPr/>
        </p:nvCxnSpPr>
        <p:spPr>
          <a:xfrm flipV="1">
            <a:off x="3851673" y="3392735"/>
            <a:ext cx="3849835" cy="228947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C0ED4A3-5B50-4F5B-9D5F-2B7FB7D158D2}"/>
              </a:ext>
            </a:extLst>
          </p:cNvPr>
          <p:cNvCxnSpPr>
            <a:cxnSpLocks/>
            <a:stCxn id="8" idx="0"/>
            <a:endCxn id="9" idx="2"/>
          </p:cNvCxnSpPr>
          <p:nvPr/>
        </p:nvCxnSpPr>
        <p:spPr>
          <a:xfrm flipV="1">
            <a:off x="3019879" y="4097317"/>
            <a:ext cx="17263" cy="972477"/>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79800D2-8EA6-4153-B5CD-5124589E16F4}"/>
              </a:ext>
            </a:extLst>
          </p:cNvPr>
          <p:cNvCxnSpPr>
            <a:cxnSpLocks/>
            <a:stCxn id="9" idx="0"/>
            <a:endCxn id="12" idx="2"/>
          </p:cNvCxnSpPr>
          <p:nvPr/>
        </p:nvCxnSpPr>
        <p:spPr>
          <a:xfrm flipV="1">
            <a:off x="3037142" y="2627317"/>
            <a:ext cx="10714" cy="245166"/>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BDB95FBB-0B15-446E-83B0-99F28E216555}"/>
              </a:ext>
            </a:extLst>
          </p:cNvPr>
          <p:cNvSpPr/>
          <p:nvPr/>
        </p:nvSpPr>
        <p:spPr bwMode="auto">
          <a:xfrm>
            <a:off x="10859437" y="1482700"/>
            <a:ext cx="1310792" cy="2656114"/>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cs-CZ" sz="2400" dirty="0">
                <a:gradFill>
                  <a:gsLst>
                    <a:gs pos="0">
                      <a:srgbClr val="FFFFFF"/>
                    </a:gs>
                    <a:gs pos="100000">
                      <a:srgbClr val="FFFFFF"/>
                    </a:gs>
                  </a:gsLst>
                  <a:lin ang="5400000" scaled="0"/>
                </a:gradFill>
                <a:ea typeface="Segoe UI" pitchFamily="34" charset="0"/>
                <a:cs typeface="Segoe UI" pitchFamily="34" charset="0"/>
              </a:rPr>
              <a:t>ISZR</a:t>
            </a:r>
          </a:p>
        </p:txBody>
      </p:sp>
      <p:cxnSp>
        <p:nvCxnSpPr>
          <p:cNvPr id="84" name="Straight Arrow Connector 83">
            <a:extLst>
              <a:ext uri="{FF2B5EF4-FFF2-40B4-BE49-F238E27FC236}">
                <a16:creationId xmlns:a16="http://schemas.microsoft.com/office/drawing/2014/main" id="{65BBEE84-5E40-4253-B1D7-4BFF3EA2C11D}"/>
              </a:ext>
            </a:extLst>
          </p:cNvPr>
          <p:cNvCxnSpPr>
            <a:cxnSpLocks/>
            <a:stCxn id="18" idx="3"/>
            <a:endCxn id="82" idx="1"/>
          </p:cNvCxnSpPr>
          <p:nvPr/>
        </p:nvCxnSpPr>
        <p:spPr>
          <a:xfrm>
            <a:off x="9328787" y="2040486"/>
            <a:ext cx="1530650" cy="770271"/>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EA8758F-85E3-43D0-9CAC-0F0D7BA374E8}"/>
              </a:ext>
            </a:extLst>
          </p:cNvPr>
          <p:cNvCxnSpPr>
            <a:cxnSpLocks/>
            <a:stCxn id="23" idx="3"/>
            <a:endCxn id="82" idx="1"/>
          </p:cNvCxnSpPr>
          <p:nvPr/>
        </p:nvCxnSpPr>
        <p:spPr>
          <a:xfrm flipV="1">
            <a:off x="9336505" y="2810757"/>
            <a:ext cx="1522932" cy="581978"/>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Pentagon 3">
            <a:extLst>
              <a:ext uri="{FF2B5EF4-FFF2-40B4-BE49-F238E27FC236}">
                <a16:creationId xmlns:a16="http://schemas.microsoft.com/office/drawing/2014/main" id="{F044D0C4-03D2-435E-9DCD-C880843C83D7}"/>
              </a:ext>
            </a:extLst>
          </p:cNvPr>
          <p:cNvSpPr/>
          <p:nvPr/>
        </p:nvSpPr>
        <p:spPr bwMode="auto">
          <a:xfrm>
            <a:off x="4807004" y="2558512"/>
            <a:ext cx="318463" cy="283007"/>
          </a:xfrm>
          <a:prstGeom prst="pentag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Box 4">
            <a:extLst>
              <a:ext uri="{FF2B5EF4-FFF2-40B4-BE49-F238E27FC236}">
                <a16:creationId xmlns:a16="http://schemas.microsoft.com/office/drawing/2014/main" id="{BDB69F3E-C2E5-4166-A1E5-D941100D36F9}"/>
              </a:ext>
            </a:extLst>
          </p:cNvPr>
          <p:cNvSpPr txBox="1"/>
          <p:nvPr/>
        </p:nvSpPr>
        <p:spPr>
          <a:xfrm flipH="1">
            <a:off x="4683655" y="2724405"/>
            <a:ext cx="610501" cy="420115"/>
          </a:xfrm>
          <a:prstGeom prst="rect">
            <a:avLst/>
          </a:prstGeom>
          <a:noFill/>
        </p:spPr>
        <p:txBody>
          <a:bodyPr wrap="square" lIns="182880" tIns="146304" rIns="182880" bIns="146304" rtlCol="0">
            <a:spAutoFit/>
          </a:bodyPr>
          <a:lstStyle/>
          <a:p>
            <a:pPr>
              <a:lnSpc>
                <a:spcPct val="90000"/>
              </a:lnSpc>
              <a:spcAft>
                <a:spcPts val="600"/>
              </a:spcAft>
            </a:pPr>
            <a:r>
              <a:rPr lang="cs-CZ" sz="900" dirty="0">
                <a:gradFill>
                  <a:gsLst>
                    <a:gs pos="2917">
                      <a:schemeClr val="tx1"/>
                    </a:gs>
                    <a:gs pos="30000">
                      <a:schemeClr val="tx1"/>
                    </a:gs>
                  </a:gsLst>
                  <a:lin ang="5400000" scaled="0"/>
                </a:gradFill>
              </a:rPr>
              <a:t>JWT</a:t>
            </a:r>
          </a:p>
        </p:txBody>
      </p:sp>
      <p:sp>
        <p:nvSpPr>
          <p:cNvPr id="2" name="Oval 1">
            <a:extLst>
              <a:ext uri="{FF2B5EF4-FFF2-40B4-BE49-F238E27FC236}">
                <a16:creationId xmlns:a16="http://schemas.microsoft.com/office/drawing/2014/main" id="{969B7436-CD63-4C46-9CCF-435B79AF58F1}"/>
              </a:ext>
            </a:extLst>
          </p:cNvPr>
          <p:cNvSpPr/>
          <p:nvPr/>
        </p:nvSpPr>
        <p:spPr bwMode="auto">
          <a:xfrm>
            <a:off x="5271968" y="5682211"/>
            <a:ext cx="906609" cy="913784"/>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1h</a:t>
            </a:r>
          </a:p>
        </p:txBody>
      </p:sp>
      <p:sp>
        <p:nvSpPr>
          <p:cNvPr id="3" name="Oval 2">
            <a:extLst>
              <a:ext uri="{FF2B5EF4-FFF2-40B4-BE49-F238E27FC236}">
                <a16:creationId xmlns:a16="http://schemas.microsoft.com/office/drawing/2014/main" id="{49FA9864-87A0-4C3A-A34C-6D2DEB947D1F}"/>
              </a:ext>
            </a:extLst>
          </p:cNvPr>
          <p:cNvSpPr/>
          <p:nvPr/>
        </p:nvSpPr>
        <p:spPr bwMode="auto">
          <a:xfrm>
            <a:off x="5731764" y="2040485"/>
            <a:ext cx="1080638" cy="101355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24h</a:t>
            </a:r>
          </a:p>
        </p:txBody>
      </p:sp>
    </p:spTree>
    <p:extLst>
      <p:ext uri="{BB962C8B-B14F-4D97-AF65-F5344CB8AC3E}">
        <p14:creationId xmlns:p14="http://schemas.microsoft.com/office/powerpoint/2010/main" val="8045392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2C92042-7713-4C51-8C04-309D40641031}"/>
              </a:ext>
            </a:extLst>
          </p:cNvPr>
          <p:cNvSpPr/>
          <p:nvPr/>
        </p:nvSpPr>
        <p:spPr bwMode="auto">
          <a:xfrm>
            <a:off x="4504642" y="753661"/>
            <a:ext cx="2985180" cy="6060796"/>
          </a:xfrm>
          <a:prstGeom prst="roundRect">
            <a:avLst>
              <a:gd name="adj" fmla="val 2997"/>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solidFill>
                  <a:schemeClr val="tx2">
                    <a:lumMod val="75000"/>
                    <a:lumOff val="25000"/>
                  </a:schemeClr>
                </a:solidFill>
                <a:ea typeface="Segoe UI" pitchFamily="34" charset="0"/>
                <a:cs typeface="Segoe UI" pitchFamily="34" charset="0"/>
              </a:rPr>
              <a:t>Poskytovatel služby</a:t>
            </a:r>
          </a:p>
        </p:txBody>
      </p:sp>
      <p:sp>
        <p:nvSpPr>
          <p:cNvPr id="63" name="Title 62">
            <a:extLst>
              <a:ext uri="{FF2B5EF4-FFF2-40B4-BE49-F238E27FC236}">
                <a16:creationId xmlns:a16="http://schemas.microsoft.com/office/drawing/2014/main" id="{BB664752-5281-44BB-A019-58AA5F42AA85}"/>
              </a:ext>
            </a:extLst>
          </p:cNvPr>
          <p:cNvSpPr>
            <a:spLocks noGrp="1"/>
          </p:cNvSpPr>
          <p:nvPr>
            <p:ph type="title"/>
          </p:nvPr>
        </p:nvSpPr>
        <p:spPr/>
        <p:txBody>
          <a:bodyPr/>
          <a:lstStyle/>
          <a:p>
            <a:r>
              <a:rPr lang="cs-CZ" b="0" dirty="0"/>
              <a:t>Mobilní aplikace a API</a:t>
            </a:r>
            <a:endParaRPr lang="en-GB" b="0" dirty="0"/>
          </a:p>
        </p:txBody>
      </p:sp>
      <p:sp>
        <p:nvSpPr>
          <p:cNvPr id="8" name="Rectangle: Rounded Corners 7">
            <a:extLst>
              <a:ext uri="{FF2B5EF4-FFF2-40B4-BE49-F238E27FC236}">
                <a16:creationId xmlns:a16="http://schemas.microsoft.com/office/drawing/2014/main" id="{B2205858-3513-4AD3-8BB0-327920FCDFCF}"/>
              </a:ext>
            </a:extLst>
          </p:cNvPr>
          <p:cNvSpPr/>
          <p:nvPr/>
        </p:nvSpPr>
        <p:spPr bwMode="auto">
          <a:xfrm>
            <a:off x="4606523" y="4689370"/>
            <a:ext cx="2803657" cy="1896580"/>
          </a:xfrm>
          <a:prstGeom prst="roundRect">
            <a:avLst>
              <a:gd name="adj" fmla="val 3917"/>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Mobilní aplikace</a:t>
            </a:r>
          </a:p>
        </p:txBody>
      </p:sp>
      <p:sp>
        <p:nvSpPr>
          <p:cNvPr id="6" name="UniversalApp_E8CC" title="Icon of a cellphone in front of a tablet">
            <a:extLst>
              <a:ext uri="{FF2B5EF4-FFF2-40B4-BE49-F238E27FC236}">
                <a16:creationId xmlns:a16="http://schemas.microsoft.com/office/drawing/2014/main" id="{BCD1E41E-9934-4ECD-B97D-C68175E5A371}"/>
              </a:ext>
            </a:extLst>
          </p:cNvPr>
          <p:cNvSpPr>
            <a:spLocks noChangeAspect="1" noEditPoints="1"/>
          </p:cNvSpPr>
          <p:nvPr/>
        </p:nvSpPr>
        <p:spPr bwMode="auto">
          <a:xfrm flipH="1">
            <a:off x="5179488" y="6185811"/>
            <a:ext cx="179878" cy="131997"/>
          </a:xfrm>
          <a:custGeom>
            <a:avLst/>
            <a:gdLst>
              <a:gd name="T0" fmla="*/ 1250 w 3750"/>
              <a:gd name="T1" fmla="*/ 2750 h 2750"/>
              <a:gd name="T2" fmla="*/ 0 w 3750"/>
              <a:gd name="T3" fmla="*/ 2750 h 2750"/>
              <a:gd name="T4" fmla="*/ 0 w 3750"/>
              <a:gd name="T5" fmla="*/ 750 h 2750"/>
              <a:gd name="T6" fmla="*/ 1250 w 3750"/>
              <a:gd name="T7" fmla="*/ 750 h 2750"/>
              <a:gd name="T8" fmla="*/ 1250 w 3750"/>
              <a:gd name="T9" fmla="*/ 2750 h 2750"/>
              <a:gd name="T10" fmla="*/ 375 w 3750"/>
              <a:gd name="T11" fmla="*/ 2250 h 2750"/>
              <a:gd name="T12" fmla="*/ 875 w 3750"/>
              <a:gd name="T13" fmla="*/ 2250 h 2750"/>
              <a:gd name="T14" fmla="*/ 1875 w 3750"/>
              <a:gd name="T15" fmla="*/ 1750 h 2750"/>
              <a:gd name="T16" fmla="*/ 2375 w 3750"/>
              <a:gd name="T17" fmla="*/ 1750 h 2750"/>
              <a:gd name="T18" fmla="*/ 1250 w 3750"/>
              <a:gd name="T19" fmla="*/ 2250 h 2750"/>
              <a:gd name="T20" fmla="*/ 3625 w 3750"/>
              <a:gd name="T21" fmla="*/ 2250 h 2750"/>
              <a:gd name="T22" fmla="*/ 3750 w 3750"/>
              <a:gd name="T23" fmla="*/ 2125 h 2750"/>
              <a:gd name="T24" fmla="*/ 3750 w 3750"/>
              <a:gd name="T25" fmla="*/ 125 h 2750"/>
              <a:gd name="T26" fmla="*/ 3625 w 3750"/>
              <a:gd name="T27" fmla="*/ 0 h 2750"/>
              <a:gd name="T28" fmla="*/ 625 w 3750"/>
              <a:gd name="T29" fmla="*/ 0 h 2750"/>
              <a:gd name="T30" fmla="*/ 500 w 3750"/>
              <a:gd name="T31" fmla="*/ 125 h 2750"/>
              <a:gd name="T32" fmla="*/ 500 w 3750"/>
              <a:gd name="T33" fmla="*/ 75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50" h="2750">
                <a:moveTo>
                  <a:pt x="1250" y="2750"/>
                </a:moveTo>
                <a:cubicBezTo>
                  <a:pt x="0" y="2750"/>
                  <a:pt x="0" y="2750"/>
                  <a:pt x="0" y="2750"/>
                </a:cubicBezTo>
                <a:cubicBezTo>
                  <a:pt x="0" y="750"/>
                  <a:pt x="0" y="750"/>
                  <a:pt x="0" y="750"/>
                </a:cubicBezTo>
                <a:cubicBezTo>
                  <a:pt x="1250" y="750"/>
                  <a:pt x="1250" y="750"/>
                  <a:pt x="1250" y="750"/>
                </a:cubicBezTo>
                <a:lnTo>
                  <a:pt x="1250" y="2750"/>
                </a:lnTo>
                <a:close/>
                <a:moveTo>
                  <a:pt x="375" y="2250"/>
                </a:moveTo>
                <a:cubicBezTo>
                  <a:pt x="875" y="2250"/>
                  <a:pt x="875" y="2250"/>
                  <a:pt x="875" y="2250"/>
                </a:cubicBezTo>
                <a:moveTo>
                  <a:pt x="1875" y="1750"/>
                </a:moveTo>
                <a:cubicBezTo>
                  <a:pt x="2375" y="1750"/>
                  <a:pt x="2375" y="1750"/>
                  <a:pt x="2375" y="1750"/>
                </a:cubicBezTo>
                <a:moveTo>
                  <a:pt x="1250" y="2250"/>
                </a:moveTo>
                <a:cubicBezTo>
                  <a:pt x="3625" y="2250"/>
                  <a:pt x="3625" y="2250"/>
                  <a:pt x="3625" y="2250"/>
                </a:cubicBezTo>
                <a:cubicBezTo>
                  <a:pt x="3694" y="2250"/>
                  <a:pt x="3750" y="2194"/>
                  <a:pt x="3750" y="2125"/>
                </a:cubicBezTo>
                <a:cubicBezTo>
                  <a:pt x="3750" y="125"/>
                  <a:pt x="3750" y="125"/>
                  <a:pt x="3750" y="125"/>
                </a:cubicBezTo>
                <a:cubicBezTo>
                  <a:pt x="3750" y="56"/>
                  <a:pt x="3694" y="0"/>
                  <a:pt x="3625" y="0"/>
                </a:cubicBezTo>
                <a:cubicBezTo>
                  <a:pt x="625" y="0"/>
                  <a:pt x="625" y="0"/>
                  <a:pt x="625" y="0"/>
                </a:cubicBezTo>
                <a:cubicBezTo>
                  <a:pt x="556" y="0"/>
                  <a:pt x="500" y="56"/>
                  <a:pt x="500" y="125"/>
                </a:cubicBezTo>
                <a:cubicBezTo>
                  <a:pt x="500" y="750"/>
                  <a:pt x="500" y="750"/>
                  <a:pt x="500" y="750"/>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sz="900">
              <a:gradFill>
                <a:gsLst>
                  <a:gs pos="0">
                    <a:srgbClr val="505050"/>
                  </a:gs>
                  <a:gs pos="100000">
                    <a:srgbClr val="505050"/>
                  </a:gs>
                </a:gsLst>
              </a:gradFill>
            </a:endParaRPr>
          </a:p>
        </p:txBody>
      </p:sp>
      <p:grpSp>
        <p:nvGrpSpPr>
          <p:cNvPr id="11" name="Group 10">
            <a:extLst>
              <a:ext uri="{FF2B5EF4-FFF2-40B4-BE49-F238E27FC236}">
                <a16:creationId xmlns:a16="http://schemas.microsoft.com/office/drawing/2014/main" id="{D3C3160F-ADA5-427D-9658-EFABC61BDA18}"/>
              </a:ext>
            </a:extLst>
          </p:cNvPr>
          <p:cNvGrpSpPr/>
          <p:nvPr/>
        </p:nvGrpSpPr>
        <p:grpSpPr>
          <a:xfrm>
            <a:off x="5115688" y="2872483"/>
            <a:ext cx="1698116" cy="1224834"/>
            <a:chOff x="6357257" y="1849425"/>
            <a:chExt cx="1663589" cy="1224834"/>
          </a:xfrm>
        </p:grpSpPr>
        <p:sp>
          <p:nvSpPr>
            <p:cNvPr id="9" name="Rectangle: Rounded Corners 8">
              <a:extLst>
                <a:ext uri="{FF2B5EF4-FFF2-40B4-BE49-F238E27FC236}">
                  <a16:creationId xmlns:a16="http://schemas.microsoft.com/office/drawing/2014/main" id="{3674F749-349C-41D7-8093-C92A1C061D89}"/>
                </a:ext>
              </a:extLst>
            </p:cNvPr>
            <p:cNvSpPr/>
            <p:nvPr/>
          </p:nvSpPr>
          <p:spPr bwMode="auto">
            <a:xfrm>
              <a:off x="6357257" y="1849425"/>
              <a:ext cx="1663589" cy="1224834"/>
            </a:xfrm>
            <a:prstGeom prst="round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API</a:t>
              </a:r>
            </a:p>
          </p:txBody>
        </p:sp>
        <p:grpSp>
          <p:nvGrpSpPr>
            <p:cNvPr id="26" name="Group 25">
              <a:extLst>
                <a:ext uri="{FF2B5EF4-FFF2-40B4-BE49-F238E27FC236}">
                  <a16:creationId xmlns:a16="http://schemas.microsoft.com/office/drawing/2014/main" id="{49CA8D08-7977-4331-AB62-1C0EE52E2264}"/>
                </a:ext>
              </a:extLst>
            </p:cNvPr>
            <p:cNvGrpSpPr/>
            <p:nvPr/>
          </p:nvGrpSpPr>
          <p:grpSpPr>
            <a:xfrm>
              <a:off x="6879297" y="2030985"/>
              <a:ext cx="619507" cy="565502"/>
              <a:chOff x="7389516" y="3535988"/>
              <a:chExt cx="619595" cy="565582"/>
            </a:xfrm>
          </p:grpSpPr>
          <p:sp>
            <p:nvSpPr>
              <p:cNvPr id="27" name="Freeform 47">
                <a:extLst>
                  <a:ext uri="{FF2B5EF4-FFF2-40B4-BE49-F238E27FC236}">
                    <a16:creationId xmlns:a16="http://schemas.microsoft.com/office/drawing/2014/main" id="{B18AC8F6-3B82-42FC-9687-497C6E268F39}"/>
                  </a:ext>
                </a:extLst>
              </p:cNvPr>
              <p:cNvSpPr>
                <a:spLocks/>
              </p:cNvSpPr>
              <p:nvPr/>
            </p:nvSpPr>
            <p:spPr bwMode="auto">
              <a:xfrm>
                <a:off x="7389516" y="3535988"/>
                <a:ext cx="619595" cy="307425"/>
              </a:xfrm>
              <a:custGeom>
                <a:avLst/>
                <a:gdLst>
                  <a:gd name="T0" fmla="*/ 1037 w 1051"/>
                  <a:gd name="T1" fmla="*/ 189 h 522"/>
                  <a:gd name="T2" fmla="*/ 1014 w 1051"/>
                  <a:gd name="T3" fmla="*/ 201 h 522"/>
                  <a:gd name="T4" fmla="*/ 974 w 1051"/>
                  <a:gd name="T5" fmla="*/ 324 h 522"/>
                  <a:gd name="T6" fmla="*/ 504 w 1051"/>
                  <a:gd name="T7" fmla="*/ 0 h 522"/>
                  <a:gd name="T8" fmla="*/ 0 w 1051"/>
                  <a:gd name="T9" fmla="*/ 504 h 522"/>
                  <a:gd name="T10" fmla="*/ 18 w 1051"/>
                  <a:gd name="T11" fmla="*/ 522 h 522"/>
                  <a:gd name="T12" fmla="*/ 36 w 1051"/>
                  <a:gd name="T13" fmla="*/ 504 h 522"/>
                  <a:gd name="T14" fmla="*/ 504 w 1051"/>
                  <a:gd name="T15" fmla="*/ 36 h 522"/>
                  <a:gd name="T16" fmla="*/ 946 w 1051"/>
                  <a:gd name="T17" fmla="*/ 351 h 522"/>
                  <a:gd name="T18" fmla="*/ 807 w 1051"/>
                  <a:gd name="T19" fmla="*/ 307 h 522"/>
                  <a:gd name="T20" fmla="*/ 785 w 1051"/>
                  <a:gd name="T21" fmla="*/ 318 h 522"/>
                  <a:gd name="T22" fmla="*/ 796 w 1051"/>
                  <a:gd name="T23" fmla="*/ 341 h 522"/>
                  <a:gd name="T24" fmla="*/ 963 w 1051"/>
                  <a:gd name="T25" fmla="*/ 395 h 522"/>
                  <a:gd name="T26" fmla="*/ 978 w 1051"/>
                  <a:gd name="T27" fmla="*/ 398 h 522"/>
                  <a:gd name="T28" fmla="*/ 979 w 1051"/>
                  <a:gd name="T29" fmla="*/ 397 h 522"/>
                  <a:gd name="T30" fmla="*/ 992 w 1051"/>
                  <a:gd name="T31" fmla="*/ 385 h 522"/>
                  <a:gd name="T32" fmla="*/ 1048 w 1051"/>
                  <a:gd name="T33" fmla="*/ 212 h 522"/>
                  <a:gd name="T34" fmla="*/ 1037 w 1051"/>
                  <a:gd name="T35" fmla="*/ 189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1" h="522">
                    <a:moveTo>
                      <a:pt x="1037" y="189"/>
                    </a:moveTo>
                    <a:cubicBezTo>
                      <a:pt x="1027" y="186"/>
                      <a:pt x="1017" y="192"/>
                      <a:pt x="1014" y="201"/>
                    </a:cubicBezTo>
                    <a:cubicBezTo>
                      <a:pt x="974" y="324"/>
                      <a:pt x="974" y="324"/>
                      <a:pt x="974" y="324"/>
                    </a:cubicBezTo>
                    <a:cubicBezTo>
                      <a:pt x="901" y="131"/>
                      <a:pt x="714" y="0"/>
                      <a:pt x="504" y="0"/>
                    </a:cubicBezTo>
                    <a:cubicBezTo>
                      <a:pt x="226" y="0"/>
                      <a:pt x="0" y="226"/>
                      <a:pt x="0" y="504"/>
                    </a:cubicBezTo>
                    <a:cubicBezTo>
                      <a:pt x="0" y="514"/>
                      <a:pt x="8" y="522"/>
                      <a:pt x="18" y="522"/>
                    </a:cubicBezTo>
                    <a:cubicBezTo>
                      <a:pt x="28" y="522"/>
                      <a:pt x="36" y="514"/>
                      <a:pt x="36" y="504"/>
                    </a:cubicBezTo>
                    <a:cubicBezTo>
                      <a:pt x="36" y="246"/>
                      <a:pt x="246" y="36"/>
                      <a:pt x="504" y="36"/>
                    </a:cubicBezTo>
                    <a:cubicBezTo>
                      <a:pt x="704" y="36"/>
                      <a:pt x="882" y="164"/>
                      <a:pt x="946" y="351"/>
                    </a:cubicBezTo>
                    <a:cubicBezTo>
                      <a:pt x="807" y="307"/>
                      <a:pt x="807" y="307"/>
                      <a:pt x="807" y="307"/>
                    </a:cubicBezTo>
                    <a:cubicBezTo>
                      <a:pt x="798" y="303"/>
                      <a:pt x="788" y="309"/>
                      <a:pt x="785" y="318"/>
                    </a:cubicBezTo>
                    <a:cubicBezTo>
                      <a:pt x="782" y="328"/>
                      <a:pt x="787" y="338"/>
                      <a:pt x="796" y="341"/>
                    </a:cubicBezTo>
                    <a:cubicBezTo>
                      <a:pt x="963" y="395"/>
                      <a:pt x="963" y="395"/>
                      <a:pt x="963" y="395"/>
                    </a:cubicBezTo>
                    <a:cubicBezTo>
                      <a:pt x="967" y="398"/>
                      <a:pt x="973" y="399"/>
                      <a:pt x="978" y="398"/>
                    </a:cubicBezTo>
                    <a:cubicBezTo>
                      <a:pt x="978" y="397"/>
                      <a:pt x="979" y="397"/>
                      <a:pt x="979" y="397"/>
                    </a:cubicBezTo>
                    <a:cubicBezTo>
                      <a:pt x="985" y="396"/>
                      <a:pt x="990" y="392"/>
                      <a:pt x="992" y="385"/>
                    </a:cubicBezTo>
                    <a:cubicBezTo>
                      <a:pt x="1048" y="212"/>
                      <a:pt x="1048" y="212"/>
                      <a:pt x="1048" y="212"/>
                    </a:cubicBezTo>
                    <a:cubicBezTo>
                      <a:pt x="1051" y="203"/>
                      <a:pt x="1046" y="192"/>
                      <a:pt x="1037" y="189"/>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8" name="Freeform 48">
                <a:extLst>
                  <a:ext uri="{FF2B5EF4-FFF2-40B4-BE49-F238E27FC236}">
                    <a16:creationId xmlns:a16="http://schemas.microsoft.com/office/drawing/2014/main" id="{3DB560B1-D67E-415A-B409-4473772793AE}"/>
                  </a:ext>
                </a:extLst>
              </p:cNvPr>
              <p:cNvSpPr>
                <a:spLocks/>
              </p:cNvSpPr>
              <p:nvPr/>
            </p:nvSpPr>
            <p:spPr bwMode="auto">
              <a:xfrm>
                <a:off x="7389516" y="3794145"/>
                <a:ext cx="619595" cy="307425"/>
              </a:xfrm>
              <a:custGeom>
                <a:avLst/>
                <a:gdLst>
                  <a:gd name="T0" fmla="*/ 1033 w 1051"/>
                  <a:gd name="T1" fmla="*/ 0 h 522"/>
                  <a:gd name="T2" fmla="*/ 1015 w 1051"/>
                  <a:gd name="T3" fmla="*/ 18 h 522"/>
                  <a:gd name="T4" fmla="*/ 547 w 1051"/>
                  <a:gd name="T5" fmla="*/ 486 h 522"/>
                  <a:gd name="T6" fmla="*/ 105 w 1051"/>
                  <a:gd name="T7" fmla="*/ 170 h 522"/>
                  <a:gd name="T8" fmla="*/ 244 w 1051"/>
                  <a:gd name="T9" fmla="*/ 215 h 522"/>
                  <a:gd name="T10" fmla="*/ 266 w 1051"/>
                  <a:gd name="T11" fmla="*/ 204 h 522"/>
                  <a:gd name="T12" fmla="*/ 255 w 1051"/>
                  <a:gd name="T13" fmla="*/ 181 h 522"/>
                  <a:gd name="T14" fmla="*/ 88 w 1051"/>
                  <a:gd name="T15" fmla="*/ 127 h 522"/>
                  <a:gd name="T16" fmla="*/ 73 w 1051"/>
                  <a:gd name="T17" fmla="*/ 124 h 522"/>
                  <a:gd name="T18" fmla="*/ 72 w 1051"/>
                  <a:gd name="T19" fmla="*/ 124 h 522"/>
                  <a:gd name="T20" fmla="*/ 59 w 1051"/>
                  <a:gd name="T21" fmla="*/ 136 h 522"/>
                  <a:gd name="T22" fmla="*/ 3 w 1051"/>
                  <a:gd name="T23" fmla="*/ 310 h 522"/>
                  <a:gd name="T24" fmla="*/ 14 w 1051"/>
                  <a:gd name="T25" fmla="*/ 332 h 522"/>
                  <a:gd name="T26" fmla="*/ 20 w 1051"/>
                  <a:gd name="T27" fmla="*/ 333 h 522"/>
                  <a:gd name="T28" fmla="*/ 37 w 1051"/>
                  <a:gd name="T29" fmla="*/ 321 h 522"/>
                  <a:gd name="T30" fmla="*/ 77 w 1051"/>
                  <a:gd name="T31" fmla="*/ 198 h 522"/>
                  <a:gd name="T32" fmla="*/ 547 w 1051"/>
                  <a:gd name="T33" fmla="*/ 522 h 522"/>
                  <a:gd name="T34" fmla="*/ 1051 w 1051"/>
                  <a:gd name="T35" fmla="*/ 18 h 522"/>
                  <a:gd name="T36" fmla="*/ 1033 w 1051"/>
                  <a:gd name="T37"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1" h="522">
                    <a:moveTo>
                      <a:pt x="1033" y="0"/>
                    </a:moveTo>
                    <a:cubicBezTo>
                      <a:pt x="1023" y="0"/>
                      <a:pt x="1015" y="8"/>
                      <a:pt x="1015" y="18"/>
                    </a:cubicBezTo>
                    <a:cubicBezTo>
                      <a:pt x="1015" y="276"/>
                      <a:pt x="805" y="486"/>
                      <a:pt x="547" y="486"/>
                    </a:cubicBezTo>
                    <a:cubicBezTo>
                      <a:pt x="346" y="486"/>
                      <a:pt x="169" y="358"/>
                      <a:pt x="105" y="170"/>
                    </a:cubicBezTo>
                    <a:cubicBezTo>
                      <a:pt x="244" y="215"/>
                      <a:pt x="244" y="215"/>
                      <a:pt x="244" y="215"/>
                    </a:cubicBezTo>
                    <a:cubicBezTo>
                      <a:pt x="253" y="218"/>
                      <a:pt x="263" y="213"/>
                      <a:pt x="266" y="204"/>
                    </a:cubicBezTo>
                    <a:cubicBezTo>
                      <a:pt x="269" y="194"/>
                      <a:pt x="264" y="184"/>
                      <a:pt x="255" y="181"/>
                    </a:cubicBezTo>
                    <a:cubicBezTo>
                      <a:pt x="88" y="127"/>
                      <a:pt x="88" y="127"/>
                      <a:pt x="88" y="127"/>
                    </a:cubicBezTo>
                    <a:cubicBezTo>
                      <a:pt x="84" y="124"/>
                      <a:pt x="78" y="123"/>
                      <a:pt x="73" y="124"/>
                    </a:cubicBezTo>
                    <a:cubicBezTo>
                      <a:pt x="73" y="124"/>
                      <a:pt x="72" y="124"/>
                      <a:pt x="72" y="124"/>
                    </a:cubicBezTo>
                    <a:cubicBezTo>
                      <a:pt x="66" y="126"/>
                      <a:pt x="61" y="130"/>
                      <a:pt x="59" y="136"/>
                    </a:cubicBezTo>
                    <a:cubicBezTo>
                      <a:pt x="3" y="310"/>
                      <a:pt x="3" y="310"/>
                      <a:pt x="3" y="310"/>
                    </a:cubicBezTo>
                    <a:cubicBezTo>
                      <a:pt x="0" y="319"/>
                      <a:pt x="5" y="329"/>
                      <a:pt x="14" y="332"/>
                    </a:cubicBezTo>
                    <a:cubicBezTo>
                      <a:pt x="16" y="333"/>
                      <a:pt x="18" y="333"/>
                      <a:pt x="20" y="333"/>
                    </a:cubicBezTo>
                    <a:cubicBezTo>
                      <a:pt x="27" y="333"/>
                      <a:pt x="34" y="328"/>
                      <a:pt x="37" y="321"/>
                    </a:cubicBezTo>
                    <a:cubicBezTo>
                      <a:pt x="77" y="198"/>
                      <a:pt x="77" y="198"/>
                      <a:pt x="77" y="198"/>
                    </a:cubicBezTo>
                    <a:cubicBezTo>
                      <a:pt x="150" y="391"/>
                      <a:pt x="337" y="522"/>
                      <a:pt x="547" y="522"/>
                    </a:cubicBezTo>
                    <a:cubicBezTo>
                      <a:pt x="825" y="522"/>
                      <a:pt x="1051" y="296"/>
                      <a:pt x="1051" y="18"/>
                    </a:cubicBezTo>
                    <a:cubicBezTo>
                      <a:pt x="1051" y="8"/>
                      <a:pt x="1043" y="0"/>
                      <a:pt x="1033" y="0"/>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9" name="Processing_E9F5" title="Icon of two interlocked gears">
                <a:extLst>
                  <a:ext uri="{FF2B5EF4-FFF2-40B4-BE49-F238E27FC236}">
                    <a16:creationId xmlns:a16="http://schemas.microsoft.com/office/drawing/2014/main" id="{C40E11B4-9E32-4889-9022-14B5999DEF4F}"/>
                  </a:ext>
                </a:extLst>
              </p:cNvPr>
              <p:cNvSpPr>
                <a:spLocks noChangeAspect="1" noEditPoints="1"/>
              </p:cNvSpPr>
              <p:nvPr/>
            </p:nvSpPr>
            <p:spPr bwMode="auto">
              <a:xfrm>
                <a:off x="7528874" y="3675608"/>
                <a:ext cx="340879" cy="296883"/>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dirty="0"/>
              </a:p>
            </p:txBody>
          </p:sp>
        </p:grpSp>
      </p:grpSp>
      <p:grpSp>
        <p:nvGrpSpPr>
          <p:cNvPr id="14" name="Group 13">
            <a:extLst>
              <a:ext uri="{FF2B5EF4-FFF2-40B4-BE49-F238E27FC236}">
                <a16:creationId xmlns:a16="http://schemas.microsoft.com/office/drawing/2014/main" id="{E628AD01-A580-4DFF-B83C-12DDC42B8C29}"/>
              </a:ext>
            </a:extLst>
          </p:cNvPr>
          <p:cNvGrpSpPr/>
          <p:nvPr/>
        </p:nvGrpSpPr>
        <p:grpSpPr>
          <a:xfrm>
            <a:off x="5023812" y="1441242"/>
            <a:ext cx="1903295" cy="1186075"/>
            <a:chOff x="3505200" y="1164770"/>
            <a:chExt cx="1903295" cy="1186075"/>
          </a:xfrm>
        </p:grpSpPr>
        <p:sp>
          <p:nvSpPr>
            <p:cNvPr id="12" name="Rectangle: Rounded Corners 11">
              <a:extLst>
                <a:ext uri="{FF2B5EF4-FFF2-40B4-BE49-F238E27FC236}">
                  <a16:creationId xmlns:a16="http://schemas.microsoft.com/office/drawing/2014/main" id="{BD7B674C-F88D-485B-9262-0523D825ECA7}"/>
                </a:ext>
              </a:extLst>
            </p:cNvPr>
            <p:cNvSpPr/>
            <p:nvPr/>
          </p:nvSpPr>
          <p:spPr bwMode="auto">
            <a:xfrm>
              <a:off x="3505200" y="1164770"/>
              <a:ext cx="1903295" cy="1186075"/>
            </a:xfrm>
            <a:prstGeom prst="round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Informační systém</a:t>
              </a:r>
            </a:p>
          </p:txBody>
        </p:sp>
        <p:sp>
          <p:nvSpPr>
            <p:cNvPr id="13" name="Flowchart: Magnetic Disk 12">
              <a:extLst>
                <a:ext uri="{FF2B5EF4-FFF2-40B4-BE49-F238E27FC236}">
                  <a16:creationId xmlns:a16="http://schemas.microsoft.com/office/drawing/2014/main" id="{E5EA2CF4-B711-4DFC-AE60-D7572BB66BF0}"/>
                </a:ext>
              </a:extLst>
            </p:cNvPr>
            <p:cNvSpPr/>
            <p:nvPr/>
          </p:nvSpPr>
          <p:spPr bwMode="auto">
            <a:xfrm>
              <a:off x="4152157" y="1883153"/>
              <a:ext cx="609380" cy="256166"/>
            </a:xfrm>
            <a:prstGeom prst="flowChartMagneticDisk">
              <a:avLst/>
            </a:prstGeom>
            <a:solidFill>
              <a:schemeClr val="accent4">
                <a:lumMod val="60000"/>
                <a:lumOff val="40000"/>
              </a:schemeClr>
            </a:solidFill>
            <a:ln>
              <a:solidFill>
                <a:schemeClr val="accent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23" name="Rectangle: Rounded Corners 22">
            <a:extLst>
              <a:ext uri="{FF2B5EF4-FFF2-40B4-BE49-F238E27FC236}">
                <a16:creationId xmlns:a16="http://schemas.microsoft.com/office/drawing/2014/main" id="{1720F097-F923-4C57-AA61-29C0DCF328AC}"/>
              </a:ext>
            </a:extLst>
          </p:cNvPr>
          <p:cNvSpPr/>
          <p:nvPr/>
        </p:nvSpPr>
        <p:spPr bwMode="auto">
          <a:xfrm>
            <a:off x="6008353" y="5424491"/>
            <a:ext cx="1357594" cy="592053"/>
          </a:xfrm>
          <a:prstGeom prst="roundRect">
            <a:avLst/>
          </a:prstGeom>
          <a:solidFill>
            <a:schemeClr val="accent6">
              <a:lumMod val="50000"/>
            </a:schemeClr>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pPr>
            <a:r>
              <a:rPr lang="cs-CZ" sz="1000" dirty="0">
                <a:gradFill>
                  <a:gsLst>
                    <a:gs pos="0">
                      <a:srgbClr val="FFFFFF"/>
                    </a:gs>
                    <a:gs pos="100000">
                      <a:srgbClr val="FFFFFF"/>
                    </a:gs>
                  </a:gsLst>
                  <a:lin ang="5400000" scaled="0"/>
                </a:gradFill>
                <a:cs typeface="Segoe UI" pitchFamily="34" charset="0"/>
              </a:rPr>
              <a:t>Údaje z registrace NIA</a:t>
            </a:r>
          </a:p>
        </p:txBody>
      </p:sp>
      <p:cxnSp>
        <p:nvCxnSpPr>
          <p:cNvPr id="49" name="Straight Arrow Connector 48">
            <a:extLst>
              <a:ext uri="{FF2B5EF4-FFF2-40B4-BE49-F238E27FC236}">
                <a16:creationId xmlns:a16="http://schemas.microsoft.com/office/drawing/2014/main" id="{2C0ED4A3-5B50-4F5B-9D5F-2B7FB7D158D2}"/>
              </a:ext>
            </a:extLst>
          </p:cNvPr>
          <p:cNvCxnSpPr>
            <a:cxnSpLocks/>
            <a:stCxn id="8" idx="0"/>
            <a:endCxn id="9" idx="2"/>
          </p:cNvCxnSpPr>
          <p:nvPr/>
        </p:nvCxnSpPr>
        <p:spPr>
          <a:xfrm flipH="1" flipV="1">
            <a:off x="5964746" y="4097317"/>
            <a:ext cx="43606" cy="592053"/>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79800D2-8EA6-4153-B5CD-5124589E16F4}"/>
              </a:ext>
            </a:extLst>
          </p:cNvPr>
          <p:cNvCxnSpPr>
            <a:cxnSpLocks/>
            <a:stCxn id="9" idx="0"/>
            <a:endCxn id="12" idx="2"/>
          </p:cNvCxnSpPr>
          <p:nvPr/>
        </p:nvCxnSpPr>
        <p:spPr>
          <a:xfrm flipV="1">
            <a:off x="5964746" y="2627317"/>
            <a:ext cx="10714" cy="245166"/>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DB5236E1-826D-4B7A-A88C-856EA2D0A9EF}"/>
              </a:ext>
            </a:extLst>
          </p:cNvPr>
          <p:cNvSpPr/>
          <p:nvPr/>
        </p:nvSpPr>
        <p:spPr bwMode="auto">
          <a:xfrm>
            <a:off x="6008353" y="4740881"/>
            <a:ext cx="1357594" cy="592052"/>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pPr>
            <a:r>
              <a:rPr lang="cs-CZ" sz="1000" dirty="0">
                <a:gradFill>
                  <a:gsLst>
                    <a:gs pos="0">
                      <a:srgbClr val="FFFFFF"/>
                    </a:gs>
                    <a:gs pos="100000">
                      <a:srgbClr val="FFFFFF"/>
                    </a:gs>
                  </a:gsLst>
                  <a:lin ang="5400000" scaled="0"/>
                </a:gradFill>
                <a:ea typeface="Segoe UI" pitchFamily="34" charset="0"/>
                <a:cs typeface="Segoe UI" pitchFamily="34" charset="0"/>
              </a:rPr>
              <a:t>API přihlašovací údaje</a:t>
            </a:r>
          </a:p>
        </p:txBody>
      </p:sp>
      <p:sp>
        <p:nvSpPr>
          <p:cNvPr id="98" name="Rectangle: Rounded Corners 97">
            <a:extLst>
              <a:ext uri="{FF2B5EF4-FFF2-40B4-BE49-F238E27FC236}">
                <a16:creationId xmlns:a16="http://schemas.microsoft.com/office/drawing/2014/main" id="{52811FDF-4202-4C6C-92C1-CA595435A3B9}"/>
              </a:ext>
            </a:extLst>
          </p:cNvPr>
          <p:cNvSpPr/>
          <p:nvPr/>
        </p:nvSpPr>
        <p:spPr bwMode="auto">
          <a:xfrm>
            <a:off x="4684919" y="4740881"/>
            <a:ext cx="1279827" cy="1271590"/>
          </a:xfrm>
          <a:prstGeom prst="roundRect">
            <a:avLst>
              <a:gd name="adj" fmla="val 7558"/>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pPr>
            <a:r>
              <a:rPr lang="cs-CZ" sz="1000" dirty="0">
                <a:gradFill>
                  <a:gsLst>
                    <a:gs pos="0">
                      <a:srgbClr val="FFFFFF"/>
                    </a:gs>
                    <a:gs pos="100000">
                      <a:srgbClr val="FFFFFF"/>
                    </a:gs>
                  </a:gsLst>
                  <a:lin ang="5400000" scaled="0"/>
                </a:gradFill>
                <a:ea typeface="Segoe UI" pitchFamily="34" charset="0"/>
                <a:cs typeface="Segoe UI" pitchFamily="34" charset="0"/>
              </a:rPr>
              <a:t>Logika aplikace</a:t>
            </a:r>
          </a:p>
          <a:p>
            <a:pPr algn="ctr" defTabSz="932472" fontAlgn="base">
              <a:spcBef>
                <a:spcPct val="0"/>
              </a:spcBef>
              <a:spcAft>
                <a:spcPts val="600"/>
              </a:spcAft>
            </a:pPr>
            <a:r>
              <a:rPr lang="cs-CZ" sz="1000" dirty="0">
                <a:gradFill>
                  <a:gsLst>
                    <a:gs pos="0">
                      <a:srgbClr val="FFFFFF"/>
                    </a:gs>
                    <a:gs pos="100000">
                      <a:srgbClr val="FFFFFF"/>
                    </a:gs>
                  </a:gsLst>
                  <a:lin ang="5400000" scaled="0"/>
                </a:gradFill>
                <a:ea typeface="Segoe UI" pitchFamily="34" charset="0"/>
                <a:cs typeface="Segoe UI" pitchFamily="34" charset="0"/>
              </a:rPr>
              <a:t>a </a:t>
            </a:r>
          </a:p>
          <a:p>
            <a:pPr algn="ctr" defTabSz="932472" fontAlgn="base">
              <a:spcBef>
                <a:spcPct val="0"/>
              </a:spcBef>
              <a:spcAft>
                <a:spcPts val="600"/>
              </a:spcAft>
            </a:pPr>
            <a:r>
              <a:rPr lang="cs-CZ" sz="1000" dirty="0">
                <a:gradFill>
                  <a:gsLst>
                    <a:gs pos="0">
                      <a:srgbClr val="FFFFFF"/>
                    </a:gs>
                    <a:gs pos="100000">
                      <a:srgbClr val="FFFFFF"/>
                    </a:gs>
                  </a:gsLst>
                  <a:lin ang="5400000" scaled="0"/>
                </a:gradFill>
                <a:ea typeface="Segoe UI" pitchFamily="34" charset="0"/>
                <a:cs typeface="Segoe UI" pitchFamily="34" charset="0"/>
              </a:rPr>
              <a:t>aplikační data</a:t>
            </a:r>
          </a:p>
        </p:txBody>
      </p:sp>
      <p:sp>
        <p:nvSpPr>
          <p:cNvPr id="100" name="Rectangle: Rounded Corners 99">
            <a:extLst>
              <a:ext uri="{FF2B5EF4-FFF2-40B4-BE49-F238E27FC236}">
                <a16:creationId xmlns:a16="http://schemas.microsoft.com/office/drawing/2014/main" id="{FEC7773B-9E9D-47D0-AD8E-09E38A951A61}"/>
              </a:ext>
            </a:extLst>
          </p:cNvPr>
          <p:cNvSpPr/>
          <p:nvPr/>
        </p:nvSpPr>
        <p:spPr bwMode="auto">
          <a:xfrm>
            <a:off x="2525486" y="3944767"/>
            <a:ext cx="1573075" cy="1446054"/>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cs-CZ" sz="1600" dirty="0">
                <a:gradFill>
                  <a:gsLst>
                    <a:gs pos="0">
                      <a:srgbClr val="FFFFFF"/>
                    </a:gs>
                    <a:gs pos="100000">
                      <a:srgbClr val="FFFFFF"/>
                    </a:gs>
                  </a:gsLst>
                  <a:lin ang="5400000" scaled="0"/>
                </a:gradFill>
                <a:ea typeface="Segoe UI" pitchFamily="34" charset="0"/>
                <a:cs typeface="Segoe UI" pitchFamily="34" charset="0"/>
              </a:rPr>
              <a:t>Notifikace do mobilní aplikace</a:t>
            </a:r>
          </a:p>
        </p:txBody>
      </p:sp>
      <p:cxnSp>
        <p:nvCxnSpPr>
          <p:cNvPr id="102" name="Straight Arrow Connector 101">
            <a:extLst>
              <a:ext uri="{FF2B5EF4-FFF2-40B4-BE49-F238E27FC236}">
                <a16:creationId xmlns:a16="http://schemas.microsoft.com/office/drawing/2014/main" id="{742F0A84-325A-472E-91F0-2C1A47149EB2}"/>
              </a:ext>
            </a:extLst>
          </p:cNvPr>
          <p:cNvCxnSpPr>
            <a:cxnSpLocks/>
            <a:stCxn id="100" idx="0"/>
            <a:endCxn id="9" idx="1"/>
          </p:cNvCxnSpPr>
          <p:nvPr/>
        </p:nvCxnSpPr>
        <p:spPr>
          <a:xfrm rot="5400000" flipH="1" flipV="1">
            <a:off x="3983923" y="2813002"/>
            <a:ext cx="459867" cy="1803664"/>
          </a:xfrm>
          <a:prstGeom prst="bentConnector2">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Arrow Connector 101">
            <a:extLst>
              <a:ext uri="{FF2B5EF4-FFF2-40B4-BE49-F238E27FC236}">
                <a16:creationId xmlns:a16="http://schemas.microsoft.com/office/drawing/2014/main" id="{456DF922-F262-43B4-903A-0A7ED7916322}"/>
              </a:ext>
            </a:extLst>
          </p:cNvPr>
          <p:cNvCxnSpPr>
            <a:cxnSpLocks/>
            <a:stCxn id="8" idx="1"/>
            <a:endCxn id="100" idx="2"/>
          </p:cNvCxnSpPr>
          <p:nvPr/>
        </p:nvCxnSpPr>
        <p:spPr>
          <a:xfrm rot="10800000">
            <a:off x="3312025" y="5390822"/>
            <a:ext cx="1294499" cy="246839"/>
          </a:xfrm>
          <a:prstGeom prst="bentConnector2">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952647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89028-2303-40A3-BBA7-EB223AA39507}"/>
              </a:ext>
            </a:extLst>
          </p:cNvPr>
          <p:cNvSpPr>
            <a:spLocks noGrp="1"/>
          </p:cNvSpPr>
          <p:nvPr>
            <p:ph type="title"/>
          </p:nvPr>
        </p:nvSpPr>
        <p:spPr/>
        <p:txBody>
          <a:bodyPr/>
          <a:lstStyle/>
          <a:p>
            <a:r>
              <a:rPr lang="cs-CZ" dirty="0"/>
              <a:t>Obecná registrace poskytovatele služeb na NIA</a:t>
            </a:r>
          </a:p>
        </p:txBody>
      </p:sp>
      <p:sp>
        <p:nvSpPr>
          <p:cNvPr id="3" name="Text Placeholder 2">
            <a:extLst>
              <a:ext uri="{FF2B5EF4-FFF2-40B4-BE49-F238E27FC236}">
                <a16:creationId xmlns:a16="http://schemas.microsoft.com/office/drawing/2014/main" id="{E951ADD8-694D-49E4-9418-E305107016EC}"/>
              </a:ext>
            </a:extLst>
          </p:cNvPr>
          <p:cNvSpPr>
            <a:spLocks noGrp="1"/>
          </p:cNvSpPr>
          <p:nvPr>
            <p:ph type="body" sz="quarter" idx="11"/>
          </p:nvPr>
        </p:nvSpPr>
        <p:spPr>
          <a:xfrm>
            <a:off x="274639" y="1212849"/>
            <a:ext cx="3581081" cy="3093154"/>
          </a:xfrm>
        </p:spPr>
        <p:txBody>
          <a:bodyPr/>
          <a:lstStyle/>
          <a:p>
            <a:r>
              <a:rPr lang="cs-CZ" sz="2000" dirty="0"/>
              <a:t>Zvýrazněny jsou klíčové části registrace</a:t>
            </a:r>
          </a:p>
          <a:p>
            <a:pPr marL="457200" indent="-457200">
              <a:buFont typeface="Arial" panose="020B0604020202020204" pitchFamily="34" charset="0"/>
              <a:buChar char="•"/>
            </a:pPr>
            <a:r>
              <a:rPr lang="cs-CZ" sz="2000" dirty="0" err="1"/>
              <a:t>Realm</a:t>
            </a:r>
            <a:r>
              <a:rPr lang="cs-CZ" sz="2000" dirty="0"/>
              <a:t> (unikátní URL)</a:t>
            </a:r>
          </a:p>
          <a:p>
            <a:pPr marL="457200" indent="-457200">
              <a:buFont typeface="Arial" panose="020B0604020202020204" pitchFamily="34" charset="0"/>
              <a:buChar char="•"/>
            </a:pPr>
            <a:r>
              <a:rPr lang="cs-CZ" sz="2000" dirty="0"/>
              <a:t>URL pro </a:t>
            </a:r>
            <a:r>
              <a:rPr lang="cs-CZ" sz="2000" dirty="0" err="1"/>
              <a:t>embedded</a:t>
            </a:r>
            <a:r>
              <a:rPr lang="cs-CZ" sz="2000" dirty="0"/>
              <a:t> browser pro odchycení Access tokenu</a:t>
            </a:r>
          </a:p>
          <a:p>
            <a:pPr marL="457200" indent="-457200">
              <a:buFont typeface="Arial" panose="020B0604020202020204" pitchFamily="34" charset="0"/>
              <a:buChar char="•"/>
            </a:pPr>
            <a:r>
              <a:rPr lang="cs-CZ" sz="2000" dirty="0"/>
              <a:t>URL pro odhlášení není používáno</a:t>
            </a:r>
          </a:p>
        </p:txBody>
      </p:sp>
      <p:graphicFrame>
        <p:nvGraphicFramePr>
          <p:cNvPr id="8" name="Object 7">
            <a:extLst>
              <a:ext uri="{FF2B5EF4-FFF2-40B4-BE49-F238E27FC236}">
                <a16:creationId xmlns:a16="http://schemas.microsoft.com/office/drawing/2014/main" id="{B7D06F8E-B4ED-4AF9-90DA-CCAE2329F0B5}"/>
              </a:ext>
            </a:extLst>
          </p:cNvPr>
          <p:cNvGraphicFramePr>
            <a:graphicFrameLocks noChangeAspect="1"/>
          </p:cNvGraphicFramePr>
          <p:nvPr>
            <p:extLst>
              <p:ext uri="{D42A27DB-BD31-4B8C-83A1-F6EECF244321}">
                <p14:modId xmlns:p14="http://schemas.microsoft.com/office/powerpoint/2010/main" val="2523772885"/>
              </p:ext>
            </p:extLst>
          </p:nvPr>
        </p:nvGraphicFramePr>
        <p:xfrm>
          <a:off x="3950334" y="599441"/>
          <a:ext cx="8315325" cy="6200775"/>
        </p:xfrm>
        <a:graphic>
          <a:graphicData uri="http://schemas.openxmlformats.org/presentationml/2006/ole">
            <mc:AlternateContent xmlns:mc="http://schemas.openxmlformats.org/markup-compatibility/2006">
              <mc:Choice xmlns:v="urn:schemas-microsoft-com:vml" Requires="v">
                <p:oleObj spid="_x0000_s2072" name="Rastrový obrázek" r:id="rId3" imgW="8315280" imgH="6200640" progId="Paint.Picture">
                  <p:embed/>
                </p:oleObj>
              </mc:Choice>
              <mc:Fallback>
                <p:oleObj name="Rastrový obrázek" r:id="rId3" imgW="8315280" imgH="6200640" progId="Paint.Picture">
                  <p:embed/>
                  <p:pic>
                    <p:nvPicPr>
                      <p:cNvPr id="0" name=""/>
                      <p:cNvPicPr/>
                      <p:nvPr/>
                    </p:nvPicPr>
                    <p:blipFill>
                      <a:blip r:embed="rId4"/>
                      <a:stretch>
                        <a:fillRect/>
                      </a:stretch>
                    </p:blipFill>
                    <p:spPr>
                      <a:xfrm>
                        <a:off x="3950334" y="599441"/>
                        <a:ext cx="8315325" cy="6200775"/>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7E8A7888-6607-48C1-BA9E-600F4811C5A0}"/>
              </a:ext>
            </a:extLst>
          </p:cNvPr>
          <p:cNvSpPr txBox="1"/>
          <p:nvPr/>
        </p:nvSpPr>
        <p:spPr>
          <a:xfrm>
            <a:off x="7489515" y="4949851"/>
            <a:ext cx="2236831" cy="489365"/>
          </a:xfrm>
          <a:prstGeom prst="rect">
            <a:avLst/>
          </a:prstGeom>
          <a:noFill/>
        </p:spPr>
        <p:txBody>
          <a:bodyPr wrap="none" lIns="182880" tIns="146304" rIns="182880" bIns="146304" rtlCol="0">
            <a:spAutoFit/>
          </a:bodyPr>
          <a:lstStyle/>
          <a:p>
            <a:pPr>
              <a:lnSpc>
                <a:spcPct val="90000"/>
              </a:lnSpc>
              <a:spcAft>
                <a:spcPts val="600"/>
              </a:spcAft>
            </a:pPr>
            <a:r>
              <a:rPr lang="cs-CZ" sz="1400" dirty="0">
                <a:gradFill>
                  <a:gsLst>
                    <a:gs pos="2917">
                      <a:schemeClr val="tx1"/>
                    </a:gs>
                    <a:gs pos="30000">
                      <a:schemeClr val="tx1"/>
                    </a:gs>
                  </a:gsLst>
                  <a:lin ang="5400000" scaled="0"/>
                </a:gradFill>
              </a:rPr>
              <a:t>https://mojeapp.xxx.yyy</a:t>
            </a:r>
          </a:p>
        </p:txBody>
      </p:sp>
      <p:sp>
        <p:nvSpPr>
          <p:cNvPr id="11" name="TextBox 10">
            <a:extLst>
              <a:ext uri="{FF2B5EF4-FFF2-40B4-BE49-F238E27FC236}">
                <a16:creationId xmlns:a16="http://schemas.microsoft.com/office/drawing/2014/main" id="{3D9E0F48-FD62-4908-8E78-665BBF362B84}"/>
              </a:ext>
            </a:extLst>
          </p:cNvPr>
          <p:cNvSpPr txBox="1"/>
          <p:nvPr/>
        </p:nvSpPr>
        <p:spPr>
          <a:xfrm>
            <a:off x="7481957" y="5400782"/>
            <a:ext cx="2860207" cy="489365"/>
          </a:xfrm>
          <a:prstGeom prst="rect">
            <a:avLst/>
          </a:prstGeom>
          <a:noFill/>
        </p:spPr>
        <p:txBody>
          <a:bodyPr wrap="none" lIns="182880" tIns="146304" rIns="182880" bIns="146304" rtlCol="0">
            <a:spAutoFit/>
          </a:bodyPr>
          <a:lstStyle/>
          <a:p>
            <a:pPr>
              <a:lnSpc>
                <a:spcPct val="90000"/>
              </a:lnSpc>
              <a:spcAft>
                <a:spcPts val="600"/>
              </a:spcAft>
            </a:pPr>
            <a:r>
              <a:rPr lang="cs-CZ" sz="1400" dirty="0">
                <a:gradFill>
                  <a:gsLst>
                    <a:gs pos="2917">
                      <a:schemeClr val="tx1"/>
                    </a:gs>
                    <a:gs pos="30000">
                      <a:schemeClr val="tx1"/>
                    </a:gs>
                  </a:gsLst>
                  <a:lin ang="5400000" scaled="0"/>
                </a:gradFill>
              </a:rPr>
              <a:t>https://mojeapp.xxx.yyy/token</a:t>
            </a:r>
          </a:p>
        </p:txBody>
      </p:sp>
      <p:sp>
        <p:nvSpPr>
          <p:cNvPr id="13" name="TextBox 12">
            <a:extLst>
              <a:ext uri="{FF2B5EF4-FFF2-40B4-BE49-F238E27FC236}">
                <a16:creationId xmlns:a16="http://schemas.microsoft.com/office/drawing/2014/main" id="{DD5471B5-9138-45D7-A679-0CBD984B066F}"/>
              </a:ext>
            </a:extLst>
          </p:cNvPr>
          <p:cNvSpPr txBox="1"/>
          <p:nvPr/>
        </p:nvSpPr>
        <p:spPr>
          <a:xfrm>
            <a:off x="7489515" y="5789940"/>
            <a:ext cx="2696700" cy="489365"/>
          </a:xfrm>
          <a:prstGeom prst="rect">
            <a:avLst/>
          </a:prstGeom>
          <a:noFill/>
        </p:spPr>
        <p:txBody>
          <a:bodyPr wrap="square" lIns="182880" tIns="146304" rIns="182880" bIns="146304" rtlCol="0">
            <a:spAutoFit/>
          </a:bodyPr>
          <a:lstStyle/>
          <a:p>
            <a:pPr>
              <a:lnSpc>
                <a:spcPct val="90000"/>
              </a:lnSpc>
              <a:spcAft>
                <a:spcPts val="600"/>
              </a:spcAft>
            </a:pPr>
            <a:r>
              <a:rPr lang="cs-CZ" sz="1400" dirty="0">
                <a:gradFill>
                  <a:gsLst>
                    <a:gs pos="2917">
                      <a:schemeClr val="tx1"/>
                    </a:gs>
                    <a:gs pos="30000">
                      <a:schemeClr val="tx1"/>
                    </a:gs>
                  </a:gsLst>
                  <a:lin ang="5400000" scaled="0"/>
                </a:gradFill>
              </a:rPr>
              <a:t>https://jetojedno</a:t>
            </a:r>
          </a:p>
        </p:txBody>
      </p:sp>
    </p:spTree>
    <p:extLst>
      <p:ext uri="{BB962C8B-B14F-4D97-AF65-F5344CB8AC3E}">
        <p14:creationId xmlns:p14="http://schemas.microsoft.com/office/powerpoint/2010/main" val="52043481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89028-2303-40A3-BBA7-EB223AA39507}"/>
              </a:ext>
            </a:extLst>
          </p:cNvPr>
          <p:cNvSpPr>
            <a:spLocks noGrp="1"/>
          </p:cNvSpPr>
          <p:nvPr>
            <p:ph type="title"/>
          </p:nvPr>
        </p:nvSpPr>
        <p:spPr/>
        <p:txBody>
          <a:bodyPr/>
          <a:lstStyle/>
          <a:p>
            <a:r>
              <a:rPr lang="cs-CZ" dirty="0"/>
              <a:t>Registrace poskytovatele služeb – mobilní aplikace</a:t>
            </a:r>
          </a:p>
        </p:txBody>
      </p:sp>
      <p:pic>
        <p:nvPicPr>
          <p:cNvPr id="6" name="Picture 5">
            <a:extLst>
              <a:ext uri="{FF2B5EF4-FFF2-40B4-BE49-F238E27FC236}">
                <a16:creationId xmlns:a16="http://schemas.microsoft.com/office/drawing/2014/main" id="{B25F61C7-B618-4C9B-84DD-C1C68B81DAD3}"/>
              </a:ext>
            </a:extLst>
          </p:cNvPr>
          <p:cNvPicPr>
            <a:picLocks noChangeAspect="1"/>
          </p:cNvPicPr>
          <p:nvPr/>
        </p:nvPicPr>
        <p:blipFill>
          <a:blip r:embed="rId2"/>
          <a:stretch>
            <a:fillRect/>
          </a:stretch>
        </p:blipFill>
        <p:spPr>
          <a:xfrm>
            <a:off x="1696030" y="2224918"/>
            <a:ext cx="8640381" cy="4706007"/>
          </a:xfrm>
          <a:prstGeom prst="rect">
            <a:avLst/>
          </a:prstGeom>
        </p:spPr>
      </p:pic>
      <p:sp>
        <p:nvSpPr>
          <p:cNvPr id="8" name="Text Placeholder 7">
            <a:extLst>
              <a:ext uri="{FF2B5EF4-FFF2-40B4-BE49-F238E27FC236}">
                <a16:creationId xmlns:a16="http://schemas.microsoft.com/office/drawing/2014/main" id="{8DD6C03B-B5C4-4620-A500-61B09A4D6431}"/>
              </a:ext>
            </a:extLst>
          </p:cNvPr>
          <p:cNvSpPr>
            <a:spLocks noGrp="1"/>
          </p:cNvSpPr>
          <p:nvPr>
            <p:ph type="body" sz="quarter" idx="11"/>
          </p:nvPr>
        </p:nvSpPr>
        <p:spPr>
          <a:xfrm>
            <a:off x="273455" y="797213"/>
            <a:ext cx="11889564" cy="1301895"/>
          </a:xfrm>
        </p:spPr>
        <p:txBody>
          <a:bodyPr/>
          <a:lstStyle/>
          <a:p>
            <a:r>
              <a:rPr lang="cs-CZ" dirty="0"/>
              <a:t>Jméno a heslo pro přihlašování API</a:t>
            </a:r>
          </a:p>
          <a:p>
            <a:r>
              <a:rPr lang="cs-CZ" dirty="0"/>
              <a:t>Výběr atributů, které API bude dostávat v JWT </a:t>
            </a:r>
          </a:p>
        </p:txBody>
      </p:sp>
    </p:spTree>
    <p:extLst>
      <p:ext uri="{BB962C8B-B14F-4D97-AF65-F5344CB8AC3E}">
        <p14:creationId xmlns:p14="http://schemas.microsoft.com/office/powerpoint/2010/main" val="30530673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C1F24-D8E2-481D-82A1-FC2910FCE2E2}"/>
              </a:ext>
            </a:extLst>
          </p:cNvPr>
          <p:cNvSpPr>
            <a:spLocks noGrp="1"/>
          </p:cNvSpPr>
          <p:nvPr>
            <p:ph type="title"/>
          </p:nvPr>
        </p:nvSpPr>
        <p:spPr>
          <a:xfrm>
            <a:off x="0" y="-30479"/>
            <a:ext cx="12436475" cy="629920"/>
          </a:xfrm>
          <a:solidFill>
            <a:srgbClr val="FF0000"/>
          </a:solidFill>
        </p:spPr>
        <p:txBody>
          <a:bodyPr/>
          <a:lstStyle/>
          <a:p>
            <a:r>
              <a:rPr lang="cs-CZ" dirty="0"/>
              <a:t>Varování </a:t>
            </a:r>
          </a:p>
        </p:txBody>
      </p:sp>
      <p:sp>
        <p:nvSpPr>
          <p:cNvPr id="3" name="Text Placeholder 2">
            <a:extLst>
              <a:ext uri="{FF2B5EF4-FFF2-40B4-BE49-F238E27FC236}">
                <a16:creationId xmlns:a16="http://schemas.microsoft.com/office/drawing/2014/main" id="{3041ABBC-D42A-4469-8EEE-CFAC433052C5}"/>
              </a:ext>
            </a:extLst>
          </p:cNvPr>
          <p:cNvSpPr>
            <a:spLocks noGrp="1"/>
          </p:cNvSpPr>
          <p:nvPr>
            <p:ph type="body" sz="quarter" idx="11"/>
          </p:nvPr>
        </p:nvSpPr>
        <p:spPr>
          <a:xfrm>
            <a:off x="274639" y="1212849"/>
            <a:ext cx="11889564" cy="1957459"/>
          </a:xfrm>
        </p:spPr>
        <p:txBody>
          <a:bodyPr/>
          <a:lstStyle/>
          <a:p>
            <a:r>
              <a:rPr lang="cs-CZ" dirty="0"/>
              <a:t>Změna atributů anebo identifikátoru (</a:t>
            </a:r>
            <a:r>
              <a:rPr lang="cs-CZ" dirty="0" err="1"/>
              <a:t>realm</a:t>
            </a:r>
            <a:r>
              <a:rPr lang="cs-CZ" dirty="0"/>
              <a:t>) vede k tomu, že se zruší registrace (tzv. hromadné odvolání vydaných trvalých souhlasů) všech doposud registrovaných mobilních aplikací a uživatelé se musí znovu interaktivně přihlásit. </a:t>
            </a:r>
          </a:p>
        </p:txBody>
      </p:sp>
    </p:spTree>
    <p:extLst>
      <p:ext uri="{BB962C8B-B14F-4D97-AF65-F5344CB8AC3E}">
        <p14:creationId xmlns:p14="http://schemas.microsoft.com/office/powerpoint/2010/main" val="3063255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itle 62">
            <a:extLst>
              <a:ext uri="{FF2B5EF4-FFF2-40B4-BE49-F238E27FC236}">
                <a16:creationId xmlns:a16="http://schemas.microsoft.com/office/drawing/2014/main" id="{BB664752-5281-44BB-A019-58AA5F42AA85}"/>
              </a:ext>
            </a:extLst>
          </p:cNvPr>
          <p:cNvSpPr>
            <a:spLocks noGrp="1"/>
          </p:cNvSpPr>
          <p:nvPr>
            <p:ph type="title"/>
          </p:nvPr>
        </p:nvSpPr>
        <p:spPr/>
        <p:txBody>
          <a:bodyPr/>
          <a:lstStyle/>
          <a:p>
            <a:r>
              <a:rPr lang="cs-CZ" b="0" dirty="0"/>
              <a:t>Registrační proces</a:t>
            </a:r>
            <a:endParaRPr lang="en-GB" b="0" dirty="0"/>
          </a:p>
        </p:txBody>
      </p:sp>
      <p:pic>
        <p:nvPicPr>
          <p:cNvPr id="6" name="Picture 5">
            <a:extLst>
              <a:ext uri="{FF2B5EF4-FFF2-40B4-BE49-F238E27FC236}">
                <a16:creationId xmlns:a16="http://schemas.microsoft.com/office/drawing/2014/main" id="{451E84C2-6E13-4F79-B056-7C9DDF326A88}"/>
              </a:ext>
            </a:extLst>
          </p:cNvPr>
          <p:cNvPicPr>
            <a:picLocks noChangeAspect="1"/>
          </p:cNvPicPr>
          <p:nvPr/>
        </p:nvPicPr>
        <p:blipFill>
          <a:blip r:embed="rId2"/>
          <a:stretch>
            <a:fillRect/>
          </a:stretch>
        </p:blipFill>
        <p:spPr>
          <a:xfrm>
            <a:off x="487991" y="941656"/>
            <a:ext cx="11597707" cy="5736231"/>
          </a:xfrm>
          <a:prstGeom prst="rect">
            <a:avLst/>
          </a:prstGeom>
        </p:spPr>
      </p:pic>
    </p:spTree>
    <p:extLst>
      <p:ext uri="{BB962C8B-B14F-4D97-AF65-F5344CB8AC3E}">
        <p14:creationId xmlns:p14="http://schemas.microsoft.com/office/powerpoint/2010/main" val="300527182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1886-1DD1-4825-A871-DD6EF50C1647}"/>
              </a:ext>
            </a:extLst>
          </p:cNvPr>
          <p:cNvSpPr>
            <a:spLocks noGrp="1"/>
          </p:cNvSpPr>
          <p:nvPr>
            <p:ph type="title"/>
          </p:nvPr>
        </p:nvSpPr>
        <p:spPr/>
        <p:txBody>
          <a:bodyPr/>
          <a:lstStyle/>
          <a:p>
            <a:r>
              <a:rPr lang="cs-CZ" dirty="0"/>
              <a:t>Registrační proces</a:t>
            </a:r>
          </a:p>
        </p:txBody>
      </p:sp>
      <p:sp>
        <p:nvSpPr>
          <p:cNvPr id="3" name="Text Placeholder 2">
            <a:extLst>
              <a:ext uri="{FF2B5EF4-FFF2-40B4-BE49-F238E27FC236}">
                <a16:creationId xmlns:a16="http://schemas.microsoft.com/office/drawing/2014/main" id="{8C299278-568D-4153-A5F8-33B9CA469451}"/>
              </a:ext>
            </a:extLst>
          </p:cNvPr>
          <p:cNvSpPr>
            <a:spLocks noGrp="1"/>
          </p:cNvSpPr>
          <p:nvPr>
            <p:ph type="body" sz="quarter" idx="11"/>
          </p:nvPr>
        </p:nvSpPr>
        <p:spPr>
          <a:xfrm>
            <a:off x="274639" y="1212849"/>
            <a:ext cx="11889564" cy="5016758"/>
          </a:xfrm>
        </p:spPr>
        <p:txBody>
          <a:bodyPr/>
          <a:lstStyle/>
          <a:p>
            <a:pPr marL="342900" indent="-342900">
              <a:lnSpc>
                <a:spcPct val="100000"/>
              </a:lnSpc>
              <a:spcAft>
                <a:spcPts val="600"/>
              </a:spcAft>
              <a:buFont typeface="+mj-lt"/>
              <a:buAutoNum type="arabicPeriod"/>
            </a:pPr>
            <a:r>
              <a:rPr lang="cs-CZ" sz="1800" dirty="0"/>
              <a:t>Po prvním spuštění aplikace anebo v případě, že registrace aplikace již není platná, provede mobilní aplikace přesměrování na NIA </a:t>
            </a:r>
            <a:r>
              <a:rPr lang="cs-CZ" sz="1800" dirty="0" err="1"/>
              <a:t>Federation</a:t>
            </a:r>
            <a:r>
              <a:rPr lang="cs-CZ" sz="1800" dirty="0"/>
              <a:t> providera. Doporučenou metodou je využití tzv. </a:t>
            </a:r>
            <a:r>
              <a:rPr lang="cs-CZ" sz="1800" dirty="0" err="1"/>
              <a:t>embedded</a:t>
            </a:r>
            <a:r>
              <a:rPr lang="cs-CZ" sz="1800" dirty="0"/>
              <a:t> browser. Jedná se o způsob, kdy je prohlížeč zobrazen, jako součást mobilní aplikace a neotevírá se samostatné okno prohlížeče. Způsob využití a programování záleží na operačním systému mobilní platformy a na frameworku použitého pro programování mobilní aplikace.</a:t>
            </a:r>
          </a:p>
          <a:p>
            <a:pPr marL="342900" indent="-342900">
              <a:lnSpc>
                <a:spcPct val="100000"/>
              </a:lnSpc>
              <a:spcAft>
                <a:spcPts val="600"/>
              </a:spcAft>
              <a:buFont typeface="+mj-lt"/>
              <a:buAutoNum type="arabicPeriod"/>
            </a:pPr>
            <a:r>
              <a:rPr lang="cs-CZ" sz="1800" dirty="0"/>
              <a:t>Uživatel provede přihlášení zvolenou přihlašovací metodou a musí udělit trvalý souhlas s vydáváním atributů, které jsou poskytovatelem služeb vyžadovány. Po poskytnutí trvalého souhlasu bude aplikaci vrácen </a:t>
            </a:r>
            <a:r>
              <a:rPr lang="cs-CZ" sz="1800" dirty="0" err="1"/>
              <a:t>access</a:t>
            </a:r>
            <a:r>
              <a:rPr lang="cs-CZ" sz="1800" dirty="0"/>
              <a:t> token. Tento </a:t>
            </a:r>
            <a:r>
              <a:rPr lang="cs-CZ" sz="1800" dirty="0" err="1"/>
              <a:t>access</a:t>
            </a:r>
            <a:r>
              <a:rPr lang="cs-CZ" sz="1800" dirty="0"/>
              <a:t> token bude následně použit pro autorizaci volání webové služby pro registraci mobilní aplikace.</a:t>
            </a:r>
          </a:p>
          <a:p>
            <a:pPr marL="342900" indent="-342900">
              <a:lnSpc>
                <a:spcPct val="100000"/>
              </a:lnSpc>
              <a:spcAft>
                <a:spcPts val="600"/>
              </a:spcAft>
              <a:buFont typeface="+mj-lt"/>
              <a:buAutoNum type="arabicPeriod"/>
            </a:pPr>
            <a:r>
              <a:rPr lang="cs-CZ" sz="1800" dirty="0"/>
              <a:t>Mobilní aplikace zašle žádost o registraci mobilního zařízení na definovanou URL NIA pro registraci.</a:t>
            </a:r>
          </a:p>
          <a:p>
            <a:pPr marL="342900" indent="-342900">
              <a:lnSpc>
                <a:spcPct val="100000"/>
              </a:lnSpc>
              <a:spcAft>
                <a:spcPts val="600"/>
              </a:spcAft>
              <a:buFont typeface="+mj-lt"/>
              <a:buAutoNum type="arabicPeriod"/>
            </a:pPr>
            <a:r>
              <a:rPr lang="cs-CZ" sz="1800" dirty="0"/>
              <a:t>NIA žádost o registraci přijme. Vygeneruje unikátní identifikátor mobilní aplikace, rozlišovací identifikátor a tajemství pro výpočet OTP. OTP je vytvářeno dle RFC6238 .</a:t>
            </a:r>
          </a:p>
          <a:p>
            <a:pPr marL="342900" indent="-342900">
              <a:lnSpc>
                <a:spcPct val="100000"/>
              </a:lnSpc>
              <a:spcAft>
                <a:spcPts val="600"/>
              </a:spcAft>
              <a:buFont typeface="+mj-lt"/>
              <a:buAutoNum type="arabicPeriod"/>
            </a:pPr>
            <a:r>
              <a:rPr lang="cs-CZ" sz="1800" dirty="0"/>
              <a:t>Mobilní aplikace přijme odpověď a do zabezpečeného úložiště mobilního zařízení uloží registrační údaje, které budou následně sloužit pro přihlašování mobilní aplikace.</a:t>
            </a:r>
          </a:p>
        </p:txBody>
      </p:sp>
    </p:spTree>
    <p:extLst>
      <p:ext uri="{BB962C8B-B14F-4D97-AF65-F5344CB8AC3E}">
        <p14:creationId xmlns:p14="http://schemas.microsoft.com/office/powerpoint/2010/main" val="56993470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2C92042-7713-4C51-8C04-309D40641031}"/>
              </a:ext>
            </a:extLst>
          </p:cNvPr>
          <p:cNvSpPr/>
          <p:nvPr/>
        </p:nvSpPr>
        <p:spPr bwMode="auto">
          <a:xfrm>
            <a:off x="1147913" y="753661"/>
            <a:ext cx="3213311" cy="6060796"/>
          </a:xfrm>
          <a:prstGeom prst="roundRect">
            <a:avLst>
              <a:gd name="adj" fmla="val 299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Poskytovatel služby</a:t>
            </a:r>
          </a:p>
        </p:txBody>
      </p:sp>
      <p:sp>
        <p:nvSpPr>
          <p:cNvPr id="63" name="Title 62">
            <a:extLst>
              <a:ext uri="{FF2B5EF4-FFF2-40B4-BE49-F238E27FC236}">
                <a16:creationId xmlns:a16="http://schemas.microsoft.com/office/drawing/2014/main" id="{BB664752-5281-44BB-A019-58AA5F42AA85}"/>
              </a:ext>
            </a:extLst>
          </p:cNvPr>
          <p:cNvSpPr>
            <a:spLocks noGrp="1"/>
          </p:cNvSpPr>
          <p:nvPr>
            <p:ph type="title"/>
          </p:nvPr>
        </p:nvSpPr>
        <p:spPr/>
        <p:txBody>
          <a:bodyPr/>
          <a:lstStyle/>
          <a:p>
            <a:r>
              <a:rPr lang="cs-CZ" b="0" dirty="0"/>
              <a:t>Mobilní aplikace a registrační proces</a:t>
            </a:r>
            <a:endParaRPr lang="en-GB" b="0" dirty="0"/>
          </a:p>
        </p:txBody>
      </p:sp>
      <p:sp>
        <p:nvSpPr>
          <p:cNvPr id="8" name="Rectangle: Rounded Corners 7">
            <a:extLst>
              <a:ext uri="{FF2B5EF4-FFF2-40B4-BE49-F238E27FC236}">
                <a16:creationId xmlns:a16="http://schemas.microsoft.com/office/drawing/2014/main" id="{B2205858-3513-4AD3-8BB0-327920FCDFCF}"/>
              </a:ext>
            </a:extLst>
          </p:cNvPr>
          <p:cNvSpPr/>
          <p:nvPr/>
        </p:nvSpPr>
        <p:spPr bwMode="auto">
          <a:xfrm>
            <a:off x="1191521" y="3497262"/>
            <a:ext cx="3090061" cy="3020675"/>
          </a:xfrm>
          <a:prstGeom prst="roundRect">
            <a:avLst>
              <a:gd name="adj" fmla="val 3917"/>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Mobilní aplikace</a:t>
            </a:r>
          </a:p>
        </p:txBody>
      </p:sp>
      <p:sp>
        <p:nvSpPr>
          <p:cNvPr id="6" name="UniversalApp_E8CC" title="Icon of a cellphone in front of a tablet">
            <a:extLst>
              <a:ext uri="{FF2B5EF4-FFF2-40B4-BE49-F238E27FC236}">
                <a16:creationId xmlns:a16="http://schemas.microsoft.com/office/drawing/2014/main" id="{BCD1E41E-9934-4ECD-B97D-C68175E5A371}"/>
              </a:ext>
            </a:extLst>
          </p:cNvPr>
          <p:cNvSpPr>
            <a:spLocks noChangeAspect="1" noEditPoints="1"/>
          </p:cNvSpPr>
          <p:nvPr/>
        </p:nvSpPr>
        <p:spPr bwMode="auto">
          <a:xfrm flipH="1">
            <a:off x="1952649" y="6185811"/>
            <a:ext cx="179878" cy="131997"/>
          </a:xfrm>
          <a:custGeom>
            <a:avLst/>
            <a:gdLst>
              <a:gd name="T0" fmla="*/ 1250 w 3750"/>
              <a:gd name="T1" fmla="*/ 2750 h 2750"/>
              <a:gd name="T2" fmla="*/ 0 w 3750"/>
              <a:gd name="T3" fmla="*/ 2750 h 2750"/>
              <a:gd name="T4" fmla="*/ 0 w 3750"/>
              <a:gd name="T5" fmla="*/ 750 h 2750"/>
              <a:gd name="T6" fmla="*/ 1250 w 3750"/>
              <a:gd name="T7" fmla="*/ 750 h 2750"/>
              <a:gd name="T8" fmla="*/ 1250 w 3750"/>
              <a:gd name="T9" fmla="*/ 2750 h 2750"/>
              <a:gd name="T10" fmla="*/ 375 w 3750"/>
              <a:gd name="T11" fmla="*/ 2250 h 2750"/>
              <a:gd name="T12" fmla="*/ 875 w 3750"/>
              <a:gd name="T13" fmla="*/ 2250 h 2750"/>
              <a:gd name="T14" fmla="*/ 1875 w 3750"/>
              <a:gd name="T15" fmla="*/ 1750 h 2750"/>
              <a:gd name="T16" fmla="*/ 2375 w 3750"/>
              <a:gd name="T17" fmla="*/ 1750 h 2750"/>
              <a:gd name="T18" fmla="*/ 1250 w 3750"/>
              <a:gd name="T19" fmla="*/ 2250 h 2750"/>
              <a:gd name="T20" fmla="*/ 3625 w 3750"/>
              <a:gd name="T21" fmla="*/ 2250 h 2750"/>
              <a:gd name="T22" fmla="*/ 3750 w 3750"/>
              <a:gd name="T23" fmla="*/ 2125 h 2750"/>
              <a:gd name="T24" fmla="*/ 3750 w 3750"/>
              <a:gd name="T25" fmla="*/ 125 h 2750"/>
              <a:gd name="T26" fmla="*/ 3625 w 3750"/>
              <a:gd name="T27" fmla="*/ 0 h 2750"/>
              <a:gd name="T28" fmla="*/ 625 w 3750"/>
              <a:gd name="T29" fmla="*/ 0 h 2750"/>
              <a:gd name="T30" fmla="*/ 500 w 3750"/>
              <a:gd name="T31" fmla="*/ 125 h 2750"/>
              <a:gd name="T32" fmla="*/ 500 w 3750"/>
              <a:gd name="T33" fmla="*/ 75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50" h="2750">
                <a:moveTo>
                  <a:pt x="1250" y="2750"/>
                </a:moveTo>
                <a:cubicBezTo>
                  <a:pt x="0" y="2750"/>
                  <a:pt x="0" y="2750"/>
                  <a:pt x="0" y="2750"/>
                </a:cubicBezTo>
                <a:cubicBezTo>
                  <a:pt x="0" y="750"/>
                  <a:pt x="0" y="750"/>
                  <a:pt x="0" y="750"/>
                </a:cubicBezTo>
                <a:cubicBezTo>
                  <a:pt x="1250" y="750"/>
                  <a:pt x="1250" y="750"/>
                  <a:pt x="1250" y="750"/>
                </a:cubicBezTo>
                <a:lnTo>
                  <a:pt x="1250" y="2750"/>
                </a:lnTo>
                <a:close/>
                <a:moveTo>
                  <a:pt x="375" y="2250"/>
                </a:moveTo>
                <a:cubicBezTo>
                  <a:pt x="875" y="2250"/>
                  <a:pt x="875" y="2250"/>
                  <a:pt x="875" y="2250"/>
                </a:cubicBezTo>
                <a:moveTo>
                  <a:pt x="1875" y="1750"/>
                </a:moveTo>
                <a:cubicBezTo>
                  <a:pt x="2375" y="1750"/>
                  <a:pt x="2375" y="1750"/>
                  <a:pt x="2375" y="1750"/>
                </a:cubicBezTo>
                <a:moveTo>
                  <a:pt x="1250" y="2250"/>
                </a:moveTo>
                <a:cubicBezTo>
                  <a:pt x="3625" y="2250"/>
                  <a:pt x="3625" y="2250"/>
                  <a:pt x="3625" y="2250"/>
                </a:cubicBezTo>
                <a:cubicBezTo>
                  <a:pt x="3694" y="2250"/>
                  <a:pt x="3750" y="2194"/>
                  <a:pt x="3750" y="2125"/>
                </a:cubicBezTo>
                <a:cubicBezTo>
                  <a:pt x="3750" y="125"/>
                  <a:pt x="3750" y="125"/>
                  <a:pt x="3750" y="125"/>
                </a:cubicBezTo>
                <a:cubicBezTo>
                  <a:pt x="3750" y="56"/>
                  <a:pt x="3694" y="0"/>
                  <a:pt x="3625" y="0"/>
                </a:cubicBezTo>
                <a:cubicBezTo>
                  <a:pt x="625" y="0"/>
                  <a:pt x="625" y="0"/>
                  <a:pt x="625" y="0"/>
                </a:cubicBezTo>
                <a:cubicBezTo>
                  <a:pt x="556" y="0"/>
                  <a:pt x="500" y="56"/>
                  <a:pt x="500" y="125"/>
                </a:cubicBezTo>
                <a:cubicBezTo>
                  <a:pt x="500" y="750"/>
                  <a:pt x="500" y="750"/>
                  <a:pt x="500" y="750"/>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sz="900">
              <a:gradFill>
                <a:gsLst>
                  <a:gs pos="0">
                    <a:srgbClr val="505050"/>
                  </a:gs>
                  <a:gs pos="100000">
                    <a:srgbClr val="505050"/>
                  </a:gs>
                </a:gsLst>
              </a:gradFill>
            </a:endParaRPr>
          </a:p>
        </p:txBody>
      </p:sp>
      <p:sp>
        <p:nvSpPr>
          <p:cNvPr id="9" name="Rectangle: Rounded Corners 8">
            <a:extLst>
              <a:ext uri="{FF2B5EF4-FFF2-40B4-BE49-F238E27FC236}">
                <a16:creationId xmlns:a16="http://schemas.microsoft.com/office/drawing/2014/main" id="{3674F749-349C-41D7-8093-C92A1C061D89}"/>
              </a:ext>
            </a:extLst>
          </p:cNvPr>
          <p:cNvSpPr/>
          <p:nvPr/>
        </p:nvSpPr>
        <p:spPr bwMode="auto">
          <a:xfrm>
            <a:off x="2005189" y="2321661"/>
            <a:ext cx="1698116" cy="624779"/>
          </a:xfrm>
          <a:prstGeom prst="round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200" dirty="0">
                <a:gradFill>
                  <a:gsLst>
                    <a:gs pos="0">
                      <a:srgbClr val="FFFFFF"/>
                    </a:gs>
                    <a:gs pos="100000">
                      <a:srgbClr val="FFFFFF"/>
                    </a:gs>
                  </a:gsLst>
                  <a:lin ang="5400000" scaled="0"/>
                </a:gradFill>
                <a:ea typeface="Segoe UI" pitchFamily="34" charset="0"/>
                <a:cs typeface="Segoe UI" pitchFamily="34" charset="0"/>
              </a:rPr>
              <a:t>API</a:t>
            </a:r>
          </a:p>
        </p:txBody>
      </p:sp>
      <p:grpSp>
        <p:nvGrpSpPr>
          <p:cNvPr id="26" name="Group 25">
            <a:extLst>
              <a:ext uri="{FF2B5EF4-FFF2-40B4-BE49-F238E27FC236}">
                <a16:creationId xmlns:a16="http://schemas.microsoft.com/office/drawing/2014/main" id="{49CA8D08-7977-4331-AB62-1C0EE52E2264}"/>
              </a:ext>
            </a:extLst>
          </p:cNvPr>
          <p:cNvGrpSpPr/>
          <p:nvPr/>
        </p:nvGrpSpPr>
        <p:grpSpPr>
          <a:xfrm>
            <a:off x="2331040" y="2517496"/>
            <a:ext cx="305469" cy="291657"/>
            <a:chOff x="7389516" y="3535988"/>
            <a:chExt cx="619595" cy="565582"/>
          </a:xfrm>
        </p:grpSpPr>
        <p:sp>
          <p:nvSpPr>
            <p:cNvPr id="27" name="Freeform 47">
              <a:extLst>
                <a:ext uri="{FF2B5EF4-FFF2-40B4-BE49-F238E27FC236}">
                  <a16:creationId xmlns:a16="http://schemas.microsoft.com/office/drawing/2014/main" id="{B18AC8F6-3B82-42FC-9687-497C6E268F39}"/>
                </a:ext>
              </a:extLst>
            </p:cNvPr>
            <p:cNvSpPr>
              <a:spLocks/>
            </p:cNvSpPr>
            <p:nvPr/>
          </p:nvSpPr>
          <p:spPr bwMode="auto">
            <a:xfrm>
              <a:off x="7389516" y="3535988"/>
              <a:ext cx="619595" cy="307425"/>
            </a:xfrm>
            <a:custGeom>
              <a:avLst/>
              <a:gdLst>
                <a:gd name="T0" fmla="*/ 1037 w 1051"/>
                <a:gd name="T1" fmla="*/ 189 h 522"/>
                <a:gd name="T2" fmla="*/ 1014 w 1051"/>
                <a:gd name="T3" fmla="*/ 201 h 522"/>
                <a:gd name="T4" fmla="*/ 974 w 1051"/>
                <a:gd name="T5" fmla="*/ 324 h 522"/>
                <a:gd name="T6" fmla="*/ 504 w 1051"/>
                <a:gd name="T7" fmla="*/ 0 h 522"/>
                <a:gd name="T8" fmla="*/ 0 w 1051"/>
                <a:gd name="T9" fmla="*/ 504 h 522"/>
                <a:gd name="T10" fmla="*/ 18 w 1051"/>
                <a:gd name="T11" fmla="*/ 522 h 522"/>
                <a:gd name="T12" fmla="*/ 36 w 1051"/>
                <a:gd name="T13" fmla="*/ 504 h 522"/>
                <a:gd name="T14" fmla="*/ 504 w 1051"/>
                <a:gd name="T15" fmla="*/ 36 h 522"/>
                <a:gd name="T16" fmla="*/ 946 w 1051"/>
                <a:gd name="T17" fmla="*/ 351 h 522"/>
                <a:gd name="T18" fmla="*/ 807 w 1051"/>
                <a:gd name="T19" fmla="*/ 307 h 522"/>
                <a:gd name="T20" fmla="*/ 785 w 1051"/>
                <a:gd name="T21" fmla="*/ 318 h 522"/>
                <a:gd name="T22" fmla="*/ 796 w 1051"/>
                <a:gd name="T23" fmla="*/ 341 h 522"/>
                <a:gd name="T24" fmla="*/ 963 w 1051"/>
                <a:gd name="T25" fmla="*/ 395 h 522"/>
                <a:gd name="T26" fmla="*/ 978 w 1051"/>
                <a:gd name="T27" fmla="*/ 398 h 522"/>
                <a:gd name="T28" fmla="*/ 979 w 1051"/>
                <a:gd name="T29" fmla="*/ 397 h 522"/>
                <a:gd name="T30" fmla="*/ 992 w 1051"/>
                <a:gd name="T31" fmla="*/ 385 h 522"/>
                <a:gd name="T32" fmla="*/ 1048 w 1051"/>
                <a:gd name="T33" fmla="*/ 212 h 522"/>
                <a:gd name="T34" fmla="*/ 1037 w 1051"/>
                <a:gd name="T35" fmla="*/ 189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1" h="522">
                  <a:moveTo>
                    <a:pt x="1037" y="189"/>
                  </a:moveTo>
                  <a:cubicBezTo>
                    <a:pt x="1027" y="186"/>
                    <a:pt x="1017" y="192"/>
                    <a:pt x="1014" y="201"/>
                  </a:cubicBezTo>
                  <a:cubicBezTo>
                    <a:pt x="974" y="324"/>
                    <a:pt x="974" y="324"/>
                    <a:pt x="974" y="324"/>
                  </a:cubicBezTo>
                  <a:cubicBezTo>
                    <a:pt x="901" y="131"/>
                    <a:pt x="714" y="0"/>
                    <a:pt x="504" y="0"/>
                  </a:cubicBezTo>
                  <a:cubicBezTo>
                    <a:pt x="226" y="0"/>
                    <a:pt x="0" y="226"/>
                    <a:pt x="0" y="504"/>
                  </a:cubicBezTo>
                  <a:cubicBezTo>
                    <a:pt x="0" y="514"/>
                    <a:pt x="8" y="522"/>
                    <a:pt x="18" y="522"/>
                  </a:cubicBezTo>
                  <a:cubicBezTo>
                    <a:pt x="28" y="522"/>
                    <a:pt x="36" y="514"/>
                    <a:pt x="36" y="504"/>
                  </a:cubicBezTo>
                  <a:cubicBezTo>
                    <a:pt x="36" y="246"/>
                    <a:pt x="246" y="36"/>
                    <a:pt x="504" y="36"/>
                  </a:cubicBezTo>
                  <a:cubicBezTo>
                    <a:pt x="704" y="36"/>
                    <a:pt x="882" y="164"/>
                    <a:pt x="946" y="351"/>
                  </a:cubicBezTo>
                  <a:cubicBezTo>
                    <a:pt x="807" y="307"/>
                    <a:pt x="807" y="307"/>
                    <a:pt x="807" y="307"/>
                  </a:cubicBezTo>
                  <a:cubicBezTo>
                    <a:pt x="798" y="303"/>
                    <a:pt x="788" y="309"/>
                    <a:pt x="785" y="318"/>
                  </a:cubicBezTo>
                  <a:cubicBezTo>
                    <a:pt x="782" y="328"/>
                    <a:pt x="787" y="338"/>
                    <a:pt x="796" y="341"/>
                  </a:cubicBezTo>
                  <a:cubicBezTo>
                    <a:pt x="963" y="395"/>
                    <a:pt x="963" y="395"/>
                    <a:pt x="963" y="395"/>
                  </a:cubicBezTo>
                  <a:cubicBezTo>
                    <a:pt x="967" y="398"/>
                    <a:pt x="973" y="399"/>
                    <a:pt x="978" y="398"/>
                  </a:cubicBezTo>
                  <a:cubicBezTo>
                    <a:pt x="978" y="397"/>
                    <a:pt x="979" y="397"/>
                    <a:pt x="979" y="397"/>
                  </a:cubicBezTo>
                  <a:cubicBezTo>
                    <a:pt x="985" y="396"/>
                    <a:pt x="990" y="392"/>
                    <a:pt x="992" y="385"/>
                  </a:cubicBezTo>
                  <a:cubicBezTo>
                    <a:pt x="1048" y="212"/>
                    <a:pt x="1048" y="212"/>
                    <a:pt x="1048" y="212"/>
                  </a:cubicBezTo>
                  <a:cubicBezTo>
                    <a:pt x="1051" y="203"/>
                    <a:pt x="1046" y="192"/>
                    <a:pt x="1037" y="189"/>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8" name="Freeform 48">
              <a:extLst>
                <a:ext uri="{FF2B5EF4-FFF2-40B4-BE49-F238E27FC236}">
                  <a16:creationId xmlns:a16="http://schemas.microsoft.com/office/drawing/2014/main" id="{3DB560B1-D67E-415A-B409-4473772793AE}"/>
                </a:ext>
              </a:extLst>
            </p:cNvPr>
            <p:cNvSpPr>
              <a:spLocks/>
            </p:cNvSpPr>
            <p:nvPr/>
          </p:nvSpPr>
          <p:spPr bwMode="auto">
            <a:xfrm>
              <a:off x="7389516" y="3794145"/>
              <a:ext cx="619595" cy="307425"/>
            </a:xfrm>
            <a:custGeom>
              <a:avLst/>
              <a:gdLst>
                <a:gd name="T0" fmla="*/ 1033 w 1051"/>
                <a:gd name="T1" fmla="*/ 0 h 522"/>
                <a:gd name="T2" fmla="*/ 1015 w 1051"/>
                <a:gd name="T3" fmla="*/ 18 h 522"/>
                <a:gd name="T4" fmla="*/ 547 w 1051"/>
                <a:gd name="T5" fmla="*/ 486 h 522"/>
                <a:gd name="T6" fmla="*/ 105 w 1051"/>
                <a:gd name="T7" fmla="*/ 170 h 522"/>
                <a:gd name="T8" fmla="*/ 244 w 1051"/>
                <a:gd name="T9" fmla="*/ 215 h 522"/>
                <a:gd name="T10" fmla="*/ 266 w 1051"/>
                <a:gd name="T11" fmla="*/ 204 h 522"/>
                <a:gd name="T12" fmla="*/ 255 w 1051"/>
                <a:gd name="T13" fmla="*/ 181 h 522"/>
                <a:gd name="T14" fmla="*/ 88 w 1051"/>
                <a:gd name="T15" fmla="*/ 127 h 522"/>
                <a:gd name="T16" fmla="*/ 73 w 1051"/>
                <a:gd name="T17" fmla="*/ 124 h 522"/>
                <a:gd name="T18" fmla="*/ 72 w 1051"/>
                <a:gd name="T19" fmla="*/ 124 h 522"/>
                <a:gd name="T20" fmla="*/ 59 w 1051"/>
                <a:gd name="T21" fmla="*/ 136 h 522"/>
                <a:gd name="T22" fmla="*/ 3 w 1051"/>
                <a:gd name="T23" fmla="*/ 310 h 522"/>
                <a:gd name="T24" fmla="*/ 14 w 1051"/>
                <a:gd name="T25" fmla="*/ 332 h 522"/>
                <a:gd name="T26" fmla="*/ 20 w 1051"/>
                <a:gd name="T27" fmla="*/ 333 h 522"/>
                <a:gd name="T28" fmla="*/ 37 w 1051"/>
                <a:gd name="T29" fmla="*/ 321 h 522"/>
                <a:gd name="T30" fmla="*/ 77 w 1051"/>
                <a:gd name="T31" fmla="*/ 198 h 522"/>
                <a:gd name="T32" fmla="*/ 547 w 1051"/>
                <a:gd name="T33" fmla="*/ 522 h 522"/>
                <a:gd name="T34" fmla="*/ 1051 w 1051"/>
                <a:gd name="T35" fmla="*/ 18 h 522"/>
                <a:gd name="T36" fmla="*/ 1033 w 1051"/>
                <a:gd name="T37"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1" h="522">
                  <a:moveTo>
                    <a:pt x="1033" y="0"/>
                  </a:moveTo>
                  <a:cubicBezTo>
                    <a:pt x="1023" y="0"/>
                    <a:pt x="1015" y="8"/>
                    <a:pt x="1015" y="18"/>
                  </a:cubicBezTo>
                  <a:cubicBezTo>
                    <a:pt x="1015" y="276"/>
                    <a:pt x="805" y="486"/>
                    <a:pt x="547" y="486"/>
                  </a:cubicBezTo>
                  <a:cubicBezTo>
                    <a:pt x="346" y="486"/>
                    <a:pt x="169" y="358"/>
                    <a:pt x="105" y="170"/>
                  </a:cubicBezTo>
                  <a:cubicBezTo>
                    <a:pt x="244" y="215"/>
                    <a:pt x="244" y="215"/>
                    <a:pt x="244" y="215"/>
                  </a:cubicBezTo>
                  <a:cubicBezTo>
                    <a:pt x="253" y="218"/>
                    <a:pt x="263" y="213"/>
                    <a:pt x="266" y="204"/>
                  </a:cubicBezTo>
                  <a:cubicBezTo>
                    <a:pt x="269" y="194"/>
                    <a:pt x="264" y="184"/>
                    <a:pt x="255" y="181"/>
                  </a:cubicBezTo>
                  <a:cubicBezTo>
                    <a:pt x="88" y="127"/>
                    <a:pt x="88" y="127"/>
                    <a:pt x="88" y="127"/>
                  </a:cubicBezTo>
                  <a:cubicBezTo>
                    <a:pt x="84" y="124"/>
                    <a:pt x="78" y="123"/>
                    <a:pt x="73" y="124"/>
                  </a:cubicBezTo>
                  <a:cubicBezTo>
                    <a:pt x="73" y="124"/>
                    <a:pt x="72" y="124"/>
                    <a:pt x="72" y="124"/>
                  </a:cubicBezTo>
                  <a:cubicBezTo>
                    <a:pt x="66" y="126"/>
                    <a:pt x="61" y="130"/>
                    <a:pt x="59" y="136"/>
                  </a:cubicBezTo>
                  <a:cubicBezTo>
                    <a:pt x="3" y="310"/>
                    <a:pt x="3" y="310"/>
                    <a:pt x="3" y="310"/>
                  </a:cubicBezTo>
                  <a:cubicBezTo>
                    <a:pt x="0" y="319"/>
                    <a:pt x="5" y="329"/>
                    <a:pt x="14" y="332"/>
                  </a:cubicBezTo>
                  <a:cubicBezTo>
                    <a:pt x="16" y="333"/>
                    <a:pt x="18" y="333"/>
                    <a:pt x="20" y="333"/>
                  </a:cubicBezTo>
                  <a:cubicBezTo>
                    <a:pt x="27" y="333"/>
                    <a:pt x="34" y="328"/>
                    <a:pt x="37" y="321"/>
                  </a:cubicBezTo>
                  <a:cubicBezTo>
                    <a:pt x="77" y="198"/>
                    <a:pt x="77" y="198"/>
                    <a:pt x="77" y="198"/>
                  </a:cubicBezTo>
                  <a:cubicBezTo>
                    <a:pt x="150" y="391"/>
                    <a:pt x="337" y="522"/>
                    <a:pt x="547" y="522"/>
                  </a:cubicBezTo>
                  <a:cubicBezTo>
                    <a:pt x="825" y="522"/>
                    <a:pt x="1051" y="296"/>
                    <a:pt x="1051" y="18"/>
                  </a:cubicBezTo>
                  <a:cubicBezTo>
                    <a:pt x="1051" y="8"/>
                    <a:pt x="1043" y="0"/>
                    <a:pt x="1033" y="0"/>
                  </a:cubicBez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353535"/>
                </a:solidFill>
                <a:latin typeface="Segoe UI Semilight"/>
              </a:endParaRPr>
            </a:p>
          </p:txBody>
        </p:sp>
        <p:sp>
          <p:nvSpPr>
            <p:cNvPr id="29" name="Processing_E9F5" title="Icon of two interlocked gears">
              <a:extLst>
                <a:ext uri="{FF2B5EF4-FFF2-40B4-BE49-F238E27FC236}">
                  <a16:creationId xmlns:a16="http://schemas.microsoft.com/office/drawing/2014/main" id="{C40E11B4-9E32-4889-9022-14B5999DEF4F}"/>
                </a:ext>
              </a:extLst>
            </p:cNvPr>
            <p:cNvSpPr>
              <a:spLocks noChangeAspect="1" noEditPoints="1"/>
            </p:cNvSpPr>
            <p:nvPr/>
          </p:nvSpPr>
          <p:spPr bwMode="auto">
            <a:xfrm>
              <a:off x="7528874" y="3675608"/>
              <a:ext cx="340879" cy="296883"/>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dirty="0"/>
            </a:p>
          </p:txBody>
        </p:sp>
      </p:grpSp>
      <p:sp>
        <p:nvSpPr>
          <p:cNvPr id="12" name="Rectangle: Rounded Corners 11">
            <a:extLst>
              <a:ext uri="{FF2B5EF4-FFF2-40B4-BE49-F238E27FC236}">
                <a16:creationId xmlns:a16="http://schemas.microsoft.com/office/drawing/2014/main" id="{BD7B674C-F88D-485B-9262-0523D825ECA7}"/>
              </a:ext>
            </a:extLst>
          </p:cNvPr>
          <p:cNvSpPr/>
          <p:nvPr/>
        </p:nvSpPr>
        <p:spPr bwMode="auto">
          <a:xfrm>
            <a:off x="1895214" y="1441242"/>
            <a:ext cx="1903295" cy="774171"/>
          </a:xfrm>
          <a:prstGeom prst="round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sz="1050" dirty="0">
                <a:gradFill>
                  <a:gsLst>
                    <a:gs pos="0">
                      <a:srgbClr val="FFFFFF"/>
                    </a:gs>
                    <a:gs pos="100000">
                      <a:srgbClr val="FFFFFF"/>
                    </a:gs>
                  </a:gsLst>
                  <a:lin ang="5400000" scaled="0"/>
                </a:gradFill>
                <a:ea typeface="Segoe UI" pitchFamily="34" charset="0"/>
                <a:cs typeface="Segoe UI" pitchFamily="34" charset="0"/>
              </a:rPr>
              <a:t>Informační systém</a:t>
            </a:r>
          </a:p>
        </p:txBody>
      </p:sp>
      <p:sp>
        <p:nvSpPr>
          <p:cNvPr id="13" name="Flowchart: Magnetic Disk 12">
            <a:extLst>
              <a:ext uri="{FF2B5EF4-FFF2-40B4-BE49-F238E27FC236}">
                <a16:creationId xmlns:a16="http://schemas.microsoft.com/office/drawing/2014/main" id="{E5EA2CF4-B711-4DFC-AE60-D7572BB66BF0}"/>
              </a:ext>
            </a:extLst>
          </p:cNvPr>
          <p:cNvSpPr/>
          <p:nvPr/>
        </p:nvSpPr>
        <p:spPr bwMode="auto">
          <a:xfrm>
            <a:off x="2585181" y="1819449"/>
            <a:ext cx="609380" cy="256166"/>
          </a:xfrm>
          <a:prstGeom prst="flowChartMagneticDisk">
            <a:avLst/>
          </a:prstGeom>
          <a:solidFill>
            <a:schemeClr val="accent4">
              <a:lumMod val="60000"/>
              <a:lumOff val="40000"/>
            </a:schemeClr>
          </a:solidFill>
          <a:ln>
            <a:solidFill>
              <a:schemeClr val="accent1">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16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1720F097-F923-4C57-AA61-29C0DCF328AC}"/>
              </a:ext>
            </a:extLst>
          </p:cNvPr>
          <p:cNvSpPr/>
          <p:nvPr/>
        </p:nvSpPr>
        <p:spPr bwMode="auto">
          <a:xfrm>
            <a:off x="2879755" y="5469833"/>
            <a:ext cx="1357594" cy="592525"/>
          </a:xfrm>
          <a:prstGeom prst="roundRect">
            <a:avLst/>
          </a:prstGeom>
          <a:solidFill>
            <a:schemeClr val="accent6">
              <a:lumMod val="50000"/>
            </a:schemeClr>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pPr>
            <a:r>
              <a:rPr lang="cs-CZ" sz="1000" dirty="0">
                <a:gradFill>
                  <a:gsLst>
                    <a:gs pos="0">
                      <a:srgbClr val="FFFFFF"/>
                    </a:gs>
                    <a:gs pos="100000">
                      <a:srgbClr val="FFFFFF"/>
                    </a:gs>
                  </a:gsLst>
                  <a:lin ang="5400000" scaled="0"/>
                </a:gradFill>
                <a:cs typeface="Segoe UI" pitchFamily="34" charset="0"/>
              </a:rPr>
              <a:t>Údaje z registrace NIA</a:t>
            </a:r>
          </a:p>
          <a:p>
            <a:pPr algn="ctr" defTabSz="932472" fontAlgn="base">
              <a:spcBef>
                <a:spcPct val="0"/>
              </a:spcBef>
              <a:spcAft>
                <a:spcPts val="600"/>
              </a:spcAft>
            </a:pPr>
            <a:endParaRPr lang="cs-CZ" sz="1000" dirty="0">
              <a:gradFill>
                <a:gsLst>
                  <a:gs pos="0">
                    <a:srgbClr val="FFFFFF"/>
                  </a:gs>
                  <a:gs pos="100000">
                    <a:srgbClr val="FFFFFF"/>
                  </a:gs>
                </a:gsLst>
                <a:lin ang="5400000" scaled="0"/>
              </a:gradFill>
              <a:cs typeface="Segoe UI" pitchFamily="34" charset="0"/>
            </a:endParaRPr>
          </a:p>
        </p:txBody>
      </p:sp>
      <p:cxnSp>
        <p:nvCxnSpPr>
          <p:cNvPr id="49" name="Straight Arrow Connector 48">
            <a:extLst>
              <a:ext uri="{FF2B5EF4-FFF2-40B4-BE49-F238E27FC236}">
                <a16:creationId xmlns:a16="http://schemas.microsoft.com/office/drawing/2014/main" id="{2C0ED4A3-5B50-4F5B-9D5F-2B7FB7D158D2}"/>
              </a:ext>
            </a:extLst>
          </p:cNvPr>
          <p:cNvCxnSpPr>
            <a:cxnSpLocks/>
            <a:stCxn id="8" idx="0"/>
            <a:endCxn id="9" idx="2"/>
          </p:cNvCxnSpPr>
          <p:nvPr/>
        </p:nvCxnSpPr>
        <p:spPr>
          <a:xfrm flipV="1">
            <a:off x="2736552" y="2946440"/>
            <a:ext cx="117695" cy="550822"/>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79800D2-8EA6-4153-B5CD-5124589E16F4}"/>
              </a:ext>
            </a:extLst>
          </p:cNvPr>
          <p:cNvCxnSpPr>
            <a:cxnSpLocks/>
            <a:stCxn id="9" idx="0"/>
            <a:endCxn id="12" idx="2"/>
          </p:cNvCxnSpPr>
          <p:nvPr/>
        </p:nvCxnSpPr>
        <p:spPr>
          <a:xfrm flipH="1" flipV="1">
            <a:off x="2846862" y="2215413"/>
            <a:ext cx="7385" cy="106248"/>
          </a:xfrm>
          <a:prstGeom prst="straightConnector1">
            <a:avLst/>
          </a:prstGeom>
          <a:ln w="15875">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DB5236E1-826D-4B7A-A88C-856EA2D0A9EF}"/>
              </a:ext>
            </a:extLst>
          </p:cNvPr>
          <p:cNvSpPr/>
          <p:nvPr/>
        </p:nvSpPr>
        <p:spPr bwMode="auto">
          <a:xfrm>
            <a:off x="2879755" y="3645116"/>
            <a:ext cx="1357594" cy="592052"/>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pPr>
            <a:r>
              <a:rPr lang="en-US" sz="1000" dirty="0">
                <a:gradFill>
                  <a:gsLst>
                    <a:gs pos="0">
                      <a:srgbClr val="FFFFFF"/>
                    </a:gs>
                    <a:gs pos="100000">
                      <a:srgbClr val="FFFFFF"/>
                    </a:gs>
                  </a:gsLst>
                  <a:lin ang="5400000" scaled="0"/>
                </a:gradFill>
                <a:ea typeface="Segoe UI" pitchFamily="34" charset="0"/>
                <a:cs typeface="Segoe UI" pitchFamily="34" charset="0"/>
              </a:rPr>
              <a:t>Embedded</a:t>
            </a:r>
            <a:r>
              <a:rPr lang="cs-CZ" sz="1000" dirty="0">
                <a:gradFill>
                  <a:gsLst>
                    <a:gs pos="0">
                      <a:srgbClr val="FFFFFF"/>
                    </a:gs>
                    <a:gs pos="100000">
                      <a:srgbClr val="FFFFFF"/>
                    </a:gs>
                  </a:gsLst>
                  <a:lin ang="5400000" scaled="0"/>
                </a:gradFill>
                <a:ea typeface="Segoe UI" pitchFamily="34" charset="0"/>
                <a:cs typeface="Segoe UI" pitchFamily="34" charset="0"/>
              </a:rPr>
              <a:t> browser</a:t>
            </a: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98" name="Rectangle: Rounded Corners 97">
            <a:extLst>
              <a:ext uri="{FF2B5EF4-FFF2-40B4-BE49-F238E27FC236}">
                <a16:creationId xmlns:a16="http://schemas.microsoft.com/office/drawing/2014/main" id="{52811FDF-4202-4C6C-92C1-CA595435A3B9}"/>
              </a:ext>
            </a:extLst>
          </p:cNvPr>
          <p:cNvSpPr/>
          <p:nvPr/>
        </p:nvSpPr>
        <p:spPr bwMode="auto">
          <a:xfrm>
            <a:off x="1655876" y="4756244"/>
            <a:ext cx="2564301" cy="505717"/>
          </a:xfrm>
          <a:prstGeom prst="roundRect">
            <a:avLst>
              <a:gd name="adj" fmla="val 7558"/>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pPr>
            <a:r>
              <a:rPr lang="cs-CZ" sz="1000" dirty="0">
                <a:gradFill>
                  <a:gsLst>
                    <a:gs pos="0">
                      <a:srgbClr val="FFFFFF"/>
                    </a:gs>
                    <a:gs pos="100000">
                      <a:srgbClr val="FFFFFF"/>
                    </a:gs>
                  </a:gsLst>
                  <a:lin ang="5400000" scaled="0"/>
                </a:gradFill>
                <a:ea typeface="Segoe UI" pitchFamily="34" charset="0"/>
                <a:cs typeface="Segoe UI" pitchFamily="34" charset="0"/>
              </a:rPr>
              <a:t>Logika registrace</a:t>
            </a:r>
          </a:p>
        </p:txBody>
      </p:sp>
      <p:sp>
        <p:nvSpPr>
          <p:cNvPr id="100" name="Rectangle: Rounded Corners 99">
            <a:extLst>
              <a:ext uri="{FF2B5EF4-FFF2-40B4-BE49-F238E27FC236}">
                <a16:creationId xmlns:a16="http://schemas.microsoft.com/office/drawing/2014/main" id="{FEC7773B-9E9D-47D0-AD8E-09E38A951A61}"/>
              </a:ext>
            </a:extLst>
          </p:cNvPr>
          <p:cNvSpPr/>
          <p:nvPr/>
        </p:nvSpPr>
        <p:spPr bwMode="auto">
          <a:xfrm>
            <a:off x="358206" y="2939686"/>
            <a:ext cx="611757" cy="1446054"/>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cs-CZ" sz="1600" dirty="0">
                <a:gradFill>
                  <a:gsLst>
                    <a:gs pos="0">
                      <a:srgbClr val="FFFFFF"/>
                    </a:gs>
                    <a:gs pos="100000">
                      <a:srgbClr val="FFFFFF"/>
                    </a:gs>
                  </a:gsLst>
                  <a:lin ang="5400000" scaled="0"/>
                </a:gradFill>
                <a:ea typeface="Segoe UI" pitchFamily="34" charset="0"/>
                <a:cs typeface="Segoe UI" pitchFamily="34" charset="0"/>
              </a:rPr>
              <a:t>Notifikace</a:t>
            </a:r>
          </a:p>
        </p:txBody>
      </p:sp>
      <p:cxnSp>
        <p:nvCxnSpPr>
          <p:cNvPr id="102" name="Straight Arrow Connector 101">
            <a:extLst>
              <a:ext uri="{FF2B5EF4-FFF2-40B4-BE49-F238E27FC236}">
                <a16:creationId xmlns:a16="http://schemas.microsoft.com/office/drawing/2014/main" id="{742F0A84-325A-472E-91F0-2C1A47149EB2}"/>
              </a:ext>
            </a:extLst>
          </p:cNvPr>
          <p:cNvCxnSpPr>
            <a:cxnSpLocks/>
            <a:stCxn id="100" idx="0"/>
            <a:endCxn id="9" idx="1"/>
          </p:cNvCxnSpPr>
          <p:nvPr/>
        </p:nvCxnSpPr>
        <p:spPr>
          <a:xfrm rot="5400000" flipH="1" flipV="1">
            <a:off x="1181820" y="2116317"/>
            <a:ext cx="305635" cy="1341104"/>
          </a:xfrm>
          <a:prstGeom prst="bentConnector2">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Arrow Connector 101">
            <a:extLst>
              <a:ext uri="{FF2B5EF4-FFF2-40B4-BE49-F238E27FC236}">
                <a16:creationId xmlns:a16="http://schemas.microsoft.com/office/drawing/2014/main" id="{456DF922-F262-43B4-903A-0A7ED7916322}"/>
              </a:ext>
            </a:extLst>
          </p:cNvPr>
          <p:cNvCxnSpPr>
            <a:cxnSpLocks/>
            <a:stCxn id="8" idx="1"/>
            <a:endCxn id="100" idx="2"/>
          </p:cNvCxnSpPr>
          <p:nvPr/>
        </p:nvCxnSpPr>
        <p:spPr>
          <a:xfrm rot="10800000">
            <a:off x="664085" y="4385740"/>
            <a:ext cx="527436" cy="621860"/>
          </a:xfrm>
          <a:prstGeom prst="bentConnector2">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0DDDC1E2-5507-483A-BCEF-4996B6D0527B}"/>
              </a:ext>
            </a:extLst>
          </p:cNvPr>
          <p:cNvSpPr/>
          <p:nvPr/>
        </p:nvSpPr>
        <p:spPr bwMode="auto">
          <a:xfrm>
            <a:off x="7026417" y="2997569"/>
            <a:ext cx="2985180" cy="3478798"/>
          </a:xfrm>
          <a:prstGeom prst="roundRect">
            <a:avLst/>
          </a:prstGeom>
          <a:solidFill>
            <a:schemeClr val="accent6">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dirty="0">
                <a:gradFill>
                  <a:gsLst>
                    <a:gs pos="0">
                      <a:srgbClr val="FFFFFF"/>
                    </a:gs>
                    <a:gs pos="100000">
                      <a:srgbClr val="FFFFFF"/>
                    </a:gs>
                  </a:gsLst>
                  <a:lin ang="5400000" scaled="0"/>
                </a:gradFill>
                <a:ea typeface="Segoe UI" pitchFamily="34" charset="0"/>
                <a:cs typeface="Segoe UI" pitchFamily="34" charset="0"/>
              </a:rPr>
              <a:t>NIA</a:t>
            </a:r>
          </a:p>
        </p:txBody>
      </p:sp>
      <p:grpSp>
        <p:nvGrpSpPr>
          <p:cNvPr id="25" name="Group 24">
            <a:extLst>
              <a:ext uri="{FF2B5EF4-FFF2-40B4-BE49-F238E27FC236}">
                <a16:creationId xmlns:a16="http://schemas.microsoft.com/office/drawing/2014/main" id="{24116FAC-BEC7-469D-8256-EFDF2FA775FF}"/>
              </a:ext>
            </a:extLst>
          </p:cNvPr>
          <p:cNvGrpSpPr/>
          <p:nvPr/>
        </p:nvGrpSpPr>
        <p:grpSpPr>
          <a:xfrm>
            <a:off x="7736167" y="5101363"/>
            <a:ext cx="1619560" cy="1178036"/>
            <a:chOff x="3374571" y="2030985"/>
            <a:chExt cx="1619560" cy="1178036"/>
          </a:xfrm>
        </p:grpSpPr>
        <p:sp>
          <p:nvSpPr>
            <p:cNvPr id="30" name="Rectangle: Rounded Corners 29">
              <a:extLst>
                <a:ext uri="{FF2B5EF4-FFF2-40B4-BE49-F238E27FC236}">
                  <a16:creationId xmlns:a16="http://schemas.microsoft.com/office/drawing/2014/main" id="{B670ABF2-B3CB-4483-AECB-BB3055D4EC1C}"/>
                </a:ext>
              </a:extLst>
            </p:cNvPr>
            <p:cNvSpPr/>
            <p:nvPr/>
          </p:nvSpPr>
          <p:spPr bwMode="auto">
            <a:xfrm>
              <a:off x="3374571" y="2030985"/>
              <a:ext cx="1619560" cy="1178036"/>
            </a:xfrm>
            <a:prstGeom prst="round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Registrace MA</a:t>
              </a:r>
            </a:p>
          </p:txBody>
        </p:sp>
        <p:sp>
          <p:nvSpPr>
            <p:cNvPr id="31" name="plan" title="Icon of a circle with an arrow projecting from it between two exes">
              <a:extLst>
                <a:ext uri="{FF2B5EF4-FFF2-40B4-BE49-F238E27FC236}">
                  <a16:creationId xmlns:a16="http://schemas.microsoft.com/office/drawing/2014/main" id="{04120B9A-0CAA-409D-B712-6AC95779EFCC}"/>
                </a:ext>
              </a:extLst>
            </p:cNvPr>
            <p:cNvSpPr>
              <a:spLocks noChangeAspect="1" noEditPoints="1"/>
            </p:cNvSpPr>
            <p:nvPr/>
          </p:nvSpPr>
          <p:spPr bwMode="auto">
            <a:xfrm>
              <a:off x="3999883" y="2301459"/>
              <a:ext cx="364274" cy="365708"/>
            </a:xfrm>
            <a:custGeom>
              <a:avLst/>
              <a:gdLst>
                <a:gd name="T0" fmla="*/ 116 w 352"/>
                <a:gd name="T1" fmla="*/ 117 h 352"/>
                <a:gd name="T2" fmla="*/ 0 w 352"/>
                <a:gd name="T3" fmla="*/ 0 h 352"/>
                <a:gd name="T4" fmla="*/ 116 w 352"/>
                <a:gd name="T5" fmla="*/ 0 h 352"/>
                <a:gd name="T6" fmla="*/ 0 w 352"/>
                <a:gd name="T7" fmla="*/ 117 h 352"/>
                <a:gd name="T8" fmla="*/ 352 w 352"/>
                <a:gd name="T9" fmla="*/ 352 h 352"/>
                <a:gd name="T10" fmla="*/ 235 w 352"/>
                <a:gd name="T11" fmla="*/ 236 h 352"/>
                <a:gd name="T12" fmla="*/ 352 w 352"/>
                <a:gd name="T13" fmla="*/ 236 h 352"/>
                <a:gd name="T14" fmla="*/ 235 w 352"/>
                <a:gd name="T15" fmla="*/ 352 h 352"/>
                <a:gd name="T16" fmla="*/ 66 w 352"/>
                <a:gd name="T17" fmla="*/ 218 h 352"/>
                <a:gd name="T18" fmla="*/ 2 w 352"/>
                <a:gd name="T19" fmla="*/ 282 h 352"/>
                <a:gd name="T20" fmla="*/ 66 w 352"/>
                <a:gd name="T21" fmla="*/ 347 h 352"/>
                <a:gd name="T22" fmla="*/ 130 w 352"/>
                <a:gd name="T23" fmla="*/ 282 h 352"/>
                <a:gd name="T24" fmla="*/ 66 w 352"/>
                <a:gd name="T25" fmla="*/ 218 h 352"/>
                <a:gd name="T26" fmla="*/ 113 w 352"/>
                <a:gd name="T27" fmla="*/ 239 h 352"/>
                <a:gd name="T28" fmla="*/ 345 w 352"/>
                <a:gd name="T29" fmla="*/ 8 h 352"/>
                <a:gd name="T30" fmla="*/ 345 w 352"/>
                <a:gd name="T31" fmla="*/ 83 h 352"/>
                <a:gd name="T32" fmla="*/ 345 w 352"/>
                <a:gd name="T33" fmla="*/ 7 h 352"/>
                <a:gd name="T34" fmla="*/ 269 w 352"/>
                <a:gd name="T35"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2" h="352">
                  <a:moveTo>
                    <a:pt x="116" y="117"/>
                  </a:moveTo>
                  <a:cubicBezTo>
                    <a:pt x="0" y="0"/>
                    <a:pt x="0" y="0"/>
                    <a:pt x="0" y="0"/>
                  </a:cubicBezTo>
                  <a:moveTo>
                    <a:pt x="116" y="0"/>
                  </a:moveTo>
                  <a:cubicBezTo>
                    <a:pt x="0" y="117"/>
                    <a:pt x="0" y="117"/>
                    <a:pt x="0" y="117"/>
                  </a:cubicBezTo>
                  <a:moveTo>
                    <a:pt x="352" y="352"/>
                  </a:moveTo>
                  <a:cubicBezTo>
                    <a:pt x="235" y="236"/>
                    <a:pt x="235" y="236"/>
                    <a:pt x="235" y="236"/>
                  </a:cubicBezTo>
                  <a:moveTo>
                    <a:pt x="352" y="236"/>
                  </a:moveTo>
                  <a:cubicBezTo>
                    <a:pt x="235" y="352"/>
                    <a:pt x="235" y="352"/>
                    <a:pt x="235" y="352"/>
                  </a:cubicBezTo>
                  <a:moveTo>
                    <a:pt x="66" y="218"/>
                  </a:moveTo>
                  <a:cubicBezTo>
                    <a:pt x="30" y="218"/>
                    <a:pt x="2" y="247"/>
                    <a:pt x="2" y="282"/>
                  </a:cubicBezTo>
                  <a:cubicBezTo>
                    <a:pt x="2" y="318"/>
                    <a:pt x="30" y="347"/>
                    <a:pt x="66" y="347"/>
                  </a:cubicBezTo>
                  <a:cubicBezTo>
                    <a:pt x="101" y="347"/>
                    <a:pt x="130" y="318"/>
                    <a:pt x="130" y="282"/>
                  </a:cubicBezTo>
                  <a:cubicBezTo>
                    <a:pt x="130" y="247"/>
                    <a:pt x="101" y="218"/>
                    <a:pt x="66" y="218"/>
                  </a:cubicBezTo>
                  <a:close/>
                  <a:moveTo>
                    <a:pt x="113" y="239"/>
                  </a:moveTo>
                  <a:cubicBezTo>
                    <a:pt x="345" y="8"/>
                    <a:pt x="345" y="8"/>
                    <a:pt x="345" y="8"/>
                  </a:cubicBezTo>
                  <a:moveTo>
                    <a:pt x="345" y="83"/>
                  </a:moveTo>
                  <a:cubicBezTo>
                    <a:pt x="345" y="7"/>
                    <a:pt x="345" y="7"/>
                    <a:pt x="345" y="7"/>
                  </a:cubicBezTo>
                  <a:cubicBezTo>
                    <a:pt x="269" y="7"/>
                    <a:pt x="269" y="7"/>
                    <a:pt x="269" y="7"/>
                  </a:cubicBezTo>
                </a:path>
              </a:pathLst>
            </a:custGeom>
            <a:noFill/>
            <a:ln w="15875" cap="sq">
              <a:solidFill>
                <a:schemeClr val="accent2"/>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a:gradFill>
                  <a:gsLst>
                    <a:gs pos="0">
                      <a:srgbClr val="505050"/>
                    </a:gs>
                    <a:gs pos="100000">
                      <a:srgbClr val="505050"/>
                    </a:gs>
                  </a:gsLst>
                  <a:lin ang="5400000" scaled="1"/>
                </a:gradFill>
              </a:endParaRPr>
            </a:p>
          </p:txBody>
        </p:sp>
      </p:grpSp>
      <p:sp>
        <p:nvSpPr>
          <p:cNvPr id="50" name="Rectangle: Rounded Corners 49">
            <a:extLst>
              <a:ext uri="{FF2B5EF4-FFF2-40B4-BE49-F238E27FC236}">
                <a16:creationId xmlns:a16="http://schemas.microsoft.com/office/drawing/2014/main" id="{6EE20544-E6E0-42AA-93E6-C4A1D0DED6BD}"/>
              </a:ext>
            </a:extLst>
          </p:cNvPr>
          <p:cNvSpPr/>
          <p:nvPr/>
        </p:nvSpPr>
        <p:spPr bwMode="auto">
          <a:xfrm>
            <a:off x="7701508" y="3642198"/>
            <a:ext cx="1634997" cy="1344982"/>
          </a:xfrm>
          <a:prstGeom prst="roundRect">
            <a:avLst/>
          </a:prstGeom>
          <a:solidFill>
            <a:schemeClr val="accent4">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cs-CZ" sz="1400" dirty="0">
                <a:gradFill>
                  <a:gsLst>
                    <a:gs pos="0">
                      <a:srgbClr val="FFFFFF"/>
                    </a:gs>
                    <a:gs pos="100000">
                      <a:srgbClr val="FFFFFF"/>
                    </a:gs>
                  </a:gsLst>
                  <a:lin ang="5400000" scaled="0"/>
                </a:gradFill>
                <a:ea typeface="Segoe UI" pitchFamily="34" charset="0"/>
                <a:cs typeface="Segoe UI" pitchFamily="34" charset="0"/>
              </a:rPr>
              <a:t>Interaktivní přihlášení</a:t>
            </a:r>
          </a:p>
        </p:txBody>
      </p:sp>
      <p:sp>
        <p:nvSpPr>
          <p:cNvPr id="51" name="Commitments_EC4D" title="Icon of a handshake">
            <a:extLst>
              <a:ext uri="{FF2B5EF4-FFF2-40B4-BE49-F238E27FC236}">
                <a16:creationId xmlns:a16="http://schemas.microsoft.com/office/drawing/2014/main" id="{714A43EA-A8B8-4956-879F-23DB8D183324}"/>
              </a:ext>
            </a:extLst>
          </p:cNvPr>
          <p:cNvSpPr>
            <a:spLocks noChangeAspect="1" noEditPoints="1"/>
          </p:cNvSpPr>
          <p:nvPr/>
        </p:nvSpPr>
        <p:spPr bwMode="auto">
          <a:xfrm>
            <a:off x="8307737" y="4367796"/>
            <a:ext cx="414108" cy="45757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dirty="0">
              <a:gradFill>
                <a:gsLst>
                  <a:gs pos="0">
                    <a:srgbClr val="505050"/>
                  </a:gs>
                  <a:gs pos="100000">
                    <a:srgbClr val="505050"/>
                  </a:gs>
                </a:gsLst>
                <a:lin ang="5400000" scaled="1"/>
              </a:gradFill>
            </a:endParaRPr>
          </a:p>
        </p:txBody>
      </p:sp>
      <p:sp>
        <p:nvSpPr>
          <p:cNvPr id="52" name="Rectangle: Rounded Corners 51">
            <a:extLst>
              <a:ext uri="{FF2B5EF4-FFF2-40B4-BE49-F238E27FC236}">
                <a16:creationId xmlns:a16="http://schemas.microsoft.com/office/drawing/2014/main" id="{3B4903BE-674D-4739-ACEF-4A29262CF827}"/>
              </a:ext>
            </a:extLst>
          </p:cNvPr>
          <p:cNvSpPr/>
          <p:nvPr/>
        </p:nvSpPr>
        <p:spPr bwMode="auto">
          <a:xfrm>
            <a:off x="10767477" y="3239013"/>
            <a:ext cx="1310792" cy="2656114"/>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cs-CZ" sz="2400" dirty="0">
                <a:gradFill>
                  <a:gsLst>
                    <a:gs pos="0">
                      <a:srgbClr val="FFFFFF"/>
                    </a:gs>
                    <a:gs pos="100000">
                      <a:srgbClr val="FFFFFF"/>
                    </a:gs>
                  </a:gsLst>
                  <a:lin ang="5400000" scaled="0"/>
                </a:gradFill>
                <a:ea typeface="Segoe UI" pitchFamily="34" charset="0"/>
                <a:cs typeface="Segoe UI" pitchFamily="34" charset="0"/>
              </a:rPr>
              <a:t>ISZR</a:t>
            </a:r>
          </a:p>
        </p:txBody>
      </p:sp>
      <p:cxnSp>
        <p:nvCxnSpPr>
          <p:cNvPr id="54" name="Straight Arrow Connector 53">
            <a:extLst>
              <a:ext uri="{FF2B5EF4-FFF2-40B4-BE49-F238E27FC236}">
                <a16:creationId xmlns:a16="http://schemas.microsoft.com/office/drawing/2014/main" id="{44E2AC8E-576B-4CC0-82D1-11557C6C53B2}"/>
              </a:ext>
            </a:extLst>
          </p:cNvPr>
          <p:cNvCxnSpPr>
            <a:cxnSpLocks/>
            <a:stCxn id="50" idx="3"/>
            <a:endCxn id="52" idx="1"/>
          </p:cNvCxnSpPr>
          <p:nvPr/>
        </p:nvCxnSpPr>
        <p:spPr>
          <a:xfrm>
            <a:off x="9336505" y="4314689"/>
            <a:ext cx="1430972" cy="252381"/>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0794A0FD-1E03-48E6-8D94-E13EBC48CFCD}"/>
              </a:ext>
            </a:extLst>
          </p:cNvPr>
          <p:cNvCxnSpPr>
            <a:cxnSpLocks/>
            <a:stCxn id="44" idx="3"/>
            <a:endCxn id="50" idx="1"/>
          </p:cNvCxnSpPr>
          <p:nvPr/>
        </p:nvCxnSpPr>
        <p:spPr>
          <a:xfrm>
            <a:off x="4237349" y="3941142"/>
            <a:ext cx="3464159" cy="373547"/>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B1292EA-0C68-4E60-86B8-F6E7653D98C2}"/>
              </a:ext>
            </a:extLst>
          </p:cNvPr>
          <p:cNvSpPr txBox="1"/>
          <p:nvPr/>
        </p:nvSpPr>
        <p:spPr>
          <a:xfrm>
            <a:off x="4845329" y="3550804"/>
            <a:ext cx="2307363" cy="440890"/>
          </a:xfrm>
          <a:prstGeom prst="rect">
            <a:avLst/>
          </a:prstGeom>
          <a:noFill/>
        </p:spPr>
        <p:txBody>
          <a:bodyPr wrap="none" lIns="182880" tIns="146304" rIns="182880" bIns="146304" rtlCol="0">
            <a:spAutoFit/>
          </a:bodyPr>
          <a:lstStyle/>
          <a:p>
            <a:pPr>
              <a:lnSpc>
                <a:spcPct val="90000"/>
              </a:lnSpc>
              <a:spcAft>
                <a:spcPts val="600"/>
              </a:spcAft>
            </a:pPr>
            <a:r>
              <a:rPr lang="cs-CZ" sz="1050" dirty="0">
                <a:gradFill>
                  <a:gsLst>
                    <a:gs pos="2917">
                      <a:schemeClr val="tx1"/>
                    </a:gs>
                    <a:gs pos="30000">
                      <a:schemeClr val="tx1"/>
                    </a:gs>
                  </a:gsLst>
                  <a:lin ang="5400000" scaled="0"/>
                </a:gradFill>
              </a:rPr>
              <a:t>https://mojeapp.xxx.yyy@mobile</a:t>
            </a:r>
          </a:p>
        </p:txBody>
      </p:sp>
      <p:grpSp>
        <p:nvGrpSpPr>
          <p:cNvPr id="59" name="Group 58">
            <a:extLst>
              <a:ext uri="{FF2B5EF4-FFF2-40B4-BE49-F238E27FC236}">
                <a16:creationId xmlns:a16="http://schemas.microsoft.com/office/drawing/2014/main" id="{779D393C-16D6-45CB-B7F1-4E279FD63B90}"/>
              </a:ext>
            </a:extLst>
          </p:cNvPr>
          <p:cNvGrpSpPr/>
          <p:nvPr/>
        </p:nvGrpSpPr>
        <p:grpSpPr>
          <a:xfrm>
            <a:off x="4272580" y="4134165"/>
            <a:ext cx="1136244" cy="503150"/>
            <a:chOff x="5119778" y="2329914"/>
            <a:chExt cx="1136244" cy="503150"/>
          </a:xfrm>
        </p:grpSpPr>
        <p:sp>
          <p:nvSpPr>
            <p:cNvPr id="57" name="Pentagon 56">
              <a:extLst>
                <a:ext uri="{FF2B5EF4-FFF2-40B4-BE49-F238E27FC236}">
                  <a16:creationId xmlns:a16="http://schemas.microsoft.com/office/drawing/2014/main" id="{9A4C0951-2522-43ED-8A97-733326E91FA2}"/>
                </a:ext>
              </a:extLst>
            </p:cNvPr>
            <p:cNvSpPr/>
            <p:nvPr/>
          </p:nvSpPr>
          <p:spPr bwMode="auto">
            <a:xfrm>
              <a:off x="5471032" y="2329914"/>
              <a:ext cx="318463" cy="283007"/>
            </a:xfrm>
            <a:prstGeom prst="pentago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2400" dirty="0">
                <a:gradFill>
                  <a:gsLst>
                    <a:gs pos="0">
                      <a:srgbClr val="FFFFFF"/>
                    </a:gs>
                    <a:gs pos="100000">
                      <a:srgbClr val="FFFFFF"/>
                    </a:gs>
                  </a:gsLst>
                  <a:lin ang="5400000" scaled="0"/>
                </a:gradFill>
                <a:ea typeface="Segoe UI" pitchFamily="34" charset="0"/>
                <a:cs typeface="Segoe UI" pitchFamily="34" charset="0"/>
              </a:endParaRPr>
            </a:p>
          </p:txBody>
        </p:sp>
        <p:sp>
          <p:nvSpPr>
            <p:cNvPr id="58" name="TextBox 57">
              <a:extLst>
                <a:ext uri="{FF2B5EF4-FFF2-40B4-BE49-F238E27FC236}">
                  <a16:creationId xmlns:a16="http://schemas.microsoft.com/office/drawing/2014/main" id="{DF83DA57-C7BD-46E0-BD57-3F14ED142557}"/>
                </a:ext>
              </a:extLst>
            </p:cNvPr>
            <p:cNvSpPr txBox="1"/>
            <p:nvPr/>
          </p:nvSpPr>
          <p:spPr>
            <a:xfrm flipH="1">
              <a:off x="5119778" y="2485861"/>
              <a:ext cx="1136244" cy="347203"/>
            </a:xfrm>
            <a:prstGeom prst="rect">
              <a:avLst/>
            </a:prstGeom>
            <a:noFill/>
          </p:spPr>
          <p:txBody>
            <a:bodyPr wrap="square" lIns="182880" tIns="146304" rIns="182880" bIns="146304" rtlCol="0">
              <a:spAutoFit/>
            </a:bodyPr>
            <a:lstStyle/>
            <a:p>
              <a:pPr>
                <a:lnSpc>
                  <a:spcPct val="90000"/>
                </a:lnSpc>
                <a:spcAft>
                  <a:spcPts val="600"/>
                </a:spcAft>
              </a:pPr>
              <a:r>
                <a:rPr lang="cs-CZ" sz="900" dirty="0">
                  <a:gradFill>
                    <a:gsLst>
                      <a:gs pos="2917">
                        <a:schemeClr val="tx1"/>
                      </a:gs>
                      <a:gs pos="30000">
                        <a:schemeClr val="tx1"/>
                      </a:gs>
                    </a:gsLst>
                    <a:lin ang="5400000" scaled="0"/>
                  </a:gradFill>
                </a:rPr>
                <a:t>Access token</a:t>
              </a:r>
            </a:p>
          </p:txBody>
        </p:sp>
      </p:grpSp>
      <p:cxnSp>
        <p:nvCxnSpPr>
          <p:cNvPr id="60" name="Straight Arrow Connector 101">
            <a:extLst>
              <a:ext uri="{FF2B5EF4-FFF2-40B4-BE49-F238E27FC236}">
                <a16:creationId xmlns:a16="http://schemas.microsoft.com/office/drawing/2014/main" id="{84EE2221-D423-46DC-805C-1CB8B13AEC82}"/>
              </a:ext>
            </a:extLst>
          </p:cNvPr>
          <p:cNvCxnSpPr>
            <a:cxnSpLocks/>
            <a:stCxn id="98" idx="0"/>
            <a:endCxn id="44" idx="2"/>
          </p:cNvCxnSpPr>
          <p:nvPr/>
        </p:nvCxnSpPr>
        <p:spPr>
          <a:xfrm rot="5400000" flipH="1" flipV="1">
            <a:off x="2988751" y="4186444"/>
            <a:ext cx="519076" cy="620525"/>
          </a:xfrm>
          <a:prstGeom prst="bentConnector3">
            <a:avLst>
              <a:gd name="adj1" fmla="val 50000"/>
            </a:avLst>
          </a:prstGeom>
          <a:ln>
            <a:headEnd type="triangle" w="med" len="med"/>
            <a:tailEnd type="none" w="med" len="med"/>
          </a:ln>
        </p:spPr>
        <p:style>
          <a:lnRef idx="1">
            <a:schemeClr val="accent2"/>
          </a:lnRef>
          <a:fillRef idx="0">
            <a:schemeClr val="accent2"/>
          </a:fillRef>
          <a:effectRef idx="0">
            <a:schemeClr val="accent2"/>
          </a:effectRef>
          <a:fontRef idx="minor">
            <a:schemeClr val="tx1"/>
          </a:fontRef>
        </p:style>
      </p:cxnSp>
      <p:sp>
        <p:nvSpPr>
          <p:cNvPr id="67" name="TextBox 66">
            <a:extLst>
              <a:ext uri="{FF2B5EF4-FFF2-40B4-BE49-F238E27FC236}">
                <a16:creationId xmlns:a16="http://schemas.microsoft.com/office/drawing/2014/main" id="{437CF85F-C6EE-46DB-B359-61440061DC4F}"/>
              </a:ext>
            </a:extLst>
          </p:cNvPr>
          <p:cNvSpPr txBox="1"/>
          <p:nvPr/>
        </p:nvSpPr>
        <p:spPr>
          <a:xfrm>
            <a:off x="1433248" y="4200281"/>
            <a:ext cx="1906612" cy="420115"/>
          </a:xfrm>
          <a:prstGeom prst="rect">
            <a:avLst/>
          </a:prstGeom>
          <a:noFill/>
        </p:spPr>
        <p:txBody>
          <a:bodyPr wrap="none" lIns="182880" tIns="146304" rIns="182880" bIns="146304" rtlCol="0">
            <a:spAutoFit/>
          </a:bodyPr>
          <a:lstStyle/>
          <a:p>
            <a:pPr>
              <a:lnSpc>
                <a:spcPct val="90000"/>
              </a:lnSpc>
              <a:spcAft>
                <a:spcPts val="600"/>
              </a:spcAft>
            </a:pPr>
            <a:r>
              <a:rPr lang="cs-CZ" sz="900" dirty="0">
                <a:solidFill>
                  <a:schemeClr val="bg1"/>
                </a:solidFill>
              </a:rPr>
              <a:t>https://mojeapp.xxx.yyy/token</a:t>
            </a:r>
          </a:p>
        </p:txBody>
      </p:sp>
      <p:cxnSp>
        <p:nvCxnSpPr>
          <p:cNvPr id="69" name="Straight Arrow Connector 68">
            <a:extLst>
              <a:ext uri="{FF2B5EF4-FFF2-40B4-BE49-F238E27FC236}">
                <a16:creationId xmlns:a16="http://schemas.microsoft.com/office/drawing/2014/main" id="{BEE5246D-39B0-4F37-8F7D-764B33163215}"/>
              </a:ext>
            </a:extLst>
          </p:cNvPr>
          <p:cNvCxnSpPr>
            <a:cxnSpLocks/>
            <a:stCxn id="98" idx="3"/>
            <a:endCxn id="30" idx="1"/>
          </p:cNvCxnSpPr>
          <p:nvPr/>
        </p:nvCxnSpPr>
        <p:spPr>
          <a:xfrm>
            <a:off x="4220177" y="5009103"/>
            <a:ext cx="3515990" cy="681278"/>
          </a:xfrm>
          <a:prstGeom prst="straightConnector1">
            <a:avLst/>
          </a:prstGeom>
          <a:ln w="1905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101">
            <a:extLst>
              <a:ext uri="{FF2B5EF4-FFF2-40B4-BE49-F238E27FC236}">
                <a16:creationId xmlns:a16="http://schemas.microsoft.com/office/drawing/2014/main" id="{380669E4-47B9-4F2F-87AE-E9E7C58BCDA9}"/>
              </a:ext>
            </a:extLst>
          </p:cNvPr>
          <p:cNvCxnSpPr>
            <a:cxnSpLocks/>
            <a:stCxn id="23" idx="0"/>
            <a:endCxn id="98" idx="2"/>
          </p:cNvCxnSpPr>
          <p:nvPr/>
        </p:nvCxnSpPr>
        <p:spPr>
          <a:xfrm rot="16200000" flipV="1">
            <a:off x="3144354" y="5055634"/>
            <a:ext cx="207872" cy="620525"/>
          </a:xfrm>
          <a:prstGeom prst="bentConnector3">
            <a:avLst>
              <a:gd name="adj1" fmla="val 50000"/>
            </a:avLst>
          </a:prstGeom>
          <a:ln>
            <a:headEnd type="triangle" w="med" len="med"/>
            <a:tailEnd type="none" w="med" len="med"/>
          </a:ln>
        </p:spPr>
        <p:style>
          <a:lnRef idx="1">
            <a:schemeClr val="accent2"/>
          </a:lnRef>
          <a:fillRef idx="0">
            <a:schemeClr val="accent2"/>
          </a:fillRef>
          <a:effectRef idx="0">
            <a:schemeClr val="accent2"/>
          </a:effectRef>
          <a:fontRef idx="minor">
            <a:schemeClr val="tx1"/>
          </a:fontRef>
        </p:style>
      </p:cxnSp>
      <p:sp>
        <p:nvSpPr>
          <p:cNvPr id="82" name="Rectangle: Rounded Corners 81">
            <a:extLst>
              <a:ext uri="{FF2B5EF4-FFF2-40B4-BE49-F238E27FC236}">
                <a16:creationId xmlns:a16="http://schemas.microsoft.com/office/drawing/2014/main" id="{CD6D97F0-54DD-47E6-816C-013789EDC988}"/>
              </a:ext>
            </a:extLst>
          </p:cNvPr>
          <p:cNvSpPr/>
          <p:nvPr/>
        </p:nvSpPr>
        <p:spPr bwMode="auto">
          <a:xfrm>
            <a:off x="1488967" y="5485011"/>
            <a:ext cx="1357594" cy="592052"/>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ts val="600"/>
              </a:spcAft>
            </a:pPr>
            <a:r>
              <a:rPr lang="cs-CZ" sz="1000" dirty="0">
                <a:gradFill>
                  <a:gsLst>
                    <a:gs pos="0">
                      <a:srgbClr val="FFFFFF"/>
                    </a:gs>
                    <a:gs pos="100000">
                      <a:srgbClr val="FFFFFF"/>
                    </a:gs>
                  </a:gsLst>
                  <a:lin ang="5400000" scaled="0"/>
                </a:gradFill>
                <a:ea typeface="Segoe UI" pitchFamily="34" charset="0"/>
                <a:cs typeface="Segoe UI" pitchFamily="34" charset="0"/>
              </a:rPr>
              <a:t>API přihlašovací údaje</a:t>
            </a:r>
          </a:p>
        </p:txBody>
      </p:sp>
      <p:sp>
        <p:nvSpPr>
          <p:cNvPr id="92" name="TextBox 91">
            <a:extLst>
              <a:ext uri="{FF2B5EF4-FFF2-40B4-BE49-F238E27FC236}">
                <a16:creationId xmlns:a16="http://schemas.microsoft.com/office/drawing/2014/main" id="{503478FD-0C8A-4D48-8E9F-4B7B45D0E9BA}"/>
              </a:ext>
            </a:extLst>
          </p:cNvPr>
          <p:cNvSpPr txBox="1"/>
          <p:nvPr/>
        </p:nvSpPr>
        <p:spPr>
          <a:xfrm>
            <a:off x="4950423" y="1575541"/>
            <a:ext cx="7359970" cy="1200329"/>
          </a:xfrm>
          <a:prstGeom prst="rect">
            <a:avLst/>
          </a:prstGeom>
          <a:noFill/>
        </p:spPr>
        <p:txBody>
          <a:bodyPr wrap="square">
            <a:spAutoFit/>
          </a:bodyPr>
          <a:lstStyle/>
          <a:p>
            <a:r>
              <a:rPr lang="cs-CZ" dirty="0">
                <a:latin typeface="Courier New" panose="02070309020205020404" pitchFamily="49" charset="0"/>
                <a:cs typeface="Courier New" panose="02070309020205020404" pitchFamily="49" charset="0"/>
              </a:rPr>
              <a:t>https://nia.identitaobcana.cz/FPSTS/oauth2/authorize?response_type=code&amp;scope=openid&amp;client_id=https%3A%2F%2Fmojeapp.xxx.yyy%40mobile&amp;redirect_uri=https%3A%2F%2Fmojeapp.xxx.yyy%2Ftoken</a:t>
            </a:r>
          </a:p>
        </p:txBody>
      </p:sp>
      <p:sp>
        <p:nvSpPr>
          <p:cNvPr id="88" name="Scroll: Vertical 87">
            <a:extLst>
              <a:ext uri="{FF2B5EF4-FFF2-40B4-BE49-F238E27FC236}">
                <a16:creationId xmlns:a16="http://schemas.microsoft.com/office/drawing/2014/main" id="{02E942FD-6C79-4B68-9B11-C0FC406BEC33}"/>
              </a:ext>
            </a:extLst>
          </p:cNvPr>
          <p:cNvSpPr/>
          <p:nvPr/>
        </p:nvSpPr>
        <p:spPr bwMode="auto">
          <a:xfrm>
            <a:off x="5221393" y="5086623"/>
            <a:ext cx="400612" cy="345841"/>
          </a:xfrm>
          <a:prstGeom prst="verticalScroll">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cs-CZ"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9" name="TextBox 88">
            <a:extLst>
              <a:ext uri="{FF2B5EF4-FFF2-40B4-BE49-F238E27FC236}">
                <a16:creationId xmlns:a16="http://schemas.microsoft.com/office/drawing/2014/main" id="{2C10E98A-C566-4B2C-A627-6FCF0A78315A}"/>
              </a:ext>
            </a:extLst>
          </p:cNvPr>
          <p:cNvSpPr txBox="1"/>
          <p:nvPr/>
        </p:nvSpPr>
        <p:spPr>
          <a:xfrm>
            <a:off x="4556357" y="5366085"/>
            <a:ext cx="1922642" cy="440890"/>
          </a:xfrm>
          <a:prstGeom prst="rect">
            <a:avLst/>
          </a:prstGeom>
          <a:noFill/>
        </p:spPr>
        <p:txBody>
          <a:bodyPr wrap="none" lIns="182880" tIns="146304" rIns="182880" bIns="146304" rtlCol="0">
            <a:spAutoFit/>
          </a:bodyPr>
          <a:lstStyle/>
          <a:p>
            <a:pPr>
              <a:lnSpc>
                <a:spcPct val="90000"/>
              </a:lnSpc>
              <a:spcAft>
                <a:spcPts val="600"/>
              </a:spcAft>
            </a:pPr>
            <a:r>
              <a:rPr lang="en-US" sz="1050" dirty="0">
                <a:gradFill>
                  <a:gsLst>
                    <a:gs pos="2917">
                      <a:schemeClr val="tx1"/>
                    </a:gs>
                    <a:gs pos="30000">
                      <a:schemeClr val="tx1"/>
                    </a:gs>
                  </a:gsLst>
                  <a:lin ang="5400000" scaled="0"/>
                </a:gradFill>
              </a:rPr>
              <a:t>Register request</a:t>
            </a:r>
            <a:r>
              <a:rPr lang="cs-CZ" sz="1050" dirty="0">
                <a:gradFill>
                  <a:gsLst>
                    <a:gs pos="2917">
                      <a:schemeClr val="tx1"/>
                    </a:gs>
                    <a:gs pos="30000">
                      <a:schemeClr val="tx1"/>
                    </a:gs>
                  </a:gsLst>
                  <a:lin ang="5400000" scaled="0"/>
                </a:gradFill>
              </a:rPr>
              <a:t>/response</a:t>
            </a:r>
          </a:p>
        </p:txBody>
      </p:sp>
    </p:spTree>
    <p:extLst>
      <p:ext uri="{BB962C8B-B14F-4D97-AF65-F5344CB8AC3E}">
        <p14:creationId xmlns:p14="http://schemas.microsoft.com/office/powerpoint/2010/main" val="12995568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331242-6D14-412B-AF50-B4B85EB6E786}"/>
              </a:ext>
            </a:extLst>
          </p:cNvPr>
          <p:cNvSpPr>
            <a:spLocks noGrp="1"/>
          </p:cNvSpPr>
          <p:nvPr>
            <p:ph type="title"/>
          </p:nvPr>
        </p:nvSpPr>
        <p:spPr/>
        <p:txBody>
          <a:bodyPr/>
          <a:lstStyle/>
          <a:p>
            <a:r>
              <a:rPr lang="cs-CZ" dirty="0"/>
              <a:t>Přihlašovací proces</a:t>
            </a:r>
          </a:p>
        </p:txBody>
      </p:sp>
      <p:sp>
        <p:nvSpPr>
          <p:cNvPr id="4" name="Text Placeholder 3">
            <a:extLst>
              <a:ext uri="{FF2B5EF4-FFF2-40B4-BE49-F238E27FC236}">
                <a16:creationId xmlns:a16="http://schemas.microsoft.com/office/drawing/2014/main" id="{40C70FA5-675E-4E29-87C6-05F523B7E5AD}"/>
              </a:ext>
            </a:extLst>
          </p:cNvPr>
          <p:cNvSpPr>
            <a:spLocks noGrp="1"/>
          </p:cNvSpPr>
          <p:nvPr>
            <p:ph type="body" sz="quarter" idx="11"/>
          </p:nvPr>
        </p:nvSpPr>
        <p:spPr/>
        <p:txBody>
          <a:bodyPr/>
          <a:lstStyle/>
          <a:p>
            <a:endParaRPr lang="cs-CZ"/>
          </a:p>
        </p:txBody>
      </p:sp>
      <p:pic>
        <p:nvPicPr>
          <p:cNvPr id="7" name="Picture 6">
            <a:extLst>
              <a:ext uri="{FF2B5EF4-FFF2-40B4-BE49-F238E27FC236}">
                <a16:creationId xmlns:a16="http://schemas.microsoft.com/office/drawing/2014/main" id="{B9A97539-EF95-4A1A-9FF3-7EFCE464DABC}"/>
              </a:ext>
            </a:extLst>
          </p:cNvPr>
          <p:cNvPicPr>
            <a:picLocks noChangeAspect="1"/>
          </p:cNvPicPr>
          <p:nvPr/>
        </p:nvPicPr>
        <p:blipFill>
          <a:blip r:embed="rId3"/>
          <a:stretch>
            <a:fillRect/>
          </a:stretch>
        </p:blipFill>
        <p:spPr>
          <a:xfrm>
            <a:off x="1266845" y="779233"/>
            <a:ext cx="9179201" cy="6159872"/>
          </a:xfrm>
          <a:prstGeom prst="rect">
            <a:avLst/>
          </a:prstGeom>
        </p:spPr>
      </p:pic>
    </p:spTree>
    <p:extLst>
      <p:ext uri="{BB962C8B-B14F-4D97-AF65-F5344CB8AC3E}">
        <p14:creationId xmlns:p14="http://schemas.microsoft.com/office/powerpoint/2010/main" val="306711162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1886-1DD1-4825-A871-DD6EF50C1647}"/>
              </a:ext>
            </a:extLst>
          </p:cNvPr>
          <p:cNvSpPr>
            <a:spLocks noGrp="1"/>
          </p:cNvSpPr>
          <p:nvPr>
            <p:ph type="title"/>
          </p:nvPr>
        </p:nvSpPr>
        <p:spPr/>
        <p:txBody>
          <a:bodyPr/>
          <a:lstStyle/>
          <a:p>
            <a:r>
              <a:rPr lang="cs-CZ" dirty="0"/>
              <a:t>Přihlašovací proces</a:t>
            </a:r>
          </a:p>
        </p:txBody>
      </p:sp>
      <p:sp>
        <p:nvSpPr>
          <p:cNvPr id="3" name="Text Placeholder 2">
            <a:extLst>
              <a:ext uri="{FF2B5EF4-FFF2-40B4-BE49-F238E27FC236}">
                <a16:creationId xmlns:a16="http://schemas.microsoft.com/office/drawing/2014/main" id="{8C299278-568D-4153-A5F8-33B9CA469451}"/>
              </a:ext>
            </a:extLst>
          </p:cNvPr>
          <p:cNvSpPr>
            <a:spLocks noGrp="1"/>
          </p:cNvSpPr>
          <p:nvPr>
            <p:ph type="body" sz="quarter" idx="11"/>
          </p:nvPr>
        </p:nvSpPr>
        <p:spPr>
          <a:xfrm>
            <a:off x="273455" y="852630"/>
            <a:ext cx="11889564" cy="6001643"/>
          </a:xfrm>
        </p:spPr>
        <p:txBody>
          <a:bodyPr/>
          <a:lstStyle/>
          <a:p>
            <a:pPr marL="685800" indent="-342900">
              <a:lnSpc>
                <a:spcPct val="100000"/>
              </a:lnSpc>
              <a:spcBef>
                <a:spcPts val="600"/>
              </a:spcBef>
              <a:spcAft>
                <a:spcPts val="600"/>
              </a:spcAft>
              <a:buFont typeface="+mj-lt"/>
              <a:buAutoNum type="arabicPeriod"/>
            </a:pPr>
            <a:r>
              <a:rPr lang="cs-CZ" sz="1800" dirty="0"/>
              <a:t>Mobilní aplikace vytvoří žádost o přihlášení.</a:t>
            </a:r>
          </a:p>
          <a:p>
            <a:pPr marL="685800" indent="-342900">
              <a:lnSpc>
                <a:spcPct val="100000"/>
              </a:lnSpc>
              <a:spcBef>
                <a:spcPts val="600"/>
              </a:spcBef>
              <a:spcAft>
                <a:spcPts val="600"/>
              </a:spcAft>
              <a:buFont typeface="+mj-lt"/>
              <a:buAutoNum type="arabicPeriod"/>
            </a:pPr>
            <a:r>
              <a:rPr lang="cs-CZ" sz="1800" dirty="0"/>
              <a:t>Žádost o přihlášení bude zaslána na definované URL.</a:t>
            </a:r>
          </a:p>
          <a:p>
            <a:pPr marL="685800" indent="-342900">
              <a:lnSpc>
                <a:spcPct val="100000"/>
              </a:lnSpc>
              <a:spcBef>
                <a:spcPts val="600"/>
              </a:spcBef>
              <a:spcAft>
                <a:spcPts val="600"/>
              </a:spcAft>
              <a:buFont typeface="+mj-lt"/>
              <a:buAutoNum type="arabicPeriod"/>
            </a:pPr>
            <a:r>
              <a:rPr lang="cs-CZ" sz="1800" dirty="0"/>
              <a:t>Rozhraní přijme žádost a vyhledá zařízení v databázi mobilních aplikací. Pokud je aplikace nalezena, pokračuje zpracování dále. Jinak je vytvořena chybová zpráva o tom, že mobilní aplikace není registrována a mobilní aplikace musí znovu zahájit proces registrace.</a:t>
            </a:r>
          </a:p>
          <a:p>
            <a:pPr marL="685800" indent="-342900">
              <a:lnSpc>
                <a:spcPct val="100000"/>
              </a:lnSpc>
              <a:spcBef>
                <a:spcPts val="600"/>
              </a:spcBef>
              <a:spcAft>
                <a:spcPts val="600"/>
              </a:spcAft>
              <a:buFont typeface="+mj-lt"/>
              <a:buAutoNum type="arabicPeriod"/>
            </a:pPr>
            <a:r>
              <a:rPr lang="cs-CZ" sz="1800" dirty="0"/>
              <a:t>Vytvoří se odpověď Login response.</a:t>
            </a:r>
          </a:p>
          <a:p>
            <a:pPr marL="685800" indent="-342900">
              <a:lnSpc>
                <a:spcPct val="100000"/>
              </a:lnSpc>
              <a:spcBef>
                <a:spcPts val="600"/>
              </a:spcBef>
              <a:spcAft>
                <a:spcPts val="600"/>
              </a:spcAft>
              <a:buFont typeface="+mj-lt"/>
              <a:buAutoNum type="arabicPeriod"/>
            </a:pPr>
            <a:r>
              <a:rPr lang="cs-CZ" sz="1800" dirty="0"/>
              <a:t>Mobilní aplikace zpracuje odpověď, ze které získá Access Token.</a:t>
            </a:r>
          </a:p>
          <a:p>
            <a:pPr marL="685800" indent="-342900">
              <a:lnSpc>
                <a:spcPct val="100000"/>
              </a:lnSpc>
              <a:spcBef>
                <a:spcPts val="600"/>
              </a:spcBef>
              <a:spcAft>
                <a:spcPts val="600"/>
              </a:spcAft>
              <a:buFont typeface="+mj-lt"/>
              <a:buAutoNum type="arabicPeriod"/>
            </a:pPr>
            <a:r>
              <a:rPr lang="cs-CZ" sz="1800" dirty="0"/>
              <a:t>Mobilní aplikace zavolá rozhraní (API) </a:t>
            </a:r>
            <a:r>
              <a:rPr lang="cs-CZ" sz="1800" dirty="0" err="1"/>
              <a:t>Service</a:t>
            </a:r>
            <a:r>
              <a:rPr lang="cs-CZ" sz="1800" dirty="0"/>
              <a:t> Providera (protokol je plně v kompetenci </a:t>
            </a:r>
            <a:r>
              <a:rPr lang="cs-CZ" sz="1800" dirty="0" err="1"/>
              <a:t>SePa</a:t>
            </a:r>
            <a:r>
              <a:rPr lang="cs-CZ" sz="1800" dirty="0"/>
              <a:t>) a předá Access token, popř. další informace, které bude vyžadovat tvůrce aplikace.</a:t>
            </a:r>
          </a:p>
          <a:p>
            <a:pPr marL="685800" indent="-342900">
              <a:lnSpc>
                <a:spcPct val="100000"/>
              </a:lnSpc>
              <a:spcBef>
                <a:spcPts val="600"/>
              </a:spcBef>
              <a:spcAft>
                <a:spcPts val="600"/>
              </a:spcAft>
              <a:buFont typeface="+mj-lt"/>
              <a:buAutoNum type="arabicPeriod"/>
            </a:pPr>
            <a:r>
              <a:rPr lang="cs-CZ" sz="1800" dirty="0" err="1"/>
              <a:t>SeP</a:t>
            </a:r>
            <a:r>
              <a:rPr lang="cs-CZ" sz="1800" dirty="0"/>
              <a:t> (API) připraví žádost o vydání tokenu a zavolá službu NIA FP pro vydání JWT na základě Access Tokenu. Komunikace bude založena na specifikaci </a:t>
            </a:r>
            <a:r>
              <a:rPr lang="cs-CZ" sz="1800" dirty="0" err="1"/>
              <a:t>OAuth</a:t>
            </a:r>
            <a:r>
              <a:rPr lang="cs-CZ" sz="1800" dirty="0"/>
              <a:t>. Při volání musí </a:t>
            </a:r>
            <a:r>
              <a:rPr lang="cs-CZ" sz="1800" dirty="0" err="1"/>
              <a:t>SeP</a:t>
            </a:r>
            <a:r>
              <a:rPr lang="cs-CZ" sz="1800" dirty="0"/>
              <a:t> poskytnout své přihlašovací údaje a Access Token.</a:t>
            </a:r>
          </a:p>
          <a:p>
            <a:pPr marL="685800" indent="-342900">
              <a:lnSpc>
                <a:spcPct val="100000"/>
              </a:lnSpc>
              <a:spcBef>
                <a:spcPts val="600"/>
              </a:spcBef>
              <a:spcAft>
                <a:spcPts val="600"/>
              </a:spcAft>
              <a:buFont typeface="+mj-lt"/>
              <a:buAutoNum type="arabicPeriod"/>
            </a:pPr>
            <a:r>
              <a:rPr lang="cs-CZ" sz="1800" dirty="0"/>
              <a:t>NIA FP ověří registraci </a:t>
            </a:r>
            <a:r>
              <a:rPr lang="cs-CZ" sz="1800" dirty="0" err="1"/>
              <a:t>SePa</a:t>
            </a:r>
            <a:r>
              <a:rPr lang="cs-CZ" sz="1800" dirty="0"/>
              <a:t>.</a:t>
            </a:r>
          </a:p>
          <a:p>
            <a:pPr marL="685800" indent="-342900">
              <a:lnSpc>
                <a:spcPct val="100000"/>
              </a:lnSpc>
              <a:spcBef>
                <a:spcPts val="600"/>
              </a:spcBef>
              <a:spcAft>
                <a:spcPts val="600"/>
              </a:spcAft>
              <a:buFont typeface="+mj-lt"/>
              <a:buAutoNum type="arabicPeriod"/>
            </a:pPr>
            <a:r>
              <a:rPr lang="cs-CZ" sz="1800" dirty="0"/>
              <a:t>NIA FP vytvoří JWT na základě Access Tokenu, který bude obsahovat zaregistrované atributy a vrátí JWT.</a:t>
            </a:r>
          </a:p>
          <a:p>
            <a:pPr marL="685800" indent="-342900">
              <a:lnSpc>
                <a:spcPct val="100000"/>
              </a:lnSpc>
              <a:spcBef>
                <a:spcPts val="600"/>
              </a:spcBef>
              <a:spcAft>
                <a:spcPts val="600"/>
              </a:spcAft>
              <a:buFont typeface="+mj-lt"/>
              <a:buAutoNum type="arabicPeriod"/>
            </a:pPr>
            <a:r>
              <a:rPr lang="cs-CZ" sz="1800" dirty="0" err="1"/>
              <a:t>SeP</a:t>
            </a:r>
            <a:r>
              <a:rPr lang="cs-CZ" sz="1800" dirty="0"/>
              <a:t> (API) má příslušné informace o přihlášeném uživateli. </a:t>
            </a:r>
            <a:r>
              <a:rPr lang="cs-CZ" sz="1800" dirty="0" err="1"/>
              <a:t>SeP</a:t>
            </a:r>
            <a:r>
              <a:rPr lang="cs-CZ" sz="1800" dirty="0"/>
              <a:t> může na základě získaných informací o uživateli provádět své požadované operace.</a:t>
            </a:r>
          </a:p>
        </p:txBody>
      </p:sp>
    </p:spTree>
    <p:extLst>
      <p:ext uri="{BB962C8B-B14F-4D97-AF65-F5344CB8AC3E}">
        <p14:creationId xmlns:p14="http://schemas.microsoft.com/office/powerpoint/2010/main" val="79381285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04C281-960B-471A-9536-CB517BA5FC8B}"/>
              </a:ext>
            </a:extLst>
          </p:cNvPr>
          <p:cNvSpPr>
            <a:spLocks noGrp="1"/>
          </p:cNvSpPr>
          <p:nvPr>
            <p:ph type="body" sz="quarter" idx="11"/>
          </p:nvPr>
        </p:nvSpPr>
        <p:spPr>
          <a:xfrm>
            <a:off x="274639" y="963465"/>
            <a:ext cx="11889564" cy="6020110"/>
          </a:xfrm>
        </p:spPr>
        <p:txBody>
          <a:bodyPr/>
          <a:lstStyle/>
          <a:p>
            <a:r>
              <a:rPr lang="cs-CZ" dirty="0"/>
              <a:t>Zprávy jsou přenášeny v obálkách</a:t>
            </a:r>
          </a:p>
          <a:p>
            <a:pPr marL="457200" indent="-457200">
              <a:buFont typeface="Arial" panose="020B0604020202020204" pitchFamily="34" charset="0"/>
              <a:buChar char="•"/>
            </a:pPr>
            <a:r>
              <a:rPr lang="cs-CZ" dirty="0"/>
              <a:t>Login </a:t>
            </a:r>
            <a:r>
              <a:rPr lang="cs-CZ" dirty="0" err="1"/>
              <a:t>envelope</a:t>
            </a:r>
            <a:endParaRPr lang="cs-CZ" dirty="0"/>
          </a:p>
          <a:p>
            <a:pPr marL="457200" indent="-457200">
              <a:buFont typeface="Arial" panose="020B0604020202020204" pitchFamily="34" charset="0"/>
              <a:buChar char="•"/>
            </a:pPr>
            <a:r>
              <a:rPr lang="cs-CZ" dirty="0" err="1"/>
              <a:t>Register</a:t>
            </a:r>
            <a:r>
              <a:rPr lang="cs-CZ" dirty="0"/>
              <a:t> </a:t>
            </a:r>
            <a:r>
              <a:rPr lang="cs-CZ" dirty="0" err="1"/>
              <a:t>envelope</a:t>
            </a:r>
            <a:endParaRPr lang="cs-CZ" dirty="0"/>
          </a:p>
          <a:p>
            <a:r>
              <a:rPr lang="cs-CZ" dirty="0"/>
              <a:t>Registrace</a:t>
            </a:r>
          </a:p>
          <a:p>
            <a:pPr marL="457200" indent="-457200">
              <a:buFont typeface="Arial" panose="020B0604020202020204" pitchFamily="34" charset="0"/>
              <a:buChar char="•"/>
            </a:pPr>
            <a:r>
              <a:rPr lang="cs-CZ" dirty="0" err="1"/>
              <a:t>Registration</a:t>
            </a:r>
            <a:r>
              <a:rPr lang="cs-CZ" dirty="0"/>
              <a:t> </a:t>
            </a:r>
            <a:r>
              <a:rPr lang="cs-CZ" dirty="0" err="1"/>
              <a:t>request</a:t>
            </a:r>
            <a:endParaRPr lang="cs-CZ" dirty="0"/>
          </a:p>
          <a:p>
            <a:pPr marL="457200" indent="-457200">
              <a:buFont typeface="Arial" panose="020B0604020202020204" pitchFamily="34" charset="0"/>
              <a:buChar char="•"/>
            </a:pPr>
            <a:r>
              <a:rPr lang="cs-CZ" dirty="0" err="1"/>
              <a:t>Registration</a:t>
            </a:r>
            <a:r>
              <a:rPr lang="cs-CZ" dirty="0"/>
              <a:t> response</a:t>
            </a:r>
          </a:p>
          <a:p>
            <a:r>
              <a:rPr lang="cs-CZ" dirty="0"/>
              <a:t>Login </a:t>
            </a:r>
          </a:p>
          <a:p>
            <a:pPr marL="457200" indent="-457200">
              <a:buFont typeface="Arial" panose="020B0604020202020204" pitchFamily="34" charset="0"/>
              <a:buChar char="•"/>
            </a:pPr>
            <a:r>
              <a:rPr lang="cs-CZ" dirty="0"/>
              <a:t>Login </a:t>
            </a:r>
            <a:r>
              <a:rPr lang="cs-CZ" dirty="0" err="1"/>
              <a:t>request</a:t>
            </a:r>
            <a:endParaRPr lang="cs-CZ" dirty="0"/>
          </a:p>
          <a:p>
            <a:pPr marL="457200" indent="-457200">
              <a:buFont typeface="Arial" panose="020B0604020202020204" pitchFamily="34" charset="0"/>
              <a:buChar char="•"/>
            </a:pPr>
            <a:r>
              <a:rPr lang="cs-CZ" dirty="0"/>
              <a:t>Login response</a:t>
            </a:r>
            <a:endParaRPr lang="en-US" dirty="0"/>
          </a:p>
        </p:txBody>
      </p:sp>
      <p:sp>
        <p:nvSpPr>
          <p:cNvPr id="5" name="Title 4">
            <a:extLst>
              <a:ext uri="{FF2B5EF4-FFF2-40B4-BE49-F238E27FC236}">
                <a16:creationId xmlns:a16="http://schemas.microsoft.com/office/drawing/2014/main" id="{E3331242-6D14-412B-AF50-B4B85EB6E786}"/>
              </a:ext>
            </a:extLst>
          </p:cNvPr>
          <p:cNvSpPr>
            <a:spLocks noGrp="1"/>
          </p:cNvSpPr>
          <p:nvPr>
            <p:ph type="title"/>
          </p:nvPr>
        </p:nvSpPr>
        <p:spPr/>
        <p:txBody>
          <a:bodyPr/>
          <a:lstStyle/>
          <a:p>
            <a:r>
              <a:rPr lang="cs-CZ" dirty="0"/>
              <a:t>Datové zprávy pro NIA mobile login API</a:t>
            </a:r>
          </a:p>
        </p:txBody>
      </p:sp>
    </p:spTree>
    <p:extLst>
      <p:ext uri="{BB962C8B-B14F-4D97-AF65-F5344CB8AC3E}">
        <p14:creationId xmlns:p14="http://schemas.microsoft.com/office/powerpoint/2010/main" val="173784614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E6D64-5C66-4DDD-AD2B-7A70BB41CFE7}"/>
              </a:ext>
            </a:extLst>
          </p:cNvPr>
          <p:cNvSpPr>
            <a:spLocks noGrp="1"/>
          </p:cNvSpPr>
          <p:nvPr>
            <p:ph type="title"/>
          </p:nvPr>
        </p:nvSpPr>
        <p:spPr/>
        <p:txBody>
          <a:bodyPr/>
          <a:lstStyle/>
          <a:p>
            <a:r>
              <a:rPr lang="cs-CZ" dirty="0"/>
              <a:t>Datová obálka - </a:t>
            </a:r>
            <a:r>
              <a:rPr lang="cs-CZ" dirty="0" err="1"/>
              <a:t>Request</a:t>
            </a:r>
            <a:endParaRPr lang="cs-CZ" dirty="0"/>
          </a:p>
        </p:txBody>
      </p:sp>
      <p:sp>
        <p:nvSpPr>
          <p:cNvPr id="3" name="Text Placeholder 2">
            <a:extLst>
              <a:ext uri="{FF2B5EF4-FFF2-40B4-BE49-F238E27FC236}">
                <a16:creationId xmlns:a16="http://schemas.microsoft.com/office/drawing/2014/main" id="{F75673BC-32DF-4BA4-9855-CD15B0B0FDD4}"/>
              </a:ext>
            </a:extLst>
          </p:cNvPr>
          <p:cNvSpPr>
            <a:spLocks noGrp="1"/>
          </p:cNvSpPr>
          <p:nvPr>
            <p:ph type="body" sz="quarter" idx="11"/>
          </p:nvPr>
        </p:nvSpPr>
        <p:spPr>
          <a:xfrm>
            <a:off x="274639" y="1212849"/>
            <a:ext cx="11889564" cy="3305520"/>
          </a:xfrm>
        </p:spPr>
        <p:txBody>
          <a:bodyPr/>
          <a:lstStyle/>
          <a:p>
            <a:r>
              <a:rPr lang="cs-CZ" dirty="0" err="1"/>
              <a:t>Request</a:t>
            </a:r>
            <a:r>
              <a:rPr lang="cs-CZ" dirty="0"/>
              <a:t> </a:t>
            </a:r>
            <a:r>
              <a:rPr lang="cs-CZ" dirty="0" err="1"/>
              <a:t>Envelope</a:t>
            </a:r>
            <a:r>
              <a:rPr lang="cs-CZ" dirty="0"/>
              <a:t> je obálka, kterou používá mobilní aplikace pro zasílání požadavků pro registraci a přihlášení. </a:t>
            </a:r>
          </a:p>
          <a:p>
            <a:r>
              <a:rPr lang="cs-CZ" dirty="0"/>
              <a:t>V elementu Data, jsou přenášena zašifrovaná data (</a:t>
            </a:r>
            <a:r>
              <a:rPr lang="cs-CZ" dirty="0" err="1"/>
              <a:t>Register</a:t>
            </a:r>
            <a:r>
              <a:rPr lang="cs-CZ" dirty="0"/>
              <a:t> </a:t>
            </a:r>
            <a:r>
              <a:rPr lang="cs-CZ" dirty="0" err="1"/>
              <a:t>request</a:t>
            </a:r>
            <a:r>
              <a:rPr lang="cs-CZ" dirty="0"/>
              <a:t> anebo Login </a:t>
            </a:r>
            <a:r>
              <a:rPr lang="cs-CZ" dirty="0" err="1"/>
              <a:t>request</a:t>
            </a:r>
            <a:r>
              <a:rPr lang="cs-CZ" dirty="0"/>
              <a:t>). </a:t>
            </a:r>
          </a:p>
          <a:p>
            <a:r>
              <a:rPr lang="cs-CZ" dirty="0"/>
              <a:t>V elementu </a:t>
            </a:r>
            <a:r>
              <a:rPr lang="cs-CZ" dirty="0" err="1"/>
              <a:t>Key</a:t>
            </a:r>
            <a:r>
              <a:rPr lang="cs-CZ" dirty="0"/>
              <a:t>, je přenášen zašifrovaný symetrický klíč. Symetrický klíč je zašifrován veřejným klíčem NIA.</a:t>
            </a:r>
          </a:p>
        </p:txBody>
      </p:sp>
      <p:sp>
        <p:nvSpPr>
          <p:cNvPr id="8" name="Rectangle 4">
            <a:extLst>
              <a:ext uri="{FF2B5EF4-FFF2-40B4-BE49-F238E27FC236}">
                <a16:creationId xmlns:a16="http://schemas.microsoft.com/office/drawing/2014/main" id="{F980F90E-C58F-45DC-8581-0B6EEB4436DE}"/>
              </a:ext>
            </a:extLst>
          </p:cNvPr>
          <p:cNvSpPr>
            <a:spLocks noChangeArrowheads="1"/>
          </p:cNvSpPr>
          <p:nvPr/>
        </p:nvSpPr>
        <p:spPr bwMode="auto">
          <a:xfrm>
            <a:off x="3022810" y="4661727"/>
            <a:ext cx="4043008" cy="1925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7763"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cs-CZ" altLang="cs-CZ" sz="24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EnvelopeVersion</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cs-CZ" altLang="cs-CZ" sz="2400" dirty="0">
                <a:latin typeface="Courier New" panose="02070309020205020404" pitchFamily="49" charset="0"/>
                <a:cs typeface="Courier New" panose="02070309020205020404" pitchFamily="49" charset="0"/>
              </a:rPr>
              <a:t>  </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"Data":"", </a:t>
            </a:r>
          </a:p>
          <a:p>
            <a:pPr marL="0" marR="0" lvl="0" indent="0" algn="l" defTabSz="914400" rtl="0" eaLnBrk="0" fontAlgn="base" latinLnBrk="0" hangingPunct="0">
              <a:lnSpc>
                <a:spcPct val="100000"/>
              </a:lnSpc>
              <a:spcBef>
                <a:spcPct val="0"/>
              </a:spcBef>
              <a:spcAft>
                <a:spcPct val="0"/>
              </a:spcAft>
              <a:buClrTx/>
              <a:buSzTx/>
              <a:buFontTx/>
              <a:buNone/>
              <a:tabLst/>
            </a:pPr>
            <a:r>
              <a:rPr lang="cs-CZ" altLang="cs-CZ" sz="2400" dirty="0">
                <a:latin typeface="Courier New" panose="02070309020205020404" pitchFamily="49" charset="0"/>
                <a:cs typeface="Courier New" panose="02070309020205020404" pitchFamily="49" charset="0"/>
              </a:rPr>
              <a:t>   </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cs-CZ" altLang="cs-CZ" sz="24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Key</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cs-CZ" altLang="cs-CZ" sz="105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endParaRPr kumimoji="0" lang="cs-CZ" altLang="cs-CZ" sz="4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5496127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E6D64-5C66-4DDD-AD2B-7A70BB41CFE7}"/>
              </a:ext>
            </a:extLst>
          </p:cNvPr>
          <p:cNvSpPr>
            <a:spLocks noGrp="1"/>
          </p:cNvSpPr>
          <p:nvPr>
            <p:ph type="title"/>
          </p:nvPr>
        </p:nvSpPr>
        <p:spPr/>
        <p:txBody>
          <a:bodyPr/>
          <a:lstStyle/>
          <a:p>
            <a:r>
              <a:rPr lang="cs-CZ" dirty="0"/>
              <a:t>Datová obálka - Response</a:t>
            </a:r>
          </a:p>
        </p:txBody>
      </p:sp>
      <p:sp>
        <p:nvSpPr>
          <p:cNvPr id="3" name="Text Placeholder 2">
            <a:extLst>
              <a:ext uri="{FF2B5EF4-FFF2-40B4-BE49-F238E27FC236}">
                <a16:creationId xmlns:a16="http://schemas.microsoft.com/office/drawing/2014/main" id="{F75673BC-32DF-4BA4-9855-CD15B0B0FDD4}"/>
              </a:ext>
            </a:extLst>
          </p:cNvPr>
          <p:cNvSpPr>
            <a:spLocks noGrp="1"/>
          </p:cNvSpPr>
          <p:nvPr>
            <p:ph type="body" sz="quarter" idx="11"/>
          </p:nvPr>
        </p:nvSpPr>
        <p:spPr>
          <a:xfrm>
            <a:off x="274639" y="1212849"/>
            <a:ext cx="11889564" cy="3305520"/>
          </a:xfrm>
        </p:spPr>
        <p:txBody>
          <a:bodyPr/>
          <a:lstStyle/>
          <a:p>
            <a:r>
              <a:rPr lang="cs-CZ" dirty="0"/>
              <a:t>Response </a:t>
            </a:r>
            <a:r>
              <a:rPr lang="cs-CZ" dirty="0" err="1"/>
              <a:t>Envelope</a:t>
            </a:r>
            <a:r>
              <a:rPr lang="cs-CZ" dirty="0"/>
              <a:t> je obálka, kterou mobilní aplikace používá pro příjem odpovědí z NIA. </a:t>
            </a:r>
          </a:p>
          <a:p>
            <a:r>
              <a:rPr lang="cs-CZ" dirty="0"/>
              <a:t>V elementu Data, je přenášena zašifrovaná data (</a:t>
            </a:r>
            <a:r>
              <a:rPr lang="cs-CZ" dirty="0" err="1"/>
              <a:t>Register</a:t>
            </a:r>
            <a:r>
              <a:rPr lang="cs-CZ" dirty="0"/>
              <a:t> response anebo Login response). </a:t>
            </a:r>
          </a:p>
          <a:p>
            <a:r>
              <a:rPr lang="cs-CZ" dirty="0"/>
              <a:t>V elementu </a:t>
            </a:r>
            <a:r>
              <a:rPr lang="cs-CZ" dirty="0" err="1"/>
              <a:t>Key</a:t>
            </a:r>
            <a:r>
              <a:rPr lang="cs-CZ" dirty="0"/>
              <a:t>, je přenášen zašifrovaný symetrický klíč. Symetrický klíč je zašifrován veřejným klíčem zaregistrované mobilní aplikace.</a:t>
            </a:r>
          </a:p>
        </p:txBody>
      </p:sp>
      <p:sp>
        <p:nvSpPr>
          <p:cNvPr id="8" name="Rectangle 4">
            <a:extLst>
              <a:ext uri="{FF2B5EF4-FFF2-40B4-BE49-F238E27FC236}">
                <a16:creationId xmlns:a16="http://schemas.microsoft.com/office/drawing/2014/main" id="{F980F90E-C58F-45DC-8581-0B6EEB4436DE}"/>
              </a:ext>
            </a:extLst>
          </p:cNvPr>
          <p:cNvSpPr>
            <a:spLocks noChangeArrowheads="1"/>
          </p:cNvSpPr>
          <p:nvPr/>
        </p:nvSpPr>
        <p:spPr bwMode="auto">
          <a:xfrm>
            <a:off x="2985025" y="4634419"/>
            <a:ext cx="7209402" cy="229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7763"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cs-CZ" altLang="cs-CZ" sz="24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EnvelopeVersion</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cs-CZ" altLang="cs-CZ" sz="2400" dirty="0">
                <a:latin typeface="Courier New" panose="02070309020205020404" pitchFamily="49" charset="0"/>
                <a:cs typeface="Courier New" panose="02070309020205020404" pitchFamily="49" charset="0"/>
              </a:rPr>
              <a:t>  </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"Data":"", </a:t>
            </a:r>
          </a:p>
          <a:p>
            <a:pPr marL="0" marR="0" lvl="0" indent="0" algn="l" defTabSz="914400" rtl="0" eaLnBrk="0" fontAlgn="base" latinLnBrk="0" hangingPunct="0">
              <a:lnSpc>
                <a:spcPct val="100000"/>
              </a:lnSpc>
              <a:spcBef>
                <a:spcPct val="0"/>
              </a:spcBef>
              <a:spcAft>
                <a:spcPct val="0"/>
              </a:spcAft>
              <a:buClrTx/>
              <a:buSzTx/>
              <a:buFontTx/>
              <a:buNone/>
              <a:tabLst/>
            </a:pPr>
            <a:r>
              <a:rPr lang="cs-CZ" altLang="cs-CZ" sz="2400" dirty="0">
                <a:latin typeface="Courier New" panose="02070309020205020404" pitchFamily="49" charset="0"/>
                <a:cs typeface="Courier New" panose="02070309020205020404" pitchFamily="49" charset="0"/>
              </a:rPr>
              <a:t>   </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cs-CZ" altLang="cs-CZ" sz="24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Key</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cs-CZ" altLang="cs-CZ" sz="2400" dirty="0">
                <a:latin typeface="Courier New" panose="02070309020205020404" pitchFamily="49" charset="0"/>
                <a:cs typeface="Courier New" panose="02070309020205020404" pitchFamily="49" charset="0"/>
              </a:rPr>
              <a:t>   </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cs-CZ" altLang="cs-CZ" sz="24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ErrorCode</a:t>
            </a: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"ServerTimeUtc":"2021-1-1T10:00:00"</a:t>
            </a:r>
          </a:p>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sz="2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cs-CZ" altLang="cs-CZ" sz="105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endParaRPr kumimoji="0" lang="cs-CZ" altLang="cs-CZ" sz="4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2317212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C6663-6B3B-4D91-ACEA-98DF4F605091}"/>
              </a:ext>
            </a:extLst>
          </p:cNvPr>
          <p:cNvSpPr>
            <a:spLocks noGrp="1"/>
          </p:cNvSpPr>
          <p:nvPr>
            <p:ph type="title"/>
          </p:nvPr>
        </p:nvSpPr>
        <p:spPr/>
        <p:txBody>
          <a:bodyPr/>
          <a:lstStyle/>
          <a:p>
            <a:r>
              <a:rPr lang="cs-CZ" dirty="0"/>
              <a:t>Registrace mobilní aplikace</a:t>
            </a:r>
          </a:p>
        </p:txBody>
      </p:sp>
      <p:sp>
        <p:nvSpPr>
          <p:cNvPr id="3" name="Text Placeholder 2">
            <a:extLst>
              <a:ext uri="{FF2B5EF4-FFF2-40B4-BE49-F238E27FC236}">
                <a16:creationId xmlns:a16="http://schemas.microsoft.com/office/drawing/2014/main" id="{97501BD7-5869-42C8-819C-54486244C905}"/>
              </a:ext>
            </a:extLst>
          </p:cNvPr>
          <p:cNvSpPr>
            <a:spLocks noGrp="1"/>
          </p:cNvSpPr>
          <p:nvPr>
            <p:ph type="body" sz="quarter" idx="11"/>
          </p:nvPr>
        </p:nvSpPr>
        <p:spPr/>
        <p:txBody>
          <a:bodyPr/>
          <a:lstStyle/>
          <a:p>
            <a:endParaRPr lang="cs-CZ"/>
          </a:p>
        </p:txBody>
      </p:sp>
      <p:pic>
        <p:nvPicPr>
          <p:cNvPr id="5" name="Picture 4">
            <a:extLst>
              <a:ext uri="{FF2B5EF4-FFF2-40B4-BE49-F238E27FC236}">
                <a16:creationId xmlns:a16="http://schemas.microsoft.com/office/drawing/2014/main" id="{F687A491-1A05-4D0E-AE9A-673FAF4F43B8}"/>
              </a:ext>
            </a:extLst>
          </p:cNvPr>
          <p:cNvPicPr>
            <a:picLocks noChangeAspect="1"/>
          </p:cNvPicPr>
          <p:nvPr/>
        </p:nvPicPr>
        <p:blipFill>
          <a:blip r:embed="rId2"/>
          <a:stretch>
            <a:fillRect/>
          </a:stretch>
        </p:blipFill>
        <p:spPr>
          <a:xfrm>
            <a:off x="134136" y="722408"/>
            <a:ext cx="6084101" cy="3397724"/>
          </a:xfrm>
          <a:prstGeom prst="rect">
            <a:avLst/>
          </a:prstGeom>
        </p:spPr>
      </p:pic>
      <p:pic>
        <p:nvPicPr>
          <p:cNvPr id="8" name="Picture 7">
            <a:extLst>
              <a:ext uri="{FF2B5EF4-FFF2-40B4-BE49-F238E27FC236}">
                <a16:creationId xmlns:a16="http://schemas.microsoft.com/office/drawing/2014/main" id="{80BA1987-D7F5-4377-BC6E-99977A7D248E}"/>
              </a:ext>
            </a:extLst>
          </p:cNvPr>
          <p:cNvPicPr>
            <a:picLocks noChangeAspect="1"/>
          </p:cNvPicPr>
          <p:nvPr/>
        </p:nvPicPr>
        <p:blipFill>
          <a:blip r:embed="rId3"/>
          <a:stretch>
            <a:fillRect/>
          </a:stretch>
        </p:blipFill>
        <p:spPr>
          <a:xfrm>
            <a:off x="6180534" y="699548"/>
            <a:ext cx="5931303" cy="2855510"/>
          </a:xfrm>
          <a:prstGeom prst="rect">
            <a:avLst/>
          </a:prstGeom>
        </p:spPr>
      </p:pic>
    </p:spTree>
    <p:extLst>
      <p:ext uri="{BB962C8B-B14F-4D97-AF65-F5344CB8AC3E}">
        <p14:creationId xmlns:p14="http://schemas.microsoft.com/office/powerpoint/2010/main" val="387139784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C6663-6B3B-4D91-ACEA-98DF4F605091}"/>
              </a:ext>
            </a:extLst>
          </p:cNvPr>
          <p:cNvSpPr>
            <a:spLocks noGrp="1"/>
          </p:cNvSpPr>
          <p:nvPr>
            <p:ph type="title"/>
          </p:nvPr>
        </p:nvSpPr>
        <p:spPr/>
        <p:txBody>
          <a:bodyPr/>
          <a:lstStyle/>
          <a:p>
            <a:r>
              <a:rPr lang="cs-CZ" dirty="0"/>
              <a:t>Přihlášení mobilní aplikace</a:t>
            </a:r>
          </a:p>
        </p:txBody>
      </p:sp>
      <p:sp>
        <p:nvSpPr>
          <p:cNvPr id="3" name="Text Placeholder 2">
            <a:extLst>
              <a:ext uri="{FF2B5EF4-FFF2-40B4-BE49-F238E27FC236}">
                <a16:creationId xmlns:a16="http://schemas.microsoft.com/office/drawing/2014/main" id="{97501BD7-5869-42C8-819C-54486244C905}"/>
              </a:ext>
            </a:extLst>
          </p:cNvPr>
          <p:cNvSpPr>
            <a:spLocks noGrp="1"/>
          </p:cNvSpPr>
          <p:nvPr>
            <p:ph type="body" sz="quarter" idx="11"/>
          </p:nvPr>
        </p:nvSpPr>
        <p:spPr/>
        <p:txBody>
          <a:bodyPr/>
          <a:lstStyle/>
          <a:p>
            <a:endParaRPr lang="cs-CZ"/>
          </a:p>
        </p:txBody>
      </p:sp>
      <p:pic>
        <p:nvPicPr>
          <p:cNvPr id="7" name="Picture 6">
            <a:extLst>
              <a:ext uri="{FF2B5EF4-FFF2-40B4-BE49-F238E27FC236}">
                <a16:creationId xmlns:a16="http://schemas.microsoft.com/office/drawing/2014/main" id="{0B0C87DF-004C-4646-9E98-755D71F59D93}"/>
              </a:ext>
            </a:extLst>
          </p:cNvPr>
          <p:cNvPicPr>
            <a:picLocks noChangeAspect="1"/>
          </p:cNvPicPr>
          <p:nvPr/>
        </p:nvPicPr>
        <p:blipFill>
          <a:blip r:embed="rId2"/>
          <a:stretch>
            <a:fillRect/>
          </a:stretch>
        </p:blipFill>
        <p:spPr>
          <a:xfrm>
            <a:off x="71439" y="610870"/>
            <a:ext cx="6408679" cy="6195353"/>
          </a:xfrm>
          <a:prstGeom prst="rect">
            <a:avLst/>
          </a:prstGeom>
        </p:spPr>
      </p:pic>
      <p:pic>
        <p:nvPicPr>
          <p:cNvPr id="9" name="Picture 8">
            <a:extLst>
              <a:ext uri="{FF2B5EF4-FFF2-40B4-BE49-F238E27FC236}">
                <a16:creationId xmlns:a16="http://schemas.microsoft.com/office/drawing/2014/main" id="{FDAA7676-AC0A-4998-BFE3-C2B22DC34749}"/>
              </a:ext>
            </a:extLst>
          </p:cNvPr>
          <p:cNvPicPr>
            <a:picLocks noChangeAspect="1"/>
          </p:cNvPicPr>
          <p:nvPr/>
        </p:nvPicPr>
        <p:blipFill>
          <a:blip r:embed="rId3"/>
          <a:stretch>
            <a:fillRect/>
          </a:stretch>
        </p:blipFill>
        <p:spPr>
          <a:xfrm>
            <a:off x="6419646" y="722408"/>
            <a:ext cx="5805030" cy="2749751"/>
          </a:xfrm>
          <a:prstGeom prst="rect">
            <a:avLst/>
          </a:prstGeom>
        </p:spPr>
      </p:pic>
    </p:spTree>
    <p:extLst>
      <p:ext uri="{BB962C8B-B14F-4D97-AF65-F5344CB8AC3E}">
        <p14:creationId xmlns:p14="http://schemas.microsoft.com/office/powerpoint/2010/main" val="22459159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FAD25-599E-4972-8230-29291540494E}"/>
              </a:ext>
            </a:extLst>
          </p:cNvPr>
          <p:cNvSpPr>
            <a:spLocks noGrp="1"/>
          </p:cNvSpPr>
          <p:nvPr>
            <p:ph type="title"/>
          </p:nvPr>
        </p:nvSpPr>
        <p:spPr/>
        <p:txBody>
          <a:bodyPr/>
          <a:lstStyle/>
          <a:p>
            <a:r>
              <a:rPr lang="cs-CZ" dirty="0"/>
              <a:t>Struktura </a:t>
            </a:r>
            <a:r>
              <a:rPr lang="cs-CZ" dirty="0" err="1"/>
              <a:t>Application</a:t>
            </a:r>
            <a:endParaRPr lang="cs-CZ" dirty="0"/>
          </a:p>
        </p:txBody>
      </p:sp>
      <p:sp>
        <p:nvSpPr>
          <p:cNvPr id="3" name="Text Placeholder 2">
            <a:extLst>
              <a:ext uri="{FF2B5EF4-FFF2-40B4-BE49-F238E27FC236}">
                <a16:creationId xmlns:a16="http://schemas.microsoft.com/office/drawing/2014/main" id="{D10587ED-671D-42A2-B7DB-3FE063A72105}"/>
              </a:ext>
            </a:extLst>
          </p:cNvPr>
          <p:cNvSpPr>
            <a:spLocks noGrp="1"/>
          </p:cNvSpPr>
          <p:nvPr>
            <p:ph type="body" sz="quarter" idx="11"/>
          </p:nvPr>
        </p:nvSpPr>
        <p:spPr/>
        <p:txBody>
          <a:bodyPr/>
          <a:lstStyle/>
          <a:p>
            <a:endParaRPr lang="cs-CZ"/>
          </a:p>
        </p:txBody>
      </p:sp>
      <p:pic>
        <p:nvPicPr>
          <p:cNvPr id="5" name="Picture 4">
            <a:extLst>
              <a:ext uri="{FF2B5EF4-FFF2-40B4-BE49-F238E27FC236}">
                <a16:creationId xmlns:a16="http://schemas.microsoft.com/office/drawing/2014/main" id="{283EA31B-F1A3-418E-81B2-F909C97AE8A4}"/>
              </a:ext>
            </a:extLst>
          </p:cNvPr>
          <p:cNvPicPr>
            <a:picLocks noChangeAspect="1"/>
          </p:cNvPicPr>
          <p:nvPr/>
        </p:nvPicPr>
        <p:blipFill>
          <a:blip r:embed="rId2"/>
          <a:stretch>
            <a:fillRect/>
          </a:stretch>
        </p:blipFill>
        <p:spPr>
          <a:xfrm>
            <a:off x="1744808" y="723195"/>
            <a:ext cx="7011378" cy="5058481"/>
          </a:xfrm>
          <a:prstGeom prst="rect">
            <a:avLst/>
          </a:prstGeom>
        </p:spPr>
      </p:pic>
    </p:spTree>
    <p:extLst>
      <p:ext uri="{BB962C8B-B14F-4D97-AF65-F5344CB8AC3E}">
        <p14:creationId xmlns:p14="http://schemas.microsoft.com/office/powerpoint/2010/main" val="89558506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73945-11EC-4F15-BE43-C83651CB0368}"/>
              </a:ext>
            </a:extLst>
          </p:cNvPr>
          <p:cNvSpPr>
            <a:spLocks noGrp="1"/>
          </p:cNvSpPr>
          <p:nvPr>
            <p:ph type="title"/>
          </p:nvPr>
        </p:nvSpPr>
        <p:spPr/>
        <p:txBody>
          <a:bodyPr/>
          <a:lstStyle/>
          <a:p>
            <a:r>
              <a:rPr lang="cs-CZ" dirty="0"/>
              <a:t>Zabezpečení datových zpráv - šifrování</a:t>
            </a:r>
          </a:p>
        </p:txBody>
      </p:sp>
      <p:sp>
        <p:nvSpPr>
          <p:cNvPr id="3" name="Text Placeholder 2">
            <a:extLst>
              <a:ext uri="{FF2B5EF4-FFF2-40B4-BE49-F238E27FC236}">
                <a16:creationId xmlns:a16="http://schemas.microsoft.com/office/drawing/2014/main" id="{468CBF3D-7591-4757-A8C2-F268A2A39E0C}"/>
              </a:ext>
            </a:extLst>
          </p:cNvPr>
          <p:cNvSpPr>
            <a:spLocks noGrp="1"/>
          </p:cNvSpPr>
          <p:nvPr>
            <p:ph type="body" sz="quarter" idx="11"/>
          </p:nvPr>
        </p:nvSpPr>
        <p:spPr>
          <a:xfrm>
            <a:off x="274639" y="1212849"/>
            <a:ext cx="11889564" cy="4653582"/>
          </a:xfrm>
        </p:spPr>
        <p:txBody>
          <a:bodyPr/>
          <a:lstStyle/>
          <a:p>
            <a:r>
              <a:rPr lang="cs-CZ" dirty="0"/>
              <a:t>Zprávy pro registraci a login jsou zabezpečeny šifrováním. </a:t>
            </a:r>
          </a:p>
          <a:p>
            <a:r>
              <a:rPr lang="cs-CZ" dirty="0"/>
              <a:t>Pro šifrování je použitá kombinace algoritmů AES_256/ECB/</a:t>
            </a:r>
            <a:r>
              <a:rPr lang="cs-CZ" dirty="0" err="1"/>
              <a:t>NoPadding</a:t>
            </a:r>
            <a:r>
              <a:rPr lang="cs-CZ" dirty="0"/>
              <a:t> a RSA/ECB/PKCS1Padding. </a:t>
            </a:r>
          </a:p>
          <a:p>
            <a:r>
              <a:rPr lang="cs-CZ" dirty="0"/>
              <a:t>Strana, která připravuje zprávu k odeslání nejdříve vygeneruje AES klíč, kterým provede zašifrování datové zprávy. </a:t>
            </a:r>
          </a:p>
          <a:p>
            <a:r>
              <a:rPr lang="cs-CZ" dirty="0"/>
              <a:t>Takto zašifrovanou zprávu vloží do elementu Data v datové obálce. </a:t>
            </a:r>
          </a:p>
          <a:p>
            <a:r>
              <a:rPr lang="cs-CZ" dirty="0"/>
              <a:t>Dále odesílající strana zašifruje AES klíč veřejným klíčem strany, která zprávu přijímá a výsledek vloží do elementu </a:t>
            </a:r>
            <a:r>
              <a:rPr lang="cs-CZ" dirty="0" err="1"/>
              <a:t>Key</a:t>
            </a:r>
            <a:r>
              <a:rPr lang="cs-CZ" dirty="0"/>
              <a:t> v datové obálce. </a:t>
            </a:r>
          </a:p>
        </p:txBody>
      </p:sp>
    </p:spTree>
    <p:extLst>
      <p:ext uri="{BB962C8B-B14F-4D97-AF65-F5344CB8AC3E}">
        <p14:creationId xmlns:p14="http://schemas.microsoft.com/office/powerpoint/2010/main" val="145398154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49AFB-F693-46BA-892A-7505119F1F2A}"/>
              </a:ext>
            </a:extLst>
          </p:cNvPr>
          <p:cNvSpPr>
            <a:spLocks noGrp="1"/>
          </p:cNvSpPr>
          <p:nvPr>
            <p:ph type="title"/>
          </p:nvPr>
        </p:nvSpPr>
        <p:spPr/>
        <p:txBody>
          <a:bodyPr/>
          <a:lstStyle/>
          <a:p>
            <a:r>
              <a:rPr lang="cs-CZ" dirty="0"/>
              <a:t>Postup šifrování</a:t>
            </a:r>
          </a:p>
        </p:txBody>
      </p:sp>
      <p:sp>
        <p:nvSpPr>
          <p:cNvPr id="3" name="Text Placeholder 2">
            <a:extLst>
              <a:ext uri="{FF2B5EF4-FFF2-40B4-BE49-F238E27FC236}">
                <a16:creationId xmlns:a16="http://schemas.microsoft.com/office/drawing/2014/main" id="{48C486FC-F827-494D-9C33-7290BEEBB1AD}"/>
              </a:ext>
            </a:extLst>
          </p:cNvPr>
          <p:cNvSpPr>
            <a:spLocks noGrp="1"/>
          </p:cNvSpPr>
          <p:nvPr>
            <p:ph type="body" sz="quarter" idx="11"/>
          </p:nvPr>
        </p:nvSpPr>
        <p:spPr>
          <a:xfrm>
            <a:off x="274639" y="1212849"/>
            <a:ext cx="11889564" cy="5558445"/>
          </a:xfrm>
        </p:spPr>
        <p:txBody>
          <a:bodyPr/>
          <a:lstStyle/>
          <a:p>
            <a:pPr marL="514350" indent="-514350">
              <a:buFont typeface="+mj-lt"/>
              <a:buAutoNum type="arabicPeriod"/>
            </a:pPr>
            <a:r>
              <a:rPr lang="cs-CZ" sz="2800" dirty="0" err="1"/>
              <a:t>Serializace</a:t>
            </a:r>
            <a:r>
              <a:rPr lang="cs-CZ" sz="2800" dirty="0"/>
              <a:t> zprávy. Převedení JSON do </a:t>
            </a:r>
            <a:r>
              <a:rPr lang="cs-CZ" sz="2800" dirty="0" err="1"/>
              <a:t>stringu</a:t>
            </a:r>
            <a:r>
              <a:rPr lang="cs-CZ" sz="2800" dirty="0"/>
              <a:t>.</a:t>
            </a:r>
          </a:p>
          <a:p>
            <a:pPr marL="514350" indent="-514350">
              <a:buFont typeface="+mj-lt"/>
              <a:buAutoNum type="arabicPeriod"/>
            </a:pPr>
            <a:r>
              <a:rPr lang="cs-CZ" sz="2800" dirty="0"/>
              <a:t>Převedení </a:t>
            </a:r>
            <a:r>
              <a:rPr lang="cs-CZ" sz="2800" dirty="0" err="1"/>
              <a:t>serializované</a:t>
            </a:r>
            <a:r>
              <a:rPr lang="cs-CZ" sz="2800" dirty="0"/>
              <a:t> zprávy do byte pole (</a:t>
            </a:r>
            <a:r>
              <a:rPr lang="cs-CZ" sz="2800" dirty="0" err="1"/>
              <a:t>encoding</a:t>
            </a:r>
            <a:r>
              <a:rPr lang="cs-CZ" sz="2800" dirty="0"/>
              <a:t> UTF8).</a:t>
            </a:r>
          </a:p>
          <a:p>
            <a:pPr marL="514350" indent="-514350">
              <a:buFont typeface="+mj-lt"/>
              <a:buAutoNum type="arabicPeriod"/>
            </a:pPr>
            <a:r>
              <a:rPr lang="cs-CZ" sz="2800" dirty="0"/>
              <a:t>Doplnění délky pole z předchozího kroku tak, aby byla dělitelná 16 beze zbytku. Chybějící </a:t>
            </a:r>
            <a:r>
              <a:rPr lang="cs-CZ" sz="2800" dirty="0" err="1"/>
              <a:t>bytes</a:t>
            </a:r>
            <a:r>
              <a:rPr lang="cs-CZ" sz="2800" dirty="0"/>
              <a:t> doplnit jako mezery (0x20) na konec pole.</a:t>
            </a:r>
          </a:p>
          <a:p>
            <a:pPr marL="514350" indent="-514350">
              <a:buFont typeface="+mj-lt"/>
              <a:buAutoNum type="arabicPeriod"/>
            </a:pPr>
            <a:r>
              <a:rPr lang="cs-CZ" sz="2800" dirty="0"/>
              <a:t>Vygenerování šifrovacího klíče AES256.</a:t>
            </a:r>
          </a:p>
          <a:p>
            <a:pPr marL="514350" indent="-514350">
              <a:buFont typeface="+mj-lt"/>
              <a:buAutoNum type="arabicPeriod"/>
            </a:pPr>
            <a:r>
              <a:rPr lang="cs-CZ" sz="2800" dirty="0"/>
              <a:t>Zašifrování pole pomocí algoritmu AES_256/ECB/</a:t>
            </a:r>
            <a:r>
              <a:rPr lang="cs-CZ" sz="2800" dirty="0" err="1"/>
              <a:t>NoPadding</a:t>
            </a:r>
            <a:r>
              <a:rPr lang="cs-CZ" sz="2800" dirty="0"/>
              <a:t>.</a:t>
            </a:r>
          </a:p>
          <a:p>
            <a:pPr marL="514350" indent="-514350">
              <a:buFont typeface="+mj-lt"/>
              <a:buAutoNum type="arabicPeriod"/>
            </a:pPr>
            <a:r>
              <a:rPr lang="cs-CZ" sz="2800" dirty="0"/>
              <a:t>Takto zašifrovanou pole vložit do elementu Data v datové obálce, jako base64 </a:t>
            </a:r>
            <a:r>
              <a:rPr lang="cs-CZ" sz="2800" dirty="0" err="1"/>
              <a:t>string</a:t>
            </a:r>
            <a:r>
              <a:rPr lang="cs-CZ" sz="2800" dirty="0"/>
              <a:t>.</a:t>
            </a:r>
          </a:p>
          <a:p>
            <a:pPr marL="514350" indent="-514350">
              <a:buFont typeface="+mj-lt"/>
              <a:buAutoNum type="arabicPeriod"/>
            </a:pPr>
            <a:r>
              <a:rPr lang="cs-CZ" sz="2800" dirty="0"/>
              <a:t>Pomocí veřejného klíče NIA zašifrovat šifrovací klíč AES256 z kroku 4 a vložit ho do elementu </a:t>
            </a:r>
            <a:r>
              <a:rPr lang="cs-CZ" sz="2800" dirty="0" err="1"/>
              <a:t>Key</a:t>
            </a:r>
            <a:r>
              <a:rPr lang="cs-CZ" sz="2800" dirty="0"/>
              <a:t> v datové obálce, jako base64 </a:t>
            </a:r>
            <a:r>
              <a:rPr lang="cs-CZ" sz="2800" dirty="0" err="1"/>
              <a:t>string</a:t>
            </a:r>
            <a:r>
              <a:rPr lang="cs-CZ" sz="2800" dirty="0"/>
              <a:t>.</a:t>
            </a:r>
          </a:p>
        </p:txBody>
      </p:sp>
    </p:spTree>
    <p:extLst>
      <p:ext uri="{BB962C8B-B14F-4D97-AF65-F5344CB8AC3E}">
        <p14:creationId xmlns:p14="http://schemas.microsoft.com/office/powerpoint/2010/main" val="362722096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73945-11EC-4F15-BE43-C83651CB0368}"/>
              </a:ext>
            </a:extLst>
          </p:cNvPr>
          <p:cNvSpPr>
            <a:spLocks noGrp="1"/>
          </p:cNvSpPr>
          <p:nvPr>
            <p:ph type="title"/>
          </p:nvPr>
        </p:nvSpPr>
        <p:spPr/>
        <p:txBody>
          <a:bodyPr/>
          <a:lstStyle/>
          <a:p>
            <a:r>
              <a:rPr lang="cs-CZ" dirty="0"/>
              <a:t>Zabezpečení datových zpráv - podepisování</a:t>
            </a:r>
          </a:p>
        </p:txBody>
      </p:sp>
      <p:sp>
        <p:nvSpPr>
          <p:cNvPr id="3" name="Text Placeholder 2">
            <a:extLst>
              <a:ext uri="{FF2B5EF4-FFF2-40B4-BE49-F238E27FC236}">
                <a16:creationId xmlns:a16="http://schemas.microsoft.com/office/drawing/2014/main" id="{468CBF3D-7591-4757-A8C2-F268A2A39E0C}"/>
              </a:ext>
            </a:extLst>
          </p:cNvPr>
          <p:cNvSpPr>
            <a:spLocks noGrp="1"/>
          </p:cNvSpPr>
          <p:nvPr>
            <p:ph type="body" sz="quarter" idx="11"/>
          </p:nvPr>
        </p:nvSpPr>
        <p:spPr>
          <a:xfrm>
            <a:off x="274639" y="1212849"/>
            <a:ext cx="11889564" cy="1514261"/>
          </a:xfrm>
        </p:spPr>
        <p:txBody>
          <a:bodyPr/>
          <a:lstStyle/>
          <a:p>
            <a:r>
              <a:rPr lang="cs-CZ" dirty="0"/>
              <a:t>Před zašifrováním zprávy pro přihlášení (Login </a:t>
            </a:r>
            <a:r>
              <a:rPr lang="cs-CZ" dirty="0" err="1"/>
              <a:t>request</a:t>
            </a:r>
            <a:r>
              <a:rPr lang="cs-CZ" dirty="0"/>
              <a:t>) je nutné vytvořit elektronický podpis z hodnot v elementu </a:t>
            </a:r>
            <a:r>
              <a:rPr lang="cs-CZ" dirty="0" err="1"/>
              <a:t>Credentials</a:t>
            </a:r>
            <a:r>
              <a:rPr lang="cs-CZ" dirty="0"/>
              <a:t> a výsledek popisu je nutné uložit do elementu </a:t>
            </a:r>
            <a:r>
              <a:rPr lang="cs-CZ" dirty="0" err="1"/>
              <a:t>Signature</a:t>
            </a:r>
            <a:r>
              <a:rPr lang="cs-CZ" dirty="0"/>
              <a:t>. </a:t>
            </a:r>
          </a:p>
        </p:txBody>
      </p:sp>
      <p:sp>
        <p:nvSpPr>
          <p:cNvPr id="5" name="Rectangle 4">
            <a:extLst>
              <a:ext uri="{FF2B5EF4-FFF2-40B4-BE49-F238E27FC236}">
                <a16:creationId xmlns:a16="http://schemas.microsoft.com/office/drawing/2014/main" id="{D427B312-C6F1-48EC-961E-DA648DFEB80D}"/>
              </a:ext>
            </a:extLst>
          </p:cNvPr>
          <p:cNvSpPr>
            <a:spLocks noChangeArrowheads="1"/>
          </p:cNvSpPr>
          <p:nvPr/>
        </p:nvSpPr>
        <p:spPr bwMode="auto">
          <a:xfrm>
            <a:off x="456889" y="3210163"/>
            <a:ext cx="11522696" cy="25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7763"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stringToHash</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String.Concat</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logRequest.Credentials.ApplicationId</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logRequest.Credentials.Otp</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logRequest.Credentials.PartitionId.ToString</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logRequest.SessionId</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stringToBytes</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System.Text.Encoding.UTF8.GetBytes(</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stringToHash</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Sign(</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stringToBytes</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sha256withRSA, </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appPrivateKey</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logRequest.Signature</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Convert.ToBase64String(</a:t>
            </a:r>
            <a:r>
              <a:rPr kumimoji="0" lang="cs-CZ" altLang="cs-CZ"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signature</a:t>
            </a:r>
            <a:r>
              <a:rPr kumimoji="0" lang="cs-CZ" altLang="cs-CZ"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1071071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92E2-E407-4856-B3C7-9B822C1512B4}"/>
              </a:ext>
            </a:extLst>
          </p:cNvPr>
          <p:cNvSpPr>
            <a:spLocks noGrp="1"/>
          </p:cNvSpPr>
          <p:nvPr>
            <p:ph type="title"/>
          </p:nvPr>
        </p:nvSpPr>
        <p:spPr/>
        <p:txBody>
          <a:bodyPr/>
          <a:lstStyle/>
          <a:p>
            <a:r>
              <a:rPr lang="cs-CZ" dirty="0"/>
              <a:t>URL</a:t>
            </a:r>
          </a:p>
        </p:txBody>
      </p:sp>
      <p:sp>
        <p:nvSpPr>
          <p:cNvPr id="3" name="Text Placeholder 2">
            <a:extLst>
              <a:ext uri="{FF2B5EF4-FFF2-40B4-BE49-F238E27FC236}">
                <a16:creationId xmlns:a16="http://schemas.microsoft.com/office/drawing/2014/main" id="{44CAB3C3-9C2D-403B-94BC-E63938132AB1}"/>
              </a:ext>
            </a:extLst>
          </p:cNvPr>
          <p:cNvSpPr>
            <a:spLocks noGrp="1"/>
          </p:cNvSpPr>
          <p:nvPr>
            <p:ph type="body" sz="quarter" idx="11"/>
          </p:nvPr>
        </p:nvSpPr>
        <p:spPr>
          <a:xfrm>
            <a:off x="122234" y="1212849"/>
            <a:ext cx="11889564" cy="627864"/>
          </a:xfrm>
        </p:spPr>
        <p:txBody>
          <a:bodyPr/>
          <a:lstStyle/>
          <a:p>
            <a:r>
              <a:rPr lang="cs-CZ" dirty="0"/>
              <a:t>Testovací prostředí</a:t>
            </a:r>
          </a:p>
        </p:txBody>
      </p:sp>
      <p:graphicFrame>
        <p:nvGraphicFramePr>
          <p:cNvPr id="7" name="Table 7">
            <a:extLst>
              <a:ext uri="{FF2B5EF4-FFF2-40B4-BE49-F238E27FC236}">
                <a16:creationId xmlns:a16="http://schemas.microsoft.com/office/drawing/2014/main" id="{D05EE251-17E0-4A6A-81BE-73C613F04323}"/>
              </a:ext>
            </a:extLst>
          </p:cNvPr>
          <p:cNvGraphicFramePr>
            <a:graphicFrameLocks noGrp="1"/>
          </p:cNvGraphicFramePr>
          <p:nvPr>
            <p:extLst>
              <p:ext uri="{D42A27DB-BD31-4B8C-83A1-F6EECF244321}">
                <p14:modId xmlns:p14="http://schemas.microsoft.com/office/powerpoint/2010/main" val="330313607"/>
              </p:ext>
            </p:extLst>
          </p:nvPr>
        </p:nvGraphicFramePr>
        <p:xfrm>
          <a:off x="272272" y="1802019"/>
          <a:ext cx="11889564" cy="2037080"/>
        </p:xfrm>
        <a:graphic>
          <a:graphicData uri="http://schemas.openxmlformats.org/drawingml/2006/table">
            <a:tbl>
              <a:tblPr firstRow="1" bandRow="1">
                <a:tableStyleId>{5C22544A-7EE6-4342-B048-85BDC9FD1C3A}</a:tableStyleId>
              </a:tblPr>
              <a:tblGrid>
                <a:gridCol w="5879146">
                  <a:extLst>
                    <a:ext uri="{9D8B030D-6E8A-4147-A177-3AD203B41FA5}">
                      <a16:colId xmlns:a16="http://schemas.microsoft.com/office/drawing/2014/main" val="276795696"/>
                    </a:ext>
                  </a:extLst>
                </a:gridCol>
                <a:gridCol w="6010418">
                  <a:extLst>
                    <a:ext uri="{9D8B030D-6E8A-4147-A177-3AD203B41FA5}">
                      <a16:colId xmlns:a16="http://schemas.microsoft.com/office/drawing/2014/main" val="2379541396"/>
                    </a:ext>
                  </a:extLst>
                </a:gridCol>
              </a:tblGrid>
              <a:tr h="0">
                <a:tc>
                  <a:txBody>
                    <a:bodyPr/>
                    <a:lstStyle/>
                    <a:p>
                      <a:r>
                        <a:rPr lang="cs-CZ" dirty="0"/>
                        <a:t>URL</a:t>
                      </a:r>
                    </a:p>
                  </a:txBody>
                  <a:tcPr/>
                </a:tc>
                <a:tc>
                  <a:txBody>
                    <a:bodyPr/>
                    <a:lstStyle/>
                    <a:p>
                      <a:r>
                        <a:rPr lang="cs-CZ" dirty="0"/>
                        <a:t>Popis</a:t>
                      </a:r>
                    </a:p>
                  </a:txBody>
                  <a:tcPr/>
                </a:tc>
                <a:extLst>
                  <a:ext uri="{0D108BD9-81ED-4DB2-BD59-A6C34878D82A}">
                    <a16:rowId xmlns:a16="http://schemas.microsoft.com/office/drawing/2014/main" val="3776010452"/>
                  </a:ext>
                </a:extLst>
              </a:tr>
              <a:tr h="370840">
                <a:tc>
                  <a:txBody>
                    <a:bodyPr/>
                    <a:lstStyle/>
                    <a:p>
                      <a:r>
                        <a:rPr lang="cs-CZ" sz="1800" b="0" i="0" u="none" strike="noStrike" kern="1200" dirty="0">
                          <a:solidFill>
                            <a:schemeClr val="dk1"/>
                          </a:solidFill>
                          <a:effectLst/>
                          <a:latin typeface="+mn-lt"/>
                          <a:ea typeface="+mn-ea"/>
                          <a:cs typeface="+mn-cs"/>
                          <a:hlinkClick r:id="rId2"/>
                        </a:rPr>
                        <a:t>https://tma.identitaobcana.cz/mobileapi/register</a:t>
                      </a:r>
                      <a:endParaRPr lang="cs-CZ" dirty="0"/>
                    </a:p>
                  </a:txBody>
                  <a:tcPr/>
                </a:tc>
                <a:tc>
                  <a:txBody>
                    <a:bodyPr/>
                    <a:lstStyle/>
                    <a:p>
                      <a:r>
                        <a:rPr lang="it-IT" sz="1800" b="0" i="0" kern="1200" dirty="0">
                          <a:solidFill>
                            <a:schemeClr val="dk1"/>
                          </a:solidFill>
                          <a:effectLst/>
                          <a:latin typeface="+mn-lt"/>
                          <a:ea typeface="+mn-ea"/>
                          <a:cs typeface="+mn-cs"/>
                        </a:rPr>
                        <a:t>URL pro registraci mobilní aplikace.</a:t>
                      </a:r>
                      <a:endParaRPr lang="cs-CZ" dirty="0"/>
                    </a:p>
                  </a:txBody>
                  <a:tcPr/>
                </a:tc>
                <a:extLst>
                  <a:ext uri="{0D108BD9-81ED-4DB2-BD59-A6C34878D82A}">
                    <a16:rowId xmlns:a16="http://schemas.microsoft.com/office/drawing/2014/main" val="3394321319"/>
                  </a:ext>
                </a:extLst>
              </a:tr>
              <a:tr h="370840">
                <a:tc>
                  <a:txBody>
                    <a:bodyPr/>
                    <a:lstStyle/>
                    <a:p>
                      <a:r>
                        <a:rPr lang="cs-CZ" sz="1800" b="0" i="0" u="none" strike="noStrike" kern="1200" dirty="0">
                          <a:solidFill>
                            <a:schemeClr val="dk1"/>
                          </a:solidFill>
                          <a:effectLst/>
                          <a:latin typeface="+mn-lt"/>
                          <a:ea typeface="+mn-ea"/>
                          <a:cs typeface="+mn-cs"/>
                          <a:hlinkClick r:id="rId3"/>
                        </a:rPr>
                        <a:t>https://tma.identitaobcana.cz/mobileapi/login</a:t>
                      </a:r>
                      <a:endParaRPr lang="cs-CZ" dirty="0"/>
                    </a:p>
                  </a:txBody>
                  <a:tcPr/>
                </a:tc>
                <a:tc>
                  <a:txBody>
                    <a:bodyPr/>
                    <a:lstStyle/>
                    <a:p>
                      <a:r>
                        <a:rPr lang="cs-CZ" sz="1800" b="0" i="0" kern="1200" dirty="0">
                          <a:solidFill>
                            <a:schemeClr val="dk1"/>
                          </a:solidFill>
                          <a:effectLst/>
                          <a:latin typeface="+mn-lt"/>
                          <a:ea typeface="+mn-ea"/>
                          <a:cs typeface="+mn-cs"/>
                        </a:rPr>
                        <a:t>URL pro přihlášení z mobilní aplikace.</a:t>
                      </a:r>
                      <a:endParaRPr lang="cs-CZ" dirty="0"/>
                    </a:p>
                  </a:txBody>
                  <a:tcPr/>
                </a:tc>
                <a:extLst>
                  <a:ext uri="{0D108BD9-81ED-4DB2-BD59-A6C34878D82A}">
                    <a16:rowId xmlns:a16="http://schemas.microsoft.com/office/drawing/2014/main" val="4088505169"/>
                  </a:ext>
                </a:extLst>
              </a:tr>
              <a:tr h="370840">
                <a:tc>
                  <a:txBody>
                    <a:bodyPr/>
                    <a:lstStyle/>
                    <a:p>
                      <a:r>
                        <a:rPr lang="cs-CZ" sz="1800" b="0" i="0" u="none" strike="noStrike" kern="1200" dirty="0">
                          <a:solidFill>
                            <a:schemeClr val="dk1"/>
                          </a:solidFill>
                          <a:effectLst/>
                          <a:latin typeface="+mn-lt"/>
                          <a:ea typeface="+mn-ea"/>
                          <a:cs typeface="+mn-cs"/>
                          <a:hlinkClick r:id="rId4"/>
                        </a:rPr>
                        <a:t>https://tnia.identitaobcana.cz/FPSTS/mobile/token</a:t>
                      </a:r>
                      <a:endParaRPr lang="cs-CZ" dirty="0"/>
                    </a:p>
                  </a:txBody>
                  <a:tcPr/>
                </a:tc>
                <a:tc>
                  <a:txBody>
                    <a:bodyPr/>
                    <a:lstStyle/>
                    <a:p>
                      <a:pPr algn="l"/>
                      <a:r>
                        <a:rPr lang="cs-CZ" dirty="0">
                          <a:effectLst/>
                        </a:rPr>
                        <a:t>URL pro získání JWT na základě </a:t>
                      </a:r>
                      <a:r>
                        <a:rPr lang="cs-CZ" dirty="0" err="1">
                          <a:effectLst/>
                        </a:rPr>
                        <a:t>access</a:t>
                      </a:r>
                      <a:r>
                        <a:rPr lang="cs-CZ" dirty="0">
                          <a:effectLst/>
                        </a:rPr>
                        <a:t> tokenu.</a:t>
                      </a:r>
                    </a:p>
                  </a:txBody>
                  <a:tcPr marL="123825" marR="123825" marT="95250" marB="95250" anchor="ctr"/>
                </a:tc>
                <a:extLst>
                  <a:ext uri="{0D108BD9-81ED-4DB2-BD59-A6C34878D82A}">
                    <a16:rowId xmlns:a16="http://schemas.microsoft.com/office/drawing/2014/main" val="514380642"/>
                  </a:ext>
                </a:extLst>
              </a:tr>
              <a:tr h="370840">
                <a:tc>
                  <a:txBody>
                    <a:bodyPr/>
                    <a:lstStyle/>
                    <a:p>
                      <a:pPr marL="0" algn="l" defTabSz="932742" rtl="0" eaLnBrk="1" latinLnBrk="0" hangingPunct="1"/>
                      <a:r>
                        <a:rPr lang="cs-CZ" sz="1800" b="0" i="0" u="none" strike="noStrike" kern="1200" dirty="0">
                          <a:solidFill>
                            <a:schemeClr val="dk1"/>
                          </a:solidFill>
                          <a:effectLst/>
                          <a:latin typeface="+mn-lt"/>
                          <a:ea typeface="+mn-ea"/>
                          <a:cs typeface="+mn-cs"/>
                          <a:hlinkClick r:id="rId5"/>
                        </a:rPr>
                        <a:t>https://tnia.identitaobcana.cz/FPSTS/oauth2/authorize</a:t>
                      </a:r>
                      <a:endParaRPr lang="cs-CZ" sz="1800" b="0" i="0" u="none" strike="noStrike" kern="1200" dirty="0">
                        <a:solidFill>
                          <a:schemeClr val="dk1"/>
                        </a:solidFill>
                        <a:effectLst/>
                        <a:latin typeface="+mn-lt"/>
                        <a:ea typeface="+mn-ea"/>
                        <a:cs typeface="+mn-cs"/>
                      </a:endParaRPr>
                    </a:p>
                  </a:txBody>
                  <a:tcPr/>
                </a:tc>
                <a:tc>
                  <a:txBody>
                    <a:bodyPr/>
                    <a:lstStyle/>
                    <a:p>
                      <a:pPr algn="l"/>
                      <a:r>
                        <a:rPr lang="cs-CZ" dirty="0">
                          <a:effectLst/>
                        </a:rPr>
                        <a:t>URL pro interaktivní přihlášení</a:t>
                      </a:r>
                    </a:p>
                  </a:txBody>
                  <a:tcPr marL="123825" marR="123825" marT="95250" marB="95250" anchor="ctr"/>
                </a:tc>
                <a:extLst>
                  <a:ext uri="{0D108BD9-81ED-4DB2-BD59-A6C34878D82A}">
                    <a16:rowId xmlns:a16="http://schemas.microsoft.com/office/drawing/2014/main" val="633822067"/>
                  </a:ext>
                </a:extLst>
              </a:tr>
            </a:tbl>
          </a:graphicData>
        </a:graphic>
      </p:graphicFrame>
      <p:graphicFrame>
        <p:nvGraphicFramePr>
          <p:cNvPr id="11" name="Table 7">
            <a:extLst>
              <a:ext uri="{FF2B5EF4-FFF2-40B4-BE49-F238E27FC236}">
                <a16:creationId xmlns:a16="http://schemas.microsoft.com/office/drawing/2014/main" id="{0979D706-8301-4A3B-9B55-9E09DC451925}"/>
              </a:ext>
            </a:extLst>
          </p:cNvPr>
          <p:cNvGraphicFramePr>
            <a:graphicFrameLocks noGrp="1"/>
          </p:cNvGraphicFramePr>
          <p:nvPr>
            <p:extLst>
              <p:ext uri="{D42A27DB-BD31-4B8C-83A1-F6EECF244321}">
                <p14:modId xmlns:p14="http://schemas.microsoft.com/office/powerpoint/2010/main" val="1526835260"/>
              </p:ext>
            </p:extLst>
          </p:nvPr>
        </p:nvGraphicFramePr>
        <p:xfrm>
          <a:off x="272272" y="4657846"/>
          <a:ext cx="11889564" cy="2042160"/>
        </p:xfrm>
        <a:graphic>
          <a:graphicData uri="http://schemas.openxmlformats.org/drawingml/2006/table">
            <a:tbl>
              <a:tblPr firstRow="1" bandRow="1">
                <a:tableStyleId>{5C22544A-7EE6-4342-B048-85BDC9FD1C3A}</a:tableStyleId>
              </a:tblPr>
              <a:tblGrid>
                <a:gridCol w="5841361">
                  <a:extLst>
                    <a:ext uri="{9D8B030D-6E8A-4147-A177-3AD203B41FA5}">
                      <a16:colId xmlns:a16="http://schemas.microsoft.com/office/drawing/2014/main" val="276795696"/>
                    </a:ext>
                  </a:extLst>
                </a:gridCol>
                <a:gridCol w="6048203">
                  <a:extLst>
                    <a:ext uri="{9D8B030D-6E8A-4147-A177-3AD203B41FA5}">
                      <a16:colId xmlns:a16="http://schemas.microsoft.com/office/drawing/2014/main" val="2379541396"/>
                    </a:ext>
                  </a:extLst>
                </a:gridCol>
              </a:tblGrid>
              <a:tr h="370840">
                <a:tc>
                  <a:txBody>
                    <a:bodyPr/>
                    <a:lstStyle/>
                    <a:p>
                      <a:r>
                        <a:rPr lang="cs-CZ" dirty="0"/>
                        <a:t>URL</a:t>
                      </a:r>
                    </a:p>
                  </a:txBody>
                  <a:tcPr/>
                </a:tc>
                <a:tc>
                  <a:txBody>
                    <a:bodyPr/>
                    <a:lstStyle/>
                    <a:p>
                      <a:r>
                        <a:rPr lang="cs-CZ" dirty="0"/>
                        <a:t>Popis</a:t>
                      </a:r>
                    </a:p>
                  </a:txBody>
                  <a:tcPr/>
                </a:tc>
                <a:extLst>
                  <a:ext uri="{0D108BD9-81ED-4DB2-BD59-A6C34878D82A}">
                    <a16:rowId xmlns:a16="http://schemas.microsoft.com/office/drawing/2014/main" val="3776010452"/>
                  </a:ext>
                </a:extLst>
              </a:tr>
              <a:tr h="370840">
                <a:tc>
                  <a:txBody>
                    <a:bodyPr/>
                    <a:lstStyle/>
                    <a:p>
                      <a:r>
                        <a:rPr lang="cs-CZ" sz="1800" b="0" i="0" u="none" strike="noStrike" kern="1200" dirty="0">
                          <a:solidFill>
                            <a:schemeClr val="dk1"/>
                          </a:solidFill>
                          <a:effectLst/>
                          <a:latin typeface="+mn-lt"/>
                          <a:ea typeface="+mn-ea"/>
                          <a:cs typeface="+mn-cs"/>
                          <a:hlinkClick r:id="rId2"/>
                        </a:rPr>
                        <a:t>https://ma.identitaobcana.cz/mobileapi/register</a:t>
                      </a:r>
                      <a:endParaRPr lang="cs-CZ" dirty="0"/>
                    </a:p>
                  </a:txBody>
                  <a:tcPr/>
                </a:tc>
                <a:tc>
                  <a:txBody>
                    <a:bodyPr/>
                    <a:lstStyle/>
                    <a:p>
                      <a:r>
                        <a:rPr lang="it-IT" sz="1800" b="0" i="0" kern="1200" dirty="0">
                          <a:solidFill>
                            <a:schemeClr val="dk1"/>
                          </a:solidFill>
                          <a:effectLst/>
                          <a:latin typeface="+mn-lt"/>
                          <a:ea typeface="+mn-ea"/>
                          <a:cs typeface="+mn-cs"/>
                        </a:rPr>
                        <a:t>URL pro registraci mobilní aplikace.</a:t>
                      </a:r>
                      <a:endParaRPr lang="cs-CZ" dirty="0"/>
                    </a:p>
                  </a:txBody>
                  <a:tcPr/>
                </a:tc>
                <a:extLst>
                  <a:ext uri="{0D108BD9-81ED-4DB2-BD59-A6C34878D82A}">
                    <a16:rowId xmlns:a16="http://schemas.microsoft.com/office/drawing/2014/main" val="3394321319"/>
                  </a:ext>
                </a:extLst>
              </a:tr>
              <a:tr h="370840">
                <a:tc>
                  <a:txBody>
                    <a:bodyPr/>
                    <a:lstStyle/>
                    <a:p>
                      <a:r>
                        <a:rPr lang="cs-CZ" sz="1800" b="0" i="0" u="none" strike="noStrike" kern="1200" dirty="0">
                          <a:solidFill>
                            <a:schemeClr val="dk1"/>
                          </a:solidFill>
                          <a:effectLst/>
                          <a:latin typeface="+mn-lt"/>
                          <a:ea typeface="+mn-ea"/>
                          <a:cs typeface="+mn-cs"/>
                          <a:hlinkClick r:id="rId3"/>
                        </a:rPr>
                        <a:t>https://ma.identitaobcana.cz/mobileapi/login</a:t>
                      </a:r>
                      <a:endParaRPr lang="cs-CZ" dirty="0"/>
                    </a:p>
                  </a:txBody>
                  <a:tcPr/>
                </a:tc>
                <a:tc>
                  <a:txBody>
                    <a:bodyPr/>
                    <a:lstStyle/>
                    <a:p>
                      <a:r>
                        <a:rPr lang="cs-CZ" sz="1800" b="0" i="0" kern="1200" dirty="0">
                          <a:solidFill>
                            <a:schemeClr val="dk1"/>
                          </a:solidFill>
                          <a:effectLst/>
                          <a:latin typeface="+mn-lt"/>
                          <a:ea typeface="+mn-ea"/>
                          <a:cs typeface="+mn-cs"/>
                        </a:rPr>
                        <a:t>URL pro přihlášení z mobilní aplikace.</a:t>
                      </a:r>
                      <a:endParaRPr lang="cs-CZ" dirty="0"/>
                    </a:p>
                  </a:txBody>
                  <a:tcPr/>
                </a:tc>
                <a:extLst>
                  <a:ext uri="{0D108BD9-81ED-4DB2-BD59-A6C34878D82A}">
                    <a16:rowId xmlns:a16="http://schemas.microsoft.com/office/drawing/2014/main" val="4088505169"/>
                  </a:ext>
                </a:extLst>
              </a:tr>
              <a:tr h="370840">
                <a:tc>
                  <a:txBody>
                    <a:bodyPr/>
                    <a:lstStyle/>
                    <a:p>
                      <a:r>
                        <a:rPr lang="cs-CZ" sz="1800" b="0" i="0" u="none" strike="noStrike" kern="1200" dirty="0">
                          <a:solidFill>
                            <a:schemeClr val="dk1"/>
                          </a:solidFill>
                          <a:effectLst/>
                          <a:latin typeface="+mn-lt"/>
                          <a:ea typeface="+mn-ea"/>
                          <a:cs typeface="+mn-cs"/>
                          <a:hlinkClick r:id="rId4"/>
                        </a:rPr>
                        <a:t>https://nia.identitaobcana.cz/FPSTS/mobile/token</a:t>
                      </a:r>
                      <a:endParaRPr lang="cs-CZ" dirty="0"/>
                    </a:p>
                  </a:txBody>
                  <a:tcPr/>
                </a:tc>
                <a:tc>
                  <a:txBody>
                    <a:bodyPr/>
                    <a:lstStyle/>
                    <a:p>
                      <a:pPr algn="l"/>
                      <a:r>
                        <a:rPr lang="cs-CZ" dirty="0">
                          <a:effectLst/>
                        </a:rPr>
                        <a:t>URL pro získání JWT na základě </a:t>
                      </a:r>
                      <a:r>
                        <a:rPr lang="cs-CZ" dirty="0" err="1">
                          <a:effectLst/>
                        </a:rPr>
                        <a:t>access</a:t>
                      </a:r>
                      <a:r>
                        <a:rPr lang="cs-CZ" dirty="0">
                          <a:effectLst/>
                        </a:rPr>
                        <a:t> tokenu.</a:t>
                      </a:r>
                    </a:p>
                  </a:txBody>
                  <a:tcPr marL="123825" marR="123825" marT="95250" marB="95250" anchor="ctr"/>
                </a:tc>
                <a:extLst>
                  <a:ext uri="{0D108BD9-81ED-4DB2-BD59-A6C34878D82A}">
                    <a16:rowId xmlns:a16="http://schemas.microsoft.com/office/drawing/2014/main" val="514380642"/>
                  </a:ext>
                </a:extLst>
              </a:tr>
              <a:tr h="37084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cs-CZ" sz="1800" b="0" i="0" u="none" strike="noStrike" kern="1200" dirty="0">
                          <a:solidFill>
                            <a:schemeClr val="dk1"/>
                          </a:solidFill>
                          <a:effectLst/>
                          <a:latin typeface="+mn-lt"/>
                          <a:ea typeface="+mn-ea"/>
                          <a:cs typeface="+mn-cs"/>
                          <a:hlinkClick r:id="rId5"/>
                        </a:rPr>
                        <a:t>https://nia.identitaobcana.cz/FPSTS/oauth2/authorize</a:t>
                      </a:r>
                      <a:endParaRPr lang="cs-CZ" sz="1800" b="0" i="0" u="none" strike="noStrike" kern="1200" dirty="0">
                        <a:solidFill>
                          <a:schemeClr val="dk1"/>
                        </a:solidFill>
                        <a:effectLst/>
                        <a:latin typeface="+mn-lt"/>
                        <a:ea typeface="+mn-ea"/>
                        <a:cs typeface="+mn-cs"/>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cs-CZ" dirty="0">
                          <a:effectLst/>
                        </a:rPr>
                        <a:t>URL pro interaktivní přihlášení</a:t>
                      </a:r>
                    </a:p>
                  </a:txBody>
                  <a:tcPr marL="123825" marR="123825" marT="95250" marB="95250" anchor="ctr"/>
                </a:tc>
                <a:extLst>
                  <a:ext uri="{0D108BD9-81ED-4DB2-BD59-A6C34878D82A}">
                    <a16:rowId xmlns:a16="http://schemas.microsoft.com/office/drawing/2014/main" val="631665226"/>
                  </a:ext>
                </a:extLst>
              </a:tr>
            </a:tbl>
          </a:graphicData>
        </a:graphic>
      </p:graphicFrame>
      <p:sp>
        <p:nvSpPr>
          <p:cNvPr id="12" name="Text Placeholder 2">
            <a:extLst>
              <a:ext uri="{FF2B5EF4-FFF2-40B4-BE49-F238E27FC236}">
                <a16:creationId xmlns:a16="http://schemas.microsoft.com/office/drawing/2014/main" id="{276E3D18-CC88-42CF-98AE-7D9FE4D32109}"/>
              </a:ext>
            </a:extLst>
          </p:cNvPr>
          <p:cNvSpPr txBox="1">
            <a:spLocks/>
          </p:cNvSpPr>
          <p:nvPr/>
        </p:nvSpPr>
        <p:spPr>
          <a:xfrm>
            <a:off x="177653" y="3983749"/>
            <a:ext cx="11889564" cy="627864"/>
          </a:xfrm>
          <a:prstGeom prst="rect">
            <a:avLst/>
          </a:prstGeom>
        </p:spPr>
        <p:txBody>
          <a:bodyPr vert="horz" wrap="square" lIns="146304" tIns="91440" rIns="146304" bIns="91440" rtlCol="0">
            <a:spAutoFit/>
          </a:bodyPr>
          <a:lstStyle>
            <a:lvl1pPr marL="0" marR="0" indent="0" algn="l" defTabSz="932742" rtl="0" eaLnBrk="1" fontAlgn="auto" latinLnBrk="0" hangingPunct="1">
              <a:lnSpc>
                <a:spcPct val="90000"/>
              </a:lnSpc>
              <a:spcBef>
                <a:spcPts val="1800"/>
              </a:spcBef>
              <a:spcAft>
                <a:spcPts val="0"/>
              </a:spcAft>
              <a:buClr>
                <a:schemeClr val="tx1"/>
              </a:buClr>
              <a:buSzPct val="90000"/>
              <a:buFont typeface="Wingdings" panose="05000000000000000000" pitchFamily="2" charset="2"/>
              <a:buNone/>
              <a:tabLst/>
              <a:defRPr sz="3200" kern="1200" spc="0" baseline="0">
                <a:solidFill>
                  <a:srgbClr val="00619D"/>
                </a:solidFill>
                <a:latin typeface="+mj-lt"/>
                <a:ea typeface="+mn-ea"/>
                <a:cs typeface="+mn-cs"/>
              </a:defRPr>
            </a:lvl1pPr>
            <a:lvl2pPr marL="0" marR="0" indent="0" algn="l" defTabSz="932742" rtl="0" eaLnBrk="1" fontAlgn="auto" latinLnBrk="0" hangingPunct="1">
              <a:lnSpc>
                <a:spcPct val="90000"/>
              </a:lnSpc>
              <a:spcBef>
                <a:spcPts val="600"/>
              </a:spcBef>
              <a:spcAft>
                <a:spcPts val="0"/>
              </a:spcAft>
              <a:buClr>
                <a:schemeClr val="tx1"/>
              </a:buClr>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223838" marR="0" indent="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3pPr>
            <a:lvl4pPr marL="476250" marR="0" indent="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4pPr>
            <a:lvl5pPr marL="739775" marR="0" indent="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None/>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cs-CZ" dirty="0"/>
              <a:t>Produkční prostředí</a:t>
            </a:r>
          </a:p>
        </p:txBody>
      </p:sp>
    </p:spTree>
    <p:extLst>
      <p:ext uri="{BB962C8B-B14F-4D97-AF65-F5344CB8AC3E}">
        <p14:creationId xmlns:p14="http://schemas.microsoft.com/office/powerpoint/2010/main" val="185412014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15ABA-338D-4656-AA4D-53949E1E0849}"/>
              </a:ext>
            </a:extLst>
          </p:cNvPr>
          <p:cNvSpPr>
            <a:spLocks noGrp="1"/>
          </p:cNvSpPr>
          <p:nvPr>
            <p:ph type="title"/>
          </p:nvPr>
        </p:nvSpPr>
        <p:spPr/>
        <p:txBody>
          <a:bodyPr/>
          <a:lstStyle/>
          <a:p>
            <a:r>
              <a:rPr lang="cs-CZ" dirty="0"/>
              <a:t>Wiki pro vývojáře</a:t>
            </a:r>
          </a:p>
        </p:txBody>
      </p:sp>
      <p:sp>
        <p:nvSpPr>
          <p:cNvPr id="3" name="Text Placeholder 2">
            <a:extLst>
              <a:ext uri="{FF2B5EF4-FFF2-40B4-BE49-F238E27FC236}">
                <a16:creationId xmlns:a16="http://schemas.microsoft.com/office/drawing/2014/main" id="{374DDEBA-1A70-4020-B4A3-A77613D4EE50}"/>
              </a:ext>
            </a:extLst>
          </p:cNvPr>
          <p:cNvSpPr>
            <a:spLocks noGrp="1"/>
          </p:cNvSpPr>
          <p:nvPr>
            <p:ph type="body" sz="quarter" idx="11"/>
          </p:nvPr>
        </p:nvSpPr>
        <p:spPr>
          <a:xfrm>
            <a:off x="274639" y="1212849"/>
            <a:ext cx="11889564" cy="1071062"/>
          </a:xfrm>
        </p:spPr>
        <p:txBody>
          <a:bodyPr/>
          <a:lstStyle/>
          <a:p>
            <a:r>
              <a:rPr lang="cs-CZ" dirty="0"/>
              <a:t>https://dev.azure.com/SpravaZakladnichRegistru/NIA%20pro%20v%C3%BDvoj%C3%A1%C5%99e</a:t>
            </a:r>
          </a:p>
        </p:txBody>
      </p:sp>
      <p:pic>
        <p:nvPicPr>
          <p:cNvPr id="5" name="Picture 4">
            <a:extLst>
              <a:ext uri="{FF2B5EF4-FFF2-40B4-BE49-F238E27FC236}">
                <a16:creationId xmlns:a16="http://schemas.microsoft.com/office/drawing/2014/main" id="{4BA545D1-7592-4A95-8074-25CAEBE686AE}"/>
              </a:ext>
            </a:extLst>
          </p:cNvPr>
          <p:cNvPicPr>
            <a:picLocks noChangeAspect="1"/>
          </p:cNvPicPr>
          <p:nvPr/>
        </p:nvPicPr>
        <p:blipFill>
          <a:blip r:embed="rId2"/>
          <a:stretch>
            <a:fillRect/>
          </a:stretch>
        </p:blipFill>
        <p:spPr>
          <a:xfrm>
            <a:off x="274639" y="2490457"/>
            <a:ext cx="11385815" cy="3548013"/>
          </a:xfrm>
          <a:prstGeom prst="rect">
            <a:avLst/>
          </a:prstGeom>
        </p:spPr>
      </p:pic>
    </p:spTree>
    <p:extLst>
      <p:ext uri="{BB962C8B-B14F-4D97-AF65-F5344CB8AC3E}">
        <p14:creationId xmlns:p14="http://schemas.microsoft.com/office/powerpoint/2010/main" val="45849823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1F14D3D4-1ECA-4E1E-9CA9-2BE2C51FA68C}"/>
              </a:ext>
            </a:extLst>
          </p:cNvPr>
          <p:cNvSpPr>
            <a:spLocks noGrp="1"/>
          </p:cNvSpPr>
          <p:nvPr>
            <p:ph type="pic" sz="quarter" idx="10"/>
          </p:nvPr>
        </p:nvSpPr>
        <p:spPr>
          <a:xfrm>
            <a:off x="0" y="-4920"/>
            <a:ext cx="12436475" cy="6999445"/>
          </a:xfrm>
        </p:spPr>
      </p:sp>
      <p:pic>
        <p:nvPicPr>
          <p:cNvPr id="3" name="Picture 2" descr="A picture containing ground&#10;&#10;Description generated with very high confidence">
            <a:extLst>
              <a:ext uri="{FF2B5EF4-FFF2-40B4-BE49-F238E27FC236}">
                <a16:creationId xmlns:a16="http://schemas.microsoft.com/office/drawing/2014/main" id="{F22003DF-AC54-4A58-8680-905F2F2E470F}"/>
              </a:ext>
            </a:extLst>
          </p:cNvPr>
          <p:cNvPicPr>
            <a:picLocks noChangeAspect="1"/>
          </p:cNvPicPr>
          <p:nvPr/>
        </p:nvPicPr>
        <p:blipFill rotWithShape="1">
          <a:blip r:embed="rId3"/>
          <a:srcRect b="15637"/>
          <a:stretch/>
        </p:blipFill>
        <p:spPr>
          <a:xfrm>
            <a:off x="-1" y="0"/>
            <a:ext cx="12436475" cy="6994526"/>
          </a:xfrm>
          <a:prstGeom prst="rect">
            <a:avLst/>
          </a:prstGeom>
        </p:spPr>
      </p:pic>
      <p:sp>
        <p:nvSpPr>
          <p:cNvPr id="8" name="Rectangle 7">
            <a:extLst>
              <a:ext uri="{FF2B5EF4-FFF2-40B4-BE49-F238E27FC236}">
                <a16:creationId xmlns:a16="http://schemas.microsoft.com/office/drawing/2014/main" id="{F9F4F26B-8A43-40E7-8030-C6503C19797A}"/>
              </a:ext>
            </a:extLst>
          </p:cNvPr>
          <p:cNvSpPr/>
          <p:nvPr/>
        </p:nvSpPr>
        <p:spPr>
          <a:xfrm>
            <a:off x="0" y="-8646"/>
            <a:ext cx="12436474" cy="7011816"/>
          </a:xfrm>
          <a:prstGeom prst="rect">
            <a:avLst/>
          </a:prstGeom>
          <a:gradFill flip="none" rotWithShape="1">
            <a:gsLst>
              <a:gs pos="11000">
                <a:srgbClr val="000000">
                  <a:alpha val="0"/>
                </a:srgbClr>
              </a:gs>
              <a:gs pos="37000">
                <a:srgbClr val="000000">
                  <a:alpha val="27000"/>
                </a:srgbClr>
              </a:gs>
              <a:gs pos="65000">
                <a:srgbClr val="000000">
                  <a:alpha val="68000"/>
                </a:srgb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lIns="60952" rIns="60952" rtlCol="0" anchor="t">
            <a:noAutofit/>
          </a:bodyPr>
          <a:lstStyle/>
          <a:p>
            <a:pPr>
              <a:defRPr/>
            </a:pPr>
            <a:endParaRPr lang="en-US" sz="1200" b="1" err="1">
              <a:solidFill>
                <a:prstClr val="white"/>
              </a:solidFill>
              <a:latin typeface="Segoe UI" panose="020B0502040204020203" pitchFamily="34" charset="0"/>
              <a:cs typeface="Segoe UI" panose="020B0502040204020203" pitchFamily="34" charset="0"/>
            </a:endParaRPr>
          </a:p>
        </p:txBody>
      </p:sp>
      <p:sp>
        <p:nvSpPr>
          <p:cNvPr id="9" name="Title 8">
            <a:extLst>
              <a:ext uri="{FF2B5EF4-FFF2-40B4-BE49-F238E27FC236}">
                <a16:creationId xmlns:a16="http://schemas.microsoft.com/office/drawing/2014/main" id="{AFD38F90-8517-47F6-93CA-BB7773BB5199}"/>
              </a:ext>
            </a:extLst>
          </p:cNvPr>
          <p:cNvSpPr>
            <a:spLocks noGrp="1"/>
          </p:cNvSpPr>
          <p:nvPr>
            <p:ph type="title"/>
          </p:nvPr>
        </p:nvSpPr>
        <p:spPr>
          <a:xfrm>
            <a:off x="-5399" y="-1026"/>
            <a:ext cx="6758302" cy="6998350"/>
          </a:xfrm>
        </p:spPr>
        <p:txBody>
          <a:bodyPr/>
          <a:lstStyle/>
          <a:p>
            <a:r>
              <a:rPr lang="cs-CZ" sz="6000" dirty="0"/>
              <a:t>Dotazy</a:t>
            </a:r>
            <a:br>
              <a:rPr lang="en-GB" sz="6000" dirty="0"/>
            </a:br>
            <a:br>
              <a:rPr lang="en-GB" dirty="0">
                <a:solidFill>
                  <a:srgbClr val="50E6FF"/>
                </a:solidFill>
              </a:rPr>
            </a:br>
            <a:endParaRPr lang="en-GB" sz="2000" dirty="0"/>
          </a:p>
        </p:txBody>
      </p:sp>
    </p:spTree>
    <p:extLst>
      <p:ext uri="{BB962C8B-B14F-4D97-AF65-F5344CB8AC3E}">
        <p14:creationId xmlns:p14="http://schemas.microsoft.com/office/powerpoint/2010/main" val="104279032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MS Brand White Template">
  <a:themeElements>
    <a:clrScheme name="Custom 57">
      <a:dk1>
        <a:srgbClr val="505050"/>
      </a:dk1>
      <a:lt1>
        <a:srgbClr val="FFFFFF"/>
      </a:lt1>
      <a:dk2>
        <a:srgbClr val="002050"/>
      </a:dk2>
      <a:lt2>
        <a:srgbClr val="0072C6"/>
      </a:lt2>
      <a:accent1>
        <a:srgbClr val="0072C6"/>
      </a:accent1>
      <a:accent2>
        <a:srgbClr val="00BCF2"/>
      </a:accent2>
      <a:accent3>
        <a:srgbClr val="008A00"/>
      </a:accent3>
      <a:accent4>
        <a:srgbClr val="7FBA00"/>
      </a:accent4>
      <a:accent5>
        <a:srgbClr val="68217A"/>
      </a:accent5>
      <a:accent6>
        <a:srgbClr val="DC3C00"/>
      </a:accent6>
      <a:hlink>
        <a:srgbClr val="00BCF2"/>
      </a:hlink>
      <a:folHlink>
        <a:srgbClr val="82CAFE"/>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SVID_TT_BRAND_16-9_WHITE_Dec2013_PRELIM.potx" id="{3C825910-E241-4A9F-A328-6AC2DE27D4BB}" vid="{D9F5F194-A5AE-4351-8DA4-8121ACE344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3" ma:contentTypeDescription="Vytvoří nový dokument" ma:contentTypeScope="" ma:versionID="ecf94d19de82b3b341e2de8cfb48251b">
  <xsd:schema xmlns:xsd="http://www.w3.org/2001/XMLSchema" xmlns:xs="http://www.w3.org/2001/XMLSchema" xmlns:p="http://schemas.microsoft.com/office/2006/metadata/properties" xmlns:ns2="96a559f6-78cc-4fcb-80ce-aeceb24eab07" targetNamespace="http://schemas.microsoft.com/office/2006/metadata/properties" ma:root="true" ma:fieldsID="ad8f392e0f7f0843995144df8d801885" ns2:_="">
    <xsd:import namespace="96a559f6-78cc-4fcb-80ce-aeceb24eab07"/>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17E044-256A-4F9E-88A3-3DB9F62DF069}"/>
</file>

<file path=customXml/itemProps2.xml><?xml version="1.0" encoding="utf-8"?>
<ds:datastoreItem xmlns:ds="http://schemas.openxmlformats.org/officeDocument/2006/customXml" ds:itemID="{F990F116-B58F-4255-B05B-DA3808E0E5C6}">
  <ds:schemaRefs>
    <ds:schemaRef ds:uri="http://schemas.microsoft.com/sharepoint/v3"/>
    <ds:schemaRef ds:uri="http://schemas.microsoft.com/office/2006/documentManagement/types"/>
    <ds:schemaRef ds:uri="080897c7-9f9d-464f-893a-a63922450d5f"/>
    <ds:schemaRef ds:uri="http://purl.org/dc/dcmitype/"/>
    <ds:schemaRef ds:uri="http://www.w3.org/XML/1998/namespace"/>
    <ds:schemaRef ds:uri="http://purl.org/dc/terms/"/>
    <ds:schemaRef ds:uri="http://schemas.openxmlformats.org/package/2006/metadata/core-properties"/>
    <ds:schemaRef ds:uri="http://schemas.microsoft.com/office/2006/metadata/properties"/>
    <ds:schemaRef ds:uri="http://purl.org/dc/elements/1.1/"/>
    <ds:schemaRef ds:uri="http://schemas.microsoft.com/office/infopath/2007/PartnerControls"/>
    <ds:schemaRef ds:uri="5e8212ed-6365-48a5-9484-4bdbc4603e45"/>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MSVID_TT_BRAND_16-9_WHITE_Dec2013_PRELIM</Template>
  <TotalTime>9426</TotalTime>
  <Words>2675</Words>
  <Application>Microsoft Office PowerPoint</Application>
  <PresentationFormat>Custom</PresentationFormat>
  <Paragraphs>234</Paragraphs>
  <Slides>28</Slides>
  <Notes>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7" baseType="lpstr">
      <vt:lpstr>Arial</vt:lpstr>
      <vt:lpstr>Calibri</vt:lpstr>
      <vt:lpstr>Courier New</vt:lpstr>
      <vt:lpstr>Segoe UI</vt:lpstr>
      <vt:lpstr>Segoe UI Light</vt:lpstr>
      <vt:lpstr>Segoe UI Semilight</vt:lpstr>
      <vt:lpstr>Wingdings</vt:lpstr>
      <vt:lpstr>MS Brand White Template</vt:lpstr>
      <vt:lpstr>Rastrový obrázek</vt:lpstr>
      <vt:lpstr>Nevizuální přihlašování k NIA  z mobilních aplikací</vt:lpstr>
      <vt:lpstr>Cíl projektu</vt:lpstr>
      <vt:lpstr>Co cílem projektu NENÍ</vt:lpstr>
      <vt:lpstr>Předpoklady pro implementaci přihlašování z MA</vt:lpstr>
      <vt:lpstr>Základní architektura</vt:lpstr>
      <vt:lpstr>Procesy mobilní aplikace a API</vt:lpstr>
      <vt:lpstr>Doporučené časy pro komunikaci s NIA</vt:lpstr>
      <vt:lpstr>Mobilní aplikace a API</vt:lpstr>
      <vt:lpstr>Obecná registrace poskytovatele služeb na NIA</vt:lpstr>
      <vt:lpstr>Registrace poskytovatele služeb – mobilní aplikace</vt:lpstr>
      <vt:lpstr>Varování </vt:lpstr>
      <vt:lpstr>Registrační proces</vt:lpstr>
      <vt:lpstr>Registrační proces</vt:lpstr>
      <vt:lpstr>Mobilní aplikace a registrační proces</vt:lpstr>
      <vt:lpstr>Přihlašovací proces</vt:lpstr>
      <vt:lpstr>Přihlašovací proces</vt:lpstr>
      <vt:lpstr>Datové zprávy pro NIA mobile login API</vt:lpstr>
      <vt:lpstr>Datová obálka - Request</vt:lpstr>
      <vt:lpstr>Datová obálka - Response</vt:lpstr>
      <vt:lpstr>Registrace mobilní aplikace</vt:lpstr>
      <vt:lpstr>Přihlášení mobilní aplikace</vt:lpstr>
      <vt:lpstr>Struktura Application</vt:lpstr>
      <vt:lpstr>Zabezpečení datových zpráv - šifrování</vt:lpstr>
      <vt:lpstr>Postup šifrování</vt:lpstr>
      <vt:lpstr>Zabezpečení datových zpráv - podepisování</vt:lpstr>
      <vt:lpstr>URL</vt:lpstr>
      <vt:lpstr>Wiki pro vývojáře</vt:lpstr>
      <vt:lpstr>Dotazy  </vt:lpstr>
    </vt:vector>
  </TitlesOfParts>
  <Manager>&lt;Speech writer name goes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Citizen Centric Services</dc:title>
  <dc:subject>Design Workshop</dc:subject>
  <dc:creator>Louis Eliades</dc:creator>
  <dc:description>Template: _x000d_
Formatting: _x000d_
Audience Type:</dc:description>
  <cp:lastModifiedBy>Robert Hernady</cp:lastModifiedBy>
  <cp:revision>604</cp:revision>
  <cp:lastPrinted>2021-11-22T18:15:04Z</cp:lastPrinted>
  <dcterms:created xsi:type="dcterms:W3CDTF">2014-01-30T21:57:55Z</dcterms:created>
  <dcterms:modified xsi:type="dcterms:W3CDTF">2021-11-23T07:45:08Z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0x010100B7636834349BDE4785976B8F50EC4529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DocVizMetadataToken">
    <vt:lpwstr>300x359x1</vt:lpwstr>
  </property>
  <property fmtid="{D5CDD505-2E9C-101B-9397-08002B2CF9AE}" pid="11" name="_dlc_DocIdItemGuid">
    <vt:lpwstr>6e43649c-cc1c-4187-9a75-3bdc1e7cf6cc</vt:lpwstr>
  </property>
  <property fmtid="{D5CDD505-2E9C-101B-9397-08002B2CF9AE}" pid="12" name="Audience1">
    <vt:lpwstr/>
  </property>
  <property fmtid="{D5CDD505-2E9C-101B-9397-08002B2CF9AE}" pid="13" name="TaxKeyword">
    <vt:lpwstr/>
  </property>
  <property fmtid="{D5CDD505-2E9C-101B-9397-08002B2CF9AE}" pid="14" name="ContentType1">
    <vt:lpwstr>14;#Document|64c15061-4ecf-4866-9082-c78643db035d</vt:lpwstr>
  </property>
  <property fmtid="{D5CDD505-2E9C-101B-9397-08002B2CF9AE}" pid="15" name="ItemTypeTag">
    <vt:lpwstr/>
  </property>
  <property fmtid="{D5CDD505-2E9C-101B-9397-08002B2CF9AE}" pid="16" name="Account">
    <vt:lpwstr>15;#Microsoft|d841e977-0b57-4f5c-bd13-db9e556048b6</vt:lpwstr>
  </property>
  <property fmtid="{D5CDD505-2E9C-101B-9397-08002B2CF9AE}" pid="17" name="Division">
    <vt:lpwstr/>
  </property>
  <property fmtid="{D5CDD505-2E9C-101B-9397-08002B2CF9AE}" pid="18" name="MSIP_Label_f42aa342-8706-4288-bd11-ebb85995028c_Enabled">
    <vt:lpwstr>True</vt:lpwstr>
  </property>
  <property fmtid="{D5CDD505-2E9C-101B-9397-08002B2CF9AE}" pid="19" name="MSIP_Label_f42aa342-8706-4288-bd11-ebb85995028c_SiteId">
    <vt:lpwstr>72f988bf-86f1-41af-91ab-2d7cd011db47</vt:lpwstr>
  </property>
  <property fmtid="{D5CDD505-2E9C-101B-9397-08002B2CF9AE}" pid="20" name="MSIP_Label_f42aa342-8706-4288-bd11-ebb85995028c_Ref">
    <vt:lpwstr>https://api.informationprotection.azure.com/api/72f988bf-86f1-41af-91ab-2d7cd011db47</vt:lpwstr>
  </property>
  <property fmtid="{D5CDD505-2E9C-101B-9397-08002B2CF9AE}" pid="21" name="MSIP_Label_f42aa342-8706-4288-bd11-ebb85995028c_Owner">
    <vt:lpwstr>aldisv@microsoft.com</vt:lpwstr>
  </property>
  <property fmtid="{D5CDD505-2E9C-101B-9397-08002B2CF9AE}" pid="22" name="MSIP_Label_f42aa342-8706-4288-bd11-ebb85995028c_SetDate">
    <vt:lpwstr>2017-07-06T11:34:03.2537115+03:00</vt:lpwstr>
  </property>
  <property fmtid="{D5CDD505-2E9C-101B-9397-08002B2CF9AE}" pid="23" name="MSIP_Label_f42aa342-8706-4288-bd11-ebb85995028c_Name">
    <vt:lpwstr>General</vt:lpwstr>
  </property>
  <property fmtid="{D5CDD505-2E9C-101B-9397-08002B2CF9AE}" pid="24" name="MSIP_Label_f42aa342-8706-4288-bd11-ebb85995028c_Application">
    <vt:lpwstr>Microsoft Azure Information Protection</vt:lpwstr>
  </property>
  <property fmtid="{D5CDD505-2E9C-101B-9397-08002B2CF9AE}" pid="25" name="MSIP_Label_f42aa342-8706-4288-bd11-ebb85995028c_Extended_MSFT_Method">
    <vt:lpwstr>Automatic</vt:lpwstr>
  </property>
  <property fmtid="{D5CDD505-2E9C-101B-9397-08002B2CF9AE}" pid="26" name="Sensitivity">
    <vt:lpwstr>General</vt:lpwstr>
  </property>
</Properties>
</file>
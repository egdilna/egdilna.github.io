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mavý vzhled" id="{5D17C389-D887-DB46-BB98-F62E6D5AFF2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Světlý vzhled" id="{847CB7C1-D25C-C94A-90F9-9FA2FE0242E5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A00"/>
    <a:srgbClr val="007339"/>
    <a:srgbClr val="FCF9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řední styl 2 – zvýraznění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Střední styl 3 – zvýraznění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90591" autoAdjust="0"/>
  </p:normalViewPr>
  <p:slideViewPr>
    <p:cSldViewPr snapToGrid="0">
      <p:cViewPr varScale="1">
        <p:scale>
          <a:sx n="114" d="100"/>
          <a:sy n="114" d="100"/>
        </p:scale>
        <p:origin x="94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85" d="100"/>
        <a:sy n="85" d="100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DEE7B8BB-D9D6-467F-9994-F012167BAEAE}" type="datetimeFigureOut">
              <a:rPr lang="cs-CZ" smtClean="0"/>
              <a:pPr/>
              <a:t>11.05.2026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D658EE2B-939F-47CD-9BC5-5FD16CEF397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3521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B3850BB1-EAAA-4BC7-CB6B-76E3CD2973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1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obrázku 5">
            <a:extLst>
              <a:ext uri="{FF2B5EF4-FFF2-40B4-BE49-F238E27FC236}">
                <a16:creationId xmlns:a16="http://schemas.microsoft.com/office/drawing/2014/main" id="{9F0403E7-BC0D-3F6B-6A17-DC5CF67E19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905499" cy="6858000"/>
          </a:xfrm>
        </p:spPr>
        <p:txBody>
          <a:bodyPr/>
          <a:lstStyle/>
          <a:p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516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731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D645B72E-C81F-B832-4779-066D17175F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30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Úvodní sníme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400000" y="2340000"/>
            <a:ext cx="63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400000" y="4500000"/>
            <a:ext cx="63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318B0B4B-5AB0-492A-0086-3A164D5299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05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kladn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1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27983E4-0CC5-BF15-2D16-08612ADA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55200" y="6300000"/>
            <a:ext cx="2743200" cy="365125"/>
          </a:xfrm>
        </p:spPr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029E84FD-5C68-99E2-B460-3E0ED3D603D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949276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 s podnadpis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76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1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B27983E4-0CC5-BF15-2D16-08612ADA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55200" y="6300000"/>
            <a:ext cx="2743200" cy="365125"/>
          </a:xfrm>
        </p:spPr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029E84FD-5C68-99E2-B460-3E0ED3D603D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  <p:sp>
        <p:nvSpPr>
          <p:cNvPr id="6" name="Zástupný text 8">
            <a:extLst>
              <a:ext uri="{FF2B5EF4-FFF2-40B4-BE49-F238E27FC236}">
                <a16:creationId xmlns:a16="http://schemas.microsoft.com/office/drawing/2014/main" id="{EAFD7DDD-C5B6-5990-5E30-D6370B82CB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999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544131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563824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velk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22525"/>
            <a:ext cx="8964000" cy="3960000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B23D414-7544-6455-E8D2-C72A3EBC3FA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549922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orient="horz" pos="411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běžn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3"/>
            <a:ext cx="8964000" cy="3926021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287EABB6-9EA1-4F27-1C21-C571E0100C5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767757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velk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35605"/>
            <a:ext cx="8964000" cy="3946919"/>
          </a:xfrm>
        </p:spPr>
        <p:txBody>
          <a:bodyPr numCol="1" spcCol="360000">
            <a:normAutofit/>
          </a:bodyPr>
          <a:lstStyle>
            <a:lvl1pPr marL="504000" indent="-504000">
              <a:lnSpc>
                <a:spcPct val="100000"/>
              </a:lnSpc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B5547E9F-BA9C-9C4B-9DF5-F81989FE809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56200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mal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7003"/>
            <a:ext cx="8964000" cy="3915521"/>
          </a:xfrm>
        </p:spPr>
        <p:txBody>
          <a:bodyPr numCol="1" spcCol="360000">
            <a:normAutofit/>
          </a:bodyPr>
          <a:lstStyle>
            <a:lvl1pPr marL="360000" indent="-360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667C9E67-68A9-C008-6034-D232C1AF110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407055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ředělový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1015999"/>
            <a:ext cx="9900000" cy="2413001"/>
          </a:xfrm>
        </p:spPr>
        <p:txBody>
          <a:bodyPr anchor="b"/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684000" y="3676651"/>
            <a:ext cx="9900000" cy="2413000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080103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1599"/>
            <a:ext cx="9900000" cy="2160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4283850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s obrázke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rázku 5">
            <a:extLst>
              <a:ext uri="{FF2B5EF4-FFF2-40B4-BE49-F238E27FC236}">
                <a16:creationId xmlns:a16="http://schemas.microsoft.com/office/drawing/2014/main" id="{0EED0200-723A-192F-A0AB-3C11FC533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6501" y="0"/>
            <a:ext cx="5905499" cy="6858000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3174"/>
            <a:ext cx="5412000" cy="338435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1476665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ěžný s obrázk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4"/>
            <a:ext cx="4476000" cy="3797036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obrázku 5">
            <a:extLst>
              <a:ext uri="{FF2B5EF4-FFF2-40B4-BE49-F238E27FC236}">
                <a16:creationId xmlns:a16="http://schemas.microsoft.com/office/drawing/2014/main" id="{BB38CCEF-CF1A-B72B-D67E-9A39E14D3E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8501" y="2213429"/>
            <a:ext cx="4285499" cy="3618660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5">
            <a:extLst>
              <a:ext uri="{FF2B5EF4-FFF2-40B4-BE49-F238E27FC236}">
                <a16:creationId xmlns:a16="http://schemas.microsoft.com/office/drawing/2014/main" id="{9217DFE5-4AB5-CB80-1E80-AF1A38727F6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102232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dva sloup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4BF51896-151D-3843-DB7C-41BB6E22FE4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60477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999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506D5A9D-5B24-E761-D1A3-27947B1C890A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170585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sloup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93601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7671851E-E145-B540-BFE6-BCB164F7650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9333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5DD8208-8E62-3BCD-5295-A5DE908611E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08009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číslo snímku 5">
            <a:extLst>
              <a:ext uri="{FF2B5EF4-FFF2-40B4-BE49-F238E27FC236}">
                <a16:creationId xmlns:a16="http://schemas.microsoft.com/office/drawing/2014/main" id="{C2D358F0-6A79-42DF-456E-F8DBAF212BBF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34631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3 sloupce podbarvené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0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2C9E7C88-D105-85BB-7817-7828128845B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56517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F3B495C6-E9D9-BB16-034D-BB35D518475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20259" y="2257436"/>
            <a:ext cx="3355437" cy="3590706"/>
          </a:xfrm>
          <a:solidFill>
            <a:schemeClr val="accent1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6362B212-FD62-9F50-CE3D-DFF199FD57C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6830137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loupce podbarvené se šipkami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6B0AA4C-B328-7C47-A4DA-F8ED2EFC47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5314" y="3880589"/>
            <a:ext cx="363853" cy="301120"/>
          </a:xfrm>
          <a:prstGeom prst="rect">
            <a:avLst/>
          </a:prstGeom>
        </p:spPr>
      </p:pic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963E211A-EC28-5A07-3501-03AC420E839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056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A544A6B-12C5-DC1B-EDF5-D0332255C4D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448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7D22E6FE-C4C5-B012-E7A4-C906162897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6114" y="3880589"/>
            <a:ext cx="363853" cy="301120"/>
          </a:xfrm>
          <a:prstGeom prst="rect">
            <a:avLst/>
          </a:prstGeom>
        </p:spPr>
      </p:pic>
      <p:sp>
        <p:nvSpPr>
          <p:cNvPr id="13" name="Zástupný text 8">
            <a:extLst>
              <a:ext uri="{FF2B5EF4-FFF2-40B4-BE49-F238E27FC236}">
                <a16:creationId xmlns:a16="http://schemas.microsoft.com/office/drawing/2014/main" id="{E61F4B55-11B4-1167-283D-55E922C634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14" name="Zástupný symbol pro číslo snímku 5">
            <a:extLst>
              <a:ext uri="{FF2B5EF4-FFF2-40B4-BE49-F238E27FC236}">
                <a16:creationId xmlns:a16="http://schemas.microsoft.com/office/drawing/2014/main" id="{82C2015C-6855-8BFE-A304-EDB16134EE6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9077225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18" name="Zástupný symbol pro číslo snímku 5">
            <a:extLst>
              <a:ext uri="{FF2B5EF4-FFF2-40B4-BE49-F238E27FC236}">
                <a16:creationId xmlns:a16="http://schemas.microsoft.com/office/drawing/2014/main" id="{E6FDC1DE-B4B0-083B-CF86-1E57EC819B1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2547428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indent="0"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60B77F-477A-D5FB-8405-23971B2738BD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7128440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dnadpis, 4 sloupce s obrázk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8" name="Zástupný symbol pro číslo snímku 5">
            <a:extLst>
              <a:ext uri="{FF2B5EF4-FFF2-40B4-BE49-F238E27FC236}">
                <a16:creationId xmlns:a16="http://schemas.microsoft.com/office/drawing/2014/main" id="{0E9E0BDC-B470-B4BC-892A-7CD72300D49D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5201656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 a popise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3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3" name="Zástupný symbol pro číslo snímku 5">
            <a:extLst>
              <a:ext uri="{FF2B5EF4-FFF2-40B4-BE49-F238E27FC236}">
                <a16:creationId xmlns:a16="http://schemas.microsoft.com/office/drawing/2014/main" id="{7556DA22-95D2-B84C-8D36-C93C88F1A70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9986508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gra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bg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1846262"/>
            <a:ext cx="6157278" cy="3383763"/>
          </a:xfrm>
        </p:spPr>
        <p:txBody>
          <a:bodyPr/>
          <a:lstStyle/>
          <a:p>
            <a:endParaRPr lang="cs-CZ"/>
          </a:p>
        </p:txBody>
      </p:sp>
      <p:sp>
        <p:nvSpPr>
          <p:cNvPr id="10" name="Zástupný symbol pro číslo snímku 5">
            <a:extLst>
              <a:ext uri="{FF2B5EF4-FFF2-40B4-BE49-F238E27FC236}">
                <a16:creationId xmlns:a16="http://schemas.microsoft.com/office/drawing/2014/main" id="{56068FBD-80A0-A131-94EA-3F77B4064DB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2338423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gra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bg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2175418"/>
            <a:ext cx="6157278" cy="3383763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4979A1C8-AB56-208C-E695-4985A095C3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FFB432D-C3B5-D43F-DAB7-52E395EF4C4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0260777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tabulk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88833E3E-D9C4-1B56-E700-3FE02CF54D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9" name="Zástupný symbol pro tabulku 8">
            <a:extLst>
              <a:ext uri="{FF2B5EF4-FFF2-40B4-BE49-F238E27FC236}">
                <a16:creationId xmlns:a16="http://schemas.microsoft.com/office/drawing/2014/main" id="{38C15361-4216-1F02-862E-96F0428B738D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5400942" y="2213361"/>
            <a:ext cx="6097458" cy="2836476"/>
          </a:xfrm>
        </p:spPr>
        <p:txBody>
          <a:bodyPr/>
          <a:lstStyle/>
          <a:p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B66658BE-27EF-DD53-8F17-938260B54B8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620000" y="2167003"/>
            <a:ext cx="3516021" cy="3915521"/>
          </a:xfrm>
        </p:spPr>
        <p:txBody>
          <a:bodyPr numCol="1" spcCol="360000">
            <a:normAutofit/>
          </a:bodyPr>
          <a:lstStyle>
            <a:lvl1pPr marL="288000" indent="-288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5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11" name="Zástupný symbol pro číslo snímku 5">
            <a:extLst>
              <a:ext uri="{FF2B5EF4-FFF2-40B4-BE49-F238E27FC236}">
                <a16:creationId xmlns:a16="http://schemas.microsoft.com/office/drawing/2014/main" id="{E903755D-63C9-7F62-34B8-C0C2AFB43970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6520197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 dirty="0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4D3900D-FEF7-DC42-A070-58AF49658B8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accent5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0792740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9063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věr a shrnut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0" indent="-504000">
              <a:lnSpc>
                <a:spcPct val="120000"/>
              </a:lnSpc>
              <a:spcAft>
                <a:spcPts val="1000"/>
              </a:spcAft>
              <a:buNone/>
              <a:defRPr sz="2000">
                <a:solidFill>
                  <a:schemeClr val="accent5"/>
                </a:solidFill>
              </a:defRPr>
            </a:lvl1pPr>
            <a:lvl2pPr marL="0"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marL="0"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marL="0"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marL="0"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925495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Závěr a poděkování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BC479E45-7FF7-6670-D02A-829001D834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11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E3422724-A174-89D9-AC8F-3F2D774E6F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93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obrázku 5">
            <a:extLst>
              <a:ext uri="{FF2B5EF4-FFF2-40B4-BE49-F238E27FC236}">
                <a16:creationId xmlns:a16="http://schemas.microsoft.com/office/drawing/2014/main" id="{9F0403E7-BC0D-3F6B-6A17-DC5CF67E19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905499" cy="6858000"/>
          </a:xfrm>
        </p:spPr>
        <p:txBody>
          <a:bodyPr/>
          <a:lstStyle/>
          <a:p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516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731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4" name="Grafický objekt 3">
            <a:extLst>
              <a:ext uri="{FF2B5EF4-FFF2-40B4-BE49-F238E27FC236}">
                <a16:creationId xmlns:a16="http://schemas.microsoft.com/office/drawing/2014/main" id="{7C218586-5876-97AA-94A4-EC05A288B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78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400000" y="2340000"/>
            <a:ext cx="63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400000" y="4500000"/>
            <a:ext cx="63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9B34F57A-1957-F5C6-AB4D-23968CCB05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048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0000"/>
            <a:ext cx="8964000" cy="3960000"/>
          </a:xfrm>
        </p:spPr>
        <p:txBody>
          <a:bodyPr/>
          <a:lstStyle>
            <a:lvl1pPr>
              <a:spcBef>
                <a:spcPts val="1000"/>
              </a:spcBef>
              <a:spcAft>
                <a:spcPts val="1000"/>
              </a:spcAft>
              <a:defRPr/>
            </a:lvl1pPr>
            <a:lvl2pPr>
              <a:spcAft>
                <a:spcPts val="600"/>
              </a:spcAft>
              <a:defRPr sz="1800"/>
            </a:lvl2pPr>
            <a:lvl3pPr marL="684000" indent="-180000">
              <a:spcAft>
                <a:spcPts val="600"/>
              </a:spcAft>
              <a:defRPr>
                <a:solidFill>
                  <a:schemeClr val="accent1"/>
                </a:solidFill>
              </a:defRPr>
            </a:lvl3pPr>
            <a:lvl4pPr marL="684000" indent="-180000">
              <a:spcAft>
                <a:spcPts val="600"/>
              </a:spcAft>
              <a:defRPr/>
            </a:lvl4pPr>
            <a:lvl5pPr marL="684000" indent="-180000">
              <a:spcAft>
                <a:spcPts val="600"/>
              </a:spcAft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2833127-FA44-2449-652E-7C7C47C7D87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CC50D58-9C13-7041-41AC-823B5DE45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13980106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kladní s podnadpise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0000"/>
            <a:ext cx="8964000" cy="3960000"/>
          </a:xfrm>
        </p:spPr>
        <p:txBody>
          <a:bodyPr/>
          <a:lstStyle>
            <a:lvl1pPr>
              <a:spcBef>
                <a:spcPts val="1000"/>
              </a:spcBef>
              <a:spcAft>
                <a:spcPts val="1000"/>
              </a:spcAft>
              <a:defRPr/>
            </a:lvl1pPr>
            <a:lvl2pPr>
              <a:spcAft>
                <a:spcPts val="600"/>
              </a:spcAft>
              <a:defRPr sz="1800"/>
            </a:lvl2pPr>
            <a:lvl3pPr marL="684000" indent="-180000">
              <a:spcAft>
                <a:spcPts val="600"/>
              </a:spcAft>
              <a:defRPr>
                <a:solidFill>
                  <a:schemeClr val="accent1"/>
                </a:solidFill>
              </a:defRPr>
            </a:lvl3pPr>
            <a:lvl4pPr marL="684000" indent="-180000">
              <a:spcAft>
                <a:spcPts val="600"/>
              </a:spcAft>
              <a:defRPr/>
            </a:lvl4pPr>
            <a:lvl5pPr marL="684000" indent="-180000">
              <a:spcAft>
                <a:spcPts val="600"/>
              </a:spcAft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2833127-FA44-2449-652E-7C7C47C7D87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CC50D58-9C13-7041-41AC-823B5DE4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76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2" name="Zástupný text 8">
            <a:extLst>
              <a:ext uri="{FF2B5EF4-FFF2-40B4-BE49-F238E27FC236}">
                <a16:creationId xmlns:a16="http://schemas.microsoft.com/office/drawing/2014/main" id="{DD33B0B3-F00C-A126-16C0-3C78885C56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5829363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504000" indent="-50400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095514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velk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22525"/>
            <a:ext cx="8964000" cy="3960000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FB23D414-7544-6455-E8D2-C72A3EBC3FA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833162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orient="horz" pos="411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běž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3"/>
            <a:ext cx="8964000" cy="3926021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2BBC0884-F87E-1907-FF5F-2AB324A5C47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81679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velk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35605"/>
            <a:ext cx="8964000" cy="3946919"/>
          </a:xfrm>
        </p:spPr>
        <p:txBody>
          <a:bodyPr numCol="1" spcCol="360000">
            <a:normAutofit/>
          </a:bodyPr>
          <a:lstStyle>
            <a:lvl1pPr marL="504000" indent="-504000">
              <a:lnSpc>
                <a:spcPct val="100000"/>
              </a:lnSpc>
              <a:spcAft>
                <a:spcPts val="10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32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84905BBB-F9FE-9FBF-15BB-B1658C5A09FF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785083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drážky ma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7003"/>
            <a:ext cx="8964000" cy="3915521"/>
          </a:xfrm>
        </p:spPr>
        <p:txBody>
          <a:bodyPr numCol="1" spcCol="360000">
            <a:normAutofit/>
          </a:bodyPr>
          <a:lstStyle>
            <a:lvl1pPr marL="360000" indent="-360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93163992-C525-2C66-6CAF-F1C6D7A2FF4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300737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ředělový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1015999"/>
            <a:ext cx="9900000" cy="2413001"/>
          </a:xfrm>
        </p:spPr>
        <p:txBody>
          <a:bodyPr anchor="b"/>
          <a:lstStyle>
            <a:lvl1pPr>
              <a:lnSpc>
                <a:spcPct val="10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684000" y="3676651"/>
            <a:ext cx="9900000" cy="2413000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974970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1599"/>
            <a:ext cx="9900000" cy="21600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8568647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ý slide s obrázke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obrázku 5">
            <a:extLst>
              <a:ext uri="{FF2B5EF4-FFF2-40B4-BE49-F238E27FC236}">
                <a16:creationId xmlns:a16="http://schemas.microsoft.com/office/drawing/2014/main" id="{0EED0200-723A-192F-A0AB-3C11FC533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6501" y="0"/>
            <a:ext cx="5905499" cy="6858000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563174"/>
            <a:ext cx="5412000" cy="338435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6809195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ěžný s obráz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56504"/>
            <a:ext cx="4476000" cy="3797036"/>
          </a:xfrm>
        </p:spPr>
        <p:txBody>
          <a:bodyPr numCol="1" spcCol="360000">
            <a:normAutofit/>
          </a:bodyPr>
          <a:lstStyle>
            <a:lvl1pPr marL="0" indent="0">
              <a:lnSpc>
                <a:spcPct val="100000"/>
              </a:lnSpc>
              <a:spcAft>
                <a:spcPts val="1000"/>
              </a:spcAft>
              <a:buNone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5" name="Zástupný symbol obrázku 5">
            <a:extLst>
              <a:ext uri="{FF2B5EF4-FFF2-40B4-BE49-F238E27FC236}">
                <a16:creationId xmlns:a16="http://schemas.microsoft.com/office/drawing/2014/main" id="{BB38CCEF-CF1A-B72B-D67E-9A39E14D3E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8501" y="2213429"/>
            <a:ext cx="4285499" cy="3618660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5">
            <a:extLst>
              <a:ext uri="{FF2B5EF4-FFF2-40B4-BE49-F238E27FC236}">
                <a16:creationId xmlns:a16="http://schemas.microsoft.com/office/drawing/2014/main" id="{2C7EEF15-9663-FDF8-3786-E9D1170BC091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394102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0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1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C2843CF9-B3FD-9E68-3D7A-392FEBCB4FEE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66427" y="2165625"/>
            <a:ext cx="4323523" cy="3960537"/>
          </a:xfrm>
        </p:spPr>
        <p:txBody>
          <a:bodyPr/>
          <a:lstStyle>
            <a:lvl1pPr>
              <a:spcAft>
                <a:spcPts val="1800"/>
              </a:spcAft>
              <a:buFont typeface="Wingdings" pitchFamily="2" charset="2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1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1A2E329E-B047-5BCC-C0F2-88F14A418F05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1820280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93601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7671851E-E145-B540-BFE6-BCB164F7650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9333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5DD8208-8E62-3BCD-5295-A5DE908611E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08009" y="2165625"/>
            <a:ext cx="3375982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7B9A68AD-FB4B-8978-5212-ECDC03A6FB0B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355645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3 sloupce podbarve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0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6F99AF0C-D583-5D11-E4A5-C93DED75A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2C9E7C88-D105-85BB-7817-7828128845B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56517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F3B495C6-E9D9-BB16-034D-BB35D518475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20259" y="2257436"/>
            <a:ext cx="3355437" cy="3590706"/>
          </a:xfrm>
          <a:solidFill>
            <a:schemeClr val="tx2"/>
          </a:solidFill>
        </p:spPr>
        <p:txBody>
          <a:bodyPr lIns="180000" tIns="108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b="1">
                <a:solidFill>
                  <a:schemeClr val="accent5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C452-BE80-BC5C-7921-09A8FE89B918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4288470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loupce podbarvené se šip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963E211A-EC28-5A07-3501-03AC420E839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405601" y="2246803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CA544A6B-12C5-DC1B-EDF5-D0332255C4D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44801" y="2257436"/>
            <a:ext cx="3105680" cy="3590706"/>
          </a:xfrm>
          <a:solidFill>
            <a:schemeClr val="accent1"/>
          </a:solidFill>
        </p:spPr>
        <p:txBody>
          <a:bodyPr lIns="180000" tIns="180000" rIns="144000" bIns="72000"/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>
                <a:solidFill>
                  <a:schemeClr val="bg1"/>
                </a:solidFill>
              </a:defRPr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pic>
        <p:nvPicPr>
          <p:cNvPr id="18" name="Obrázek 17">
            <a:extLst>
              <a:ext uri="{FF2B5EF4-FFF2-40B4-BE49-F238E27FC236}">
                <a16:creationId xmlns:a16="http://schemas.microsoft.com/office/drawing/2014/main" id="{2A3086D1-EC65-B74C-A8BB-C58567182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85314" y="3880589"/>
            <a:ext cx="360717" cy="301120"/>
          </a:xfrm>
          <a:prstGeom prst="rect">
            <a:avLst/>
          </a:prstGeom>
        </p:spPr>
      </p:pic>
      <p:pic>
        <p:nvPicPr>
          <p:cNvPr id="20" name="Obrázek 19">
            <a:extLst>
              <a:ext uri="{FF2B5EF4-FFF2-40B4-BE49-F238E27FC236}">
                <a16:creationId xmlns:a16="http://schemas.microsoft.com/office/drawing/2014/main" id="{CAAABE1A-E3F7-8D77-4BC1-22DA8776E5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6114" y="3880589"/>
            <a:ext cx="360717" cy="301120"/>
          </a:xfrm>
          <a:prstGeom prst="rect">
            <a:avLst/>
          </a:prstGeom>
        </p:spPr>
      </p:pic>
      <p:sp>
        <p:nvSpPr>
          <p:cNvPr id="21" name="Zástupný text 8">
            <a:extLst>
              <a:ext uri="{FF2B5EF4-FFF2-40B4-BE49-F238E27FC236}">
                <a16:creationId xmlns:a16="http://schemas.microsoft.com/office/drawing/2014/main" id="{EE858B53-D403-C768-50C6-B820DCD4E5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22" name="Zástupný symbol pro číslo snímku 5">
            <a:extLst>
              <a:ext uri="{FF2B5EF4-FFF2-40B4-BE49-F238E27FC236}">
                <a16:creationId xmlns:a16="http://schemas.microsoft.com/office/drawing/2014/main" id="{7BDEE34E-2AD1-D45A-CDC5-B7356B87F969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9224858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92625"/>
            <a:ext cx="2428993" cy="2602004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496F11FE-78A2-69C8-0643-BE729D4F1FDE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34406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684001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1FE252C3-C241-69C2-ACDF-A6765E53EC8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077724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4" name="Zástupný symbol pro obsah 2">
            <a:extLst>
              <a:ext uri="{FF2B5EF4-FFF2-40B4-BE49-F238E27FC236}">
                <a16:creationId xmlns:a16="http://schemas.microsoft.com/office/drawing/2014/main" id="{D5AA8550-16D6-4AA2-0FA5-8338C81AFA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79817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6" name="Zástupný symbol pro obsah 2">
            <a:extLst>
              <a:ext uri="{FF2B5EF4-FFF2-40B4-BE49-F238E27FC236}">
                <a16:creationId xmlns:a16="http://schemas.microsoft.com/office/drawing/2014/main" id="{1F7AACE7-568D-33D9-AF71-3ED0BB808ED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81909" y="4444252"/>
            <a:ext cx="2428993" cy="1403889"/>
          </a:xfrm>
          <a:noFill/>
        </p:spPr>
        <p:txBody>
          <a:bodyPr lIns="0" tIns="0" rIns="0" bIns="0">
            <a:normAutofit/>
          </a:bodyPr>
          <a:lstStyle>
            <a:lvl1pPr marL="0">
              <a:spcAft>
                <a:spcPts val="1800"/>
              </a:spcAft>
              <a:buFont typeface="Arial" panose="020B0604020202020204" pitchFamily="34" charset="0"/>
              <a:buNone/>
              <a:defRPr lang="cs-CZ" sz="15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marL="0" lvl="1" indent="-288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5"/>
              </a:buClr>
              <a:buSzPct val="90000"/>
              <a:buFont typeface="Wingdings" pitchFamily="2" charset="2"/>
              <a:buNone/>
            </a:pPr>
            <a:r>
              <a:rPr lang="cs-CZ" dirty="0"/>
              <a:t>Upravte styly předlohy textu.</a:t>
            </a:r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034D6FE-BA08-8A8E-D5AE-55D3E756260C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6101484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dnadpis, 4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2215662"/>
            <a:ext cx="2428993" cy="1878966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3F155FFF-35D5-B4D6-8671-E1360187A5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3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9" name="Zástupný symbol pro číslo snímku 5">
            <a:extLst>
              <a:ext uri="{FF2B5EF4-FFF2-40B4-BE49-F238E27FC236}">
                <a16:creationId xmlns:a16="http://schemas.microsoft.com/office/drawing/2014/main" id="{6BCC6951-FCF3-7B03-5562-7840A02525D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7689181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loupce s obrázky a po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symbol obrázku 7">
            <a:extLst>
              <a:ext uri="{FF2B5EF4-FFF2-40B4-BE49-F238E27FC236}">
                <a16:creationId xmlns:a16="http://schemas.microsoft.com/office/drawing/2014/main" id="{62BF156C-6399-DFD3-9F5E-24AE50EBC8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000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3" name="Zástupný symbol obrázku 7">
            <a:extLst>
              <a:ext uri="{FF2B5EF4-FFF2-40B4-BE49-F238E27FC236}">
                <a16:creationId xmlns:a16="http://schemas.microsoft.com/office/drawing/2014/main" id="{FFC6CDFB-54AD-FC10-492E-D0931BD2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77723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5" name="Zástupný symbol obrázku 7">
            <a:extLst>
              <a:ext uri="{FF2B5EF4-FFF2-40B4-BE49-F238E27FC236}">
                <a16:creationId xmlns:a16="http://schemas.microsoft.com/office/drawing/2014/main" id="{32839814-62AF-2979-37C7-4992C8D6E9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9816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17" name="Zástupný symbol obrázku 7">
            <a:extLst>
              <a:ext uri="{FF2B5EF4-FFF2-40B4-BE49-F238E27FC236}">
                <a16:creationId xmlns:a16="http://schemas.microsoft.com/office/drawing/2014/main" id="{6563AB54-CE31-EE11-7C25-22BFEB0849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81908" y="1486968"/>
            <a:ext cx="2428993" cy="2607660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E7812EDD-8649-F4D5-7B51-E6CC2223D022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36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CAD76A9F-6DA0-AC18-4A06-8DD0C0F56CAD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3484926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7FED81D5-414D-425B-67EE-DA335269451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79400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12" name="Zástupný symbol pro obsah 2">
            <a:extLst>
              <a:ext uri="{FF2B5EF4-FFF2-40B4-BE49-F238E27FC236}">
                <a16:creationId xmlns:a16="http://schemas.microsoft.com/office/drawing/2014/main" id="{BD1F73CC-2087-3052-FC89-2B1E982B6210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9073875" y="4444252"/>
            <a:ext cx="2419393" cy="1403889"/>
          </a:xfrm>
        </p:spPr>
        <p:txBody>
          <a:bodyPr>
            <a:normAutofit/>
          </a:bodyPr>
          <a:lstStyle>
            <a:lvl1pPr marL="0" indent="0">
              <a:spcAft>
                <a:spcPts val="1000"/>
              </a:spcAft>
              <a:buFont typeface="Arial" panose="020B0604020202020204" pitchFamily="34" charset="0"/>
              <a:buNone/>
              <a:defRPr sz="1500" b="1">
                <a:solidFill>
                  <a:schemeClr val="accent2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None/>
              <a:defRPr sz="1500"/>
            </a:lvl2pPr>
            <a:lvl3pPr>
              <a:buFont typeface="Wingdings" pitchFamily="2" charset="2"/>
              <a:buNone/>
              <a:defRPr/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None/>
              <a:defRPr/>
            </a:lvl5pPr>
          </a:lstStyle>
          <a:p>
            <a:pPr lvl="0"/>
            <a:r>
              <a:rPr lang="cs-CZ" dirty="0"/>
              <a:t>Název fotky</a:t>
            </a:r>
          </a:p>
          <a:p>
            <a:pPr lvl="1"/>
            <a:r>
              <a:rPr lang="cs-CZ" dirty="0"/>
              <a:t>Druhá úroveň</a:t>
            </a:r>
          </a:p>
        </p:txBody>
      </p:sp>
      <p:sp>
        <p:nvSpPr>
          <p:cNvPr id="3" name="Zástupný symbol pro číslo snímku 5">
            <a:extLst>
              <a:ext uri="{FF2B5EF4-FFF2-40B4-BE49-F238E27FC236}">
                <a16:creationId xmlns:a16="http://schemas.microsoft.com/office/drawing/2014/main" id="{893E901C-6AA0-0F75-C9B1-BE19FABFC393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25833800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tx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1846262"/>
            <a:ext cx="6157278" cy="3383763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C3AB57E5-30E5-1721-7ABB-F3BD27E78527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1508938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620001" y="2165625"/>
            <a:ext cx="3516021" cy="3960537"/>
          </a:xfrm>
        </p:spPr>
        <p:txBody>
          <a:bodyPr/>
          <a:lstStyle>
            <a:lvl1pPr marL="0" indent="0">
              <a:spcAft>
                <a:spcPts val="1800"/>
              </a:spcAft>
              <a:buFont typeface="Wingdings" pitchFamily="2" charset="2"/>
              <a:buNone/>
              <a:defRPr b="0">
                <a:solidFill>
                  <a:schemeClr val="tx1"/>
                </a:solidFill>
              </a:defRPr>
            </a:lvl1pPr>
            <a:lvl2pPr marL="0" indent="-288000">
              <a:buClr>
                <a:schemeClr val="accent5"/>
              </a:buClr>
              <a:buSzPct val="90000"/>
              <a:buFont typeface="Wingdings" pitchFamily="2" charset="2"/>
              <a:buChar char="§"/>
              <a:defRPr/>
            </a:lvl2pPr>
            <a:lvl3pPr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cs-CZ" dirty="0"/>
              <a:t>Text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8" name="Zástupný objekt grafu 7">
            <a:extLst>
              <a:ext uri="{FF2B5EF4-FFF2-40B4-BE49-F238E27FC236}">
                <a16:creationId xmlns:a16="http://schemas.microsoft.com/office/drawing/2014/main" id="{7C54CE2A-0CB4-8467-2966-0F4B4D0EA706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41121" y="2165625"/>
            <a:ext cx="6157278" cy="3383763"/>
          </a:xfrm>
        </p:spPr>
        <p:txBody>
          <a:bodyPr/>
          <a:lstStyle/>
          <a:p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4F692555-6195-4F09-FB48-4EF6E638FA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80B733-56AF-86CD-D756-629084A16536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36118284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dpis, text a 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599268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5A12E-3DFE-4C3E-9036-7893F29C52C1}" type="slidenum">
              <a:rPr lang="cs-CZ" smtClean="0"/>
              <a:t>‹#›</a:t>
            </a:fld>
            <a:endParaRPr lang="cs-CZ"/>
          </a:p>
        </p:txBody>
      </p:sp>
      <p:sp>
        <p:nvSpPr>
          <p:cNvPr id="4" name="Zástupný text 8">
            <a:extLst>
              <a:ext uri="{FF2B5EF4-FFF2-40B4-BE49-F238E27FC236}">
                <a16:creationId xmlns:a16="http://schemas.microsoft.com/office/drawing/2014/main" id="{88833E3E-D9C4-1B56-E700-3FE02CF54D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4000" y="1243809"/>
            <a:ext cx="5259600" cy="772560"/>
          </a:xfrm>
        </p:spPr>
        <p:txBody>
          <a:bodyPr/>
          <a:lstStyle>
            <a:lvl1pPr>
              <a:buNone/>
              <a:defRPr lang="cs-CZ" sz="2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cs-CZ" dirty="0"/>
              <a:t>Po kliknutí můžete upravovat styly textu v předloze.</a:t>
            </a:r>
          </a:p>
        </p:txBody>
      </p:sp>
      <p:sp>
        <p:nvSpPr>
          <p:cNvPr id="9" name="Zástupný symbol pro tabulku 8">
            <a:extLst>
              <a:ext uri="{FF2B5EF4-FFF2-40B4-BE49-F238E27FC236}">
                <a16:creationId xmlns:a16="http://schemas.microsoft.com/office/drawing/2014/main" id="{38C15361-4216-1F02-862E-96F0428B738D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5400942" y="2213361"/>
            <a:ext cx="6097458" cy="2836476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1AA2B79E-EBDF-2530-1330-B70DF2E98A5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620000" y="2167003"/>
            <a:ext cx="3516021" cy="3915521"/>
          </a:xfrm>
        </p:spPr>
        <p:txBody>
          <a:bodyPr numCol="1" spcCol="360000">
            <a:normAutofit/>
          </a:bodyPr>
          <a:lstStyle>
            <a:lvl1pPr marL="288000" indent="-28800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accent1"/>
              </a:buClr>
              <a:buSzPct val="90000"/>
              <a:buFont typeface="Wingdings" pitchFamily="2" charset="2"/>
              <a:buChar char="§"/>
              <a:defRPr sz="2000"/>
            </a:lvl1pPr>
            <a:lvl2pPr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indent="0">
              <a:lnSpc>
                <a:spcPct val="120000"/>
              </a:lnSpc>
              <a:spcAft>
                <a:spcPts val="400"/>
              </a:spcAft>
              <a:buNone/>
              <a:defRPr sz="1800"/>
            </a:lvl3pPr>
            <a:lvl4pPr indent="0">
              <a:lnSpc>
                <a:spcPct val="120000"/>
              </a:lnSpc>
              <a:spcAft>
                <a:spcPts val="400"/>
              </a:spcAft>
              <a:buNone/>
              <a:defRPr sz="1800"/>
            </a:lvl4pPr>
            <a:lvl5pPr indent="0">
              <a:lnSpc>
                <a:spcPct val="120000"/>
              </a:lnSpc>
              <a:spcAft>
                <a:spcPts val="400"/>
              </a:spcAft>
              <a:buNone/>
              <a:defRPr sz="1800"/>
            </a:lvl5pPr>
          </a:lstStyle>
          <a:p>
            <a:pPr lvl="0"/>
            <a:r>
              <a:rPr lang="cs-CZ" dirty="0"/>
              <a:t>Upravte styly předlohy textu</a:t>
            </a:r>
          </a:p>
        </p:txBody>
      </p:sp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0CAAE527-231E-9248-0A0C-52E8BA0AF602}"/>
              </a:ext>
            </a:extLst>
          </p:cNvPr>
          <p:cNvSpPr txBox="1">
            <a:spLocks/>
          </p:cNvSpPr>
          <p:nvPr userDrawn="1"/>
        </p:nvSpPr>
        <p:spPr>
          <a:xfrm>
            <a:off x="693600" y="6300000"/>
            <a:ext cx="395282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000" dirty="0">
                <a:solidFill>
                  <a:schemeClr val="bg2"/>
                </a:solidFill>
              </a:rPr>
              <a:t>Digitální a informační agentura</a:t>
            </a:r>
          </a:p>
        </p:txBody>
      </p:sp>
    </p:spTree>
    <p:extLst>
      <p:ext uri="{BB962C8B-B14F-4D97-AF65-F5344CB8AC3E}">
        <p14:creationId xmlns:p14="http://schemas.microsoft.com/office/powerpoint/2010/main" val="16572456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27388244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08327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ávěr a shrnut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620000" y="2160000"/>
            <a:ext cx="8964000" cy="3960000"/>
          </a:xfrm>
        </p:spPr>
        <p:txBody>
          <a:bodyPr numCol="2" spcCol="360000"/>
          <a:lstStyle>
            <a:lvl1pPr marL="0" indent="-504000">
              <a:lnSpc>
                <a:spcPct val="120000"/>
              </a:lnSpc>
              <a:spcAft>
                <a:spcPts val="1000"/>
              </a:spcAft>
              <a:buNone/>
              <a:defRPr sz="20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Aft>
                <a:spcPts val="400"/>
              </a:spcAft>
              <a:buNone/>
              <a:defRPr sz="1800"/>
            </a:lvl2pPr>
            <a:lvl3pPr marL="0" indent="0">
              <a:lnSpc>
                <a:spcPct val="120000"/>
              </a:lnSpc>
              <a:spcAft>
                <a:spcPts val="400"/>
              </a:spcAft>
              <a:buNone/>
              <a:defRPr/>
            </a:lvl3pPr>
            <a:lvl4pPr marL="0" indent="0">
              <a:lnSpc>
                <a:spcPct val="120000"/>
              </a:lnSpc>
              <a:spcAft>
                <a:spcPts val="400"/>
              </a:spcAft>
              <a:buNone/>
              <a:defRPr/>
            </a:lvl4pPr>
            <a:lvl5pPr marL="0" indent="0">
              <a:lnSpc>
                <a:spcPct val="120000"/>
              </a:lnSpc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cs-CZ" dirty="0"/>
              <a:t>Upravte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7163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Závěr a poděkov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300000" y="2109600"/>
            <a:ext cx="5400000" cy="1916866"/>
          </a:xfr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3700" b="1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300000" y="4237200"/>
            <a:ext cx="5400000" cy="1968940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A8F823BE-0289-3AD8-2460-7235697BE4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00" y="641675"/>
            <a:ext cx="2733677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90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0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55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99000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55200" y="630000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F5A12E-3DFE-4C3E-9036-7893F29C52C1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CE70BBC-B115-131D-2941-69C0C2A943A9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11094914" y="1651"/>
            <a:ext cx="453600" cy="100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24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5" r:id="rId2"/>
    <p:sldLayoutId id="2147483660" r:id="rId3"/>
    <p:sldLayoutId id="2147483718" r:id="rId4"/>
    <p:sldLayoutId id="2147483721" r:id="rId5"/>
    <p:sldLayoutId id="2147483650" r:id="rId6"/>
    <p:sldLayoutId id="2147483676" r:id="rId7"/>
    <p:sldLayoutId id="2147483677" r:id="rId8"/>
    <p:sldLayoutId id="2147483678" r:id="rId9"/>
    <p:sldLayoutId id="2147483679" r:id="rId10"/>
    <p:sldLayoutId id="2147483651" r:id="rId11"/>
    <p:sldLayoutId id="2147483680" r:id="rId12"/>
    <p:sldLayoutId id="2147483681" r:id="rId13"/>
    <p:sldLayoutId id="2147483682" r:id="rId14"/>
    <p:sldLayoutId id="214748365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716" r:id="rId24"/>
    <p:sldLayoutId id="2147483691" r:id="rId25"/>
    <p:sldLayoutId id="2147483654" r:id="rId26"/>
    <p:sldLayoutId id="2147483655" r:id="rId27"/>
    <p:sldLayoutId id="2147483719" r:id="rId28"/>
    <p:sldLayoutId id="2147483723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Font typeface="Wingdings" pitchFamily="2" charset="2"/>
        <a:buChar char="§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500" kern="1200">
          <a:solidFill>
            <a:schemeClr val="accent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accent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0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3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84000" y="619932"/>
            <a:ext cx="9900000" cy="10707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677971" y="2160000"/>
            <a:ext cx="8906029" cy="407806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55200" y="630000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CF5A12E-3DFE-4C3E-9036-7893F29C52C1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0A29A96-A469-4350-B155-21439378B4C4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11094914" y="1651"/>
            <a:ext cx="453600" cy="100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1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66" r:id="rId4"/>
    <p:sldLayoutId id="2147483722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7" r:id="rId24"/>
    <p:sldLayoutId id="2147483713" r:id="rId25"/>
    <p:sldLayoutId id="2147483668" r:id="rId26"/>
    <p:sldLayoutId id="2147483669" r:id="rId27"/>
    <p:sldLayoutId id="2147483720" r:id="rId28"/>
    <p:sldLayoutId id="2147483724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5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04000" indent="-2160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Font typeface="Wingdings" pitchFamily="2" charset="2"/>
        <a:buChar char="§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0" userDrawn="1">
          <p15:clr>
            <a:srgbClr val="F26B43"/>
          </p15:clr>
        </p15:guide>
        <p15:guide id="2" pos="41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zechia Sans"/>
              </a:rPr>
              <a:t>Informování o stavu adopce AI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zechia Sans"/>
              </a:rPr>
              <a:t>Digitální a informační agenturou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zechia Sans"/>
              </a:rPr>
              <a:t>a plánech pro sdílené služby eGov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C800"/>
                </a:solidFill>
                <a:latin typeface="Czechia Sans"/>
              </a:rPr>
              <a:t>Zasedání Výboru pro architekturu a řízení ICT RVIS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zechia Sans"/>
              </a:rPr>
              <a:t>Tomáš Slívka   ·   Odbor architektury a rozvoje, DIA   ·   11. 5.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Odbor architektury a rozvoje (DIA) — kdo jsme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FFC800"/>
                </a:solidFill>
                <a:latin typeface="Czechia Sans"/>
              </a:rPr>
              <a:t>Architektonické vrstvy eGov  (NAR / TOGAF)  —  oba útvary v rámci 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8595360" cy="566928"/>
          </a:xfrm>
          <a:prstGeom prst="roundRect">
            <a:avLst/>
          </a:prstGeom>
          <a:solidFill>
            <a:srgbClr val="6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BUSINESS / FUNKČNÍ    procesy · agendy · životní situace · legislativa · odpovědnosti OVM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86584"/>
            <a:ext cx="8595360" cy="566928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APLIKAČNÍ    služby · integrace · MCP · agenty ·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90088"/>
            <a:ext cx="8595360" cy="566928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DATOVÁ  (technická)    modely · klasifikace · observability · audit · embeddings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93592"/>
            <a:ext cx="8595360" cy="566928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TECHNOLOGICKÁ    cloud · onprem · runtime · sítě · bezpečnost · identita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783080"/>
            <a:ext cx="2468880" cy="566928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← OHA   (těžiště)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386584"/>
            <a:ext cx="2468880" cy="1773936"/>
          </a:xfrm>
          <a:prstGeom prst="roundRect">
            <a:avLst/>
          </a:prstGeom>
          <a:solidFill>
            <a:srgbClr val="22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← OAR (my)</a:t>
            </a:r>
          </a:p>
          <a:p>
            <a:pPr algn="ctr">
              <a:spcAft>
                <a:spcPts val="0"/>
              </a:spcAft>
            </a:pPr>
            <a:endParaRPr sz="1200" b="1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implementace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technologie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v projektech a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sdílených službách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E8E8EE"/>
                </a:solidFill>
                <a:latin typeface="Czechia Sans"/>
              </a:rPr>
              <a:t>OHA  =  metodický rámec celosektorové architektury  (těžiště v byznysu, posuzuje napříč)   ·   OAR  =  technologická realizace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92040"/>
            <a:ext cx="5394960" cy="132588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Czechia Sans"/>
              </a:rPr>
              <a:t>CO DĚLÁME  (v AI pro VS)</a:t>
            </a:r>
          </a:p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Czechia Sans"/>
              </a:rPr>
              <a:t>• 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Navrhujeme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architekturu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 AI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eGov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služeb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státu</a:t>
            </a:r>
            <a:endParaRPr sz="1200" b="0" dirty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Czechia Sans"/>
              </a:rPr>
              <a:t>• 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Standardizujeme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 (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telemetrie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,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identita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, audit, governance)</a:t>
            </a:r>
          </a:p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Czechia Sans"/>
              </a:rPr>
              <a:t>• 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Provozujeme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piloty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,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doprovázíme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přechod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 k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dodavatelům</a:t>
            </a:r>
            <a:endParaRPr sz="1200" b="0" dirty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Czechia Sans"/>
              </a:rPr>
              <a:t>• 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Sdílíme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stavební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kameny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 pro OVM (vendor-</a:t>
            </a:r>
            <a:r>
              <a:rPr sz="1200" b="0" dirty="0" err="1">
                <a:solidFill>
                  <a:srgbClr val="FFFFFF"/>
                </a:solidFill>
                <a:latin typeface="Czechia Sans"/>
              </a:rPr>
              <a:t>neutrální</a:t>
            </a:r>
            <a:r>
              <a:rPr sz="1200" b="0" dirty="0">
                <a:solidFill>
                  <a:srgbClr val="FFFFFF"/>
                </a:solidFill>
                <a:latin typeface="Czechia San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92040"/>
            <a:ext cx="5394960" cy="1325880"/>
          </a:xfrm>
          <a:prstGeom prst="roundRect">
            <a:avLst/>
          </a:prstGeom>
          <a:solidFill>
            <a:srgbClr val="6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CO NEDĚLÁME  (jiný útvar / orgán / dodavatel)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Metodický rámec celosektorové architektury  (OHA)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Strategická koordinace AI  (ÚV)   ·   regulace AI Act  (ČTÚ)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Implementační legislativa  (MPO)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Produkční dodávky sami nestavíme — DNS, podniky, dodavatelé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AI Act + naše pozice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C800"/>
                </a:solidFill>
                <a:latin typeface="Czechia Sans"/>
              </a:rPr>
              <a:t>TIMELINE  —  klíčové milníky AI 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2606040" cy="109728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✓  2 / 2025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Zakázané praktiky</a:t>
            </a:r>
          </a:p>
          <a:p>
            <a:pPr algn="ctr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platí dnes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691640"/>
            <a:ext cx="2606040" cy="109728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✓  8 / 2025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GPAI obligations</a:t>
            </a:r>
          </a:p>
          <a:p>
            <a:pPr algn="ctr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platí dnes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91640"/>
            <a:ext cx="2606040" cy="109728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→  12 / 2027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High-risk Annex III
(eGov AI)</a:t>
            </a:r>
          </a:p>
          <a:p>
            <a:pPr algn="ctr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posun z 8/2026
(dohoda 7. 5.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691640"/>
            <a:ext cx="2606040" cy="1097280"/>
          </a:xfrm>
          <a:prstGeom prst="roundRect">
            <a:avLst/>
          </a:prstGeom>
          <a:solidFill>
            <a:srgbClr val="6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→  31. 12. 2030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Plná aplikace pro
existující systémy</a:t>
            </a:r>
          </a:p>
          <a:p>
            <a:pPr algn="ctr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přechodné období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C800"/>
                </a:solidFill>
                <a:latin typeface="Czechia Sans"/>
              </a:rPr>
              <a:t>STATUS QUO V ČR  (k 11. 5. 2026)  —  jak jej vnímáme 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5669280" cy="237744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zechia Sans"/>
              </a:rPr>
              <a:t>•  ČTÚ  =  primární dozorce  (čeká na zákon)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zechia Sans"/>
              </a:rPr>
              <a:t>•  MPO  =  gestor implementace AI Act (zákon v procesu)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zechia Sans"/>
              </a:rPr>
              <a:t>•  Digitální zmocněnec pro AI  =  Lukáš Kačena (MPO)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zechia Sans"/>
              </a:rPr>
              <a:t>•  SPCSS  =  eGovernment cloud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zechia Sans"/>
              </a:rPr>
              <a:t>•  232 mil. Kč alokováno 2026–2028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zechia Sans"/>
              </a:rPr>
              <a:t>•  DIA  =  metodika + technický framework  (NE regulátor)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Czechia Sans"/>
              </a:rPr>
              <a:t>•  EU standardy (CEN/CENELEC)  =  stále nehotové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520440"/>
            <a:ext cx="5394960" cy="2377440"/>
          </a:xfrm>
          <a:prstGeom prst="roundRect">
            <a:avLst/>
          </a:prstGeom>
          <a:solidFill>
            <a:srgbClr val="4A2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DVA PROTICHŮDNÉ TAHY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↑  Tlak na adopci AI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    • konkurenceschopnost VS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    • očekávání občanů (rychlost, transparentnost)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    • efektivita (více práce, stejný počet úředníků)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↓  Tlak na compliance s AI Act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    (audit, transparency, bezpečnost, risk management)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Czechia Sans"/>
              </a:rPr>
              <a:t>Naše role je výhradně v rámci adopce AI do služeb eGovernmentu  —  ne regulace, ne koordinace, ne legislativa.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Adopce AI v Digitální a informační agentuře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FFC800"/>
                </a:solidFill>
                <a:latin typeface="Czechia Sans"/>
              </a:rPr>
              <a:t>Subjekt vrstev:  služba eGov  —  popisuje sebe, validuje sebe, komunikuje s občanem i úředníkem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600200"/>
            <a:ext cx="8138160" cy="96012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4. KOMUNIKUJE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AI Platform (ops infra + data lego) · 3 agenti · ROB · PSS agent · ZoPDS 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615184"/>
            <a:ext cx="8138160" cy="960120"/>
          </a:xfrm>
          <a:prstGeom prst="roundRect">
            <a:avLst/>
          </a:prstGeom>
          <a:solidFill>
            <a:srgbClr val="C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3. VALIDUJE SEBE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Centrální observability  ·  Traces vs. grafový obtisk  ·  Audit (CloudEvents, EU AI Act, NIS2)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630168"/>
            <a:ext cx="8138160" cy="960120"/>
          </a:xfrm>
          <a:prstGeom prst="roundRect">
            <a:avLst/>
          </a:prstGeom>
          <a:solidFill>
            <a:srgbClr val="8C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2. POPISUJE SEBE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PSS (NAR + OHA + CPSV-AP)  ·  Tempo Service Graph  ·  Neo4j reconciliace  ·  KB MCPs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645152"/>
            <a:ext cx="8138160" cy="960120"/>
          </a:xfrm>
          <a:prstGeom prst="roundRect">
            <a:avLst/>
          </a:prstGeom>
          <a:solidFill>
            <a:srgbClr val="4A2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1. STANDARDIZUJE  —  otevřené standardy + hybridní infra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Telemetrie · Popis služeb · Identita · AI governance   |   AKS (cloud BÚ≤3) + OpenShift (eGov BÚ4)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 dirty="0" err="1">
                <a:solidFill>
                  <a:srgbClr val="FFFFFF"/>
                </a:solidFill>
                <a:latin typeface="Czechia Sans"/>
              </a:rPr>
              <a:t>Vrstvení</a:t>
            </a:r>
            <a:r>
              <a:rPr sz="1200" b="0" i="1" dirty="0">
                <a:solidFill>
                  <a:srgbClr val="FFFFFF"/>
                </a:solidFill>
                <a:latin typeface="Czechia Sans"/>
              </a:rPr>
              <a:t> = </a:t>
            </a:r>
            <a:r>
              <a:rPr sz="1200" b="0" i="1" dirty="0" err="1">
                <a:solidFill>
                  <a:srgbClr val="FFFFFF"/>
                </a:solidFill>
                <a:latin typeface="Czechia Sans"/>
              </a:rPr>
              <a:t>závislost</a:t>
            </a:r>
            <a:r>
              <a:rPr sz="1200" b="0" i="1" dirty="0">
                <a:solidFill>
                  <a:srgbClr val="FFFFFF"/>
                </a:solidFill>
                <a:latin typeface="Czechia Sans"/>
              </a:rPr>
              <a:t>.  Bez 1 → no 2  ·  bez 2 → no 3  ·  bez 3 → </a:t>
            </a:r>
            <a:r>
              <a:rPr sz="1200" b="0" i="1" dirty="0" err="1">
                <a:solidFill>
                  <a:srgbClr val="FFFFFF"/>
                </a:solidFill>
                <a:latin typeface="Czechia Sans"/>
              </a:rPr>
              <a:t>halucinace</a:t>
            </a:r>
            <a:endParaRPr sz="1200" b="0" i="1" dirty="0">
              <a:solidFill>
                <a:srgbClr val="FFFFFF"/>
              </a:solidFill>
              <a:latin typeface="Czechi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Vrstva 1 (STANDARDIZUJE) — Čtyři kategorie standardů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5760720" cy="210312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TELEMETRIE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•  OpenTelemetry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•  W3C tracecontext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•  CloudEvents v1.0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80160"/>
            <a:ext cx="5760720" cy="210312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POPIS SLUŽEB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•  NAR (Národní arch. eGovernmentu)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•  OHA formuláře + data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•  CPSV-AP (EU Core Public Service Vocab.)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•  Portál sdílených služeb (PSS)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•  RPP (Registr práv a povinností)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→ kanonizace a katalogizace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520440"/>
            <a:ext cx="5760720" cy="265176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IDENTITA &amp; PŘÍSTUP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eIDAS + NIA (občan)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CAAIS (DIA centralizovaný authN/authZ IS)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OPA — Open Policy Agent napojený na RPP + RAZR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Microsoft Entra (App Roles, workload federation)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    Krok 1: trust napříč OVM tenanty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    Krok 2: sync s CAAIS jako autoritou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520440"/>
            <a:ext cx="5760720" cy="265176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AI GOVERNANCE &amp; COMPLIANCE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EU AI Act  ·  NIS2 reporting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GDPR (Subject Access Request přes audit DB)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Microsoft Presidio (PII detekce, EU entity)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Klasifikace dat + auditing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Mapping klasifikace → schválené LLM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    veřejná/interní → cloud  ·  citlivá → on-prem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Czechia Sans"/>
              </a:rPr>
              <a:t>Vendor-neutrální  ·  veřejné  ·  propagují kontext napříč dodavateli i organizacemi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Vrstva 2 (POPISUJE) — Telemetrie reality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943600"/>
            <a:ext cx="2011680" cy="274320"/>
          </a:xfrm>
          <a:prstGeom prst="roundRect">
            <a:avLst/>
          </a:prstGeom>
          <a:solidFill>
            <a:srgbClr val="22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zechia Sans"/>
              </a:rPr>
              <a:t>✓  V PROVOZU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5760720" cy="91440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zechia Sans"/>
              </a:rPr>
              <a:t>4 monitoring tenants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zechia Sans"/>
              </a:rPr>
              <a:t>eDoklady  ·  NIA  ·  Portál občana  · 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2011680" cy="18288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METRIKY</a:t>
            </a:r>
          </a:p>
          <a:p>
            <a:pPr algn="ctr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Prometheus
Thanos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0" y="2286000"/>
            <a:ext cx="0" cy="45720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80360" y="2743200"/>
            <a:ext cx="2011680" cy="18288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LOGY</a:t>
            </a:r>
          </a:p>
          <a:p>
            <a:pPr algn="ctr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Loki
(distributed)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0" y="2286000"/>
            <a:ext cx="0" cy="45720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2743200"/>
            <a:ext cx="2011680" cy="18288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TRACES</a:t>
            </a:r>
          </a:p>
          <a:p>
            <a:pPr algn="ctr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Tempo
(OTel)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286000"/>
            <a:ext cx="0" cy="45720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2743200"/>
            <a:ext cx="2011680" cy="18288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PROBES</a:t>
            </a:r>
          </a:p>
          <a:p>
            <a:pPr algn="ctr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Blackbox
Exporter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286000"/>
            <a:ext cx="0" cy="45720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0" y="2743200"/>
            <a:ext cx="2011680" cy="18288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AUDIT</a:t>
            </a:r>
          </a:p>
          <a:p>
            <a:pPr algn="ctr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CloudEvents
Kafka
TimescaleDB 7 let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286000"/>
            <a:ext cx="0" cy="45720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4846320"/>
            <a:ext cx="3017520" cy="640080"/>
          </a:xfrm>
          <a:prstGeom prst="round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1430"/>
                </a:solidFill>
                <a:latin typeface="Czechia Sans"/>
              </a:rPr>
              <a:t>Grafana  (Entra SSO)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4572000"/>
            <a:ext cx="0" cy="27432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4572000"/>
            <a:ext cx="0" cy="27432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80760" y="4572000"/>
            <a:ext cx="0" cy="27432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080760" y="4572000"/>
            <a:ext cx="0" cy="27432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80760" y="4572000"/>
            <a:ext cx="0" cy="27432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Vrstva 2 — PSS jako kanonický popis služeb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943600"/>
            <a:ext cx="2011680" cy="274320"/>
          </a:xfrm>
          <a:prstGeom prst="roundRect">
            <a:avLst/>
          </a:prstGeom>
          <a:solidFill>
            <a:srgbClr val="22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zechia Sans"/>
              </a:rPr>
              <a:t>✓  V PROVOZU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6040" y="5943600"/>
            <a:ext cx="2011680" cy="27432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zechia Sans"/>
              </a:rPr>
              <a:t>◐  V PŘÍPRAVĚ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685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1430"/>
                          </a:solidFill>
                          <a:latin typeface="Czechia Sans"/>
                        </a:rPr>
                        <a:t>Pole karty</a:t>
                      </a:r>
                    </a:p>
                  </a:txBody>
                  <a:tcPr>
                    <a:solidFill>
                      <a:srgbClr val="FFC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1430"/>
                          </a:solidFill>
                          <a:latin typeface="Czechia Sans"/>
                        </a:rPr>
                        <a:t>Příklad pro eDoklady</a:t>
                      </a:r>
                    </a:p>
                  </a:txBody>
                  <a:tcPr>
                    <a:solidFill>
                      <a:srgbClr val="FFC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1430"/>
                          </a:solidFill>
                          <a:latin typeface="Czechia Sans"/>
                        </a:rPr>
                        <a:t>Standard</a:t>
                      </a:r>
                    </a:p>
                  </a:txBody>
                  <a:tcPr>
                    <a:solidFill>
                      <a:srgbClr val="FFC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Vlastník (OVM)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DIA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NAR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Závislosti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NIA, ISZR, dodavatelé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NAR + CPSV-AP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SLA / Tier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1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NAR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Legislativa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zákon 12/2020, 365/2000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OHA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RACI matice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(popis odpovědností)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NAR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OHA data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životní situace, agenda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OHA formuláře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CPSV-AP fields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Public Service description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EU CPSV-AP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Backlog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otevřený k diskusi s OVM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zechia Sans"/>
                        </a:rPr>
                        <a:t>PSS rozšíření</a:t>
                      </a:r>
                    </a:p>
                  </a:txBody>
                  <a:tcPr>
                    <a:solidFill>
                      <a:srgbClr val="18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280160"/>
            <a:ext cx="4297680" cy="41148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800"/>
                </a:solidFill>
                <a:latin typeface="Czechia Sans"/>
              </a:rPr>
              <a:t>Klíčové pointy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Inspirace: UK GDS, Estonia X-Road, OpenProject + Decidim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Karty čerpají ze 4 standardů: NAR + OHA + CPSV-AP + PSS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Prezentační vrstva: PSS portál  ·  Grafana  ·  provozní dashboardy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Nad PSS AI agent řídí portál — karty, reporty, změny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→ správa služby = rozhovor, ne klikání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Vrstva 2 — Service Explorer = reconciliace popisů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943600"/>
            <a:ext cx="2011680" cy="27432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zechia Sans"/>
              </a:rPr>
              <a:t>◐  V PŘÍPRAVĚ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572000" cy="18288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KANONICKÝ POPIS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(deklarováno — z PSS)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vlastníci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SLA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závislosti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OHA data + RACI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71600"/>
            <a:ext cx="4572000" cy="1828800"/>
          </a:xfrm>
          <a:prstGeom prst="roundRect">
            <a:avLst/>
          </a:prstGeom>
          <a:solidFill>
            <a:srgbClr val="6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POZOROVANÁ TOPOLOGIE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(skutečnost — z OTel traces)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Tempo Service Graph Processor (auto)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kdo skutečně koho volá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latence p50/p95/p99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chybovost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657600"/>
            <a:ext cx="3017520" cy="731520"/>
          </a:xfrm>
          <a:prstGeom prst="roundRect">
            <a:avLst/>
          </a:prstGeom>
          <a:solidFill>
            <a:srgbClr val="4A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zechia Sans"/>
              </a:rPr>
              <a:t>Neo4j  (grafová databáze)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3200400"/>
            <a:ext cx="2286000" cy="45720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675120" y="3200400"/>
            <a:ext cx="2286000" cy="45720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31920" y="4572000"/>
            <a:ext cx="4297680" cy="640080"/>
          </a:xfrm>
          <a:prstGeom prst="round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01430"/>
                </a:solidFill>
                <a:latin typeface="Czechia Sans"/>
              </a:rPr>
              <a:t>Periodická reconciliace  =  drift detection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4389120"/>
            <a:ext cx="0" cy="18288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Vrstva 2 — Knowledge-base MCPs: 360° kontext pro AI agenty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943600"/>
            <a:ext cx="2011680" cy="274320"/>
          </a:xfrm>
          <a:prstGeom prst="roundRect">
            <a:avLst/>
          </a:prstGeom>
          <a:solidFill>
            <a:srgbClr val="22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zechia Sans"/>
              </a:rPr>
              <a:t>✓  V PROVOZU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280160"/>
            <a:ext cx="3931920" cy="64008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AI agent /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103120"/>
            <a:ext cx="2240280" cy="32004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DOKUMENTAČNÍ MCP</a:t>
            </a:r>
          </a:p>
          <a:p>
            <a:pPr algn="l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NAR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OHA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PSS karty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ADR + RFC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runbooky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směrnice + normy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0" y="1920240"/>
            <a:ext cx="0" cy="18288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51760" y="2103120"/>
            <a:ext cx="2240280" cy="32004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SOURCE CODE MCP</a:t>
            </a:r>
          </a:p>
          <a:p>
            <a:pPr algn="l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repozitáře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napříč týmy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Git blame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historie změn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0" y="1920240"/>
            <a:ext cx="0" cy="18288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83480" y="2103120"/>
            <a:ext cx="2240280" cy="32004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BACKLOG &amp; TASKS MCP</a:t>
            </a:r>
          </a:p>
          <a:p>
            <a:pPr algn="l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roadmapa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známé problémy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tickety / sprinty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změnové požadavky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920240"/>
            <a:ext cx="0" cy="18288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2103120"/>
            <a:ext cx="2240280" cy="32004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INFRA READ MCP</a:t>
            </a:r>
          </a:p>
          <a:p>
            <a:pPr algn="l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deployment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RBAC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sítě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secrets meta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1920240"/>
            <a:ext cx="0" cy="18288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46920" y="2103120"/>
            <a:ext cx="2240280" cy="32004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OBSERVABILITY MCP</a:t>
            </a:r>
          </a:p>
          <a:p>
            <a:pPr algn="l">
              <a:spcAft>
                <a:spcPts val="0"/>
              </a:spcAft>
            </a:pPr>
            <a:endParaRPr sz="11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metriky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logy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traces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zechia Sans"/>
              </a:rPr>
              <a:t>•  alerty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1920240"/>
            <a:ext cx="0" cy="18288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1">
                <a:solidFill>
                  <a:srgbClr val="FFC800"/>
                </a:solidFill>
                <a:latin typeface="Czechia Sans"/>
              </a:rPr>
              <a:t>360° KONTEXT SLUŽBY V REÁLNÉM ČASE  —  co je deklarováno + co běží + co se děje + co je v plánu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Vrstva 3 (VALIDUJE) — Traces vs. grafový obtisk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943600"/>
            <a:ext cx="2011680" cy="27432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zechia Sans"/>
              </a:rPr>
              <a:t>◐  V PŘÍPRAVĚ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1828800"/>
          </a:xfrm>
          <a:prstGeom prst="roundRect">
            <a:avLst/>
          </a:prstGeom>
          <a:solidFill>
            <a:srgbClr val="6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OPENTELEMETRY TRACES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(reálný provoz — co se skutečně děje)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W3C tracecontext napříč službami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kdo koho volá, latence, chybovost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Tempo Service Graph Processor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94960" cy="18288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GRAFOVÝ OBTISK SYSTÉMU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(deklarováno — z PSS / Neo4j)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očekávaná topologie volání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závislosti, vlastníci, SLO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kanonický popis služeb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474720"/>
            <a:ext cx="5760720" cy="731520"/>
          </a:xfrm>
          <a:prstGeom prst="round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1430"/>
                </a:solidFill>
                <a:latin typeface="Czechia Sans"/>
              </a:rPr>
              <a:t>Validace  =  porovnání skutečného a očekávaného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3200400"/>
            <a:ext cx="1920240" cy="27432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132320" y="3200400"/>
            <a:ext cx="1920240" cy="27432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4389120"/>
            <a:ext cx="11247120" cy="640080"/>
          </a:xfrm>
          <a:prstGeom prst="roundRect">
            <a:avLst/>
          </a:prstGeom>
          <a:solidFill>
            <a:srgbClr val="4A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→  Grafana  ·  PSS portál  ·  provozní dashboardy  ·  alerty na drift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4206240"/>
            <a:ext cx="0" cy="18288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0400" y="5166360"/>
            <a:ext cx="5760720" cy="54864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AI chatbot nad jedním grafem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5029200"/>
            <a:ext cx="0" cy="13716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FFFFFF"/>
                </a:solidFill>
                <a:latin typeface="Czechia Sans"/>
              </a:rPr>
              <a:t>E2E funkční testy (mobilní virtualizace pro eDoklady) — okrajový nástroj nad tímtéž tracingem.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C800"/>
                </a:solidFill>
                <a:latin typeface="Czechia Sans"/>
              </a:rPr>
              <a:t>„Systém průběžně ověřuje sebe — proti deklarovanému obrazu, ne proti naději."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Vrstva 3 — Audit &amp; dohledatelnost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943600"/>
            <a:ext cx="2011680" cy="274320"/>
          </a:xfrm>
          <a:prstGeom prst="roundRect">
            <a:avLst/>
          </a:prstGeom>
          <a:solidFill>
            <a:srgbClr val="22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zechia Sans"/>
              </a:rPr>
              <a:t>✓  V PROVOZU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64008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AI agent / služba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2743200" cy="640080"/>
          </a:xfrm>
          <a:prstGeom prst="roundRect">
            <a:avLst/>
          </a:prstGeom>
          <a:solidFill>
            <a:srgbClr val="4A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CloudEvents v1.0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2743200" cy="640080"/>
          </a:xfrm>
          <a:prstGeom prst="roundRect">
            <a:avLst/>
          </a:prstGeom>
          <a:solidFill>
            <a:srgbClr val="4A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Audit event bus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011680"/>
            <a:ext cx="0" cy="18288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2834640"/>
            <a:ext cx="0" cy="18288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4023360"/>
            <a:ext cx="2743200" cy="146304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LIVE AUDIT STORE</a:t>
            </a:r>
          </a:p>
          <a:p>
            <a:pPr algn="ctr">
              <a:spcAft>
                <a:spcPts val="0"/>
              </a:spcAft>
            </a:pPr>
            <a:endParaRPr sz="1300" b="1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dotazovatelné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v reálném čase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023360"/>
            <a:ext cx="2743200" cy="146304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IMMUTABLE STORAGE</a:t>
            </a:r>
          </a:p>
          <a:p>
            <a:pPr algn="ctr">
              <a:spcAft>
                <a:spcPts val="0"/>
              </a:spcAft>
            </a:pPr>
            <a:endParaRPr sz="1300" b="1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WORM  ·  dlouhodobá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forenzní stopa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3657600"/>
            <a:ext cx="0" cy="36576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" y="3657600"/>
            <a:ext cx="3200400" cy="36576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0" y="1371600"/>
            <a:ext cx="5029200" cy="41148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800"/>
                </a:solidFill>
                <a:latin typeface="Czechia Sans"/>
              </a:rPr>
              <a:t>Compliance dopady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GDPR Subject Access Request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NIS2 incident reporting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EU AI Act — auditní stopa rozhodnutí AI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Forenzní stopa pro vyšetřování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Standardy:  CloudEvents v1.0  ·  WORM immutability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Vrstva 4 (KOMUNIKUJE) — AI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64008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zechia Sans"/>
              </a:rPr>
              <a:t>AI PLATFORM  —  DIA sdílená infrastruktura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57400"/>
            <a:ext cx="5486400" cy="301752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OPS / INFRA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Ops MCPs (prom, loki, grafana, tempo, azure, …)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AI Gateway (API key, metering, rate limit, prompt guard)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Audit (CloudEvents → Kafka → TSDB + WORM)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Authorization — OPA · RBAC (Entra) · RPP / REZA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Autentizace — NIA · CAAIS · MS Entra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PII filtr (Microsoft Presidio)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WAF · Secret store (Vault, AKV, HSM)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OTel tooling · Hybrid runtime AKS + OpenShift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57400"/>
            <a:ext cx="5486400" cy="3017520"/>
          </a:xfrm>
          <a:prstGeom prst="roundRect">
            <a:avLst/>
          </a:prstGeom>
          <a:solidFill>
            <a:srgbClr val="6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DATA / AI „LEGO“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LLMs: frontier (Anthropic, OpenAI, Foundry)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    + lokální / sovereign (Mistral, Llama, …)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Memory MCP (PostgreSQL, Qdrant, Neo4j)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3rd party MCPs (GitHub, Jira, Confluence, ADO)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Data MCPs nad RPP, RAZR, registry, KB core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Canonization / Normalization (JSON + chunked)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Vector · Graph · RAG · DB · Ingest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Embeddings · Agent Framework · orchestrace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66360"/>
            <a:ext cx="1124712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FFFFFF"/>
                </a:solidFill>
                <a:latin typeface="Czechia Sans"/>
              </a:rPr>
              <a:t>↓  konzumováno aplikacemi  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5486400" cy="777240"/>
          </a:xfrm>
          <a:prstGeom prst="roundRect">
            <a:avLst/>
          </a:prstGeom>
          <a:solidFill>
            <a:srgbClr val="22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✓  V PROVOZU:  eDoklady · NIA · IAR chatbot · PSS catalog · PSS AI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486400"/>
            <a:ext cx="5486400" cy="77724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◐  V PŘÍPRAVĚ:  ROB agent (mandát ŘV ROB 19. 4. 2026) · ZoPDS 2.0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Vrstva 4 — KCVS: AI chatbot/mailbot pro portály DIA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943600"/>
            <a:ext cx="2011680" cy="27432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zechia Sans"/>
              </a:rPr>
              <a:t>◐  V PŘÍPRAVĚ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FFC800"/>
                </a:solidFill>
                <a:latin typeface="Czechia Sans"/>
              </a:rPr>
              <a:t>Customer-facing AI služba napříč 10 portály DIA  —  staví dodavatel, my vycházíme z předestřených vrstev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5486400" cy="356616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CO KCVS DĚLÁ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AI chatbot + mailbot pro občany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10 portálů DIA  (eDoklady, Identita občana,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    CzechPoint, …)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RAG per agenda  —  izolované znalostní báze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Human-in-the-loop review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Klasifikace: low-risk dle EU AI Act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DODAVATEL:  Asseco Central Europe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STAV:  produkce plánovaná na 6/2026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         + konzultace Presidio (Q2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486400" cy="3566160"/>
          </a:xfrm>
          <a:prstGeom prst="roundRect">
            <a:avLst/>
          </a:prstGeom>
          <a:solidFill>
            <a:srgbClr val="6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KDE VYCHÁZÍME Z PŘEDESTŘENÝCH VRSTEV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Formalizace klasifikace dat → schválené LLM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Rozšíření audit logů o AI-specifické položky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    (model_version, prompt_version, kb_sources)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EU AI Act čl. 50  —  transparentnost vůči občanovi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Presidio  —  PII detekce (EU entity)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Abstrakce LLM přístupu  —  příprava na multi-model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MCP migrace KB  —  interoperabilita s AI Platform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Doporučení rozdělená podle dopadu na harmonogram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Czechia Sans"/>
              </a:rPr>
              <a:t>Vzor pro vendor-built AI ve VS:  dodavatel staví, my poskytujeme architekturu a compliance vrstvy postupně.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Vrstva 4 — Produkční AI agenti dnes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943600"/>
            <a:ext cx="2011680" cy="274320"/>
          </a:xfrm>
          <a:prstGeom prst="roundRect">
            <a:avLst/>
          </a:prstGeom>
          <a:solidFill>
            <a:srgbClr val="22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zechia Sans"/>
              </a:rPr>
              <a:t>✓  V PROVOZU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64008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zechia Sans"/>
              </a:rPr>
              <a:t>eDoklady ops 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57400"/>
            <a:ext cx="2743200" cy="25146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MS Teams bot pro provoz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Monitoring v reálném čase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Odpovědi z faktů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Detekce anomálií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Paměť napříč konverzacemi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Příprava na volby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9272" y="1371600"/>
            <a:ext cx="2743200" cy="64008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zechia Sans"/>
              </a:rPr>
              <a:t>NIA ops 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2057400"/>
            <a:ext cx="2743200" cy="25146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MS Teams bot pro provoz NIA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Stejný vzor jako eDoklady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Live monitoring služby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Faktové odpovědi z KB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Ověřená architektura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743200" cy="64008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zechia Sans"/>
              </a:rPr>
              <a:t>IAR ops 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57400"/>
            <a:ext cx="2743200" cy="25146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MS Teams bot pro interní použití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Stejný vzor — KB MCPs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Iterace na úzké doméně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Learn-fast pilot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Vzor přenositelný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3416" y="1371600"/>
            <a:ext cx="2743200" cy="64008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zechia Sans"/>
              </a:rPr>
              <a:t>PSS 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2057400"/>
            <a:ext cx="2743200" cy="251460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AI agent pro správu portálu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Karty služeb v PSS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Aktualizace metadat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Reporty pro vedení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•  Změnové požadavky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46320"/>
            <a:ext cx="8503920" cy="822960"/>
          </a:xfrm>
          <a:prstGeom prst="round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1430"/>
                </a:solidFill>
                <a:latin typeface="Czechia Sans"/>
              </a:rPr>
              <a:t>AI Platform (z předchozího slidu)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4572000"/>
            <a:ext cx="0" cy="27432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572000"/>
            <a:ext cx="0" cy="27432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572000"/>
            <a:ext cx="0" cy="27432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572000"/>
            <a:ext cx="0" cy="27432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 dirty="0">
                <a:solidFill>
                  <a:srgbClr val="FFC800"/>
                </a:solidFill>
                <a:latin typeface="Czechia Sans"/>
              </a:rPr>
              <a:t>„</a:t>
            </a:r>
            <a:r>
              <a:rPr sz="1600" b="1" i="1" dirty="0" err="1">
                <a:solidFill>
                  <a:srgbClr val="FFC800"/>
                </a:solidFill>
                <a:latin typeface="Czechia Sans"/>
              </a:rPr>
              <a:t>Žádný</a:t>
            </a:r>
            <a:r>
              <a:rPr sz="1600" b="1" i="1" dirty="0">
                <a:solidFill>
                  <a:srgbClr val="FFC800"/>
                </a:solidFill>
                <a:latin typeface="Czechia Sans"/>
              </a:rPr>
              <a:t> </a:t>
            </a:r>
            <a:r>
              <a:rPr sz="1600" b="1" i="1" dirty="0" err="1">
                <a:solidFill>
                  <a:srgbClr val="FFC800"/>
                </a:solidFill>
                <a:latin typeface="Czechia Sans"/>
              </a:rPr>
              <a:t>monolitický</a:t>
            </a:r>
            <a:r>
              <a:rPr sz="1600" b="1" i="1" dirty="0">
                <a:solidFill>
                  <a:srgbClr val="FFC800"/>
                </a:solidFill>
                <a:latin typeface="Czechia Sans"/>
              </a:rPr>
              <a:t> </a:t>
            </a:r>
            <a:r>
              <a:rPr sz="1600" b="1" i="1" dirty="0" err="1">
                <a:solidFill>
                  <a:srgbClr val="FFC800"/>
                </a:solidFill>
                <a:latin typeface="Czechia Sans"/>
              </a:rPr>
              <a:t>centrální</a:t>
            </a:r>
            <a:r>
              <a:rPr sz="1600" b="1" i="1" dirty="0">
                <a:solidFill>
                  <a:srgbClr val="FFC800"/>
                </a:solidFill>
                <a:latin typeface="Czechia Sans"/>
              </a:rPr>
              <a:t> agent.“  </a:t>
            </a:r>
            <a:r>
              <a:rPr sz="1600" b="1" i="1" dirty="0" err="1">
                <a:solidFill>
                  <a:srgbClr val="FFC800"/>
                </a:solidFill>
                <a:latin typeface="Czechia Sans"/>
              </a:rPr>
              <a:t>Architektura</a:t>
            </a:r>
            <a:r>
              <a:rPr sz="1600" b="1" i="1" dirty="0">
                <a:solidFill>
                  <a:srgbClr val="FFC800"/>
                </a:solidFill>
                <a:latin typeface="Czechia Sans"/>
              </a:rPr>
              <a:t> </a:t>
            </a:r>
            <a:r>
              <a:rPr sz="1600" b="1" i="1" dirty="0" err="1">
                <a:solidFill>
                  <a:srgbClr val="FFC800"/>
                </a:solidFill>
                <a:latin typeface="Czechia Sans"/>
              </a:rPr>
              <a:t>není</a:t>
            </a:r>
            <a:r>
              <a:rPr sz="1600" b="1" i="1" dirty="0">
                <a:solidFill>
                  <a:srgbClr val="FFC800"/>
                </a:solidFill>
                <a:latin typeface="Czechia Sans"/>
              </a:rPr>
              <a:t> </a:t>
            </a:r>
            <a:r>
              <a:rPr sz="1600" b="1" i="1" dirty="0" err="1">
                <a:solidFill>
                  <a:srgbClr val="FFC800"/>
                </a:solidFill>
                <a:latin typeface="Czechia Sans"/>
              </a:rPr>
              <a:t>vázaná</a:t>
            </a:r>
            <a:r>
              <a:rPr sz="1600" b="1" i="1" dirty="0">
                <a:solidFill>
                  <a:srgbClr val="FFC800"/>
                </a:solidFill>
                <a:latin typeface="Czechia Sans"/>
              </a:rPr>
              <a:t> </a:t>
            </a:r>
            <a:r>
              <a:rPr sz="1600" b="1" i="1" dirty="0" err="1">
                <a:solidFill>
                  <a:srgbClr val="FFC800"/>
                </a:solidFill>
                <a:latin typeface="Czechia Sans"/>
              </a:rPr>
              <a:t>na</a:t>
            </a:r>
            <a:r>
              <a:rPr sz="1600" b="1" i="1" dirty="0">
                <a:solidFill>
                  <a:srgbClr val="FFC800"/>
                </a:solidFill>
                <a:latin typeface="Czechia Sans"/>
              </a:rPr>
              <a:t> DIA.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Vrstva 4 — ZoPDS 2.0  /  Agentický ekosystém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943600"/>
            <a:ext cx="2011680" cy="27432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zechia Sans"/>
              </a:rPr>
              <a:t>◐  V PŘÍPRAVĚ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FFC800"/>
                </a:solidFill>
                <a:latin typeface="Czechia Sans"/>
              </a:rPr>
              <a:t>Naplnění ZoPDS (zákon č. 12/2020 Sb.) agentickým ekosystémem  —  doplnění a obohacení stávajících portálů a formulářů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zechia Sans"/>
              </a:rPr>
              <a:t>DNES — bez agentní vrstvy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286000" cy="59436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Občan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0"/>
            <a:ext cx="22860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54680" y="2103120"/>
            <a:ext cx="2286000" cy="59436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Formulář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40680" y="0"/>
            <a:ext cx="22860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0" y="2103120"/>
            <a:ext cx="2286000" cy="59436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Úředník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80" y="0"/>
            <a:ext cx="22860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83880" y="2103120"/>
            <a:ext cx="2286000" cy="59436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Služba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800"/>
                </a:solidFill>
                <a:latin typeface="Czechia Sans"/>
              </a:rPr>
              <a:t>CÍLOVÝ STAV — orchestrační agent + L2A interface + stavová komponenta + sémantický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37560"/>
            <a:ext cx="2743200" cy="82296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Občan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záměr v přirozeném jazyce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337560"/>
            <a:ext cx="2743200" cy="822960"/>
          </a:xfrm>
          <a:prstGeom prst="roundRect">
            <a:avLst/>
          </a:prstGeom>
          <a:solidFill>
            <a:srgbClr val="4A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Orchestrační agent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plan-and-execute (DAG)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337560"/>
            <a:ext cx="2743200" cy="82296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L2A interface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zechia Sans"/>
              </a:rPr>
              <a:t>REST/OpenAPI pro OVM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3337560"/>
            <a:ext cx="2103120" cy="822960"/>
          </a:xfrm>
          <a:prstGeom prst="round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430"/>
                </a:solidFill>
                <a:latin typeface="Czechia Sans"/>
              </a:rPr>
              <a:t>Výsledek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430"/>
                </a:solidFill>
                <a:latin typeface="Czechia Sans"/>
              </a:rPr>
              <a:t>+ audit, stav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0400" y="3749039"/>
            <a:ext cx="32004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63640" y="3749039"/>
            <a:ext cx="32004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26880" y="3749039"/>
            <a:ext cx="32004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4389120"/>
            <a:ext cx="11247120" cy="777240"/>
          </a:xfrm>
          <a:prstGeom prst="roundRect">
            <a:avLst/>
          </a:prstGeom>
          <a:solidFill>
            <a:srgbClr val="4A2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Autorizace nevratných úkonů přes NIA push  (analogie autorizace v bankovnictví přes mobilní aplikaci).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Budoucí schopnost: vedle agentní komunikace generovat interaktivní doprovodný obsah (vizualizace, kontextové prvky) v reálném čase.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Framework pilotů — princip 80:20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1430"/>
                </a:solidFill>
                <a:latin typeface="Czechia Sans"/>
              </a:rPr>
              <a:t>80 : 20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101430"/>
                </a:solidFill>
                <a:latin typeface="Czechia Sans"/>
              </a:rPr>
              <a:t>80 % hodnoty z 20 % úsilí  ·  malý scope  ·  rychlý feedback  ·  validate-then-scale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C800"/>
                </a:solidFill>
                <a:latin typeface="Czechia Sans"/>
              </a:rPr>
              <a:t>PRODUKČNÍ A ARCHITEKTONICKÉ PILOTY DNES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88920"/>
            <a:ext cx="2697480" cy="128016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eDoklady ops bot</a:t>
            </a:r>
          </a:p>
          <a:p>
            <a:pPr algn="ctr">
              <a:spcAft>
                <a:spcPts val="0"/>
              </a:spcAft>
            </a:pPr>
            <a:endParaRPr sz="1300" b="1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úzká doména  ·  reálný provoz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73552" y="2788920"/>
            <a:ext cx="2697480" cy="128016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NIA ops bot</a:t>
            </a:r>
          </a:p>
          <a:p>
            <a:pPr algn="ctr">
              <a:spcAft>
                <a:spcPts val="0"/>
              </a:spcAft>
            </a:pPr>
            <a:endParaRPr sz="1300" b="1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ověřená architektura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9904" y="2788920"/>
            <a:ext cx="2697480" cy="128016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IAR ops bot</a:t>
            </a:r>
          </a:p>
          <a:p>
            <a:pPr algn="ctr">
              <a:spcAft>
                <a:spcPts val="0"/>
              </a:spcAft>
            </a:pPr>
            <a:endParaRPr sz="1300" b="1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interní provoz, learn-fast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2788920"/>
            <a:ext cx="2697480" cy="128016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PSS</a:t>
            </a:r>
          </a:p>
          <a:p>
            <a:pPr algn="ctr">
              <a:spcAft>
                <a:spcPts val="0"/>
              </a:spcAft>
            </a:pPr>
            <a:endParaRPr sz="1300" b="1">
              <a:solidFill>
                <a:srgbClr val="FFFFFF"/>
              </a:solidFill>
              <a:latin typeface="Czechia Sans"/>
            </a:endParaRP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zechia Sans"/>
              </a:rPr>
              <a:t>kanonický katalog služeb  ·  AI správa portálu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FFC800"/>
                </a:solidFill>
                <a:latin typeface="Czechia Sans"/>
              </a:rPr>
              <a:t>LESSONS — jak </a:t>
            </a:r>
            <a:r>
              <a:rPr sz="1400" b="1" i="0" dirty="0" err="1">
                <a:solidFill>
                  <a:srgbClr val="FFC800"/>
                </a:solidFill>
                <a:latin typeface="Czechia Sans"/>
              </a:rPr>
              <a:t>skálovat</a:t>
            </a:r>
            <a:r>
              <a:rPr sz="1400" b="1" i="0" dirty="0">
                <a:solidFill>
                  <a:srgbClr val="FFC800"/>
                </a:solidFill>
                <a:latin typeface="Czechia Sans"/>
              </a:rPr>
              <a:t> </a:t>
            </a:r>
            <a:r>
              <a:rPr sz="1400" b="1" i="0" dirty="0" err="1">
                <a:solidFill>
                  <a:srgbClr val="FFC800"/>
                </a:solidFill>
                <a:latin typeface="Czechia Sans"/>
              </a:rPr>
              <a:t>dál</a:t>
            </a:r>
            <a:endParaRPr sz="1400" b="1" i="0" dirty="0">
              <a:solidFill>
                <a:srgbClr val="FFC800"/>
              </a:solidFill>
              <a:latin typeface="Czechi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11247120" cy="146304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20 % úsilí úřadu (interní + DNS + bodyshop rámcovky)  →  80 % výsledku pilotu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Po prokázání životaschopnosti  →  zadávací dokumentace  →  delegovat na dodavatele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Dodavatel za 80 % úsilí dotáhne kvalitu, SLA, podporu — plnohodnotný produkční systém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Czechia Sans"/>
              </a:rPr>
              <a:t>•  Compliance vrstvit postupně  —  audit od začátku, full Annex III až bude jasné kdo a jak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Závěr — Postupujeme. Tři cesty jak se připojíte.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FFC800"/>
                </a:solidFill>
                <a:latin typeface="Czechia Sans"/>
              </a:rPr>
              <a:t>Rekurzivní vzor:  „co stavíme my, můžete stavět i vy."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657600" cy="59436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zechia Sans"/>
              </a:rPr>
              <a:t>A.  Vlastní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3657600" cy="2103120"/>
          </a:xfrm>
          <a:prstGeom prst="roundRect">
            <a:avLst/>
          </a:prstGeom>
          <a:solidFill>
            <a:srgbClr val="6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dle poskytnutých standardů a návrhových vzorů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→ autonomně si postavíte
   to samé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737360"/>
            <a:ext cx="3657600" cy="59436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zechia Sans"/>
              </a:rPr>
              <a:t>B.  Konzument stavebnice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377440"/>
            <a:ext cx="3657600" cy="2103120"/>
          </a:xfrm>
          <a:prstGeom prst="roundRect">
            <a:avLst/>
          </a:prstGeom>
          <a:solidFill>
            <a:srgbClr val="18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sdílených služeb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LLMs · MCPs · Presidio
embeddings · orchestrace
→ nemusíte si stavět
   vlastní AI infrastrukturu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657600" cy="594360"/>
          </a:xfrm>
          <a:prstGeom prst="roundRect">
            <a:avLst/>
          </a:prstGeom>
          <a:solidFill>
            <a:srgbClr val="D7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zechia Sans"/>
              </a:rPr>
              <a:t>C.  Hybrid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377440"/>
            <a:ext cx="3657600" cy="2103120"/>
          </a:xfrm>
          <a:prstGeom prst="roundRect">
            <a:avLst/>
          </a:prstGeom>
          <a:solidFill>
            <a:srgbClr val="4A2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kombinace obou</a:t>
            </a:r>
          </a:p>
          <a:p>
            <a:pPr algn="l">
              <a:spcAft>
                <a:spcPts val="0"/>
              </a:spcAft>
            </a:pPr>
            <a:endParaRPr sz="13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zechia Sans"/>
              </a:rPr>
              <a:t>vlastní doménové systémy
+ DIA stavební kameny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5486400" cy="1417320"/>
          </a:xfrm>
          <a:prstGeom prst="roundRect">
            <a:avLst/>
          </a:prstGeom>
          <a:solidFill>
            <a:srgbClr val="4A6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ARCHITEKTŮM OVM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FFFFFF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Vzory · standardy · MCP servery · kanonizace dat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Vendor-neutrální, otevřené, bez závazku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zechia Sans"/>
              </a:rPr>
              <a:t>→ leverage hotových komponent ve vlastních projektech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754880"/>
            <a:ext cx="5486400" cy="1417320"/>
          </a:xfrm>
          <a:prstGeom prst="round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1430"/>
                </a:solidFill>
                <a:latin typeface="Czechia Sans"/>
              </a:rPr>
              <a:t>ZMOCNĚNCŮM</a:t>
            </a:r>
          </a:p>
          <a:p>
            <a:pPr algn="l">
              <a:spcAft>
                <a:spcPts val="0"/>
              </a:spcAft>
            </a:pPr>
            <a:endParaRPr sz="1200" b="0">
              <a:solidFill>
                <a:srgbClr val="101430"/>
              </a:solidFill>
              <a:latin typeface="Czechia Sans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01430"/>
                </a:solidFill>
                <a:latin typeface="Czechia Sans"/>
              </a:rPr>
              <a:t>Nástroje k dosahování cílů vlády v adopci AI v eGov.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01430"/>
                </a:solidFill>
                <a:latin typeface="Czechia Sans"/>
              </a:rPr>
              <a:t>DIA má hotové produkty + roadmapu.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VS PPT Dark">
  <a:themeElements>
    <a:clrScheme name="JVS barvy">
      <a:dk1>
        <a:srgbClr val="545860"/>
      </a:dk1>
      <a:lt1>
        <a:srgbClr val="FFFFFF"/>
      </a:lt1>
      <a:dk2>
        <a:srgbClr val="0C1838"/>
      </a:dk2>
      <a:lt2>
        <a:srgbClr val="A7A9B3"/>
      </a:lt2>
      <a:accent1>
        <a:srgbClr val="00459B"/>
      </a:accent1>
      <a:accent2>
        <a:srgbClr val="D70C0F"/>
      </a:accent2>
      <a:accent3>
        <a:srgbClr val="F7C1B9"/>
      </a:accent3>
      <a:accent4>
        <a:srgbClr val="690527"/>
      </a:accent4>
      <a:accent5>
        <a:srgbClr val="9DC8E9"/>
      </a:accent5>
      <a:accent6>
        <a:srgbClr val="878A95"/>
      </a:accent6>
      <a:hlink>
        <a:srgbClr val="008C99"/>
      </a:hlink>
      <a:folHlink>
        <a:srgbClr val="452E73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A_Sablona_Powerpoint_JVS_2026" id="{DD72593A-01BE-41C1-8A01-FA332F49A7E4}" vid="{82BF1AC3-3F42-487A-B391-6355C16E197C}"/>
    </a:ext>
  </a:extLst>
</a:theme>
</file>

<file path=ppt/theme/theme2.xml><?xml version="1.0" encoding="utf-8"?>
<a:theme xmlns:a="http://schemas.openxmlformats.org/drawingml/2006/main" name="JVS PPS Light">
  <a:themeElements>
    <a:clrScheme name="JVS UOSS 1">
      <a:dk1>
        <a:srgbClr val="545860"/>
      </a:dk1>
      <a:lt1>
        <a:srgbClr val="FFFFFF"/>
      </a:lt1>
      <a:dk2>
        <a:srgbClr val="0C1838"/>
      </a:dk2>
      <a:lt2>
        <a:srgbClr val="A7A9B3"/>
      </a:lt2>
      <a:accent1>
        <a:srgbClr val="00459B"/>
      </a:accent1>
      <a:accent2>
        <a:srgbClr val="D70C0F"/>
      </a:accent2>
      <a:accent3>
        <a:srgbClr val="F7C1B9"/>
      </a:accent3>
      <a:accent4>
        <a:srgbClr val="690527"/>
      </a:accent4>
      <a:accent5>
        <a:srgbClr val="9DC8E9"/>
      </a:accent5>
      <a:accent6>
        <a:srgbClr val="878A95"/>
      </a:accent6>
      <a:hlink>
        <a:srgbClr val="008C99"/>
      </a:hlink>
      <a:folHlink>
        <a:srgbClr val="452E73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A_Sablona_Powerpoint_JVS_2026" id="{DD72593A-01BE-41C1-8A01-FA332F49A7E4}" vid="{4AEB2B43-0041-416C-B8F8-7B51E159939F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f099f3-9cff-4890-85a2-ec685806d317">
      <Terms xmlns="http://schemas.microsoft.com/office/infopath/2007/PartnerControls"/>
    </lcf76f155ced4ddcb4097134ff3c332f>
    <TaxCatchAll xmlns="875a90bc-a2bf-465b-8076-1cf649d442d2" xsi:nil="true"/>
    <_Flow_SignoffStatus xmlns="47f099f3-9cff-4890-85a2-ec685806d31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6C42070A4FB8940A960F4A3AF9531A1" ma:contentTypeVersion="18" ma:contentTypeDescription="Vytvoří nový dokument" ma:contentTypeScope="" ma:versionID="a21a9a49490756727e391213a294a932">
  <xsd:schema xmlns:xsd="http://www.w3.org/2001/XMLSchema" xmlns:xs="http://www.w3.org/2001/XMLSchema" xmlns:p="http://schemas.microsoft.com/office/2006/metadata/properties" xmlns:ns2="47f099f3-9cff-4890-85a2-ec685806d317" xmlns:ns3="875a90bc-a2bf-465b-8076-1cf649d442d2" targetNamespace="http://schemas.microsoft.com/office/2006/metadata/properties" ma:root="true" ma:fieldsID="40102e745f694ac4542eca78dc8f0517" ns2:_="" ns3:_="">
    <xsd:import namespace="47f099f3-9cff-4890-85a2-ec685806d317"/>
    <xsd:import namespace="875a90bc-a2bf-465b-8076-1cf649d442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099f3-9cff-4890-85a2-ec685806d3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Značky obrázků" ma:readOnly="false" ma:fieldId="{5cf76f15-5ced-4ddc-b409-7134ff3c332f}" ma:taxonomyMulti="true" ma:sspId="d2a44d23-90f1-4afd-aa8c-0d6faad4ae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_Flow_SignoffStatus" ma:index="23" nillable="true" ma:displayName="Stav odsouhlasení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5a90bc-a2bf-465b-8076-1cf649d442d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001b6bee-3d0f-4b61-a3dd-9d546b10cfb3}" ma:internalName="TaxCatchAll" ma:showField="CatchAllData" ma:web="875a90bc-a2bf-465b-8076-1cf649d442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19C120-5274-443A-93A6-139E5591E124}">
  <ds:schemaRefs>
    <ds:schemaRef ds:uri="http://schemas.microsoft.com/office/2006/metadata/properties"/>
    <ds:schemaRef ds:uri="http://schemas.microsoft.com/office/infopath/2007/PartnerControls"/>
    <ds:schemaRef ds:uri="bb50961a-01f8-4a31-97df-cc737852abde"/>
    <ds:schemaRef ds:uri="d6be7263-8cf3-404f-8f3a-9141da07474e"/>
    <ds:schemaRef ds:uri="47f099f3-9cff-4890-85a2-ec685806d317"/>
    <ds:schemaRef ds:uri="875a90bc-a2bf-465b-8076-1cf649d442d2"/>
  </ds:schemaRefs>
</ds:datastoreItem>
</file>

<file path=customXml/itemProps2.xml><?xml version="1.0" encoding="utf-8"?>
<ds:datastoreItem xmlns:ds="http://schemas.openxmlformats.org/officeDocument/2006/customXml" ds:itemID="{CC91B0F1-BDD1-486A-BD8F-8AC4E1CC69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9BBE7A-8C25-414A-A826-86F839DC42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f099f3-9cff-4890-85a2-ec685806d317"/>
    <ds:schemaRef ds:uri="875a90bc-a2bf-465b-8076-1cf649d442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10467</TotalTime>
  <Words>2261</Words>
  <Application>Microsoft Macintosh PowerPoint</Application>
  <PresentationFormat>Širokoúhlá obrazovka</PresentationFormat>
  <Paragraphs>404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17</vt:i4>
      </vt:variant>
    </vt:vector>
  </HeadingPairs>
  <TitlesOfParts>
    <vt:vector size="22" baseType="lpstr">
      <vt:lpstr>Arial</vt:lpstr>
      <vt:lpstr>Czechia Sans</vt:lpstr>
      <vt:lpstr>Wingdings</vt:lpstr>
      <vt:lpstr>JVS PPT Dark</vt:lpstr>
      <vt:lpstr>JVS PPS Light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Manager/>
  <Company>Jednotný vizuální styl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subject/>
  <dc:creator>Karel Drašnar</dc:creator>
  <cp:keywords/>
  <dc:description/>
  <cp:lastModifiedBy>Tomáš Slívka</cp:lastModifiedBy>
  <cp:revision>215</cp:revision>
  <cp:lastPrinted>2025-10-24T08:31:40Z</cp:lastPrinted>
  <dcterms:created xsi:type="dcterms:W3CDTF">2025-01-29T13:36:29Z</dcterms:created>
  <dcterms:modified xsi:type="dcterms:W3CDTF">2026-05-11T10:43:27Z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0x010100B6C42070A4FB8940A960F4A3AF9531A1</vt:lpwstr>
  </property>
  <property fmtid="{D5CDD505-2E9C-101B-9397-08002B2CF9AE}" pid="3" name="MediaServiceImageTags">
    <vt:lpwstr/>
  </property>
  <property fmtid="{D5CDD505-2E9C-101B-9397-08002B2CF9AE}" pid="4" name="MSIP_Label_b3564849-fbfc-4795-ad59-055bb350645f_Enabled">
    <vt:lpwstr>true</vt:lpwstr>
  </property>
  <property fmtid="{D5CDD505-2E9C-101B-9397-08002B2CF9AE}" pid="5" name="MSIP_Label_b3564849-fbfc-4795-ad59-055bb350645f_SetDate">
    <vt:lpwstr>2025-11-05T08:47:26Z</vt:lpwstr>
  </property>
  <property fmtid="{D5CDD505-2E9C-101B-9397-08002B2CF9AE}" pid="6" name="MSIP_Label_b3564849-fbfc-4795-ad59-055bb350645f_Method">
    <vt:lpwstr>Standard</vt:lpwstr>
  </property>
  <property fmtid="{D5CDD505-2E9C-101B-9397-08002B2CF9AE}" pid="7" name="MSIP_Label_b3564849-fbfc-4795-ad59-055bb350645f_Name">
    <vt:lpwstr>M102S01</vt:lpwstr>
  </property>
  <property fmtid="{D5CDD505-2E9C-101B-9397-08002B2CF9AE}" pid="8" name="MSIP_Label_b3564849-fbfc-4795-ad59-055bb350645f_SiteId">
    <vt:lpwstr>65154e19-ce31-44e2-97af-2480f4c17f95</vt:lpwstr>
  </property>
  <property fmtid="{D5CDD505-2E9C-101B-9397-08002B2CF9AE}" pid="9" name="MSIP_Label_b3564849-fbfc-4795-ad59-055bb350645f_ActionId">
    <vt:lpwstr>a46c3e65-4ee5-4762-a82b-3d1c88712a7f</vt:lpwstr>
  </property>
  <property fmtid="{D5CDD505-2E9C-101B-9397-08002B2CF9AE}" pid="10" name="MSIP_Label_b3564849-fbfc-4795-ad59-055bb350645f_ContentBits">
    <vt:lpwstr>0</vt:lpwstr>
  </property>
  <property fmtid="{D5CDD505-2E9C-101B-9397-08002B2CF9AE}" pid="11" name="MSIP_Label_b3564849-fbfc-4795-ad59-055bb350645f_Tag">
    <vt:lpwstr>10, 3, 0, 1</vt:lpwstr>
  </property>
</Properties>
</file>
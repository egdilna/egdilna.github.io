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  <p:sldId id="260" r:id="rId6"/>
    <p:sldId id="261" r:id="rId7"/>
    <p:sldId id="259" r:id="rId8"/>
    <p:sldId id="285" r:id="rId9"/>
    <p:sldId id="274" r:id="rId10"/>
    <p:sldId id="286" r:id="rId11"/>
    <p:sldId id="275" r:id="rId12"/>
    <p:sldId id="276" r:id="rId13"/>
    <p:sldId id="277" r:id="rId14"/>
    <p:sldId id="295" r:id="rId15"/>
    <p:sldId id="284" r:id="rId16"/>
    <p:sldId id="288" r:id="rId17"/>
    <p:sldId id="293" r:id="rId18"/>
    <p:sldId id="294" r:id="rId19"/>
    <p:sldId id="279" r:id="rId20"/>
    <p:sldId id="290" r:id="rId21"/>
    <p:sldId id="291" r:id="rId22"/>
    <p:sldId id="269" r:id="rId23"/>
    <p:sldId id="282" r:id="rId24"/>
    <p:sldId id="292" r:id="rId25"/>
    <p:sldId id="272" r:id="rId26"/>
    <p:sldId id="270" r:id="rId27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0" y="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můžete upravit styl předlohy.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0012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1534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040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53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8714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9813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68504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9736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0170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6904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6EB83-090E-473B-B959-92A4B5275361}" type="datetimeFigureOut">
              <a:rPr lang="cs-CZ" smtClean="0"/>
              <a:pPr/>
              <a:t>28.02.2022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4620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smtClean="0"/>
              <a:t>Kliknutím lze upravit styl.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Upravte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6EB83-090E-473B-B959-92A4B5275361}" type="datetimeFigureOut">
              <a:rPr lang="cs-CZ" smtClean="0"/>
              <a:pPr/>
              <a:t>28.02.2022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905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archi.gov.cz/znalostni_baze:pravidla_federace_portalu" TargetMode="External"/><Relationship Id="rId3" Type="http://schemas.openxmlformats.org/officeDocument/2006/relationships/hyperlink" Target="https://archi.gov.cz/nap:kontext" TargetMode="External"/><Relationship Id="rId7" Type="http://schemas.openxmlformats.org/officeDocument/2006/relationships/hyperlink" Target="https://archi.gov.cz/nap:egovernment_cloud" TargetMode="External"/><Relationship Id="rId2" Type="http://schemas.openxmlformats.org/officeDocument/2006/relationships/hyperlink" Target="https://archi.gov.cz/vyhledavani:changelo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chi.gov.cz/nap:nia" TargetMode="External"/><Relationship Id="rId5" Type="http://schemas.openxmlformats.org/officeDocument/2006/relationships/hyperlink" Target="https://archi.gov.cz/nap:portaly_verejne_spravy_a_soukromopravnich_uzivatelu_udaju" TargetMode="External"/><Relationship Id="rId4" Type="http://schemas.openxmlformats.org/officeDocument/2006/relationships/hyperlink" Target="https://archi.gov.cz/nap:iszr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diskuz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ikcr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122174" y="5591877"/>
            <a:ext cx="8533612" cy="646331"/>
          </a:xfrm>
          <a:ln>
            <a:noFill/>
          </a:ln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odbor </a:t>
            </a: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Hlavního architekta eGovernmentu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buFontTx/>
            </a:pP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Ministerstvo v</a:t>
            </a: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nitra </a:t>
            </a:r>
            <a:r>
              <a:rPr lang="CS-CZ" sz="1800" b="1" dirty="0">
                <a:ln w="12700">
                  <a:solidFill>
                    <a:schemeClr val="bg1"/>
                  </a:solidFill>
                </a:ln>
                <a:latin typeface="Arial" pitchFamily="34" charset="0"/>
                <a:cs typeface="Arial" pitchFamily="34" charset="0"/>
              </a:rPr>
              <a:t>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122174" y="484989"/>
            <a:ext cx="9649072" cy="273921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40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kumimoji="0" lang="cs-CZ" sz="40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Zasedání</a:t>
            </a:r>
            <a:r>
              <a:rPr kumimoji="0" lang="cs-CZ" sz="4000" b="1" i="0" u="none" strike="noStrike" kern="1200" cap="none" spc="0" normalizeH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pracovní skupiny pro architekturu a řízení ICT</a:t>
            </a: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/>
            </a:r>
            <a:br>
              <a:rPr kumimoji="0" lang="cs-CZ" sz="3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</a:t>
            </a:r>
            <a:r>
              <a:rPr lang="cs-CZ" sz="1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 28.2.2022</a:t>
            </a:r>
            <a:endParaRPr kumimoji="0" lang="cs-CZ" sz="1800" b="1" i="0" u="none" strike="noStrike" kern="1200" cap="none" spc="0" normalizeH="0" baseline="0" noProof="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14458" y="2022687"/>
            <a:ext cx="8811491" cy="1323439"/>
          </a:xfrm>
          <a:ln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53331" y="237608"/>
            <a:ext cx="8587048" cy="707886"/>
          </a:xfrm>
          <a:ln>
            <a:noFill/>
          </a:ln>
        </p:spPr>
        <p:txBody>
          <a:bodyPr vert="horz"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Kontext naší PS v rámci RVIS</a:t>
            </a:r>
            <a:endParaRPr lang="cs-CZ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>
            <a:normAutofit fontScale="90000"/>
          </a:bodyPr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sz="40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rPr>
              <a:t>Agenda</a:t>
            </a:r>
            <a:endParaRPr lang="en-US" sz="40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521868"/>
            <a:ext cx="1152127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Změny v Národní architektuře eGovernmentu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Spolupráce </a:t>
            </a:r>
            <a:r>
              <a:rPr lang="cs-CZ" sz="24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nad doplněním Informační koncepce </a:t>
            </a:r>
            <a:r>
              <a:rPr lang="cs-CZ" sz="24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ČR </a:t>
            </a:r>
            <a:r>
              <a:rPr lang="cs-CZ" sz="2400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  <a:endParaRPr lang="cs-CZ" sz="240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Nové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služby vnějšího rozhraní 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ISZR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Výsledky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dobré praxe z oblasti elektronických mandátů a 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zmocnění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Evropské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digitální 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předpisy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Radim Karásek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Nová verze formulářů OHA + IROP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Otázky </a:t>
            </a:r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nejasnosti členů pracovní skupiny – 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Tomáš </a:t>
            </a:r>
            <a:r>
              <a:rPr lang="cs-CZ" sz="2400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Š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edivec</a:t>
            </a:r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2"/>
            <a:endParaRPr lang="cs-CZ" sz="2400" dirty="0">
              <a:ln>
                <a:solidFill>
                  <a:schemeClr val="bg1"/>
                </a:solidFill>
              </a:ln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cs-CZ" sz="2400" b="1" dirty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cs-CZ" sz="2400" b="1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Závěr</a:t>
            </a:r>
            <a:r>
              <a:rPr lang="cs-CZ" sz="2400" dirty="0" smtClean="0">
                <a:ln>
                  <a:solidFill>
                    <a:schemeClr val="bg1"/>
                  </a:solidFill>
                </a:ln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 Tomáš Šedivec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4946" y="1889852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8756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122529"/>
            <a:ext cx="11620151" cy="754549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69685" y="1007707"/>
            <a:ext cx="11296691" cy="5701003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Viz také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2"/>
              </a:rPr>
              <a:t>archi.gov.cz/vyhledavani:changelog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Nový kontext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3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3"/>
              </a:rPr>
              <a:t>archi.gov.cz/nap:kontext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Informační systém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základních registrů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4"/>
              </a:rPr>
              <a:t>archi.gov.cz/nap:iszr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Portály </a:t>
            </a:r>
            <a:r>
              <a:rPr lang="cs-CZ" sz="29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veřejné správy a soukromoprávních uživatelů </a:t>
            </a:r>
            <a:r>
              <a:rPr lang="cs-CZ" sz="29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údajů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5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hlinkClick r:id="rId5"/>
              </a:rPr>
              <a:t>archi.gov.cz/nap:portaly_verejne_spravy_a_soukromopravnich_uzivatelu_udaju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Národní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identitní autorita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6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6"/>
              </a:rPr>
              <a:t>archi.gov.cz/nap:nia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eGovernment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Cloud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7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7"/>
              </a:rPr>
              <a:t>archi.gov.cz/nap:egovernment_cloud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Nová 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stránka Výsledky studie federace portálů </a:t>
            </a:r>
            <a:r>
              <a:rPr lang="cs-CZ" sz="2900" b="1" dirty="0">
                <a:ln>
                  <a:solidFill>
                    <a:schemeClr val="bg1"/>
                  </a:solidFill>
                </a:ln>
              </a:rPr>
              <a:t>veřejné správy </a:t>
            </a:r>
            <a:r>
              <a:rPr lang="cs-CZ" sz="2900" b="1" dirty="0">
                <a:ln>
                  <a:solidFill>
                    <a:schemeClr val="bg1"/>
                  </a:solidFill>
                </a:ln>
                <a:hlinkClick r:id="rId8"/>
              </a:rPr>
              <a:t>https://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  <a:hlinkClick r:id="rId8"/>
              </a:rPr>
              <a:t>archi.gov.cz/znalostni_baze:pravidla_federace_portalu</a:t>
            </a:r>
            <a:r>
              <a:rPr lang="cs-CZ" sz="2900" b="1" dirty="0" smtClean="0">
                <a:ln>
                  <a:solidFill>
                    <a:schemeClr val="bg1"/>
                  </a:solidFill>
                </a:ln>
              </a:rPr>
              <a:t> </a:t>
            </a:r>
            <a:endParaRPr lang="cs-CZ" sz="29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4043810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/>
          <p:cNvSpPr>
            <a:spLocks noGrp="1"/>
          </p:cNvSpPr>
          <p:nvPr>
            <p:ph type="title"/>
          </p:nvPr>
        </p:nvSpPr>
        <p:spPr>
          <a:xfrm>
            <a:off x="195943" y="122529"/>
            <a:ext cx="11737910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304371" y="1438761"/>
            <a:ext cx="5384800" cy="7137918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Kód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Název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A1029.1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Pojištěnec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A1029.2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Osoba samostatně výdělečně činná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A1029.3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Zaměstnavatel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A1029.4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Územně organizační jednotka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A1046.1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Řidič - podklady pro podání žádosti </a:t>
            </a: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 řidičský 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průkaz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A1046.2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Řidič - podání žádosti o řidičský průkaz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A1046.RidicRozsirene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Řidič - rozšířené údaje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A1046.RidicZakladni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Řidič - základní údaje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A1046.RidicZakladni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Řidič - základní údaje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A1061.1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NBU </a:t>
            </a:r>
            <a:r>
              <a:rPr lang="cs-CZ" sz="4500" b="1" dirty="0" err="1">
                <a:ln>
                  <a:solidFill>
                    <a:schemeClr val="bg1"/>
                  </a:solidFill>
                </a:ln>
              </a:rPr>
              <a:t>Avizace</a:t>
            </a:r>
            <a:endParaRPr lang="cs-CZ" sz="4500" b="1" dirty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A121.1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Přehled o údajích autentizované osoby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A121.2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Výpis údajů podnikatelského subjektu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A124.1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ISKN - Evidence práv pro osobu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A124.2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ISKN - List vlastnictví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A1341.1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Ověření </a:t>
            </a:r>
            <a:r>
              <a:rPr lang="cs-CZ" sz="4500" b="1" dirty="0" err="1">
                <a:ln>
                  <a:solidFill>
                    <a:schemeClr val="bg1"/>
                  </a:solidFill>
                </a:ln>
              </a:rPr>
              <a:t>v.z.p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. </a:t>
            </a: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pojištěnce</a:t>
            </a:r>
            <a:endParaRPr lang="cs-CZ" sz="45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Zástupný symbol pro obsah 5"/>
          <p:cNvSpPr>
            <a:spLocks noGrp="1"/>
          </p:cNvSpPr>
          <p:nvPr>
            <p:ph sz="half" idx="2"/>
          </p:nvPr>
        </p:nvSpPr>
        <p:spPr>
          <a:xfrm>
            <a:off x="6172200" y="1156996"/>
            <a:ext cx="5181600" cy="7035282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Kód	Název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A1341.2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Oznámení OSVC </a:t>
            </a: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PP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A1341.3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Oznámení OSVC PP ZP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A1341.4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Seznam OSVC PP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A344.1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Notifikace prostřednictvím Portálu Občana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A3726.1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Pacient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A385.1</a:t>
            </a:r>
            <a:r>
              <a:rPr lang="cs-CZ" sz="45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	Oznámení OSVC PP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A385.2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Seznam OSVC PP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A392.1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Dlužník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A392.2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</a:t>
            </a: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ODU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A4003.1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Poskytovatelé zdravotních služeb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A4003.2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Zdravotnická dokumentace pacienta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A418.1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Osoba v pátrání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A418.2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Vozidlo v pátrání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A418.3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NBU Lustrace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A483.1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Výpis údajů z Rejstříku trestů</a:t>
            </a:r>
          </a:p>
          <a:p>
            <a:pPr marL="0" indent="0">
              <a:buNone/>
            </a:pP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A998.1</a:t>
            </a:r>
            <a:r>
              <a:rPr lang="cs-CZ" sz="4500" b="1" dirty="0">
                <a:ln>
                  <a:solidFill>
                    <a:schemeClr val="bg1"/>
                  </a:solidFill>
                </a:ln>
              </a:rPr>
              <a:t>	Registr silničních </a:t>
            </a:r>
            <a:r>
              <a:rPr lang="cs-CZ" sz="4500" b="1" dirty="0" smtClean="0">
                <a:ln>
                  <a:solidFill>
                    <a:schemeClr val="bg1"/>
                  </a:solidFill>
                </a:ln>
              </a:rPr>
              <a:t>vozidel</a:t>
            </a:r>
            <a:endParaRPr lang="cs-CZ" sz="4500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47844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10547" y="365125"/>
            <a:ext cx="11513975" cy="1325563"/>
          </a:xfrm>
        </p:spPr>
        <p:txBody>
          <a:bodyPr>
            <a:normAutofit/>
          </a:bodyPr>
          <a:lstStyle/>
          <a:p>
            <a:r>
              <a:rPr lang="cs-CZ" sz="4000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Změny v Národní architektuře eGovernmentu</a:t>
            </a:r>
            <a:endParaRPr lang="cs-CZ" sz="4000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2118049"/>
            <a:ext cx="10515600" cy="4814596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Poslední seznam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změn jednomyslně schválen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usnesením RVIS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2022/1/21/U6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Nadále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budou změny schvalovány v hierarchii RVIS: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skupina pro architekturu a řízení ICT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Pracovní výbor pro efektivní a centrálně koordinované ICT veřejné správy 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Výkonný výbor Informační koncepce ČR</a:t>
            </a:r>
          </a:p>
          <a:p>
            <a:pPr marL="971550" lvl="1" indent="-514350">
              <a:buFont typeface="+mj-lt"/>
              <a:buAutoNum type="arabicPeriod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Plenární zasedání RVIS</a:t>
            </a:r>
            <a:endParaRPr lang="cs-CZ" b="1" dirty="0">
              <a:ln>
                <a:solidFill>
                  <a:schemeClr val="bg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82216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Diskutuje s námi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11021"/>
            <a:ext cx="10515600" cy="4351338"/>
          </a:xfrm>
        </p:spPr>
        <p:txBody>
          <a:bodyPr>
            <a:normAutofit/>
          </a:bodyPr>
          <a:lstStyle/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Pravidla diskuze na konci každé stránky: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Dotazy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se musí týkat dané stránky. Pokud Váš dotaz se stránkou nesouvisí a nenašli jste potřebné informace pomocí vyhledávání, založte prosím nové diskuzní vlákno ve speciální části webu 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 https://archi.gov.cz/diskuze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Pravidla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diskuze ve speciální části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webu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https://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hlinkClick r:id="rId2"/>
              </a:rPr>
              <a:t>archi.gov.cz/diskuze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Diskutujte </a:t>
            </a:r>
            <a:r>
              <a:rPr lang="cs-CZ" b="1" dirty="0">
                <a:ln>
                  <a:solidFill>
                    <a:schemeClr val="bg1"/>
                  </a:solidFill>
                </a:ln>
              </a:rPr>
              <a:t>v rámci založené diskuze. Pokud Váš příspěvek s vláknem nesouvisí, založte prosím nové diskuzní vlákno.</a:t>
            </a:r>
          </a:p>
          <a:p>
            <a:pPr lvl="1"/>
            <a:r>
              <a:rPr lang="cs-CZ" b="1" dirty="0">
                <a:ln>
                  <a:solidFill>
                    <a:schemeClr val="bg1"/>
                  </a:solidFill>
                </a:ln>
              </a:rPr>
              <a:t>Pokud zakládáte nové vlákno, nezapomeňte ho pojmenovat. Název by měl souviset s Vaším dotazem.</a:t>
            </a:r>
          </a:p>
          <a:p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9770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177788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26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199" y="365125"/>
            <a:ext cx="11160967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Spolupráce nad Informační koncepcí ČR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6 hlavních cílů, 51 podcílů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principů</a:t>
            </a: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17 zásad</a:t>
            </a:r>
          </a:p>
          <a:p>
            <a:r>
              <a:rPr lang="cs-CZ" sz="3200" b="1" dirty="0" smtClean="0">
                <a:ln>
                  <a:solidFill>
                    <a:schemeClr val="bg1"/>
                  </a:solidFill>
                </a:ln>
              </a:rPr>
              <a:t>Výchozí strategický dokument pro Národní architekturu eGovernmentu</a:t>
            </a:r>
            <a:endParaRPr lang="cs-CZ" sz="3200" b="1" dirty="0">
              <a:ln>
                <a:solidFill>
                  <a:schemeClr val="bg1"/>
                </a:solidFill>
              </a:ln>
            </a:endParaRPr>
          </a:p>
          <a:p>
            <a:r>
              <a:rPr lang="cs-CZ" sz="3200" b="1" dirty="0" smtClean="0">
                <a:ln>
                  <a:solidFill>
                    <a:schemeClr val="tx1"/>
                  </a:solidFill>
                </a:ln>
                <a:hlinkClick r:id="rId2"/>
              </a:rPr>
              <a:t>https://archi.gov.cz/ikcr</a:t>
            </a:r>
            <a:r>
              <a:rPr lang="cs-CZ" sz="3200" b="1" dirty="0" smtClean="0">
                <a:ln>
                  <a:solidFill>
                    <a:schemeClr val="tx1"/>
                  </a:solidFill>
                </a:ln>
              </a:rPr>
              <a:t>  </a:t>
            </a:r>
            <a:endParaRPr lang="cs-CZ" sz="3200" b="1" dirty="0">
              <a:ln>
                <a:solidFill>
                  <a:schemeClr val="tx1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884203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8579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služby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ISZR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0633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služby ISZR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548882"/>
            <a:ext cx="10515600" cy="4721387"/>
          </a:xfrm>
        </p:spPr>
        <p:txBody>
          <a:bodyPr>
            <a:normAutofit fontScale="77500" lnSpcReduction="20000"/>
          </a:bodyPr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Připravena sada služeb s novými údaji – k 1.2.2022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E07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robCtiZmeny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E103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robCtiZmenyZaloz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E154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robVypisVyuzitiPoskytnuti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E165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robVydejDat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E179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robZalozSouhlasPoskytnuti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E181 – </a:t>
            </a:r>
            <a:r>
              <a:rPr lang="cs-CZ" b="1" dirty="0" err="1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robVypisSouhlasPoskytnuti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E274 – robVlozObyvatele2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E275 – robZmenObyvatele2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E276 – robCtiAifo2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E277 – robCtiHromadneAifo2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E278 – robCtiPodleUdaju2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E279 – robOverHromadneAifo2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E280 – </a:t>
            </a:r>
            <a:r>
              <a:rPr lang="cs-CZ" b="1" dirty="0" err="1" smtClean="0">
                <a:ln>
                  <a:solidFill>
                    <a:schemeClr val="bg1"/>
                  </a:solidFill>
                </a:ln>
              </a:rPr>
              <a:t>robCtiPodleUdaju</a:t>
            </a:r>
            <a:endParaRPr lang="cs-CZ" b="1" dirty="0" smtClean="0">
              <a:ln>
                <a:solidFill>
                  <a:schemeClr val="bg1"/>
                </a:solidFill>
              </a:ln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Obdobně ROS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E273 – </a:t>
            </a:r>
            <a:r>
              <a:rPr lang="cs-CZ" b="1" dirty="0" err="1" smtClean="0">
                <a:ln>
                  <a:solidFill>
                    <a:schemeClr val="bg1"/>
                  </a:solidFill>
                </a:ln>
              </a:rPr>
              <a:t>rosZapisKontaktniUdaje</a:t>
            </a:r>
            <a:endParaRPr lang="cs-CZ" b="1" dirty="0" smtClean="0">
              <a:ln>
                <a:solidFill>
                  <a:schemeClr val="bg1"/>
                </a:solidFill>
              </a:ln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Atd.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566223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200" y="75876"/>
            <a:ext cx="10515600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služby ISZR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184988"/>
            <a:ext cx="10515600" cy="5738326"/>
          </a:xfrm>
        </p:spPr>
        <p:txBody>
          <a:bodyPr numCol="2">
            <a:normAutofit fontScale="85000" lnSpcReduction="20000"/>
          </a:bodyPr>
          <a:lstStyle/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	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101-1-2	Jméno / jména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101-1-3	Adresa místa pobytu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101-1-4	Doručovací adresa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101-1-5	Datum narození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101-1-6	Místo narození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101-1-7	Datum úmrtí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101-1-8	Datum nabytí právní moci rozhodnutí soudu o prohlášení za mrtvého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101-1-9	Místo úmrtí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101-1-10	Státní občanství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101-1-11	Čísla a druhy identifikačních dokladů a datum skončení jejich platnosti</a:t>
            </a:r>
          </a:p>
          <a:p>
            <a:pPr marL="0" indent="0">
              <a:buNone/>
            </a:pP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101-1-12	Záznam o zřízení datové schránky a identifikátor datové schránky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101-1-13	Rodné 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101-1-14	Pohlaví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101-1-15	Rodinný stav nebo registrované partnerství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101-1-16	Omezení svéprávnosti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101-1-17	Telefonní číslo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101-1-18	Adresa elektronické pošty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101-1-19	Kvalifikovaný certifikát pro elektronický podpis (sériové číslo, vydavatel a platnost)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8732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8200" y="75876"/>
            <a:ext cx="10515600" cy="1325563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Nové služby ISZR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3028" y="1401439"/>
            <a:ext cx="11625943" cy="5738326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101-1-2	Jméno, popř. jména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	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101-1-13	Rodné 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101-1-14	Pohlaví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101-1-16	Omezení svéprávnosti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!!Základní registr obyvatel!!</a:t>
            </a:r>
            <a:endParaRPr lang="cs-CZ" b="1" dirty="0">
              <a:ln>
                <a:solidFill>
                  <a:schemeClr val="bg1"/>
                </a:solidFill>
              </a:ln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115-1-1	Jméno, popř. jména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115-1-2	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115-1-3	Rodné příjmení</a:t>
            </a: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115-1-5	Pohlaví</a:t>
            </a:r>
            <a:endParaRPr lang="cs-CZ" b="1" dirty="0" smtClean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</a:rPr>
              <a:t>115-1-27    Rozhodnutí o omezení svéprávnosti</a:t>
            </a:r>
            <a:endParaRPr lang="cs-CZ" b="1" dirty="0" smtClean="0">
              <a:ln>
                <a:solidFill>
                  <a:schemeClr val="bg1"/>
                </a:solidFill>
              </a:ln>
            </a:endParaRPr>
          </a:p>
          <a:p>
            <a:pPr marL="0" indent="0">
              <a:buNone/>
            </a:pPr>
            <a:endParaRPr lang="cs-CZ" dirty="0" smtClean="0"/>
          </a:p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!!Evidence obyvatel!!</a:t>
            </a:r>
            <a:endParaRPr lang="cs-CZ" b="1" dirty="0">
              <a:ln>
                <a:solidFill>
                  <a:schemeClr val="bg1"/>
                </a:solidFill>
              </a:ln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351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622268" y="172190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Výsledky dobré praxe z oblasti elektronických mandátů a zmocnění 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293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75616" y="2067133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Evropské digitální předpisy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3192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Zástupný symbol pro obsah 3" descr="C:\Users\sedivect\Desktop\European data stratagy.PNG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2514"/>
            <a:ext cx="10935478" cy="5971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1217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039140"/>
            <a:ext cx="10914610" cy="1978112"/>
          </a:xfrm>
        </p:spPr>
        <p:txBody>
          <a:bodyPr/>
          <a:lstStyle/>
          <a:p>
            <a:pPr algn="ctr"/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Nová verze formulářů OHA + IROP</a:t>
            </a:r>
            <a:endParaRPr lang="es-ES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677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Nová verze formulářů OHA</a:t>
            </a:r>
            <a:endParaRPr lang="cs-CZ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NÚKIB součástí organizací, které se podílejí na schvalování</a:t>
            </a:r>
          </a:p>
          <a:p>
            <a:pPr marL="0" indent="0">
              <a:buNone/>
            </a:pP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sym typeface="Wingdings" panose="05000000000000000000" pitchFamily="2" charset="2"/>
              </a:rPr>
              <a:t>Nové otázky na nakládání a zpracování osobních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sym typeface="Wingdings" panose="05000000000000000000" pitchFamily="2" charset="2"/>
              </a:rPr>
              <a:t>údajů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sym typeface="Wingdings" panose="05000000000000000000" pitchFamily="2" charset="2"/>
              </a:rPr>
              <a:t>Nové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sym typeface="Wingdings" panose="05000000000000000000" pitchFamily="2" charset="2"/>
              </a:rPr>
              <a:t>otázky na </a:t>
            </a:r>
            <a:r>
              <a:rPr lang="cs-CZ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Dopady narušení bezpečnosti informací v </a:t>
            </a:r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systému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Nové </a:t>
            </a:r>
            <a:r>
              <a:rPr lang="cs-CZ" b="1" dirty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otázky na Minimální bezpečnostní </a:t>
            </a:r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standard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Přidání otázky na posouzení ekonomické výhodnosti provozu ISVS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Přidání otázky na bezpečnostní úroveň ISVS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Větší detail na identifikaci subjektů v datovém kmeni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Rozšíření bezpečnostní architektury</a:t>
            </a: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Přidání otázek na cloud computing</a:t>
            </a:r>
          </a:p>
        </p:txBody>
      </p:sp>
    </p:spTree>
    <p:extLst>
      <p:ext uri="{BB962C8B-B14F-4D97-AF65-F5344CB8AC3E}">
        <p14:creationId xmlns:p14="http://schemas.microsoft.com/office/powerpoint/2010/main" val="3353722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Vzorové formuláře pro potřeby IROP</a:t>
            </a:r>
            <a:endParaRPr lang="cs-CZ" b="1" dirty="0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Žadatel - fiktivní obec s rozšířenou působností</a:t>
            </a:r>
          </a:p>
          <a:p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Vzory pro: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Posílení kybernetické bezpečnosti</a:t>
            </a:r>
          </a:p>
          <a:p>
            <a:pPr lvl="1"/>
            <a:r>
              <a:rPr lang="cs-CZ" b="1" dirty="0" smtClean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Portálové řešení</a:t>
            </a:r>
          </a:p>
          <a:p>
            <a:pPr lvl="1"/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Integrovaný informační systém</a:t>
            </a:r>
          </a:p>
          <a:p>
            <a:pPr lvl="1"/>
            <a:endParaRPr lang="cs-CZ" b="1" dirty="0" smtClean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Součástí budou projektové a architektonické informace</a:t>
            </a:r>
            <a:endParaRPr lang="cs-CZ" b="1" dirty="0">
              <a:ln>
                <a:solidFill>
                  <a:schemeClr val="bg1"/>
                </a:solidFill>
              </a:ln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cs-CZ" b="1" dirty="0" smtClean="0">
                <a:ln>
                  <a:solidFill>
                    <a:schemeClr val="bg1"/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</a:rPr>
              <a:t>Předání k připomínkám do konce března 2022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53175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28962" y="1833867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Otázky a nejasnosti členů pracovní skupiny</a:t>
            </a:r>
          </a:p>
        </p:txBody>
      </p:sp>
    </p:spTree>
    <p:extLst>
      <p:ext uri="{BB962C8B-B14F-4D97-AF65-F5344CB8AC3E}">
        <p14:creationId xmlns:p14="http://schemas.microsoft.com/office/powerpoint/2010/main" val="215951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66284" y="2001818"/>
            <a:ext cx="10914610" cy="1978112"/>
          </a:xfrm>
        </p:spPr>
        <p:txBody>
          <a:bodyPr/>
          <a:lstStyle/>
          <a:p>
            <a:pPr algn="ctr"/>
            <a:r>
              <a:rPr lang="es-ES" b="1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Závěr</a:t>
            </a:r>
          </a:p>
        </p:txBody>
      </p:sp>
    </p:spTree>
    <p:extLst>
      <p:ext uri="{BB962C8B-B14F-4D97-AF65-F5344CB8AC3E}">
        <p14:creationId xmlns:p14="http://schemas.microsoft.com/office/powerpoint/2010/main" val="3235774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7A5577F-90D1-4D94-B1D8-31B5055FE4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13EA58D-7945-4012-92BF-024D9CC063BC}"/>
</file>

<file path=customXml/itemProps3.xml><?xml version="1.0" encoding="utf-8"?>
<ds:datastoreItem xmlns:ds="http://schemas.openxmlformats.org/officeDocument/2006/customXml" ds:itemID="{579E98EC-8279-4842-B4EF-743633698D36}">
  <ds:schemaRefs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1236</TotalTime>
  <Words>882</Words>
  <Application>Microsoft Office PowerPoint</Application>
  <PresentationFormat>Širokoúhlá obrazovka</PresentationFormat>
  <Paragraphs>168</Paragraphs>
  <Slides>23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23</vt:i4>
      </vt:variant>
    </vt:vector>
  </HeadingPairs>
  <TitlesOfParts>
    <vt:vector size="27" baseType="lpstr">
      <vt:lpstr>Arial</vt:lpstr>
      <vt:lpstr>Calibri</vt:lpstr>
      <vt:lpstr>Wingdings</vt:lpstr>
      <vt:lpstr>Motiv Office</vt:lpstr>
      <vt:lpstr>Prezentace aplikace PowerPoint</vt:lpstr>
      <vt:lpstr>Technický úvod, pravidla videokonference </vt:lpstr>
      <vt:lpstr>Kontext naší PS v rámci RVIS</vt:lpstr>
      <vt:lpstr> </vt:lpstr>
      <vt:lpstr>Změny v Národní architektuře eGovernmentu</vt:lpstr>
      <vt:lpstr>Změny v Národní architektuře eGovernmentu</vt:lpstr>
      <vt:lpstr>Změny v Národní architektuře eGovernmentu</vt:lpstr>
      <vt:lpstr>Změny v Národní architektuře eGovernmentu</vt:lpstr>
      <vt:lpstr>Diskutuje s námi</vt:lpstr>
      <vt:lpstr>Spolupráce nad Informační koncepcí ČR</vt:lpstr>
      <vt:lpstr>Spolupráce nad Informační koncepcí ČR</vt:lpstr>
      <vt:lpstr>Nové služby ISZR</vt:lpstr>
      <vt:lpstr>Nové služby ISZR</vt:lpstr>
      <vt:lpstr>Nové služby ISZR</vt:lpstr>
      <vt:lpstr>Nové služby ISZR</vt:lpstr>
      <vt:lpstr>Výsledky dobré praxe z oblasti elektronických mandátů a zmocnění </vt:lpstr>
      <vt:lpstr>Evropské digitální předpisy</vt:lpstr>
      <vt:lpstr>Prezentace aplikace PowerPoint</vt:lpstr>
      <vt:lpstr>Nová verze formulářů OHA + IROP</vt:lpstr>
      <vt:lpstr>Nová verze formulářů OHA</vt:lpstr>
      <vt:lpstr>Vzorové formuláře pro potřeby IROP</vt:lpstr>
      <vt:lpstr>Otázky a nejasnosti členů pracovní skupiny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Šedivec Tomáš</cp:lastModifiedBy>
  <cp:revision>53</cp:revision>
  <dcterms:created xsi:type="dcterms:W3CDTF">2021-01-27T09:19:54Z</dcterms:created>
  <dcterms:modified xsi:type="dcterms:W3CDTF">2022-02-28T11:41:28Z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MyDocuments">
    <vt:bool>true</vt:bool>
  </property>
  <property fmtid="{D5CDD505-2E9C-101B-9397-08002B2CF9AE}" pid="3" name="ContentTypeId">
    <vt:lpwstr>0x01010090B00F75BED7484DA544575FBD77AFF7</vt:lpwstr>
  </property>
</Properties>
</file>
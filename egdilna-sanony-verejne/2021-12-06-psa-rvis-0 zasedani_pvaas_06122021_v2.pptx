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0" r:id="rId6"/>
    <p:sldId id="261" r:id="rId7"/>
    <p:sldId id="259" r:id="rId8"/>
    <p:sldId id="265" r:id="rId9"/>
    <p:sldId id="274" r:id="rId10"/>
    <p:sldId id="276" r:id="rId11"/>
    <p:sldId id="275" r:id="rId12"/>
    <p:sldId id="277" r:id="rId13"/>
    <p:sldId id="284" r:id="rId14"/>
    <p:sldId id="279" r:id="rId15"/>
    <p:sldId id="269" r:id="rId16"/>
    <p:sldId id="280" r:id="rId17"/>
    <p:sldId id="283" r:id="rId18"/>
    <p:sldId id="281" r:id="rId19"/>
    <p:sldId id="282" r:id="rId20"/>
    <p:sldId id="272" r:id="rId21"/>
    <p:sldId id="270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06.12.2021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06.12.2021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raci_formular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nap:nia" TargetMode="External"/><Relationship Id="rId4" Type="http://schemas.openxmlformats.org/officeDocument/2006/relationships/hyperlink" Target="https://archi.gov.cz/playgroud:tezauru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6.12.2021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Příklady dobré praxe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SÚKL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Informace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stavu NIA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Kuchař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Registr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práv a povinností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odbor eGovernmentu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Otevřená data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Radka Domanská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Školení OHA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Nová verze formulářů OHA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Změny v Národní architektuře eGovernmentu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509602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dirty="0"/>
              <a:t>Viz také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archi.gov.cz/vyhledavani:changelog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RACI matice pro </a:t>
            </a:r>
            <a:r>
              <a:rPr lang="cs-CZ" dirty="0"/>
              <a:t>vyplňování formuláře OHA </a:t>
            </a:r>
            <a:r>
              <a:rPr lang="cs-CZ" dirty="0">
                <a:hlinkClick r:id="rId3"/>
              </a:rPr>
              <a:t>https://</a:t>
            </a:r>
            <a:r>
              <a:rPr lang="cs-CZ" dirty="0" smtClean="0">
                <a:hlinkClick r:id="rId3"/>
              </a:rPr>
              <a:t>archi.gov.cz/znalostni_baze:raci_formular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Zkušební stránka </a:t>
            </a:r>
            <a:r>
              <a:rPr lang="cs-CZ" dirty="0"/>
              <a:t>nového Tezauru </a:t>
            </a:r>
            <a:r>
              <a:rPr lang="cs-CZ" dirty="0">
                <a:hlinkClick r:id="rId4"/>
              </a:rPr>
              <a:t>https://</a:t>
            </a:r>
            <a:r>
              <a:rPr lang="cs-CZ" dirty="0" smtClean="0">
                <a:hlinkClick r:id="rId4"/>
              </a:rPr>
              <a:t>archi.gov.cz/playgroud:tezaurus</a:t>
            </a:r>
            <a:r>
              <a:rPr lang="cs-CZ" dirty="0" smtClean="0"/>
              <a:t> </a:t>
            </a:r>
            <a:endParaRPr lang="cs-CZ" dirty="0"/>
          </a:p>
          <a:p>
            <a:pPr>
              <a:lnSpc>
                <a:spcPct val="170000"/>
              </a:lnSpc>
            </a:pPr>
            <a:r>
              <a:rPr lang="cs-CZ" dirty="0" smtClean="0"/>
              <a:t>Nevizuální přihlašování pomocí </a:t>
            </a:r>
            <a:r>
              <a:rPr lang="cs-CZ" dirty="0"/>
              <a:t>mobilních aplikací </a:t>
            </a:r>
            <a:r>
              <a:rPr lang="cs-CZ" dirty="0">
                <a:hlinkClick r:id="rId5"/>
              </a:rPr>
              <a:t>https://</a:t>
            </a:r>
            <a:r>
              <a:rPr lang="cs-CZ" dirty="0" smtClean="0">
                <a:hlinkClick r:id="rId5"/>
              </a:rPr>
              <a:t>archi.gov.cz/nap:nia</a:t>
            </a:r>
            <a:r>
              <a:rPr lang="cs-CZ" dirty="0" smtClean="0"/>
              <a:t> </a:t>
            </a:r>
            <a:r>
              <a:rPr lang="cs-CZ" b="1" dirty="0" smtClean="0"/>
              <a:t> </a:t>
            </a:r>
          </a:p>
          <a:p>
            <a:pPr>
              <a:lnSpc>
                <a:spcPct val="170000"/>
              </a:lnSpc>
            </a:pPr>
            <a:endParaRPr lang="cs-CZ" dirty="0" smtClean="0"/>
          </a:p>
          <a:p>
            <a:pPr>
              <a:lnSpc>
                <a:spcPct val="170000"/>
              </a:lnSpc>
            </a:pPr>
            <a:endParaRPr lang="cs-CZ" dirty="0" smtClean="0"/>
          </a:p>
          <a:p>
            <a:pPr>
              <a:lnSpc>
                <a:spcPct val="170000"/>
              </a:lnSpc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Diskutuje s námi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Pravidla diskuze na konci každé stránky:</a:t>
            </a:r>
          </a:p>
          <a:p>
            <a:pPr lvl="1"/>
            <a:r>
              <a:rPr lang="cs-CZ" dirty="0" smtClean="0"/>
              <a:t>Dotazy </a:t>
            </a:r>
            <a:r>
              <a:rPr lang="cs-CZ" dirty="0"/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dirty="0">
                <a:hlinkClick r:id="rId2"/>
              </a:rPr>
              <a:t> https://archi.gov.cz/diskuze</a:t>
            </a:r>
            <a:r>
              <a:rPr lang="cs-CZ" dirty="0" smtClean="0"/>
              <a:t>.</a:t>
            </a:r>
            <a:endParaRPr lang="cs-CZ" dirty="0"/>
          </a:p>
          <a:p>
            <a:r>
              <a:rPr lang="cs-CZ" dirty="0" smtClean="0"/>
              <a:t>Pravidla </a:t>
            </a:r>
            <a:r>
              <a:rPr lang="cs-CZ" dirty="0"/>
              <a:t>diskuze ve speciální části </a:t>
            </a:r>
            <a:r>
              <a:rPr lang="cs-CZ" dirty="0" smtClean="0"/>
              <a:t>webu</a:t>
            </a:r>
            <a:r>
              <a:rPr lang="cs-CZ" dirty="0"/>
              <a:t>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archi.gov.cz/diskuze</a:t>
            </a:r>
            <a:r>
              <a:rPr lang="cs-CZ" dirty="0" smtClean="0"/>
              <a:t> </a:t>
            </a:r>
            <a:endParaRPr lang="cs-CZ" dirty="0"/>
          </a:p>
          <a:p>
            <a:pPr lvl="1"/>
            <a:r>
              <a:rPr lang="cs-CZ" dirty="0" smtClean="0"/>
              <a:t>Diskutujte </a:t>
            </a:r>
            <a:r>
              <a:rPr lang="cs-CZ" dirty="0"/>
              <a:t>v rámci založené diskuze. Pokud Váš příspěvek s vláknem nesouvisí, založte prosím nové diskuzní vlákno.</a:t>
            </a:r>
          </a:p>
          <a:p>
            <a:pPr lvl="1"/>
            <a:r>
              <a:rPr lang="cs-CZ" dirty="0"/>
              <a:t>Pokud zakládáte nové vlákno, nezapomeňte ho pojmenovat. Název by měl souviset s Vaším dotazem.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Poslední seznam </a:t>
            </a:r>
            <a:r>
              <a:rPr lang="cs-CZ" dirty="0"/>
              <a:t>změn jednomyslně schválen </a:t>
            </a:r>
            <a:r>
              <a:rPr lang="cs-CZ" dirty="0" smtClean="0"/>
              <a:t>usnesením RVIS 2021/11/12/U7</a:t>
            </a:r>
          </a:p>
          <a:p>
            <a:r>
              <a:rPr lang="cs-CZ" dirty="0" smtClean="0"/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Plenární zasedání RVIS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Příklady dobré praxe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Informace o stavu NIA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8806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Registr práv a povinností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8293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Otevřená data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Školení OHA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64094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Školení OHA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Dle poptávkového formuláře je zájem o tato témata:</a:t>
            </a:r>
          </a:p>
          <a:p>
            <a:pPr lvl="1"/>
            <a:r>
              <a:rPr lang="cs-CZ" dirty="0" smtClean="0"/>
              <a:t>Schvalování a formuláře OHA (postupy, povinnosti, atd.)</a:t>
            </a:r>
          </a:p>
          <a:p>
            <a:pPr lvl="1"/>
            <a:r>
              <a:rPr lang="cs-CZ" dirty="0" smtClean="0"/>
              <a:t>Obecné fungování eGov a činnosti OHA</a:t>
            </a:r>
          </a:p>
          <a:p>
            <a:pPr lvl="1"/>
            <a:r>
              <a:rPr lang="cs-CZ" dirty="0" smtClean="0"/>
              <a:t>Obsah RPP a vyplňování jeho evidencí</a:t>
            </a:r>
          </a:p>
          <a:p>
            <a:pPr lvl="1"/>
            <a:r>
              <a:rPr lang="cs-CZ" dirty="0" smtClean="0"/>
              <a:t>Řízení IT projektů</a:t>
            </a:r>
          </a:p>
          <a:p>
            <a:pPr lvl="1"/>
            <a:r>
              <a:rPr lang="cs-CZ" dirty="0" smtClean="0"/>
              <a:t>Cloud a TCO</a:t>
            </a:r>
          </a:p>
          <a:p>
            <a:pPr lvl="1"/>
            <a:r>
              <a:rPr lang="cs-CZ" dirty="0" err="1" smtClean="0"/>
              <a:t>Kyberbezpečnost</a:t>
            </a:r>
            <a:r>
              <a:rPr lang="cs-CZ" dirty="0" smtClean="0"/>
              <a:t> a </a:t>
            </a:r>
            <a:r>
              <a:rPr lang="cs-CZ" dirty="0" err="1" smtClean="0"/>
              <a:t>security</a:t>
            </a:r>
            <a:r>
              <a:rPr lang="cs-CZ" dirty="0" smtClean="0"/>
              <a:t> by design</a:t>
            </a:r>
          </a:p>
          <a:p>
            <a:pPr lvl="1"/>
            <a:r>
              <a:rPr lang="cs-CZ" dirty="0" smtClean="0"/>
              <a:t>Legislativa IT </a:t>
            </a:r>
          </a:p>
          <a:p>
            <a:pPr lvl="1"/>
            <a:r>
              <a:rPr lang="cs-CZ" dirty="0" smtClean="0"/>
              <a:t>Příklady dobré praxe ISVS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275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Nová verze formulářů OHA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05044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Nová verze formulářů OHA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 smtClean="0"/>
              <a:t>NÚKIB součástí organizací, které se podílejí na schvalování</a:t>
            </a:r>
          </a:p>
          <a:p>
            <a:r>
              <a:rPr lang="cs-CZ" dirty="0" smtClean="0"/>
              <a:t>Přidání otázky na posouzení ekonomické výhodnosti provozu ISVS</a:t>
            </a:r>
          </a:p>
          <a:p>
            <a:r>
              <a:rPr lang="cs-CZ" dirty="0" smtClean="0"/>
              <a:t>Přidání otázky na bezpečnostní úroveň ISVS</a:t>
            </a:r>
          </a:p>
          <a:p>
            <a:r>
              <a:rPr lang="cs-CZ" dirty="0" smtClean="0"/>
              <a:t>Větší detail na identifikaci subjektů v datovém kmeni</a:t>
            </a:r>
          </a:p>
          <a:p>
            <a:r>
              <a:rPr lang="cs-CZ" dirty="0" smtClean="0"/>
              <a:t>Rozšíření bezpečnostní architektury</a:t>
            </a:r>
          </a:p>
          <a:p>
            <a:r>
              <a:rPr lang="cs-CZ" dirty="0" smtClean="0"/>
              <a:t>Přidání otázek na cloud computing</a:t>
            </a:r>
          </a:p>
          <a:p>
            <a:pPr marL="0" indent="0">
              <a:buNone/>
            </a:pPr>
            <a:r>
              <a:rPr lang="cs-CZ" i="1" dirty="0" smtClean="0"/>
              <a:t>// Možné další úpravy vzhledem k minimálnímu bezpečnostnímu standardu</a:t>
            </a:r>
            <a:endParaRPr lang="cs-CZ" i="1" dirty="0"/>
          </a:p>
        </p:txBody>
      </p:sp>
    </p:spTree>
    <p:extLst>
      <p:ext uri="{BB962C8B-B14F-4D97-AF65-F5344CB8AC3E}">
        <p14:creationId xmlns:p14="http://schemas.microsoft.com/office/powerpoint/2010/main" val="335372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48B787-BA54-4735-9DDC-F5065FEE7F83}"/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413</Words>
  <Application>Microsoft Office PowerPoint</Application>
  <PresentationFormat>Širokoúhlá obrazovka</PresentationFormat>
  <Paragraphs>67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MV_sablona1_2007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Diskutuje s námi</vt:lpstr>
      <vt:lpstr>Změny v Národní architektuře eGovernmentu</vt:lpstr>
      <vt:lpstr>Příklady dobré praxe</vt:lpstr>
      <vt:lpstr>Informace o stavu NIA</vt:lpstr>
      <vt:lpstr>Registr práv a povinností</vt:lpstr>
      <vt:lpstr>Otevřená data</vt:lpstr>
      <vt:lpstr>Školení OHA</vt:lpstr>
      <vt:lpstr>Školení OHA</vt:lpstr>
      <vt:lpstr>Nová verze formulářů OHA</vt:lpstr>
      <vt:lpstr>Nová verze formulářů OHA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Tomáš Šedivec</cp:lastModifiedBy>
  <cp:revision>35</cp:revision>
  <dcterms:created xsi:type="dcterms:W3CDTF">2021-01-27T09:19:54Z</dcterms:created>
  <dcterms:modified xsi:type="dcterms:W3CDTF">2021-12-06T13:52:27Z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
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4" r:id="rId5"/>
  </p:sldMasterIdLst>
  <p:sldIdLst>
    <p:sldId id="257" r:id="rId6"/>
    <p:sldId id="260" r:id="rId7"/>
    <p:sldId id="261" r:id="rId8"/>
    <p:sldId id="259" r:id="rId9"/>
    <p:sldId id="285" r:id="rId10"/>
    <p:sldId id="274" r:id="rId11"/>
    <p:sldId id="275" r:id="rId12"/>
    <p:sldId id="276" r:id="rId13"/>
    <p:sldId id="311" r:id="rId14"/>
    <p:sldId id="313" r:id="rId15"/>
    <p:sldId id="269" r:id="rId16"/>
    <p:sldId id="302" r:id="rId17"/>
    <p:sldId id="325" r:id="rId18"/>
    <p:sldId id="324" r:id="rId19"/>
    <p:sldId id="359" r:id="rId20"/>
    <p:sldId id="360" r:id="rId21"/>
    <p:sldId id="398" r:id="rId22"/>
    <p:sldId id="358" r:id="rId23"/>
    <p:sldId id="354" r:id="rId24"/>
    <p:sldId id="355" r:id="rId25"/>
    <p:sldId id="402" r:id="rId26"/>
    <p:sldId id="356" r:id="rId27"/>
    <p:sldId id="272" r:id="rId28"/>
    <p:sldId id="404" r:id="rId29"/>
    <p:sldId id="270" r:id="rId30"/>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6043A0-2A94-4A89-9C08-919C0970EC07}" v="1" dt="2023-09-14T06:50:17.484"/>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microsoft.com/office/2016/11/relationships/changesInfo" Target="changesInfos/changesInfo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áš Šedivec" userId="5859117d-4fed-45af-939e-a078bb4ea44f" providerId="ADAL" clId="{C06043A0-2A94-4A89-9C08-919C0970EC07}"/>
    <pc:docChg chg="custSel addSld delSld modSld sldOrd">
      <pc:chgData name="Tomáš Šedivec" userId="5859117d-4fed-45af-939e-a078bb4ea44f" providerId="ADAL" clId="{C06043A0-2A94-4A89-9C08-919C0970EC07}" dt="2023-09-14T10:29:26.621" v="37" actId="47"/>
      <pc:docMkLst>
        <pc:docMk/>
      </pc:docMkLst>
      <pc:sldChg chg="add">
        <pc:chgData name="Tomáš Šedivec" userId="5859117d-4fed-45af-939e-a078bb4ea44f" providerId="ADAL" clId="{C06043A0-2A94-4A89-9C08-919C0970EC07}" dt="2023-09-14T06:50:17.484" v="36"/>
        <pc:sldMkLst>
          <pc:docMk/>
          <pc:sldMk cId="4078865780" sldId="356"/>
        </pc:sldMkLst>
      </pc:sldChg>
      <pc:sldChg chg="modSp new del mod">
        <pc:chgData name="Tomáš Šedivec" userId="5859117d-4fed-45af-939e-a078bb4ea44f" providerId="ADAL" clId="{C06043A0-2A94-4A89-9C08-919C0970EC07}" dt="2023-09-14T10:29:26.621" v="37" actId="47"/>
        <pc:sldMkLst>
          <pc:docMk/>
          <pc:sldMk cId="2919767738" sldId="403"/>
        </pc:sldMkLst>
        <pc:spChg chg="mod">
          <ac:chgData name="Tomáš Šedivec" userId="5859117d-4fed-45af-939e-a078bb4ea44f" providerId="ADAL" clId="{C06043A0-2A94-4A89-9C08-919C0970EC07}" dt="2023-09-14T06:31:38.264" v="2" actId="20577"/>
          <ac:spMkLst>
            <pc:docMk/>
            <pc:sldMk cId="2919767738" sldId="403"/>
            <ac:spMk id="3" creationId="{991BD1BA-C4CD-B43A-6C38-A38C77A811C0}"/>
          </ac:spMkLst>
        </pc:spChg>
      </pc:sldChg>
      <pc:sldChg chg="modSp add mod ord">
        <pc:chgData name="Tomáš Šedivec" userId="5859117d-4fed-45af-939e-a078bb4ea44f" providerId="ADAL" clId="{C06043A0-2A94-4A89-9C08-919C0970EC07}" dt="2023-09-14T06:32:15.438" v="35" actId="6549"/>
        <pc:sldMkLst>
          <pc:docMk/>
          <pc:sldMk cId="4022916625" sldId="404"/>
        </pc:sldMkLst>
        <pc:spChg chg="mod">
          <ac:chgData name="Tomáš Šedivec" userId="5859117d-4fed-45af-939e-a078bb4ea44f" providerId="ADAL" clId="{C06043A0-2A94-4A89-9C08-919C0970EC07}" dt="2023-09-14T06:32:15.438" v="35" actId="6549"/>
          <ac:spMkLst>
            <pc:docMk/>
            <pc:sldMk cId="4022916625" sldId="404"/>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352;imonTrusina\AppData\Local\Microsoft\Windows\INetCache\Content.Outlook\2VFZHX2X\report_2023-09-07_dop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352;imonTrusina\AppData\Local\Microsoft\Windows\INetCache\Content.Outlook\2VFZHX2X\report_2023-09-07_dopl.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cs-CZ"/>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'všechny služby'!$G$1</c:f>
              <c:strCache>
                <c:ptCount val="1"/>
                <c:pt idx="0">
                  <c:v>procent</c:v>
                </c:pt>
              </c:strCache>
            </c:strRef>
          </c:tx>
          <c:spPr>
            <a:solidFill>
              <a:schemeClr val="accent1"/>
            </a:solidFill>
            <a:ln>
              <a:noFill/>
            </a:ln>
            <a:effectLst/>
          </c:spPr>
          <c:invertIfNegative val="0"/>
          <c:cat>
            <c:strRef>
              <c:f>'všechny služby'!$B$2:$B$32</c:f>
              <c:strCache>
                <c:ptCount val="31"/>
                <c:pt idx="0">
                  <c:v>Národní sportovní agentura</c:v>
                </c:pt>
                <c:pt idx="1">
                  <c:v>Státní úřad pro jadernou bezpečnost</c:v>
                </c:pt>
                <c:pt idx="2">
                  <c:v>ČESKÁ NÁRODNÍ BANKA</c:v>
                </c:pt>
                <c:pt idx="3">
                  <c:v>Úřad pro ochranu osobních údajů</c:v>
                </c:pt>
                <c:pt idx="4">
                  <c:v>Ministerstvo pro místní rozvoj</c:v>
                </c:pt>
                <c:pt idx="5">
                  <c:v>Ministerstvo financí</c:v>
                </c:pt>
                <c:pt idx="6">
                  <c:v>Národní úřad pro kybernetickou a informační bezpečnost</c:v>
                </c:pt>
                <c:pt idx="7">
                  <c:v>Český statistický úřad</c:v>
                </c:pt>
                <c:pt idx="8">
                  <c:v>Ministerstvo dopravy</c:v>
                </c:pt>
                <c:pt idx="9">
                  <c:v>Ministerstvo životního prostředí</c:v>
                </c:pt>
                <c:pt idx="10">
                  <c:v>Ministerstvo práce a sociálních věcí</c:v>
                </c:pt>
                <c:pt idx="11">
                  <c:v>Ministerstvo spravedlnosti</c:v>
                </c:pt>
                <c:pt idx="12">
                  <c:v>Ministerstvo zemědělství</c:v>
                </c:pt>
                <c:pt idx="13">
                  <c:v>Ministerstvo kultury</c:v>
                </c:pt>
                <c:pt idx="14">
                  <c:v>Úřad pro ochranu hospodářské soutěže</c:v>
                </c:pt>
                <c:pt idx="15">
                  <c:v>Ministerstvo vnitra</c:v>
                </c:pt>
                <c:pt idx="16">
                  <c:v>Digitální a informační agentura</c:v>
                </c:pt>
                <c:pt idx="17">
                  <c:v>Ministerstvo školství, mládeže a tělovýchovy</c:v>
                </c:pt>
                <c:pt idx="18">
                  <c:v>Ministerstvo zdravotnictví</c:v>
                </c:pt>
                <c:pt idx="19">
                  <c:v>Český báňský úřad</c:v>
                </c:pt>
                <c:pt idx="20">
                  <c:v>Ministerstvo průmyslu a obchodu</c:v>
                </c:pt>
                <c:pt idx="21">
                  <c:v>Rada pro rozhlasové a televizní vysílání</c:v>
                </c:pt>
                <c:pt idx="22">
                  <c:v>Úřad průmyslového vlastnictví</c:v>
                </c:pt>
                <c:pt idx="23">
                  <c:v>Úřad vlády České republiky</c:v>
                </c:pt>
                <c:pt idx="24">
                  <c:v>Český úřad zeměměřický a katastrální</c:v>
                </c:pt>
                <c:pt idx="25">
                  <c:v>Ministerstvo zahraničních věcí</c:v>
                </c:pt>
                <c:pt idx="26">
                  <c:v>Správa státních hmotných rezerv</c:v>
                </c:pt>
                <c:pt idx="27">
                  <c:v>Nejvyšší kontrolní úřad</c:v>
                </c:pt>
                <c:pt idx="28">
                  <c:v>Ministerstvo obrany</c:v>
                </c:pt>
                <c:pt idx="29">
                  <c:v>Národní bezpečnostní úřad</c:v>
                </c:pt>
                <c:pt idx="30">
                  <c:v>Český telekomunikační úřad</c:v>
                </c:pt>
              </c:strCache>
            </c:strRef>
          </c:cat>
          <c:val>
            <c:numRef>
              <c:f>'všechny služby'!$G$2:$G$32</c:f>
              <c:numCache>
                <c:formatCode>0%</c:formatCode>
                <c:ptCount val="31"/>
                <c:pt idx="0">
                  <c:v>0</c:v>
                </c:pt>
                <c:pt idx="1">
                  <c:v>0</c:v>
                </c:pt>
                <c:pt idx="2">
                  <c:v>0</c:v>
                </c:pt>
                <c:pt idx="3">
                  <c:v>0</c:v>
                </c:pt>
                <c:pt idx="4">
                  <c:v>0.18552036199095023</c:v>
                </c:pt>
                <c:pt idx="5">
                  <c:v>0.19917582417582416</c:v>
                </c:pt>
                <c:pt idx="6">
                  <c:v>0.25</c:v>
                </c:pt>
                <c:pt idx="7">
                  <c:v>0.35294117647058826</c:v>
                </c:pt>
                <c:pt idx="8">
                  <c:v>0.39431616341030196</c:v>
                </c:pt>
                <c:pt idx="9">
                  <c:v>0.4207723035952064</c:v>
                </c:pt>
                <c:pt idx="10">
                  <c:v>0.42744063324538256</c:v>
                </c:pt>
                <c:pt idx="11">
                  <c:v>0.51162790697674421</c:v>
                </c:pt>
                <c:pt idx="12">
                  <c:v>0.51182303585049582</c:v>
                </c:pt>
                <c:pt idx="13">
                  <c:v>0.58173076923076927</c:v>
                </c:pt>
                <c:pt idx="14">
                  <c:v>0.58333333333333337</c:v>
                </c:pt>
                <c:pt idx="15">
                  <c:v>0.60036832412523022</c:v>
                </c:pt>
                <c:pt idx="16">
                  <c:v>0.72043010752688175</c:v>
                </c:pt>
                <c:pt idx="17">
                  <c:v>0.77083333333333337</c:v>
                </c:pt>
                <c:pt idx="18">
                  <c:v>0.79689922480620157</c:v>
                </c:pt>
                <c:pt idx="19">
                  <c:v>0.83524904214559392</c:v>
                </c:pt>
                <c:pt idx="20">
                  <c:v>0.84210526315789469</c:v>
                </c:pt>
                <c:pt idx="21">
                  <c:v>0.97872340425531912</c:v>
                </c:pt>
                <c:pt idx="22">
                  <c:v>0.98265895953757221</c:v>
                </c:pt>
                <c:pt idx="23">
                  <c:v>1</c:v>
                </c:pt>
                <c:pt idx="24">
                  <c:v>1</c:v>
                </c:pt>
                <c:pt idx="25">
                  <c:v>1</c:v>
                </c:pt>
                <c:pt idx="26">
                  <c:v>1</c:v>
                </c:pt>
                <c:pt idx="27">
                  <c:v>1</c:v>
                </c:pt>
                <c:pt idx="28">
                  <c:v>1</c:v>
                </c:pt>
                <c:pt idx="29">
                  <c:v>1</c:v>
                </c:pt>
                <c:pt idx="30">
                  <c:v>1</c:v>
                </c:pt>
              </c:numCache>
            </c:numRef>
          </c:val>
          <c:extLst>
            <c:ext xmlns:c16="http://schemas.microsoft.com/office/drawing/2014/chart" uri="{C3380CC4-5D6E-409C-BE32-E72D297353CC}">
              <c16:uniqueId val="{00000000-5D3B-4430-90EA-C9BF7920074A}"/>
            </c:ext>
          </c:extLst>
        </c:ser>
        <c:dLbls>
          <c:showLegendKey val="0"/>
          <c:showVal val="0"/>
          <c:showCatName val="0"/>
          <c:showSerName val="0"/>
          <c:showPercent val="0"/>
          <c:showBubbleSize val="0"/>
        </c:dLbls>
        <c:gapWidth val="182"/>
        <c:axId val="441648511"/>
        <c:axId val="441635551"/>
      </c:barChart>
      <c:catAx>
        <c:axId val="44164851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cs-CZ"/>
          </a:p>
        </c:txPr>
        <c:crossAx val="441635551"/>
        <c:crosses val="autoZero"/>
        <c:auto val="1"/>
        <c:lblAlgn val="ctr"/>
        <c:lblOffset val="100"/>
        <c:noMultiLvlLbl val="0"/>
      </c:catAx>
      <c:valAx>
        <c:axId val="441635551"/>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cs-CZ"/>
          </a:p>
        </c:txPr>
        <c:crossAx val="4416485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cs-CZ"/>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cs-CZ"/>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'přenesená působnost'!$G$1</c:f>
              <c:strCache>
                <c:ptCount val="1"/>
                <c:pt idx="0">
                  <c:v>procent</c:v>
                </c:pt>
              </c:strCache>
            </c:strRef>
          </c:tx>
          <c:spPr>
            <a:solidFill>
              <a:schemeClr val="accent1"/>
            </a:solidFill>
            <a:ln>
              <a:noFill/>
            </a:ln>
            <a:effectLst/>
          </c:spPr>
          <c:invertIfNegative val="0"/>
          <c:cat>
            <c:strRef>
              <c:f>'přenesená působnost'!$B$2:$B$18</c:f>
              <c:strCache>
                <c:ptCount val="17"/>
                <c:pt idx="0">
                  <c:v>Státní úřad pro jadernou bezpečnost</c:v>
                </c:pt>
                <c:pt idx="1">
                  <c:v>Ministerstvo pro místní rozvoj</c:v>
                </c:pt>
                <c:pt idx="2">
                  <c:v>Ministerstvo zemědělství</c:v>
                </c:pt>
                <c:pt idx="3">
                  <c:v>Ministerstvo životního prostředí</c:v>
                </c:pt>
                <c:pt idx="4">
                  <c:v>Ministerstvo průmyslu a obchodu</c:v>
                </c:pt>
                <c:pt idx="5">
                  <c:v>Ministerstvo práce a sociálních věcí</c:v>
                </c:pt>
                <c:pt idx="6">
                  <c:v>Ministerstvo dopravy</c:v>
                </c:pt>
                <c:pt idx="7">
                  <c:v>Ministerstvo spravedlnosti</c:v>
                </c:pt>
                <c:pt idx="8">
                  <c:v>Ministerstvo kultury</c:v>
                </c:pt>
                <c:pt idx="9">
                  <c:v>Ministerstvo zdravotnictví</c:v>
                </c:pt>
                <c:pt idx="10">
                  <c:v>Ministerstvo financí</c:v>
                </c:pt>
                <c:pt idx="11">
                  <c:v>Úřad průmyslového vlastnictví</c:v>
                </c:pt>
                <c:pt idx="12">
                  <c:v>Český báňský úřad</c:v>
                </c:pt>
                <c:pt idx="13">
                  <c:v>Ministerstvo školství, mládeže a tělovýchovy</c:v>
                </c:pt>
                <c:pt idx="14">
                  <c:v>Ministerstvo vnitra</c:v>
                </c:pt>
                <c:pt idx="15">
                  <c:v>Digitální a informační agentura</c:v>
                </c:pt>
                <c:pt idx="16">
                  <c:v>Ministerstvo obrany</c:v>
                </c:pt>
              </c:strCache>
            </c:strRef>
          </c:cat>
          <c:val>
            <c:numRef>
              <c:f>'přenesená působnost'!$G$2:$G$18</c:f>
              <c:numCache>
                <c:formatCode>0%</c:formatCode>
                <c:ptCount val="17"/>
                <c:pt idx="0">
                  <c:v>0</c:v>
                </c:pt>
                <c:pt idx="1">
                  <c:v>8.5526315789473686E-2</c:v>
                </c:pt>
                <c:pt idx="2">
                  <c:v>0.34444444444444444</c:v>
                </c:pt>
                <c:pt idx="3">
                  <c:v>0.39408866995073893</c:v>
                </c:pt>
                <c:pt idx="4">
                  <c:v>0.4375</c:v>
                </c:pt>
                <c:pt idx="5">
                  <c:v>0.45454545454545453</c:v>
                </c:pt>
                <c:pt idx="6">
                  <c:v>0.45512820512820512</c:v>
                </c:pt>
                <c:pt idx="7">
                  <c:v>0.54</c:v>
                </c:pt>
                <c:pt idx="8">
                  <c:v>0.5641025641025641</c:v>
                </c:pt>
                <c:pt idx="9">
                  <c:v>0.6166666666666667</c:v>
                </c:pt>
                <c:pt idx="10">
                  <c:v>0.6785714285714286</c:v>
                </c:pt>
                <c:pt idx="11">
                  <c:v>0.8</c:v>
                </c:pt>
                <c:pt idx="12">
                  <c:v>0.80555555555555558</c:v>
                </c:pt>
                <c:pt idx="13">
                  <c:v>0.81052631578947365</c:v>
                </c:pt>
                <c:pt idx="14">
                  <c:v>0.82105263157894737</c:v>
                </c:pt>
                <c:pt idx="15">
                  <c:v>0.83333333333333337</c:v>
                </c:pt>
                <c:pt idx="16">
                  <c:v>1</c:v>
                </c:pt>
              </c:numCache>
            </c:numRef>
          </c:val>
          <c:extLst>
            <c:ext xmlns:c16="http://schemas.microsoft.com/office/drawing/2014/chart" uri="{C3380CC4-5D6E-409C-BE32-E72D297353CC}">
              <c16:uniqueId val="{00000000-1A59-49A5-B67D-DF382D9B5C6C}"/>
            </c:ext>
          </c:extLst>
        </c:ser>
        <c:dLbls>
          <c:showLegendKey val="0"/>
          <c:showVal val="0"/>
          <c:showCatName val="0"/>
          <c:showSerName val="0"/>
          <c:showPercent val="0"/>
          <c:showBubbleSize val="0"/>
        </c:dLbls>
        <c:gapWidth val="182"/>
        <c:axId val="570859615"/>
        <c:axId val="570849535"/>
      </c:barChart>
      <c:catAx>
        <c:axId val="5708596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cs-CZ"/>
          </a:p>
        </c:txPr>
        <c:crossAx val="570849535"/>
        <c:crosses val="autoZero"/>
        <c:auto val="1"/>
        <c:lblAlgn val="ctr"/>
        <c:lblOffset val="100"/>
        <c:noMultiLvlLbl val="0"/>
      </c:catAx>
      <c:valAx>
        <c:axId val="570849535"/>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cs-CZ"/>
          </a:p>
        </c:txPr>
        <c:crossAx val="57085961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cs-CZ"/>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13.09.2023</a:t>
            </a:fld>
            <a:endParaRPr lang="cs-CZ" dirty="0"/>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1080012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13.09.2023</a:t>
            </a:fld>
            <a:endParaRPr lang="cs-CZ" dirty="0"/>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431534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13.09.2023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1230403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obsah 2"/>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p:cNvSpPr>
            <a:spLocks noGrp="1"/>
          </p:cNvSpPr>
          <p:nvPr>
            <p:ph type="dt" sz="half" idx="10"/>
          </p:nvPr>
        </p:nvSpPr>
        <p:spPr/>
        <p:txBody>
          <a:bodyPr/>
          <a:lstStyle/>
          <a:p>
            <a:fld id="{7516EB83-090E-473B-B959-92A4B5275361}" type="datetimeFigureOut">
              <a:rPr lang="cs-CZ" smtClean="0"/>
              <a:pPr/>
              <a:t>13.09.2023</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174645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p:cNvSpPr>
            <a:spLocks noGrp="1"/>
          </p:cNvSpPr>
          <p:nvPr>
            <p:ph type="dt" sz="half" idx="10"/>
          </p:nvPr>
        </p:nvSpPr>
        <p:spPr/>
        <p:txBody>
          <a:bodyPr/>
          <a:lstStyle/>
          <a:p>
            <a:fld id="{7516EB83-090E-473B-B959-92A4B5275361}" type="datetimeFigureOut">
              <a:rPr lang="cs-CZ" smtClean="0"/>
              <a:pPr/>
              <a:t>13.09.2023</a:t>
            </a:fld>
            <a:endParaRPr lang="cs-CZ" dirty="0"/>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48714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datum 2"/>
          <p:cNvSpPr>
            <a:spLocks noGrp="1"/>
          </p:cNvSpPr>
          <p:nvPr>
            <p:ph type="dt" sz="half" idx="10"/>
          </p:nvPr>
        </p:nvSpPr>
        <p:spPr/>
        <p:txBody>
          <a:bodyPr/>
          <a:lstStyle/>
          <a:p>
            <a:fld id="{7516EB83-090E-473B-B959-92A4B5275361}" type="datetimeFigureOut">
              <a:rPr lang="cs-CZ" smtClean="0"/>
              <a:pPr/>
              <a:t>13.09.2023</a:t>
            </a:fld>
            <a:endParaRPr lang="cs-CZ" dirty="0"/>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439813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7516EB83-090E-473B-B959-92A4B5275361}" type="datetimeFigureOut">
              <a:rPr lang="cs-CZ" smtClean="0"/>
              <a:pPr/>
              <a:t>13.09.2023</a:t>
            </a:fld>
            <a:endParaRPr lang="cs-CZ" dirty="0"/>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366850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7516EB83-090E-473B-B959-92A4B5275361}" type="datetimeFigureOut">
              <a:rPr lang="cs-CZ" smtClean="0"/>
              <a:pPr/>
              <a:t>13.09.2023</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283973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rázek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7516EB83-090E-473B-B959-92A4B5275361}" type="datetimeFigureOut">
              <a:rPr lang="cs-CZ" smtClean="0"/>
              <a:pPr/>
              <a:t>13.09.2023</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3780170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p>
        </p:txBody>
      </p:sp>
      <p:sp>
        <p:nvSpPr>
          <p:cNvPr id="3" name="Zástupný symbol pro svislý text 2"/>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13.09.2023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276904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7516EB83-090E-473B-B959-92A4B5275361}" type="datetimeFigureOut">
              <a:rPr lang="cs-CZ" smtClean="0"/>
              <a:pPr/>
              <a:t>13.09.2023</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9F03F0DB-9040-4F31-8D2D-42639AAB2BE5}" type="slidenum">
              <a:rPr lang="cs-CZ" smtClean="0"/>
              <a:pPr/>
              <a:t>‹#›</a:t>
            </a:fld>
            <a:endParaRPr lang="cs-CZ"/>
          </a:p>
        </p:txBody>
      </p:sp>
    </p:spTree>
    <p:extLst>
      <p:ext uri="{BB962C8B-B14F-4D97-AF65-F5344CB8AC3E}">
        <p14:creationId xmlns:p14="http://schemas.microsoft.com/office/powerpoint/2010/main" val="3844620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Úvodní snímek">
    <p:bg>
      <p:bgPr>
        <a:solidFill>
          <a:srgbClr val="0F0C3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19313" y="1436914"/>
            <a:ext cx="11538859" cy="1187677"/>
          </a:xfrm>
        </p:spPr>
        <p:txBody>
          <a:bodyPr anchor="b"/>
          <a:lstStyle>
            <a:lvl1pPr algn="ctr">
              <a:defRPr sz="6000"/>
            </a:lvl1pPr>
          </a:lstStyle>
          <a:p>
            <a:r>
              <a:rPr lang="cs-CZ"/>
              <a:t>Kliknutím lze upravit styl.</a:t>
            </a:r>
            <a:endParaRPr lang="en-US" dirty="0"/>
          </a:p>
        </p:txBody>
      </p:sp>
      <p:sp>
        <p:nvSpPr>
          <p:cNvPr id="3" name="Subtitle 2"/>
          <p:cNvSpPr>
            <a:spLocks noGrp="1"/>
          </p:cNvSpPr>
          <p:nvPr>
            <p:ph type="subTitle" idx="1"/>
          </p:nvPr>
        </p:nvSpPr>
        <p:spPr>
          <a:xfrm>
            <a:off x="319313" y="2905353"/>
            <a:ext cx="11538857" cy="984476"/>
          </a:xfrm>
        </p:spPr>
        <p:txBody>
          <a:bodyPr>
            <a:normAutofit/>
          </a:bodyPr>
          <a:lstStyle>
            <a:lvl1pPr marL="0" indent="0" algn="ctr">
              <a:buNone/>
              <a:defRPr sz="3733">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cs-CZ"/>
              <a:t>Kliknutím můžete upravit styl předlohy.</a:t>
            </a:r>
            <a:endParaRPr lang="en-US" dirty="0"/>
          </a:p>
        </p:txBody>
      </p:sp>
      <p:pic>
        <p:nvPicPr>
          <p:cNvPr id="7" name="Obrázek 6" descr="Obsah obrázku text, klipart&#10;&#10;Popis byl vytvořen automaticky">
            <a:extLst>
              <a:ext uri="{FF2B5EF4-FFF2-40B4-BE49-F238E27FC236}">
                <a16:creationId xmlns:a16="http://schemas.microsoft.com/office/drawing/2014/main" id="{07AD53ED-8B09-185D-5531-74556BACF916}"/>
              </a:ext>
            </a:extLst>
          </p:cNvPr>
          <p:cNvPicPr>
            <a:picLocks noChangeAspect="1"/>
          </p:cNvPicPr>
          <p:nvPr userDrawn="1"/>
        </p:nvPicPr>
        <p:blipFill>
          <a:blip r:embed="rId2"/>
          <a:stretch>
            <a:fillRect/>
          </a:stretch>
        </p:blipFill>
        <p:spPr>
          <a:xfrm>
            <a:off x="418077" y="6068175"/>
            <a:ext cx="3276123" cy="476420"/>
          </a:xfrm>
          <a:prstGeom prst="rect">
            <a:avLst/>
          </a:prstGeom>
        </p:spPr>
      </p:pic>
      <p:sp>
        <p:nvSpPr>
          <p:cNvPr id="8" name="TextovéPole 7">
            <a:extLst>
              <a:ext uri="{FF2B5EF4-FFF2-40B4-BE49-F238E27FC236}">
                <a16:creationId xmlns:a16="http://schemas.microsoft.com/office/drawing/2014/main" id="{CD05BF81-C81A-DB39-46DD-EA4412A743EF}"/>
              </a:ext>
            </a:extLst>
          </p:cNvPr>
          <p:cNvSpPr txBox="1"/>
          <p:nvPr userDrawn="1"/>
        </p:nvSpPr>
        <p:spPr>
          <a:xfrm>
            <a:off x="4397829" y="5471886"/>
            <a:ext cx="184731" cy="461665"/>
          </a:xfrm>
          <a:prstGeom prst="rect">
            <a:avLst/>
          </a:prstGeom>
          <a:noFill/>
        </p:spPr>
        <p:txBody>
          <a:bodyPr wrap="none" rtlCol="0">
            <a:spAutoFit/>
          </a:bodyPr>
          <a:lstStyle/>
          <a:p>
            <a:endParaRPr lang="cs-CZ" sz="2400" dirty="0"/>
          </a:p>
        </p:txBody>
      </p:sp>
      <p:pic>
        <p:nvPicPr>
          <p:cNvPr id="9" name="Picture 35">
            <a:extLst>
              <a:ext uri="{FF2B5EF4-FFF2-40B4-BE49-F238E27FC236}">
                <a16:creationId xmlns:a16="http://schemas.microsoft.com/office/drawing/2014/main" id="{130D5094-CD5C-B5F4-A1F8-AAD0168DEB0F}"/>
              </a:ext>
            </a:extLst>
          </p:cNvPr>
          <p:cNvPicPr>
            <a:picLocks noChangeAspect="1"/>
          </p:cNvPicPr>
          <p:nvPr userDrawn="1"/>
        </p:nvPicPr>
        <p:blipFill>
          <a:blip r:embed="rId3"/>
          <a:stretch>
            <a:fillRect/>
          </a:stretch>
        </p:blipFill>
        <p:spPr>
          <a:xfrm>
            <a:off x="4465984" y="6134275"/>
            <a:ext cx="7314369" cy="189123"/>
          </a:xfrm>
          <a:prstGeom prst="rect">
            <a:avLst/>
          </a:prstGeom>
        </p:spPr>
      </p:pic>
    </p:spTree>
    <p:extLst>
      <p:ext uri="{BB962C8B-B14F-4D97-AF65-F5344CB8AC3E}">
        <p14:creationId xmlns:p14="http://schemas.microsoft.com/office/powerpoint/2010/main" val="2503684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idx="1"/>
          </p:nvPr>
        </p:nvSpPr>
        <p:spPr>
          <a:xfrm>
            <a:off x="480001" y="1241991"/>
            <a:ext cx="11291423" cy="4934973"/>
          </a:xfrm>
        </p:spPr>
        <p:txBody>
          <a:bodyPr>
            <a:normAutofit/>
          </a:bodyPr>
          <a:lstStyle>
            <a:lvl1pPr>
              <a:lnSpc>
                <a:spcPct val="100000"/>
              </a:lnSpc>
              <a:defRPr sz="2667"/>
            </a:lvl1pPr>
            <a:lvl2pPr marL="1069773" indent="-516587">
              <a:lnSpc>
                <a:spcPct val="100000"/>
              </a:lnSpc>
              <a:defRPr sz="2400"/>
            </a:lvl2pPr>
            <a:lvl3pPr marL="1286968">
              <a:lnSpc>
                <a:spcPct val="100000"/>
              </a:lnSpc>
              <a:defRPr sz="1867"/>
            </a:lvl3pPr>
            <a:lvl4pPr>
              <a:lnSpc>
                <a:spcPct val="100000"/>
              </a:lnSpc>
              <a:defRPr sz="1600"/>
            </a:lvl4pPr>
            <a:lvl5pPr>
              <a:lnSpc>
                <a:spcPct val="100000"/>
              </a:lnSpc>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endParaRPr lang="en-US" dirty="0"/>
          </a:p>
        </p:txBody>
      </p:sp>
      <p:sp>
        <p:nvSpPr>
          <p:cNvPr id="7" name="Slide Number Placeholder 5">
            <a:extLst>
              <a:ext uri="{FF2B5EF4-FFF2-40B4-BE49-F238E27FC236}">
                <a16:creationId xmlns:a16="http://schemas.microsoft.com/office/drawing/2014/main" id="{B23110DA-7AEF-F46B-358C-43F9F434530A}"/>
              </a:ext>
            </a:extLst>
          </p:cNvPr>
          <p:cNvSpPr>
            <a:spLocks noGrp="1"/>
          </p:cNvSpPr>
          <p:nvPr>
            <p:ph type="sldNum" sz="quarter" idx="4"/>
          </p:nvPr>
        </p:nvSpPr>
        <p:spPr>
          <a:xfrm>
            <a:off x="484977" y="6323462"/>
            <a:ext cx="2743200" cy="365125"/>
          </a:xfrm>
          <a:prstGeom prst="rect">
            <a:avLst/>
          </a:prstGeom>
        </p:spPr>
        <p:txBody>
          <a:bodyPr/>
          <a:lstStyle/>
          <a:p>
            <a:fld id="{F4CE4E4D-3AEB-9B49-9CA5-3ECE7B661051}" type="slidenum">
              <a:rPr lang="cs-CZ" smtClean="0"/>
              <a:t>‹#›</a:t>
            </a:fld>
            <a:endParaRPr lang="cs-CZ"/>
          </a:p>
        </p:txBody>
      </p:sp>
      <p:pic>
        <p:nvPicPr>
          <p:cNvPr id="8" name="Picture 35">
            <a:extLst>
              <a:ext uri="{FF2B5EF4-FFF2-40B4-BE49-F238E27FC236}">
                <a16:creationId xmlns:a16="http://schemas.microsoft.com/office/drawing/2014/main" id="{68E3CCD5-6BD5-D5D1-674C-7F25B85528D5}"/>
              </a:ext>
            </a:extLst>
          </p:cNvPr>
          <p:cNvPicPr>
            <a:picLocks noChangeAspect="1"/>
          </p:cNvPicPr>
          <p:nvPr userDrawn="1"/>
        </p:nvPicPr>
        <p:blipFill>
          <a:blip r:embed="rId2"/>
          <a:stretch>
            <a:fillRect/>
          </a:stretch>
        </p:blipFill>
        <p:spPr>
          <a:xfrm>
            <a:off x="4392654" y="6412413"/>
            <a:ext cx="7314369" cy="189123"/>
          </a:xfrm>
          <a:prstGeom prst="rect">
            <a:avLst/>
          </a:prstGeom>
        </p:spPr>
      </p:pic>
    </p:spTree>
    <p:extLst>
      <p:ext uri="{BB962C8B-B14F-4D97-AF65-F5344CB8AC3E}">
        <p14:creationId xmlns:p14="http://schemas.microsoft.com/office/powerpoint/2010/main" val="3456825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7" name="Slide Number Placeholder 5">
            <a:extLst>
              <a:ext uri="{FF2B5EF4-FFF2-40B4-BE49-F238E27FC236}">
                <a16:creationId xmlns:a16="http://schemas.microsoft.com/office/drawing/2014/main" id="{B23110DA-7AEF-F46B-358C-43F9F434530A}"/>
              </a:ext>
            </a:extLst>
          </p:cNvPr>
          <p:cNvSpPr>
            <a:spLocks noGrp="1"/>
          </p:cNvSpPr>
          <p:nvPr>
            <p:ph type="sldNum" sz="quarter" idx="4"/>
          </p:nvPr>
        </p:nvSpPr>
        <p:spPr>
          <a:xfrm>
            <a:off x="484977" y="6323462"/>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3518157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Záhlaví oddílu">
    <p:bg>
      <p:bgPr>
        <a:solidFill>
          <a:srgbClr val="0F0C3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5867"/>
            </a:lvl1pPr>
          </a:lstStyle>
          <a:p>
            <a:r>
              <a:rPr lang="cs-CZ" dirty="0"/>
              <a:t>Kliknutím lze upravit styl.</a:t>
            </a:r>
            <a:endParaRPr lang="en-US" dirty="0"/>
          </a:p>
        </p:txBody>
      </p:sp>
      <p:sp>
        <p:nvSpPr>
          <p:cNvPr id="3" name="Text Placeholder 2"/>
          <p:cNvSpPr>
            <a:spLocks noGrp="1"/>
          </p:cNvSpPr>
          <p:nvPr>
            <p:ph type="body" idx="1"/>
          </p:nvPr>
        </p:nvSpPr>
        <p:spPr>
          <a:xfrm>
            <a:off x="831849" y="4589464"/>
            <a:ext cx="10515600" cy="1500187"/>
          </a:xfrm>
        </p:spPr>
        <p:txBody>
          <a:bodyPr/>
          <a:lstStyle>
            <a:lvl1pPr marL="0" indent="0">
              <a:buNone/>
              <a:defRPr sz="2400">
                <a:solidFill>
                  <a:schemeClr val="bg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cs-CZ"/>
              <a:t>Po kliknutí můžete upravovat styly textu v předloze.</a:t>
            </a:r>
          </a:p>
        </p:txBody>
      </p:sp>
    </p:spTree>
    <p:extLst>
      <p:ext uri="{BB962C8B-B14F-4D97-AF65-F5344CB8AC3E}">
        <p14:creationId xmlns:p14="http://schemas.microsoft.com/office/powerpoint/2010/main" val="659814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Úvodní snímek">
    <p:bg>
      <p:bgPr>
        <a:solidFill>
          <a:srgbClr val="0F0C3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36343" y="2032000"/>
            <a:ext cx="5921829" cy="1187677"/>
          </a:xfrm>
        </p:spPr>
        <p:txBody>
          <a:bodyPr anchor="b"/>
          <a:lstStyle>
            <a:lvl1pPr algn="ctr">
              <a:defRPr sz="5333"/>
            </a:lvl1pPr>
          </a:lstStyle>
          <a:p>
            <a:r>
              <a:rPr lang="cs-CZ" dirty="0"/>
              <a:t>Jméno</a:t>
            </a:r>
            <a:endParaRPr lang="en-US" dirty="0"/>
          </a:p>
        </p:txBody>
      </p:sp>
      <p:sp>
        <p:nvSpPr>
          <p:cNvPr id="3" name="Subtitle 2"/>
          <p:cNvSpPr>
            <a:spLocks noGrp="1"/>
          </p:cNvSpPr>
          <p:nvPr>
            <p:ph type="subTitle" idx="1" hasCustomPrompt="1"/>
          </p:nvPr>
        </p:nvSpPr>
        <p:spPr>
          <a:xfrm>
            <a:off x="5936340" y="3500439"/>
            <a:ext cx="5921829" cy="984476"/>
          </a:xfrm>
        </p:spPr>
        <p:txBody>
          <a:bodyPr>
            <a:noAutofit/>
          </a:bodyPr>
          <a:lstStyle>
            <a:lvl1pPr marL="0" indent="0" algn="ctr">
              <a:buNone/>
              <a:defRPr sz="26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cs-CZ" dirty="0"/>
              <a:t>Kontakt</a:t>
            </a:r>
            <a:endParaRPr lang="en-US" dirty="0"/>
          </a:p>
        </p:txBody>
      </p:sp>
      <p:pic>
        <p:nvPicPr>
          <p:cNvPr id="7" name="Obrázek 6" descr="Obsah obrázku text, klipart&#10;&#10;Popis byl vytvořen automaticky">
            <a:extLst>
              <a:ext uri="{FF2B5EF4-FFF2-40B4-BE49-F238E27FC236}">
                <a16:creationId xmlns:a16="http://schemas.microsoft.com/office/drawing/2014/main" id="{07AD53ED-8B09-185D-5531-74556BACF916}"/>
              </a:ext>
            </a:extLst>
          </p:cNvPr>
          <p:cNvPicPr>
            <a:picLocks noChangeAspect="1"/>
          </p:cNvPicPr>
          <p:nvPr userDrawn="1"/>
        </p:nvPicPr>
        <p:blipFill>
          <a:blip r:embed="rId2"/>
          <a:stretch>
            <a:fillRect/>
          </a:stretch>
        </p:blipFill>
        <p:spPr>
          <a:xfrm>
            <a:off x="418077" y="6068175"/>
            <a:ext cx="3276123" cy="476420"/>
          </a:xfrm>
          <a:prstGeom prst="rect">
            <a:avLst/>
          </a:prstGeom>
        </p:spPr>
      </p:pic>
    </p:spTree>
    <p:extLst>
      <p:ext uri="{BB962C8B-B14F-4D97-AF65-F5344CB8AC3E}">
        <p14:creationId xmlns:p14="http://schemas.microsoft.com/office/powerpoint/2010/main" val="3634854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sz="half" idx="1"/>
          </p:nvPr>
        </p:nvSpPr>
        <p:spPr>
          <a:xfrm>
            <a:off x="838200" y="1825624"/>
            <a:ext cx="5181600" cy="435133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Content Placeholder 3"/>
          <p:cNvSpPr>
            <a:spLocks noGrp="1"/>
          </p:cNvSpPr>
          <p:nvPr>
            <p:ph sz="half" idx="2"/>
          </p:nvPr>
        </p:nvSpPr>
        <p:spPr>
          <a:xfrm>
            <a:off x="6172200" y="1825624"/>
            <a:ext cx="5181600" cy="435133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cs-CZ"/>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dirty="0"/>
          </a:p>
        </p:txBody>
      </p:sp>
    </p:spTree>
    <p:extLst>
      <p:ext uri="{BB962C8B-B14F-4D97-AF65-F5344CB8AC3E}">
        <p14:creationId xmlns:p14="http://schemas.microsoft.com/office/powerpoint/2010/main" val="1725429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Title 1"/>
          <p:cNvSpPr>
            <a:spLocks noGrp="1"/>
          </p:cNvSpPr>
          <p:nvPr>
            <p:ph type="title"/>
          </p:nvPr>
        </p:nvSpPr>
        <p:spPr>
          <a:xfrm>
            <a:off x="839788" y="136525"/>
            <a:ext cx="10515600" cy="593727"/>
          </a:xfrm>
        </p:spPr>
        <p:txBody>
          <a:bodyPr/>
          <a:lstStyle/>
          <a:p>
            <a:r>
              <a:rPr lang="cs-CZ"/>
              <a:t>Kliknutím lze upravit styl.</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cs-CZ"/>
              <a:t>Po kliknutí můžete upravovat styly textu v předloze.</a:t>
            </a:r>
          </a:p>
        </p:txBody>
      </p:sp>
      <p:sp>
        <p:nvSpPr>
          <p:cNvPr id="4" name="Content Placeholder 3"/>
          <p:cNvSpPr>
            <a:spLocks noGrp="1"/>
          </p:cNvSpPr>
          <p:nvPr>
            <p:ph sz="half" idx="2"/>
          </p:nvPr>
        </p:nvSpPr>
        <p:spPr>
          <a:xfrm>
            <a:off x="839789"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cs-CZ"/>
              <a:t>Po kliknutí můžete upravovat styly textu v předloze.</a:t>
            </a:r>
          </a:p>
        </p:txBody>
      </p:sp>
      <p:sp>
        <p:nvSpPr>
          <p:cNvPr id="6" name="Content Placeholder 5"/>
          <p:cNvSpPr>
            <a:spLocks noGrp="1"/>
          </p:cNvSpPr>
          <p:nvPr>
            <p:ph sz="quarter" idx="4"/>
          </p:nvPr>
        </p:nvSpPr>
        <p:spPr>
          <a:xfrm>
            <a:off x="6172201"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7" name="Date Placeholder 6"/>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endParaRPr lang="cs-CZ"/>
          </a:p>
        </p:txBody>
      </p:sp>
      <p:sp>
        <p:nvSpPr>
          <p:cNvPr id="9" name="Slide Number Placeholder 8"/>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5126139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endParaRPr lang="cs-CZ"/>
          </a:p>
        </p:txBody>
      </p:sp>
      <p:sp>
        <p:nvSpPr>
          <p:cNvPr id="5" name="Slide Number Placeholder 4"/>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37492895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3" name="Footer Placeholder 2"/>
          <p:cNvSpPr>
            <a:spLocks noGrp="1"/>
          </p:cNvSpPr>
          <p:nvPr>
            <p:ph type="ftr" sz="quarter" idx="11"/>
          </p:nvPr>
        </p:nvSpPr>
        <p:spPr>
          <a:xfrm>
            <a:off x="4038600" y="6356351"/>
            <a:ext cx="4114800" cy="365125"/>
          </a:xfrm>
          <a:prstGeom prst="rect">
            <a:avLst/>
          </a:prstGeom>
        </p:spPr>
        <p:txBody>
          <a:bodyPr/>
          <a:lstStyle/>
          <a:p>
            <a:endParaRPr lang="cs-CZ"/>
          </a:p>
        </p:txBody>
      </p:sp>
      <p:sp>
        <p:nvSpPr>
          <p:cNvPr id="4" name="Slide Number Placeholder 3"/>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25389231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cs-CZ"/>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3607491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cs-CZ"/>
              <a:t>Kliknutím na ikonu přidáte obrázek.</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endParaRPr lang="cs-CZ"/>
          </a:p>
        </p:txBody>
      </p:sp>
      <p:sp>
        <p:nvSpPr>
          <p:cNvPr id="7" name="Slide Number Placeholder 6"/>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9008107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Vertical Text Placeholder 2"/>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cs-CZ"/>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23530927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9"/>
          </a:xfrm>
        </p:spPr>
        <p:txBody>
          <a:bodyPr vert="eaVert"/>
          <a:lstStyle/>
          <a:p>
            <a:r>
              <a:rPr lang="cs-CZ"/>
              <a:t>Kliknutím lze upravit styl.</a:t>
            </a:r>
            <a:endParaRPr lang="en-US" dirty="0"/>
          </a:p>
        </p:txBody>
      </p:sp>
      <p:sp>
        <p:nvSpPr>
          <p:cNvPr id="3" name="Vertical Text Placeholder 2"/>
          <p:cNvSpPr>
            <a:spLocks noGrp="1"/>
          </p:cNvSpPr>
          <p:nvPr>
            <p:ph type="body" orient="vert" idx="1"/>
          </p:nvPr>
        </p:nvSpPr>
        <p:spPr>
          <a:xfrm>
            <a:off x="838201" y="365125"/>
            <a:ext cx="7734300" cy="5811839"/>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a:xfrm>
            <a:off x="838200" y="6356351"/>
            <a:ext cx="2743200" cy="365125"/>
          </a:xfrm>
          <a:prstGeom prst="rect">
            <a:avLst/>
          </a:prstGeom>
        </p:spPr>
        <p:txBody>
          <a:bodyPr/>
          <a:lstStyle/>
          <a:p>
            <a:fld id="{A3421D86-39BB-F04A-AB03-5A94BE0E995D}" type="datetimeFigureOut">
              <a:rPr lang="cs-CZ" smtClean="0"/>
              <a:t>13.09.2023</a:t>
            </a:fld>
            <a:endParaRPr lang="cs-CZ"/>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cs-CZ"/>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85010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chemeClr val="tx2"/>
        </a:solidFill>
        <a:effectLst/>
      </p:bgPr>
    </p:bg>
    <p:spTree>
      <p:nvGrpSpPr>
        <p:cNvPr id="1" name="Shape 16"/>
        <p:cNvGrpSpPr/>
        <p:nvPr/>
      </p:nvGrpSpPr>
      <p:grpSpPr>
        <a:xfrm>
          <a:off x="0" y="0"/>
          <a:ext cx="0" cy="0"/>
          <a:chOff x="0" y="0"/>
          <a:chExt cx="0" cy="0"/>
        </a:xfrm>
      </p:grpSpPr>
      <p:sp>
        <p:nvSpPr>
          <p:cNvPr id="18" name="Google Shape;18;p4"/>
          <p:cNvSpPr txBox="1">
            <a:spLocks noGrp="1"/>
          </p:cNvSpPr>
          <p:nvPr>
            <p:ph type="body" idx="1" hasCustomPrompt="1"/>
          </p:nvPr>
        </p:nvSpPr>
        <p:spPr>
          <a:xfrm>
            <a:off x="415600" y="1536633"/>
            <a:ext cx="11360800" cy="4555200"/>
          </a:xfrm>
          <a:prstGeom prst="rect">
            <a:avLst/>
          </a:prstGeom>
        </p:spPr>
        <p:txBody>
          <a:bodyPr spcFirstLastPara="1" wrap="square" lIns="91425" tIns="91425" rIns="91425" bIns="91425" anchor="t" anchorCtr="0">
            <a:normAutofit/>
          </a:bodyPr>
          <a:lstStyle>
            <a:lvl1pPr marL="533387" lvl="0" indent="-380990">
              <a:spcBef>
                <a:spcPts val="0"/>
              </a:spcBef>
              <a:spcAft>
                <a:spcPts val="0"/>
              </a:spcAft>
              <a:buSzPts val="1800"/>
              <a:buFontTx/>
              <a:buBlip>
                <a:blip r:embed="rId2"/>
              </a:buBlip>
              <a:defRPr/>
            </a:lvl1pPr>
            <a:lvl2pPr marL="1219170" lvl="1" indent="-423323">
              <a:spcBef>
                <a:spcPts val="0"/>
              </a:spcBef>
              <a:spcAft>
                <a:spcPts val="0"/>
              </a:spcAft>
              <a:buSzPts val="1400"/>
              <a:buChar char="○"/>
              <a:defRPr/>
            </a:lvl2pPr>
            <a:lvl3pPr marL="1405432" lvl="2" indent="0">
              <a:spcBef>
                <a:spcPts val="0"/>
              </a:spcBef>
              <a:spcAft>
                <a:spcPts val="0"/>
              </a:spcAft>
              <a:buSzPts val="1400"/>
              <a:buNone/>
              <a:defRPr/>
            </a:lvl3pPr>
            <a:lvl4pPr marL="2015016" lvl="3" indent="0">
              <a:spcBef>
                <a:spcPts val="0"/>
              </a:spcBef>
              <a:spcAft>
                <a:spcPts val="0"/>
              </a:spcAft>
              <a:buSzPts val="1400"/>
              <a:buNone/>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r>
              <a:rPr lang="cs-CZ" dirty="0"/>
              <a:t>Text prezentace</a:t>
            </a:r>
          </a:p>
          <a:p>
            <a:endParaRPr lang="cs-CZ" dirty="0"/>
          </a:p>
          <a:p>
            <a:endParaRPr lang="cs-CZ" dirty="0"/>
          </a:p>
          <a:p>
            <a:pPr lvl="1"/>
            <a:endParaRPr lang="cs-CZ" dirty="0"/>
          </a:p>
          <a:p>
            <a:pPr lvl="2"/>
            <a:r>
              <a:rPr lang="cs-CZ" dirty="0"/>
              <a:t>	</a:t>
            </a:r>
          </a:p>
        </p:txBody>
      </p:sp>
      <p:sp>
        <p:nvSpPr>
          <p:cNvPr id="2" name="Google Shape;63;p14">
            <a:extLst>
              <a:ext uri="{FF2B5EF4-FFF2-40B4-BE49-F238E27FC236}">
                <a16:creationId xmlns:a16="http://schemas.microsoft.com/office/drawing/2014/main" id="{BED3DDDC-A531-285D-40E3-BF93D19F5D52}"/>
              </a:ext>
            </a:extLst>
          </p:cNvPr>
          <p:cNvSpPr/>
          <p:nvPr/>
        </p:nvSpPr>
        <p:spPr>
          <a:xfrm rot="10800000" flipH="1">
            <a:off x="0" y="2041"/>
            <a:ext cx="12192000" cy="1092800"/>
          </a:xfrm>
          <a:prstGeom prst="rect">
            <a:avLst/>
          </a:prstGeom>
          <a:solidFill>
            <a:srgbClr val="00122A"/>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 name="Google Shape;64;p14">
            <a:extLst>
              <a:ext uri="{FF2B5EF4-FFF2-40B4-BE49-F238E27FC236}">
                <a16:creationId xmlns:a16="http://schemas.microsoft.com/office/drawing/2014/main" id="{B1BCE614-9853-B0BF-37A0-08754D2FB331}"/>
              </a:ext>
            </a:extLst>
          </p:cNvPr>
          <p:cNvSpPr txBox="1">
            <a:spLocks noGrp="1"/>
          </p:cNvSpPr>
          <p:nvPr>
            <p:ph type="ctrTitle"/>
          </p:nvPr>
        </p:nvSpPr>
        <p:spPr>
          <a:xfrm>
            <a:off x="297140" y="309620"/>
            <a:ext cx="8746800" cy="536800"/>
          </a:xfrm>
          <a:prstGeom prst="rect">
            <a:avLst/>
          </a:prstGeom>
        </p:spPr>
        <p:txBody>
          <a:bodyPr spcFirstLastPara="1" wrap="square" lIns="91425" tIns="91425" rIns="91425" bIns="91425" anchor="ctr" anchorCtr="0">
            <a:noAutofit/>
          </a:bodyPr>
          <a:lstStyle>
            <a:lvl1pPr>
              <a:defRPr sz="2400">
                <a:noFill/>
              </a:defRPr>
            </a:lvl1pPr>
          </a:lstStyle>
          <a:p>
            <a:pPr marL="0" lvl="0" indent="0" algn="l" rtl="0">
              <a:spcBef>
                <a:spcPts val="0"/>
              </a:spcBef>
              <a:spcAft>
                <a:spcPts val="0"/>
              </a:spcAft>
              <a:buNone/>
            </a:pPr>
            <a:r>
              <a:rPr lang="cs-CZ" sz="3200" b="1" dirty="0">
                <a:solidFill>
                  <a:schemeClr val="lt1"/>
                </a:solidFill>
                <a:latin typeface="Roboto"/>
                <a:ea typeface="Roboto"/>
                <a:cs typeface="Roboto"/>
                <a:sym typeface="Roboto"/>
              </a:rPr>
              <a:t>Kliknutím lze upravit styl.</a:t>
            </a:r>
            <a:endParaRPr sz="3200" b="1" dirty="0">
              <a:solidFill>
                <a:schemeClr val="lt1"/>
              </a:solidFill>
              <a:latin typeface="Roboto"/>
              <a:ea typeface="Roboto"/>
              <a:cs typeface="Roboto"/>
              <a:sym typeface="Roboto"/>
            </a:endParaRPr>
          </a:p>
        </p:txBody>
      </p:sp>
      <p:sp>
        <p:nvSpPr>
          <p:cNvPr id="4" name="Rectangle 2">
            <a:extLst>
              <a:ext uri="{FF2B5EF4-FFF2-40B4-BE49-F238E27FC236}">
                <a16:creationId xmlns:a16="http://schemas.microsoft.com/office/drawing/2014/main" id="{AF531F78-4134-4310-03B5-95CF287B1EDC}"/>
              </a:ext>
            </a:extLst>
          </p:cNvPr>
          <p:cNvSpPr/>
          <p:nvPr/>
        </p:nvSpPr>
        <p:spPr>
          <a:xfrm>
            <a:off x="1" y="6737902"/>
            <a:ext cx="12196141" cy="1242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5" name="Picture 35">
            <a:extLst>
              <a:ext uri="{FF2B5EF4-FFF2-40B4-BE49-F238E27FC236}">
                <a16:creationId xmlns:a16="http://schemas.microsoft.com/office/drawing/2014/main" id="{2D8ED2D2-3035-8E22-6FE3-4363429248AD}"/>
              </a:ext>
            </a:extLst>
          </p:cNvPr>
          <p:cNvPicPr>
            <a:picLocks noChangeAspect="1"/>
          </p:cNvPicPr>
          <p:nvPr userDrawn="1"/>
        </p:nvPicPr>
        <p:blipFill>
          <a:blip r:embed="rId3"/>
          <a:stretch>
            <a:fillRect/>
          </a:stretch>
        </p:blipFill>
        <p:spPr>
          <a:xfrm>
            <a:off x="4462032" y="6320305"/>
            <a:ext cx="7314369" cy="189123"/>
          </a:xfrm>
          <a:prstGeom prst="rect">
            <a:avLst/>
          </a:prstGeom>
        </p:spPr>
      </p:pic>
    </p:spTree>
    <p:extLst>
      <p:ext uri="{BB962C8B-B14F-4D97-AF65-F5344CB8AC3E}">
        <p14:creationId xmlns:p14="http://schemas.microsoft.com/office/powerpoint/2010/main" val="2707470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pic>
        <p:nvPicPr>
          <p:cNvPr id="2" name="Obrázek 7" descr="Obsah obrázku text, klipart&#10;&#10;Popis byl vytvořen automaticky">
            <a:extLst>
              <a:ext uri="{FF2B5EF4-FFF2-40B4-BE49-F238E27FC236}">
                <a16:creationId xmlns:a16="http://schemas.microsoft.com/office/drawing/2014/main" id="{9CC9F3C0-237F-387B-235E-1D4102740C9C}"/>
              </a:ext>
            </a:extLst>
          </p:cNvPr>
          <p:cNvPicPr>
            <a:picLocks noChangeAspect="1"/>
          </p:cNvPicPr>
          <p:nvPr/>
        </p:nvPicPr>
        <p:blipFill>
          <a:blip r:embed="rId2"/>
          <a:stretch>
            <a:fillRect/>
          </a:stretch>
        </p:blipFill>
        <p:spPr>
          <a:xfrm>
            <a:off x="418077" y="5879490"/>
            <a:ext cx="3276123" cy="476420"/>
          </a:xfrm>
          <a:prstGeom prst="rect">
            <a:avLst/>
          </a:prstGeom>
        </p:spPr>
      </p:pic>
      <p:pic>
        <p:nvPicPr>
          <p:cNvPr id="3" name="Picture 35">
            <a:extLst>
              <a:ext uri="{FF2B5EF4-FFF2-40B4-BE49-F238E27FC236}">
                <a16:creationId xmlns:a16="http://schemas.microsoft.com/office/drawing/2014/main" id="{B2B7AE1D-1DC8-9C5D-F6AA-CBC1E65AF751}"/>
              </a:ext>
            </a:extLst>
          </p:cNvPr>
          <p:cNvPicPr>
            <a:picLocks noChangeAspect="1"/>
          </p:cNvPicPr>
          <p:nvPr/>
        </p:nvPicPr>
        <p:blipFill>
          <a:blip r:embed="rId3"/>
          <a:stretch>
            <a:fillRect/>
          </a:stretch>
        </p:blipFill>
        <p:spPr>
          <a:xfrm>
            <a:off x="4465984" y="5902047"/>
            <a:ext cx="7314369" cy="189123"/>
          </a:xfrm>
          <a:prstGeom prst="rect">
            <a:avLst/>
          </a:prstGeom>
        </p:spPr>
      </p:pic>
      <p:sp>
        <p:nvSpPr>
          <p:cNvPr id="4" name="Google Shape;54;p13">
            <a:extLst>
              <a:ext uri="{FF2B5EF4-FFF2-40B4-BE49-F238E27FC236}">
                <a16:creationId xmlns:a16="http://schemas.microsoft.com/office/drawing/2014/main" id="{3B4E0843-CB06-733D-8156-FB2919820227}"/>
              </a:ext>
            </a:extLst>
          </p:cNvPr>
          <p:cNvSpPr txBox="1">
            <a:spLocks noGrp="1"/>
          </p:cNvSpPr>
          <p:nvPr>
            <p:ph type="ctrTitle" hasCustomPrompt="1"/>
          </p:nvPr>
        </p:nvSpPr>
        <p:spPr>
          <a:xfrm>
            <a:off x="6314831" y="2497511"/>
            <a:ext cx="5289631" cy="1092800"/>
          </a:xfrm>
          <a:prstGeom prst="rect">
            <a:avLst/>
          </a:prstGeom>
        </p:spPr>
        <p:txBody>
          <a:bodyPr spcFirstLastPara="1" wrap="square" lIns="91425" tIns="91425" rIns="91425" bIns="91425" anchor="b" anchorCtr="0">
            <a:noAutofit/>
          </a:bodyPr>
          <a:lstStyle>
            <a:lvl1pPr>
              <a:defRPr sz="4400" baseline="0"/>
            </a:lvl1pPr>
          </a:lstStyle>
          <a:p>
            <a:pPr marL="0" lvl="0" indent="0" algn="ctr" rtl="0">
              <a:spcBef>
                <a:spcPts val="0"/>
              </a:spcBef>
              <a:spcAft>
                <a:spcPts val="0"/>
              </a:spcAft>
              <a:buNone/>
            </a:pPr>
            <a:r>
              <a:rPr lang="cs-CZ" sz="4400" b="1" baseline="0" dirty="0">
                <a:solidFill>
                  <a:schemeClr val="lt1"/>
                </a:solidFill>
                <a:latin typeface="Roboto"/>
                <a:ea typeface="Roboto"/>
                <a:cs typeface="Roboto"/>
                <a:sym typeface="Roboto"/>
              </a:rPr>
              <a:t>Jméno</a:t>
            </a:r>
            <a:endParaRPr sz="5867" b="1" dirty="0">
              <a:solidFill>
                <a:schemeClr val="lt1"/>
              </a:solidFill>
              <a:latin typeface="Roboto"/>
              <a:ea typeface="Roboto"/>
              <a:cs typeface="Roboto"/>
              <a:sym typeface="Roboto"/>
            </a:endParaRPr>
          </a:p>
        </p:txBody>
      </p:sp>
      <p:sp>
        <p:nvSpPr>
          <p:cNvPr id="5" name="Google Shape;55;p13">
            <a:extLst>
              <a:ext uri="{FF2B5EF4-FFF2-40B4-BE49-F238E27FC236}">
                <a16:creationId xmlns:a16="http://schemas.microsoft.com/office/drawing/2014/main" id="{64C759A3-0EDC-93CA-7FCE-8FD288CF1B11}"/>
              </a:ext>
            </a:extLst>
          </p:cNvPr>
          <p:cNvSpPr txBox="1">
            <a:spLocks noGrp="1"/>
          </p:cNvSpPr>
          <p:nvPr>
            <p:ph type="subTitle" idx="1" hasCustomPrompt="1"/>
          </p:nvPr>
        </p:nvSpPr>
        <p:spPr>
          <a:xfrm>
            <a:off x="6314830" y="3819677"/>
            <a:ext cx="5289631" cy="806419"/>
          </a:xfrm>
          <a:prstGeom prst="rect">
            <a:avLst/>
          </a:prstGeom>
        </p:spPr>
        <p:txBody>
          <a:bodyPr spcFirstLastPara="1" wrap="square" lIns="91425" tIns="91425" rIns="91425" bIns="91425" anchor="t" anchorCtr="0">
            <a:normAutofit lnSpcReduction="10000"/>
          </a:bodyPr>
          <a:lstStyle>
            <a:lvl1pPr>
              <a:defRPr/>
            </a:lvl1pPr>
          </a:lstStyle>
          <a:p>
            <a:pPr marL="0" lvl="0" indent="0" algn="ctr" rtl="0">
              <a:spcBef>
                <a:spcPts val="0"/>
              </a:spcBef>
              <a:spcAft>
                <a:spcPts val="0"/>
              </a:spcAft>
              <a:buNone/>
            </a:pPr>
            <a:r>
              <a:rPr lang="cs" dirty="0">
                <a:solidFill>
                  <a:schemeClr val="lt1"/>
                </a:solidFill>
                <a:latin typeface="Roboto"/>
                <a:ea typeface="Roboto"/>
                <a:cs typeface="Roboto"/>
                <a:sym typeface="Roboto"/>
              </a:rPr>
              <a:t>Kontakt</a:t>
            </a:r>
            <a:endParaRPr dirty="0">
              <a:solidFill>
                <a:schemeClr val="lt1"/>
              </a:solidFill>
              <a:latin typeface="Roboto"/>
              <a:ea typeface="Roboto"/>
              <a:cs typeface="Roboto"/>
              <a:sym typeface="Roboto"/>
            </a:endParaRPr>
          </a:p>
        </p:txBody>
      </p:sp>
    </p:spTree>
    <p:extLst>
      <p:ext uri="{BB962C8B-B14F-4D97-AF65-F5344CB8AC3E}">
        <p14:creationId xmlns:p14="http://schemas.microsoft.com/office/powerpoint/2010/main" val="24778594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3"/>
        <p:cNvGrpSpPr/>
        <p:nvPr/>
      </p:nvGrpSpPr>
      <p:grpSpPr>
        <a:xfrm>
          <a:off x="0" y="0"/>
          <a:ext cx="0" cy="0"/>
          <a:chOff x="0" y="0"/>
          <a:chExt cx="0" cy="0"/>
        </a:xfrm>
      </p:grpSpPr>
      <p:sp>
        <p:nvSpPr>
          <p:cNvPr id="3" name="Google Shape;54;p13">
            <a:extLst>
              <a:ext uri="{FF2B5EF4-FFF2-40B4-BE49-F238E27FC236}">
                <a16:creationId xmlns:a16="http://schemas.microsoft.com/office/drawing/2014/main" id="{42C8E255-29EF-8DF7-1841-8CF094E94EA8}"/>
              </a:ext>
            </a:extLst>
          </p:cNvPr>
          <p:cNvSpPr txBox="1">
            <a:spLocks noGrp="1"/>
          </p:cNvSpPr>
          <p:nvPr>
            <p:ph type="ctrTitle"/>
          </p:nvPr>
        </p:nvSpPr>
        <p:spPr>
          <a:xfrm>
            <a:off x="408608" y="2619935"/>
            <a:ext cx="11360800" cy="109694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cs-CZ" sz="5867">
                <a:solidFill>
                  <a:schemeClr val="lt1"/>
                </a:solidFill>
                <a:latin typeface="Roboto"/>
                <a:ea typeface="Roboto"/>
                <a:cs typeface="Roboto"/>
                <a:sym typeface="Roboto"/>
              </a:rPr>
              <a:t>Kliknutím lze upravit styl.</a:t>
            </a:r>
            <a:endParaRPr sz="5867" dirty="0">
              <a:solidFill>
                <a:schemeClr val="lt1"/>
              </a:solidFill>
              <a:latin typeface="Roboto"/>
              <a:ea typeface="Roboto"/>
              <a:cs typeface="Roboto"/>
              <a:sym typeface="Roboto"/>
            </a:endParaRPr>
          </a:p>
        </p:txBody>
      </p:sp>
      <p:pic>
        <p:nvPicPr>
          <p:cNvPr id="4" name="Picture 35">
            <a:extLst>
              <a:ext uri="{FF2B5EF4-FFF2-40B4-BE49-F238E27FC236}">
                <a16:creationId xmlns:a16="http://schemas.microsoft.com/office/drawing/2014/main" id="{B674BBF2-B554-4EF2-9501-2DB955DD66C8}"/>
              </a:ext>
            </a:extLst>
          </p:cNvPr>
          <p:cNvPicPr>
            <a:picLocks noChangeAspect="1"/>
          </p:cNvPicPr>
          <p:nvPr/>
        </p:nvPicPr>
        <p:blipFill>
          <a:blip r:embed="rId2"/>
          <a:stretch>
            <a:fillRect/>
          </a:stretch>
        </p:blipFill>
        <p:spPr>
          <a:xfrm>
            <a:off x="1" y="5902047"/>
            <a:ext cx="7314369" cy="189123"/>
          </a:xfrm>
          <a:prstGeom prst="rect">
            <a:avLst/>
          </a:prstGeom>
        </p:spPr>
      </p:pic>
      <p:pic>
        <p:nvPicPr>
          <p:cNvPr id="5" name="Picture 35">
            <a:extLst>
              <a:ext uri="{FF2B5EF4-FFF2-40B4-BE49-F238E27FC236}">
                <a16:creationId xmlns:a16="http://schemas.microsoft.com/office/drawing/2014/main" id="{508C2504-E20E-2640-623B-5D1FDCE7625A}"/>
              </a:ext>
            </a:extLst>
          </p:cNvPr>
          <p:cNvPicPr>
            <a:picLocks noChangeAspect="1"/>
          </p:cNvPicPr>
          <p:nvPr/>
        </p:nvPicPr>
        <p:blipFill>
          <a:blip r:embed="rId2"/>
          <a:stretch>
            <a:fillRect/>
          </a:stretch>
        </p:blipFill>
        <p:spPr>
          <a:xfrm flipH="1">
            <a:off x="9802468" y="634307"/>
            <a:ext cx="7314369" cy="189123"/>
          </a:xfrm>
          <a:prstGeom prst="rect">
            <a:avLst/>
          </a:prstGeom>
        </p:spPr>
      </p:pic>
    </p:spTree>
    <p:extLst>
      <p:ext uri="{BB962C8B-B14F-4D97-AF65-F5344CB8AC3E}">
        <p14:creationId xmlns:p14="http://schemas.microsoft.com/office/powerpoint/2010/main" val="367819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6EB83-090E-473B-B959-92A4B5275361}" type="datetimeFigureOut">
              <a:rPr lang="cs-CZ" smtClean="0"/>
              <a:pPr/>
              <a:t>13.09.2023</a:t>
            </a:fld>
            <a:endParaRPr lang="cs-CZ" dirty="0"/>
          </a:p>
        </p:txBody>
      </p:sp>
      <p:sp>
        <p:nvSpPr>
          <p:cNvPr id="5" name="Zástupný symbol pro zápatí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3F0DB-9040-4F31-8D2D-42639AAB2BE5}" type="slidenum">
              <a:rPr lang="cs-CZ" smtClean="0"/>
              <a:pPr/>
              <a:t>‹#›</a:t>
            </a:fld>
            <a:endParaRPr lang="cs-CZ"/>
          </a:p>
        </p:txBody>
      </p:sp>
    </p:spTree>
    <p:extLst>
      <p:ext uri="{BB962C8B-B14F-4D97-AF65-F5344CB8AC3E}">
        <p14:creationId xmlns:p14="http://schemas.microsoft.com/office/powerpoint/2010/main" val="769053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Google Shape;63;p14">
            <a:extLst>
              <a:ext uri="{FF2B5EF4-FFF2-40B4-BE49-F238E27FC236}">
                <a16:creationId xmlns:a16="http://schemas.microsoft.com/office/drawing/2014/main" id="{6318535F-BBDF-1D2A-CB0F-9EAA8AFBBC25}"/>
              </a:ext>
            </a:extLst>
          </p:cNvPr>
          <p:cNvSpPr/>
          <p:nvPr userDrawn="1"/>
        </p:nvSpPr>
        <p:spPr>
          <a:xfrm rot="10800000" flipH="1">
            <a:off x="0" y="1531"/>
            <a:ext cx="12192000" cy="819600"/>
          </a:xfrm>
          <a:prstGeom prst="rect">
            <a:avLst/>
          </a:prstGeom>
          <a:solidFill>
            <a:srgbClr val="00122A"/>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51" dirty="0"/>
          </a:p>
        </p:txBody>
      </p:sp>
      <p:sp>
        <p:nvSpPr>
          <p:cNvPr id="2" name="Title Placeholder 1"/>
          <p:cNvSpPr>
            <a:spLocks noGrp="1"/>
          </p:cNvSpPr>
          <p:nvPr>
            <p:ph type="title"/>
          </p:nvPr>
        </p:nvSpPr>
        <p:spPr>
          <a:xfrm>
            <a:off x="484977" y="-2184"/>
            <a:ext cx="10515600" cy="819603"/>
          </a:xfrm>
          <a:prstGeom prst="rect">
            <a:avLst/>
          </a:prstGeom>
        </p:spPr>
        <p:txBody>
          <a:bodyPr vert="horz" lIns="91440" tIns="45720" rIns="91440" bIns="45720" rtlCol="0" anchor="ctr">
            <a:normAutofit/>
          </a:bodyPr>
          <a:lstStyle/>
          <a:p>
            <a:r>
              <a:rPr lang="cs-CZ" dirty="0"/>
              <a:t>Kliknutím lze upravit styl.</a:t>
            </a:r>
            <a:endParaRPr lang="en-US" dirty="0"/>
          </a:p>
        </p:txBody>
      </p:sp>
      <p:sp>
        <p:nvSpPr>
          <p:cNvPr id="3" name="Text Placeholder 2"/>
          <p:cNvSpPr>
            <a:spLocks noGrp="1"/>
          </p:cNvSpPr>
          <p:nvPr>
            <p:ph type="body" idx="1"/>
          </p:nvPr>
        </p:nvSpPr>
        <p:spPr>
          <a:xfrm>
            <a:off x="484978" y="1241991"/>
            <a:ext cx="11291423" cy="4934973"/>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endParaRPr lang="en-US" dirty="0"/>
          </a:p>
        </p:txBody>
      </p:sp>
      <p:sp>
        <p:nvSpPr>
          <p:cNvPr id="9" name="Slide Number Placeholder 5">
            <a:extLst>
              <a:ext uri="{FF2B5EF4-FFF2-40B4-BE49-F238E27FC236}">
                <a16:creationId xmlns:a16="http://schemas.microsoft.com/office/drawing/2014/main" id="{762FA61E-3A89-5712-494B-48D8C206AD31}"/>
              </a:ext>
            </a:extLst>
          </p:cNvPr>
          <p:cNvSpPr>
            <a:spLocks noGrp="1"/>
          </p:cNvSpPr>
          <p:nvPr>
            <p:ph type="sldNum" sz="quarter" idx="4"/>
          </p:nvPr>
        </p:nvSpPr>
        <p:spPr>
          <a:xfrm>
            <a:off x="484977" y="6323462"/>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23493362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914377" rtl="0" eaLnBrk="1" latinLnBrk="0" hangingPunct="1">
        <a:lnSpc>
          <a:spcPct val="90000"/>
        </a:lnSpc>
        <a:spcBef>
          <a:spcPct val="0"/>
        </a:spcBef>
        <a:buNone/>
        <a:defRPr sz="3200" b="1" kern="1200">
          <a:solidFill>
            <a:schemeClr val="bg1"/>
          </a:solidFill>
          <a:latin typeface="Roboto" panose="02000000000000000000" pitchFamily="2" charset="0"/>
          <a:ea typeface="Roboto" panose="02000000000000000000" pitchFamily="2" charset="0"/>
          <a:cs typeface="Roboto" panose="02000000000000000000" pitchFamily="2" charset="0"/>
        </a:defRPr>
      </a:lvl1pPr>
    </p:titleStyle>
    <p:bodyStyle>
      <a:lvl1pPr marL="457189" indent="-457189" algn="l" defTabSz="914377" rtl="0" eaLnBrk="1" latinLnBrk="0" hangingPunct="1">
        <a:lnSpc>
          <a:spcPct val="90000"/>
        </a:lnSpc>
        <a:spcBef>
          <a:spcPts val="1000"/>
        </a:spcBef>
        <a:buClr>
          <a:srgbClr val="00B0F0"/>
        </a:buClr>
        <a:buFont typeface="Standardní systémové písmo"/>
        <a:buChar char="&gt;"/>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783" indent="-228594" algn="l" defTabSz="914377" rtl="0" eaLnBrk="1" latinLnBrk="0" hangingPunct="1">
        <a:lnSpc>
          <a:spcPct val="90000"/>
        </a:lnSpc>
        <a:spcBef>
          <a:spcPts val="500"/>
        </a:spcBef>
        <a:buFont typeface="Courier New" panose="02070309020205020404" pitchFamily="49" charset="0"/>
        <a:buChar char="o"/>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2971" indent="-228594" algn="l" defTabSz="914377" rtl="0" eaLnBrk="1" latinLnBrk="0" hangingPunct="1">
        <a:lnSpc>
          <a:spcPct val="90000"/>
        </a:lnSpc>
        <a:spcBef>
          <a:spcPts val="500"/>
        </a:spcBef>
        <a:buFont typeface="Wingdings" pitchFamily="2" charset="2"/>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rchi.gov.cz/znalostni_baze:metodika_tco" TargetMode="External"/><Relationship Id="rId2" Type="http://schemas.openxmlformats.org/officeDocument/2006/relationships/hyperlink" Target="https://archi.gov.cz/playgroud:it_prehled_zakonu"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rchi.gov.cz/diskuz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rop.mmr.cz/cs/vyzvy-2021-2027/vyzvy/9vyzvairop"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nadpis 2"/>
          <p:cNvSpPr>
            <a:spLocks noGrp="1"/>
          </p:cNvSpPr>
          <p:nvPr>
            <p:ph type="subTitle" idx="1"/>
          </p:nvPr>
        </p:nvSpPr>
        <p:spPr>
          <a:xfrm>
            <a:off x="432857" y="5620012"/>
            <a:ext cx="8533612" cy="954107"/>
          </a:xfrm>
          <a:ln>
            <a:noFill/>
          </a:ln>
        </p:spPr>
        <p:txBody>
          <a:bodyPr wrap="square">
            <a:spAutoFit/>
          </a:bodyPr>
          <a:lstStyle/>
          <a:p>
            <a:pPr algn="l">
              <a:lnSpc>
                <a:spcPct val="100000"/>
              </a:lnSpc>
              <a:spcBef>
                <a:spcPts val="0"/>
              </a:spcBef>
              <a:buFontTx/>
            </a:pPr>
            <a:r>
              <a:rPr lang="CS-CZ" sz="2800" b="1" dirty="0">
                <a:ln w="12700">
                  <a:solidFill>
                    <a:schemeClr val="bg1"/>
                  </a:solidFill>
                </a:ln>
                <a:latin typeface="Arial" pitchFamily="34" charset="0"/>
                <a:cs typeface="Arial" pitchFamily="34" charset="0"/>
              </a:rPr>
              <a:t>odbor Hlavního architekta eGovernmentu </a:t>
            </a:r>
          </a:p>
          <a:p>
            <a:pPr algn="l">
              <a:lnSpc>
                <a:spcPct val="100000"/>
              </a:lnSpc>
              <a:spcBef>
                <a:spcPts val="0"/>
              </a:spcBef>
              <a:buFontTx/>
            </a:pPr>
            <a:r>
              <a:rPr lang="CS-CZ" sz="2800" b="1" dirty="0">
                <a:ln w="12700">
                  <a:solidFill>
                    <a:schemeClr val="bg1"/>
                  </a:solidFill>
                </a:ln>
                <a:latin typeface="Arial" pitchFamily="34" charset="0"/>
                <a:cs typeface="Arial" pitchFamily="34" charset="0"/>
              </a:rPr>
              <a:t>Digitální a informační agentura</a:t>
            </a:r>
          </a:p>
        </p:txBody>
      </p:sp>
      <p:sp>
        <p:nvSpPr>
          <p:cNvPr id="5" name="Obdélník 4"/>
          <p:cNvSpPr/>
          <p:nvPr/>
        </p:nvSpPr>
        <p:spPr>
          <a:xfrm>
            <a:off x="1122174" y="611598"/>
            <a:ext cx="9649072" cy="3416320"/>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cs-CZ" sz="40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br>
            <a:r>
              <a:rPr kumimoji="0" lang="cs-CZ" sz="54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t> Zasedání</a:t>
            </a:r>
            <a:r>
              <a:rPr kumimoji="0" lang="cs-CZ" sz="5400" b="1" i="0" u="none" strike="noStrike" kern="1200" cap="none" spc="0" normalizeH="0" noProof="0" dirty="0">
                <a:ln w="12700">
                  <a:solidFill>
                    <a:schemeClr val="tx1"/>
                  </a:solidFill>
                </a:ln>
                <a:solidFill>
                  <a:schemeClr val="bg1"/>
                </a:solidFill>
                <a:effectLst/>
                <a:uLnTx/>
                <a:uFillTx/>
                <a:latin typeface="Arial" pitchFamily="34" charset="0"/>
                <a:cs typeface="Arial" pitchFamily="34" charset="0"/>
              </a:rPr>
              <a:t> pracovní skupiny pro architekturu a řízení ICT</a:t>
            </a:r>
            <a:br>
              <a:rPr kumimoji="0" lang="cs-CZ" sz="36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br>
            <a:br>
              <a:rPr kumimoji="0" lang="cs-CZ" sz="36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br>
            <a:r>
              <a:rPr kumimoji="0" lang="cs-CZ" sz="32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t> </a:t>
            </a:r>
            <a:r>
              <a:rPr lang="cs-CZ" sz="3200" b="1" dirty="0">
                <a:ln w="12700">
                  <a:solidFill>
                    <a:schemeClr val="tx1"/>
                  </a:solidFill>
                </a:ln>
                <a:solidFill>
                  <a:schemeClr val="bg1"/>
                </a:solidFill>
                <a:latin typeface="Arial" pitchFamily="34" charset="0"/>
                <a:cs typeface="Arial" pitchFamily="34" charset="0"/>
              </a:rPr>
              <a:t>z</a:t>
            </a:r>
            <a:r>
              <a:rPr kumimoji="0" lang="cs-CZ" sz="3200" b="1" i="0" u="none" strike="noStrike" kern="1200" cap="none" spc="0" normalizeH="0" baseline="0" noProof="0" dirty="0" err="1">
                <a:ln w="12700">
                  <a:solidFill>
                    <a:schemeClr val="tx1"/>
                  </a:solidFill>
                </a:ln>
                <a:solidFill>
                  <a:schemeClr val="bg1"/>
                </a:solidFill>
                <a:effectLst/>
                <a:uLnTx/>
                <a:uFillTx/>
                <a:latin typeface="Arial" pitchFamily="34" charset="0"/>
                <a:cs typeface="Arial" pitchFamily="34" charset="0"/>
              </a:rPr>
              <a:t>asedání</a:t>
            </a:r>
            <a:r>
              <a:rPr kumimoji="0" lang="cs-CZ" sz="3200" b="1" i="0" u="none" strike="noStrike" kern="1200" cap="none" spc="0" normalizeH="0" baseline="0" noProof="0" dirty="0">
                <a:ln w="12700">
                  <a:solidFill>
                    <a:schemeClr val="tx1"/>
                  </a:solidFill>
                </a:ln>
                <a:solidFill>
                  <a:schemeClr val="bg1"/>
                </a:solidFill>
                <a:effectLst/>
                <a:uLnTx/>
                <a:uFillTx/>
                <a:latin typeface="Arial" pitchFamily="34" charset="0"/>
                <a:cs typeface="Arial" pitchFamily="34" charset="0"/>
              </a:rPr>
              <a:t> 14. 9. 2023</a:t>
            </a:r>
            <a:endParaRPr kumimoji="0" lang="cs-CZ" sz="3200" b="1" i="0" u="none" strike="noStrike" kern="1200" cap="none" spc="0" normalizeH="0" baseline="0" noProof="0" dirty="0">
              <a:ln w="12700">
                <a:solidFill>
                  <a:schemeClr val="tx1"/>
                </a:solidFill>
              </a:ln>
              <a:solidFill>
                <a:schemeClr val="bg1"/>
              </a:solidFill>
              <a:effectLst/>
              <a:uLnTx/>
              <a:uFillTx/>
              <a:latin typeface="Calibri"/>
            </a:endParaRPr>
          </a:p>
        </p:txBody>
      </p:sp>
    </p:spTree>
    <p:extLst>
      <p:ext uri="{BB962C8B-B14F-4D97-AF65-F5344CB8AC3E}">
        <p14:creationId xmlns:p14="http://schemas.microsoft.com/office/powerpoint/2010/main" val="2059693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714458" y="1638431"/>
            <a:ext cx="8811491" cy="1754326"/>
          </a:xfrm>
          <a:ln>
            <a:noFill/>
          </a:ln>
        </p:spPr>
        <p:txBody>
          <a:bodyPr wrap="square">
            <a:spAutoFit/>
          </a:bodyPr>
          <a:lstStyle/>
          <a:p>
            <a:pPr algn="ctr">
              <a:lnSpc>
                <a:spcPct val="100000"/>
              </a:lnSpc>
              <a:spcBef>
                <a:spcPts val="0"/>
              </a:spcBef>
            </a:pPr>
            <a:r>
              <a:rPr lang="cs-CZ" sz="5400" b="1" dirty="0">
                <a:ln w="12700">
                  <a:solidFill>
                    <a:schemeClr val="tx1"/>
                  </a:solidFill>
                </a:ln>
                <a:solidFill>
                  <a:schemeClr val="bg1"/>
                </a:solidFill>
                <a:latin typeface="Arial" pitchFamily="34" charset="0"/>
                <a:ea typeface="+mn-ea"/>
                <a:cs typeface="Arial" pitchFamily="34" charset="0"/>
              </a:rPr>
              <a:t>Technický úvod, pravidla videokonference </a:t>
            </a:r>
          </a:p>
        </p:txBody>
      </p:sp>
    </p:spTree>
    <p:extLst>
      <p:ext uri="{BB962C8B-B14F-4D97-AF65-F5344CB8AC3E}">
        <p14:creationId xmlns:p14="http://schemas.microsoft.com/office/powerpoint/2010/main" val="56741821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04305" y="669805"/>
            <a:ext cx="3629545" cy="1938992"/>
          </a:xfrm>
          <a:ln>
            <a:noFill/>
          </a:ln>
        </p:spPr>
        <p:txBody>
          <a:bodyPr vert="horz" wrap="square" lIns="91440" tIns="45720" rIns="91440" bIns="45720" rtlCol="0" anchor="ctr">
            <a:spAutoFit/>
          </a:bodyPr>
          <a:lstStyle/>
          <a:p>
            <a:pPr algn="ctr">
              <a:lnSpc>
                <a:spcPct val="100000"/>
              </a:lnSpc>
              <a:spcBef>
                <a:spcPts val="0"/>
              </a:spcBef>
            </a:pPr>
            <a:r>
              <a:rPr lang="cs-CZ" sz="4000" b="1" dirty="0">
                <a:ln w="12700">
                  <a:solidFill>
                    <a:schemeClr val="tx1"/>
                  </a:solidFill>
                </a:ln>
                <a:solidFill>
                  <a:schemeClr val="bg1"/>
                </a:solidFill>
                <a:latin typeface="Arial" pitchFamily="34" charset="0"/>
                <a:ea typeface="+mn-ea"/>
                <a:cs typeface="Arial" pitchFamily="34" charset="0"/>
              </a:rPr>
              <a:t>Kontext naší PS v rámci RVIS</a:t>
            </a:r>
          </a:p>
        </p:txBody>
      </p:sp>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0100" y="10047"/>
            <a:ext cx="7581900" cy="6851008"/>
          </a:xfrm>
          <a:prstGeom prst="rect">
            <a:avLst/>
          </a:prstGeom>
        </p:spPr>
      </p:pic>
      <p:sp>
        <p:nvSpPr>
          <p:cNvPr id="5" name="Obdélník 4"/>
          <p:cNvSpPr/>
          <p:nvPr/>
        </p:nvSpPr>
        <p:spPr>
          <a:xfrm>
            <a:off x="6451600" y="3911600"/>
            <a:ext cx="1257300" cy="4445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Obdélník 5"/>
          <p:cNvSpPr/>
          <p:nvPr/>
        </p:nvSpPr>
        <p:spPr>
          <a:xfrm>
            <a:off x="6369050" y="1194800"/>
            <a:ext cx="1257300" cy="9578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Obdélník 6"/>
          <p:cNvSpPr/>
          <p:nvPr/>
        </p:nvSpPr>
        <p:spPr>
          <a:xfrm>
            <a:off x="7626350" y="93074"/>
            <a:ext cx="1352550" cy="52922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Tree>
    <p:extLst>
      <p:ext uri="{BB962C8B-B14F-4D97-AF65-F5344CB8AC3E}">
        <p14:creationId xmlns:p14="http://schemas.microsoft.com/office/powerpoint/2010/main" val="300181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9768408" y="116632"/>
            <a:ext cx="778408" cy="490066"/>
          </a:xfrm>
        </p:spPr>
        <p:txBody>
          <a:bodyPr>
            <a:normAutofit fontScale="90000"/>
          </a:bodyPr>
          <a:lstStyle/>
          <a:p>
            <a:r>
              <a:rPr lang="cs-CZ" dirty="0"/>
              <a:t> </a:t>
            </a:r>
          </a:p>
        </p:txBody>
      </p:sp>
      <p:sp>
        <p:nvSpPr>
          <p:cNvPr id="4" name="Zástupný symbol pro obsah 3"/>
          <p:cNvSpPr>
            <a:spLocks noGrp="1"/>
          </p:cNvSpPr>
          <p:nvPr>
            <p:ph idx="1"/>
          </p:nvPr>
        </p:nvSpPr>
        <p:spPr>
          <a:xfrm>
            <a:off x="9768408" y="5733257"/>
            <a:ext cx="442392" cy="392907"/>
          </a:xfrm>
        </p:spPr>
        <p:txBody>
          <a:bodyPr>
            <a:normAutofit fontScale="92500" lnSpcReduction="20000"/>
          </a:bodyPr>
          <a:lstStyle/>
          <a:p>
            <a:pPr marL="0" indent="0">
              <a:buNone/>
            </a:pPr>
            <a:r>
              <a:rPr lang="cs-CZ" dirty="0"/>
              <a:t> </a:t>
            </a:r>
          </a:p>
        </p:txBody>
      </p:sp>
      <p:sp>
        <p:nvSpPr>
          <p:cNvPr id="7" name="Title 1"/>
          <p:cNvSpPr txBox="1">
            <a:spLocks/>
          </p:cNvSpPr>
          <p:nvPr/>
        </p:nvSpPr>
        <p:spPr>
          <a:xfrm>
            <a:off x="2843248" y="306126"/>
            <a:ext cx="6345009" cy="601144"/>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cs-CZ" sz="4000" b="1" dirty="0">
                <a:ln w="12700">
                  <a:solidFill>
                    <a:schemeClr val="tx1"/>
                  </a:solidFill>
                </a:ln>
                <a:solidFill>
                  <a:schemeClr val="bg1"/>
                </a:solidFill>
                <a:latin typeface="Arial" pitchFamily="34" charset="0"/>
                <a:ea typeface="+mn-ea"/>
                <a:cs typeface="Arial" pitchFamily="34" charset="0"/>
              </a:rPr>
              <a:t>Agenda</a:t>
            </a:r>
            <a:endParaRPr lang="en-US" sz="4000" b="1" dirty="0">
              <a:ln w="12700">
                <a:solidFill>
                  <a:schemeClr val="tx1"/>
                </a:solidFill>
              </a:ln>
              <a:solidFill>
                <a:schemeClr val="bg1"/>
              </a:solidFill>
              <a:latin typeface="Arial" pitchFamily="34" charset="0"/>
              <a:ea typeface="+mn-ea"/>
              <a:cs typeface="Arial" pitchFamily="34" charset="0"/>
            </a:endParaRPr>
          </a:p>
        </p:txBody>
      </p:sp>
      <p:sp>
        <p:nvSpPr>
          <p:cNvPr id="8" name="TextovéPole 7">
            <a:extLst>
              <a:ext uri="{FF2B5EF4-FFF2-40B4-BE49-F238E27FC236}">
                <a16:creationId xmlns:a16="http://schemas.microsoft.com/office/drawing/2014/main" id="{DB173E78-E423-C647-B2A9-0E772E0C7ADB}"/>
              </a:ext>
            </a:extLst>
          </p:cNvPr>
          <p:cNvSpPr txBox="1"/>
          <p:nvPr/>
        </p:nvSpPr>
        <p:spPr>
          <a:xfrm>
            <a:off x="255112" y="1228855"/>
            <a:ext cx="11521279" cy="3108543"/>
          </a:xfrm>
          <a:prstGeom prst="rect">
            <a:avLst/>
          </a:prstGeom>
          <a:noFill/>
        </p:spPr>
        <p:txBody>
          <a:bodyPr wrap="square">
            <a:spAutoFit/>
          </a:bodyPr>
          <a:lstStyle/>
          <a:p>
            <a:pPr marL="342900" lvl="0" indent="-342900">
              <a:spcAft>
                <a:spcPts val="0"/>
              </a:spcAft>
              <a:buFont typeface="+mj-lt"/>
              <a:buAutoNum type="arabicPeriod"/>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Technický úvod, pravidla videokonference </a:t>
            </a:r>
            <a:r>
              <a:rPr lang="cs-CZ" sz="2800"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 Tomáš Šedivec</a:t>
            </a:r>
          </a:p>
          <a:p>
            <a:pPr marL="342900" lvl="0" indent="-342900">
              <a:spcAft>
                <a:spcPts val="0"/>
              </a:spcAft>
              <a:buFont typeface="+mj-lt"/>
              <a:buAutoNum type="arabicPeriod"/>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Hlavní program</a:t>
            </a:r>
            <a:r>
              <a:rPr lang="cs-CZ" sz="2800"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 </a:t>
            </a:r>
          </a:p>
          <a:p>
            <a:pPr marL="800100" lvl="1" indent="-342900">
              <a:buFont typeface="Arial" panose="020B0604020202020204" pitchFamily="34" charset="0"/>
              <a:buChar char="•"/>
            </a:pPr>
            <a:r>
              <a:rPr lang="cs-CZ" sz="2800" b="1"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Změny v Národní architektuře eGovernmentu – </a:t>
            </a:r>
            <a:r>
              <a:rPr lang="cs-CZ" sz="2800" dirty="0">
                <a:ln>
                  <a:solidFill>
                    <a:schemeClr val="tx1"/>
                  </a:solidFill>
                </a:ln>
                <a:solidFill>
                  <a:schemeClr val="bg1"/>
                </a:solidFill>
                <a:latin typeface="Arial" panose="020B0604020202020204" pitchFamily="34" charset="0"/>
                <a:ea typeface="Calibri" panose="020F0502020204030204" pitchFamily="34" charset="0"/>
                <a:cs typeface="Arial" panose="020B0604020202020204" pitchFamily="34" charset="0"/>
              </a:rPr>
              <a:t>Tomáš Šedivec</a:t>
            </a:r>
          </a:p>
          <a:p>
            <a:pPr marL="800100" lvl="1" indent="-342900">
              <a:buFont typeface="Arial" panose="020B0604020202020204" pitchFamily="34" charset="0"/>
              <a:buChar char="•"/>
            </a:pPr>
            <a:r>
              <a:rPr lang="cs-CZ" sz="2800" b="1"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Implementační doporučení </a:t>
            </a:r>
            <a:r>
              <a:rPr lang="cs-CZ" sz="2800" b="1" dirty="0" err="1">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ZoPDS</a:t>
            </a:r>
            <a:r>
              <a:rPr lang="cs-CZ" sz="2800" b="1"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 </a:t>
            </a:r>
            <a:r>
              <a:rPr lang="cs-CZ" sz="2800"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 Tomáš Šedivec</a:t>
            </a:r>
            <a:r>
              <a:rPr lang="cs-CZ" sz="2800" b="1"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 </a:t>
            </a:r>
            <a:endParaRPr lang="cs-CZ" sz="2800"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endParaRPr>
          </a:p>
          <a:p>
            <a:pPr marL="800100" lvl="1" indent="-342900">
              <a:buFont typeface="Arial" panose="020B0604020202020204" pitchFamily="34" charset="0"/>
              <a:buChar char="•"/>
            </a:pPr>
            <a:r>
              <a:rPr lang="cs-CZ" sz="2800" b="1" dirty="0" err="1">
                <a:ln>
                  <a:solidFill>
                    <a:sysClr val="windowText" lastClr="000000"/>
                  </a:solidFill>
                </a:ln>
                <a:solidFill>
                  <a:schemeClr val="bg1"/>
                </a:solidFill>
                <a:latin typeface="Arial" panose="020B0604020202020204" pitchFamily="34" charset="0"/>
                <a:cs typeface="Arial" panose="020B0604020202020204" pitchFamily="34" charset="0"/>
              </a:rPr>
              <a:t>ZoPDS</a:t>
            </a:r>
            <a:r>
              <a:rPr lang="cs-CZ" sz="2800" b="1" dirty="0">
                <a:ln>
                  <a:solidFill>
                    <a:sysClr val="windowText" lastClr="000000"/>
                  </a:solidFill>
                </a:ln>
                <a:solidFill>
                  <a:schemeClr val="bg1"/>
                </a:solidFill>
                <a:latin typeface="Arial" panose="020B0604020202020204" pitchFamily="34" charset="0"/>
                <a:cs typeface="Arial" panose="020B0604020202020204" pitchFamily="34" charset="0"/>
              </a:rPr>
              <a:t> a IROP </a:t>
            </a:r>
            <a:r>
              <a:rPr lang="cs-CZ" sz="2800" dirty="0">
                <a:ln>
                  <a:solidFill>
                    <a:sysClr val="windowText" lastClr="000000"/>
                  </a:solidFill>
                </a:ln>
                <a:solidFill>
                  <a:schemeClr val="bg1"/>
                </a:solidFill>
                <a:latin typeface="Arial" panose="020B0604020202020204" pitchFamily="34" charset="0"/>
                <a:cs typeface="Arial" panose="020B0604020202020204" pitchFamily="34" charset="0"/>
              </a:rPr>
              <a:t>– Tomáš Šedivec</a:t>
            </a:r>
          </a:p>
          <a:p>
            <a:pPr marL="800100" lvl="1" indent="-342900">
              <a:buFont typeface="Arial" panose="020B0604020202020204" pitchFamily="34" charset="0"/>
              <a:buChar char="•"/>
            </a:pPr>
            <a:r>
              <a:rPr lang="cs-CZ" sz="2800" b="1" dirty="0">
                <a:ln>
                  <a:solidFill>
                    <a:schemeClr val="bg1"/>
                  </a:solidFill>
                </a:ln>
                <a:latin typeface="Arial" panose="020B0604020202020204" pitchFamily="34" charset="0"/>
                <a:ea typeface="Calibri" panose="020F0502020204030204" pitchFamily="34" charset="0"/>
                <a:cs typeface="Arial" panose="020B0604020202020204" pitchFamily="34" charset="0"/>
              </a:rPr>
              <a:t>Otázky a nejasnosti členů pracovní skupiny </a:t>
            </a:r>
            <a:r>
              <a:rPr lang="cs-CZ" sz="2800" dirty="0">
                <a:ln>
                  <a:solidFill>
                    <a:schemeClr val="bg1"/>
                  </a:solidFill>
                </a:ln>
                <a:latin typeface="Arial" panose="020B0604020202020204" pitchFamily="34" charset="0"/>
                <a:ea typeface="Calibri" panose="020F0502020204030204" pitchFamily="34" charset="0"/>
                <a:cs typeface="Arial" panose="020B0604020202020204" pitchFamily="34" charset="0"/>
              </a:rPr>
              <a:t>–</a:t>
            </a:r>
            <a:r>
              <a:rPr lang="cs-CZ" sz="2800" b="1" dirty="0">
                <a:ln>
                  <a:solidFill>
                    <a:schemeClr val="bg1"/>
                  </a:solidFill>
                </a:ln>
                <a:latin typeface="Arial" panose="020B0604020202020204" pitchFamily="34" charset="0"/>
                <a:ea typeface="Calibri" panose="020F0502020204030204" pitchFamily="34" charset="0"/>
                <a:cs typeface="Arial" panose="020B0604020202020204" pitchFamily="34" charset="0"/>
              </a:rPr>
              <a:t> </a:t>
            </a:r>
            <a:r>
              <a:rPr lang="cs-CZ" sz="2800" dirty="0">
                <a:ln>
                  <a:solidFill>
                    <a:schemeClr val="bg1"/>
                  </a:solidFill>
                </a:ln>
                <a:latin typeface="Arial" panose="020B0604020202020204" pitchFamily="34" charset="0"/>
                <a:ea typeface="Calibri" panose="020F0502020204030204" pitchFamily="34" charset="0"/>
                <a:cs typeface="Arial" panose="020B0604020202020204" pitchFamily="34" charset="0"/>
              </a:rPr>
              <a:t>Tomáš Šedivec</a:t>
            </a:r>
          </a:p>
          <a:p>
            <a:r>
              <a:rPr lang="cs-CZ" sz="2800" b="1" dirty="0">
                <a:ln>
                  <a:solidFill>
                    <a:schemeClr val="bg1"/>
                  </a:solidFill>
                </a:ln>
                <a:latin typeface="Arial" panose="020B0604020202020204" pitchFamily="34" charset="0"/>
                <a:ea typeface="Calibri" panose="020F0502020204030204" pitchFamily="34" charset="0"/>
                <a:cs typeface="Arial" panose="020B0604020202020204" pitchFamily="34" charset="0"/>
              </a:rPr>
              <a:t>3. Závěr</a:t>
            </a:r>
            <a:r>
              <a:rPr lang="cs-CZ" sz="2800" dirty="0">
                <a:ln>
                  <a:solidFill>
                    <a:schemeClr val="bg1"/>
                  </a:solidFill>
                </a:ln>
                <a:latin typeface="Arial" panose="020B0604020202020204" pitchFamily="34" charset="0"/>
                <a:ea typeface="Calibri" panose="020F0502020204030204" pitchFamily="34" charset="0"/>
                <a:cs typeface="Arial" panose="020B0604020202020204" pitchFamily="34" charset="0"/>
              </a:rPr>
              <a:t> – Tomáš Šedivec</a:t>
            </a:r>
          </a:p>
        </p:txBody>
      </p:sp>
    </p:spTree>
    <p:extLst>
      <p:ext uri="{BB962C8B-B14F-4D97-AF65-F5344CB8AC3E}">
        <p14:creationId xmlns:p14="http://schemas.microsoft.com/office/powerpoint/2010/main" val="301095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84946" y="1889852"/>
            <a:ext cx="10914610" cy="1978112"/>
          </a:xfrm>
        </p:spPr>
        <p:txBody>
          <a:bodyPr/>
          <a:lstStyle/>
          <a:p>
            <a:pPr algn="ctr"/>
            <a:r>
              <a:rPr lang="cs-CZ" b="1" dirty="0">
                <a:ln>
                  <a:solidFill>
                    <a:schemeClr val="tx1"/>
                  </a:solidFill>
                </a:ln>
                <a:solidFill>
                  <a:schemeClr val="bg1"/>
                </a:solidFill>
              </a:rPr>
              <a:t>Změny v Národní architektuře eGovernmentu</a:t>
            </a:r>
          </a:p>
        </p:txBody>
      </p:sp>
    </p:spTree>
    <p:extLst>
      <p:ext uri="{BB962C8B-B14F-4D97-AF65-F5344CB8AC3E}">
        <p14:creationId xmlns:p14="http://schemas.microsoft.com/office/powerpoint/2010/main" val="3048756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285709" y="122529"/>
            <a:ext cx="11620151" cy="754549"/>
          </a:xfrm>
        </p:spPr>
        <p:txBody>
          <a:bodyPr>
            <a:normAutofit/>
          </a:bodyPr>
          <a:lstStyle/>
          <a:p>
            <a:r>
              <a:rPr lang="cs-CZ" sz="4000" b="1" dirty="0">
                <a:ln>
                  <a:solidFill>
                    <a:schemeClr val="tx1"/>
                  </a:solidFill>
                </a:ln>
                <a:solidFill>
                  <a:schemeClr val="bg1"/>
                </a:solidFill>
              </a:rPr>
              <a:t>Změny v Národní architektuře eGovernmentu</a:t>
            </a:r>
            <a:endParaRPr lang="cs-CZ" sz="4000" dirty="0">
              <a:ln>
                <a:solidFill>
                  <a:schemeClr val="tx1"/>
                </a:solidFill>
              </a:ln>
              <a:solidFill>
                <a:schemeClr val="bg1"/>
              </a:solidFill>
            </a:endParaRPr>
          </a:p>
        </p:txBody>
      </p:sp>
      <p:sp>
        <p:nvSpPr>
          <p:cNvPr id="3" name="Zástupný symbol pro obsah 2"/>
          <p:cNvSpPr>
            <a:spLocks noGrp="1"/>
          </p:cNvSpPr>
          <p:nvPr>
            <p:ph idx="1"/>
          </p:nvPr>
        </p:nvSpPr>
        <p:spPr>
          <a:xfrm>
            <a:off x="447438" y="964614"/>
            <a:ext cx="11296691" cy="5770857"/>
          </a:xfrm>
        </p:spPr>
        <p:txBody>
          <a:bodyPr>
            <a:normAutofit/>
          </a:bodyPr>
          <a:lstStyle/>
          <a:p>
            <a:pPr marL="0" indent="0">
              <a:lnSpc>
                <a:spcPct val="170000"/>
              </a:lnSpc>
              <a:buNone/>
            </a:pPr>
            <a:r>
              <a:rPr lang="cs-CZ" b="1" dirty="0">
                <a:ln>
                  <a:solidFill>
                    <a:schemeClr val="tx1"/>
                  </a:solidFill>
                </a:ln>
                <a:solidFill>
                  <a:schemeClr val="bg1"/>
                </a:solidFill>
              </a:rPr>
              <a:t>Viz také </a:t>
            </a:r>
            <a:r>
              <a:rPr lang="cs-CZ" b="1" u="sng" dirty="0">
                <a:ln>
                  <a:solidFill>
                    <a:schemeClr val="tx1"/>
                  </a:solidFill>
                </a:ln>
                <a:solidFill>
                  <a:schemeClr val="bg1"/>
                </a:solidFill>
              </a:rPr>
              <a:t>https://archi.gov.cz/vyhledavani:changelog </a:t>
            </a:r>
          </a:p>
          <a:p>
            <a:pPr>
              <a:lnSpc>
                <a:spcPct val="120000"/>
              </a:lnSpc>
            </a:pPr>
            <a:r>
              <a:rPr lang="cs-CZ" sz="2900" b="1" dirty="0">
                <a:ln>
                  <a:solidFill>
                    <a:schemeClr val="tx1"/>
                  </a:solidFill>
                </a:ln>
                <a:solidFill>
                  <a:schemeClr val="bg1"/>
                </a:solidFill>
              </a:rPr>
              <a:t>Zápis údajů o čísle dokladu do kvalifikovaného certifikátu pro elektronický podpis  https://archi.gov.cz/znalostni_baze:doklad_podpis </a:t>
            </a:r>
            <a:endParaRPr lang="cs-CZ" sz="2900" b="1" u="sng" dirty="0">
              <a:ln>
                <a:solidFill>
                  <a:schemeClr val="tx1"/>
                </a:solidFill>
              </a:ln>
              <a:solidFill>
                <a:schemeClr val="bg1"/>
              </a:solidFill>
            </a:endParaRPr>
          </a:p>
          <a:p>
            <a:pPr>
              <a:lnSpc>
                <a:spcPct val="120000"/>
              </a:lnSpc>
            </a:pPr>
            <a:r>
              <a:rPr lang="pl-PL" sz="2900" b="1" dirty="0">
                <a:ln w="0">
                  <a:solidFill>
                    <a:schemeClr val="bg1"/>
                  </a:solidFill>
                </a:ln>
                <a:effectLst>
                  <a:outerShdw blurRad="38100" dist="19050" dir="2700000" algn="tl" rotWithShape="0">
                    <a:schemeClr val="dk1">
                      <a:alpha val="40000"/>
                    </a:schemeClr>
                  </a:outerShdw>
                </a:effectLst>
              </a:rPr>
              <a:t>Přehled právních norem se vztahem k informačním a komunikačním systémům  </a:t>
            </a:r>
            <a:r>
              <a:rPr lang="pl-PL" sz="2900" b="1" dirty="0">
                <a:ln w="0">
                  <a:solidFill>
                    <a:schemeClr val="bg1"/>
                  </a:solidFill>
                </a:ln>
                <a:effectLst>
                  <a:outerShdw blurRad="38100" dist="19050" dir="2700000" algn="tl" rotWithShape="0">
                    <a:schemeClr val="dk1">
                      <a:alpha val="40000"/>
                    </a:schemeClr>
                  </a:outerShdw>
                </a:effectLst>
                <a:hlinkClick r:id="rId2"/>
              </a:rPr>
              <a:t>https://archi.gov.cz/playgroud:it_prehled_zakonu</a:t>
            </a:r>
            <a:r>
              <a:rPr lang="pl-PL" sz="2900" b="1" dirty="0">
                <a:ln w="0">
                  <a:solidFill>
                    <a:schemeClr val="bg1"/>
                  </a:solidFill>
                </a:ln>
                <a:effectLst>
                  <a:outerShdw blurRad="38100" dist="19050" dir="2700000" algn="tl" rotWithShape="0">
                    <a:schemeClr val="dk1">
                      <a:alpha val="40000"/>
                    </a:schemeClr>
                  </a:outerShdw>
                </a:effectLst>
              </a:rPr>
              <a:t>  </a:t>
            </a:r>
            <a:endParaRPr lang="cs-CZ" sz="2900" b="1" dirty="0">
              <a:ln w="0">
                <a:solidFill>
                  <a:schemeClr val="bg1"/>
                </a:solidFill>
              </a:ln>
              <a:effectLst>
                <a:outerShdw blurRad="38100" dist="19050" dir="2700000" algn="tl" rotWithShape="0">
                  <a:schemeClr val="dk1">
                    <a:alpha val="40000"/>
                  </a:schemeClr>
                </a:outerShdw>
              </a:effectLst>
            </a:endParaRPr>
          </a:p>
          <a:p>
            <a:pPr>
              <a:lnSpc>
                <a:spcPct val="120000"/>
              </a:lnSpc>
            </a:pPr>
            <a:r>
              <a:rPr lang="cs-CZ" sz="2900" b="1" dirty="0">
                <a:ln w="0">
                  <a:solidFill>
                    <a:schemeClr val="bg1"/>
                  </a:solidFill>
                </a:ln>
                <a:effectLst>
                  <a:outerShdw blurRad="38100" dist="19050" dir="2700000" algn="tl" rotWithShape="0">
                    <a:schemeClr val="dk1">
                      <a:alpha val="40000"/>
                    </a:schemeClr>
                  </a:outerShdw>
                </a:effectLst>
              </a:rPr>
              <a:t>Metodika výpočtu TCO ICT služeb veřejné správy </a:t>
            </a:r>
            <a:r>
              <a:rPr lang="cs-CZ" sz="2900" b="1" dirty="0">
                <a:ln w="0">
                  <a:solidFill>
                    <a:schemeClr val="bg1"/>
                  </a:solidFill>
                </a:ln>
                <a:effectLst>
                  <a:outerShdw blurRad="38100" dist="19050" dir="2700000" algn="tl" rotWithShape="0">
                    <a:schemeClr val="dk1">
                      <a:alpha val="40000"/>
                    </a:schemeClr>
                  </a:outerShdw>
                </a:effectLst>
                <a:hlinkClick r:id="rId3"/>
              </a:rPr>
              <a:t>https://archi.gov.cz/znalostni_baze:metodika_tco</a:t>
            </a:r>
            <a:r>
              <a:rPr lang="cs-CZ" sz="2900" b="1" dirty="0">
                <a:ln w="0">
                  <a:solidFill>
                    <a:schemeClr val="bg1"/>
                  </a:solidFill>
                </a:ln>
                <a:effectLst>
                  <a:outerShdw blurRad="38100" dist="19050" dir="2700000" algn="tl" rotWithShape="0">
                    <a:schemeClr val="dk1">
                      <a:alpha val="40000"/>
                    </a:schemeClr>
                  </a:outerShdw>
                </a:effectLst>
              </a:rPr>
              <a:t> </a:t>
            </a:r>
            <a:endParaRPr lang="cs-CZ" sz="2900" b="1" dirty="0">
              <a:ln>
                <a:solidFill>
                  <a:schemeClr val="bg1"/>
                </a:solidFill>
              </a:ln>
            </a:endParaRPr>
          </a:p>
        </p:txBody>
      </p:sp>
    </p:spTree>
    <p:extLst>
      <p:ext uri="{BB962C8B-B14F-4D97-AF65-F5344CB8AC3E}">
        <p14:creationId xmlns:p14="http://schemas.microsoft.com/office/powerpoint/2010/main" val="4043810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10547" y="365125"/>
            <a:ext cx="11513975" cy="1325563"/>
          </a:xfrm>
        </p:spPr>
        <p:txBody>
          <a:bodyPr>
            <a:normAutofit/>
          </a:bodyPr>
          <a:lstStyle/>
          <a:p>
            <a:r>
              <a:rPr lang="cs-CZ" sz="4000" b="1" dirty="0">
                <a:ln>
                  <a:solidFill>
                    <a:schemeClr val="tx1"/>
                  </a:solidFill>
                </a:ln>
                <a:solidFill>
                  <a:schemeClr val="bg1"/>
                </a:solidFill>
              </a:rPr>
              <a:t>Změny v Národní architektuře eGovernmentu</a:t>
            </a:r>
            <a:endParaRPr lang="cs-CZ" sz="4000" dirty="0">
              <a:ln>
                <a:solidFill>
                  <a:schemeClr val="tx1"/>
                </a:solidFill>
              </a:ln>
              <a:solidFill>
                <a:schemeClr val="bg1"/>
              </a:solidFill>
            </a:endParaRPr>
          </a:p>
        </p:txBody>
      </p:sp>
      <p:sp>
        <p:nvSpPr>
          <p:cNvPr id="3" name="Zástupný symbol pro obsah 2"/>
          <p:cNvSpPr>
            <a:spLocks noGrp="1"/>
          </p:cNvSpPr>
          <p:nvPr>
            <p:ph idx="1"/>
          </p:nvPr>
        </p:nvSpPr>
        <p:spPr>
          <a:xfrm>
            <a:off x="838200" y="2118049"/>
            <a:ext cx="10515600" cy="4814596"/>
          </a:xfrm>
        </p:spPr>
        <p:txBody>
          <a:bodyPr/>
          <a:lstStyle/>
          <a:p>
            <a:r>
              <a:rPr lang="cs-CZ" b="1" dirty="0">
                <a:ln>
                  <a:solidFill>
                    <a:schemeClr val="tx1"/>
                  </a:solidFill>
                </a:ln>
                <a:solidFill>
                  <a:schemeClr val="bg1"/>
                </a:solidFill>
              </a:rPr>
              <a:t>Poslední seznam změn jednomyslně schválen usnesením RVIS 2023/06/09/U4</a:t>
            </a:r>
          </a:p>
          <a:p>
            <a:pPr marL="0" indent="0">
              <a:buNone/>
            </a:pPr>
            <a:endParaRPr lang="cs-CZ" b="1" dirty="0">
              <a:ln>
                <a:solidFill>
                  <a:schemeClr val="tx1"/>
                </a:solidFill>
              </a:ln>
              <a:solidFill>
                <a:schemeClr val="bg1"/>
              </a:solidFill>
            </a:endParaRPr>
          </a:p>
          <a:p>
            <a:r>
              <a:rPr lang="cs-CZ" b="1" dirty="0">
                <a:ln>
                  <a:solidFill>
                    <a:schemeClr val="bg1"/>
                  </a:solidFill>
                </a:ln>
              </a:rPr>
              <a:t>Nadále budou změny schvalovány v hierarchii RVIS:</a:t>
            </a:r>
          </a:p>
          <a:p>
            <a:pPr marL="971550" lvl="1" indent="-514350">
              <a:buFont typeface="+mj-lt"/>
              <a:buAutoNum type="arabicPeriod"/>
            </a:pPr>
            <a:r>
              <a:rPr lang="cs-CZ" b="1" dirty="0">
                <a:ln>
                  <a:solidFill>
                    <a:schemeClr val="bg1"/>
                  </a:solidFill>
                </a:ln>
              </a:rPr>
              <a:t>Pracovní skupina pro architekturu a řízení ICT</a:t>
            </a:r>
          </a:p>
          <a:p>
            <a:pPr marL="971550" lvl="1" indent="-514350">
              <a:buFont typeface="+mj-lt"/>
              <a:buAutoNum type="arabicPeriod"/>
            </a:pPr>
            <a:r>
              <a:rPr lang="cs-CZ" b="1" dirty="0">
                <a:ln>
                  <a:solidFill>
                    <a:schemeClr val="bg1"/>
                  </a:solidFill>
                </a:ln>
              </a:rPr>
              <a:t>Výbor pro Informační koncepci ČR</a:t>
            </a:r>
          </a:p>
          <a:p>
            <a:pPr marL="971550" lvl="1" indent="-514350">
              <a:buFont typeface="+mj-lt"/>
              <a:buAutoNum type="arabicPeriod"/>
            </a:pPr>
            <a:r>
              <a:rPr lang="cs-CZ" b="1" dirty="0">
                <a:ln>
                  <a:solidFill>
                    <a:schemeClr val="bg1"/>
                  </a:solidFill>
                </a:ln>
              </a:rPr>
              <a:t>Plenární zasedání RVIS</a:t>
            </a:r>
          </a:p>
        </p:txBody>
      </p:sp>
    </p:spTree>
    <p:extLst>
      <p:ext uri="{BB962C8B-B14F-4D97-AF65-F5344CB8AC3E}">
        <p14:creationId xmlns:p14="http://schemas.microsoft.com/office/powerpoint/2010/main" val="3282216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ln>
                  <a:solidFill>
                    <a:schemeClr val="tx1"/>
                  </a:solidFill>
                </a:ln>
                <a:solidFill>
                  <a:schemeClr val="bg1"/>
                </a:solidFill>
              </a:rPr>
              <a:t>Diskutuje s námi</a:t>
            </a:r>
          </a:p>
        </p:txBody>
      </p:sp>
      <p:sp>
        <p:nvSpPr>
          <p:cNvPr id="3" name="Zástupný symbol pro obsah 2"/>
          <p:cNvSpPr>
            <a:spLocks noGrp="1"/>
          </p:cNvSpPr>
          <p:nvPr>
            <p:ph idx="1"/>
          </p:nvPr>
        </p:nvSpPr>
        <p:spPr>
          <a:xfrm>
            <a:off x="838200" y="1611021"/>
            <a:ext cx="10515600" cy="4351338"/>
          </a:xfrm>
        </p:spPr>
        <p:txBody>
          <a:bodyPr>
            <a:normAutofit/>
          </a:bodyPr>
          <a:lstStyle/>
          <a:p>
            <a:r>
              <a:rPr lang="cs-CZ" b="1" dirty="0">
                <a:ln>
                  <a:solidFill>
                    <a:schemeClr val="tx1"/>
                  </a:solidFill>
                </a:ln>
                <a:solidFill>
                  <a:schemeClr val="bg1"/>
                </a:solidFill>
              </a:rPr>
              <a:t>Pravidla diskuze na konci každé stránky:</a:t>
            </a:r>
          </a:p>
          <a:p>
            <a:pPr lvl="1"/>
            <a:r>
              <a:rPr lang="cs-CZ" b="1" dirty="0">
                <a:ln>
                  <a:solidFill>
                    <a:schemeClr val="tx1"/>
                  </a:solidFill>
                </a:ln>
                <a:solidFill>
                  <a:schemeClr val="bg1"/>
                </a:solidFill>
              </a:rPr>
              <a:t>Dotazy se musí týkat dané stránky. Pokud Váš dotaz se stránkou nesouvisí a nenašli jste potřebné informace pomocí vyhledávání, založte prosím nové diskuzní vlákno ve speciální části webu </a:t>
            </a:r>
            <a:r>
              <a:rPr lang="cs-CZ" b="1" dirty="0">
                <a:ln>
                  <a:solidFill>
                    <a:schemeClr val="tx1"/>
                  </a:solidFill>
                </a:ln>
                <a:solidFill>
                  <a:schemeClr val="bg1"/>
                </a:solidFill>
                <a:hlinkClick r:id="rId2"/>
              </a:rPr>
              <a:t> </a:t>
            </a:r>
            <a:r>
              <a:rPr lang="cs-CZ" b="1" u="sng" dirty="0">
                <a:ln>
                  <a:solidFill>
                    <a:schemeClr val="tx1"/>
                  </a:solidFill>
                </a:ln>
                <a:solidFill>
                  <a:schemeClr val="bg1"/>
                </a:solidFill>
              </a:rPr>
              <a:t>https://archi.gov.cz/diskuze</a:t>
            </a:r>
            <a:r>
              <a:rPr lang="cs-CZ" b="1" dirty="0">
                <a:ln>
                  <a:solidFill>
                    <a:schemeClr val="tx1"/>
                  </a:solidFill>
                </a:ln>
                <a:solidFill>
                  <a:schemeClr val="bg1"/>
                </a:solidFill>
              </a:rPr>
              <a:t>.</a:t>
            </a:r>
          </a:p>
          <a:p>
            <a:r>
              <a:rPr lang="cs-CZ" b="1" dirty="0">
                <a:ln>
                  <a:solidFill>
                    <a:schemeClr val="bg1"/>
                  </a:solidFill>
                </a:ln>
              </a:rPr>
              <a:t>Pravidla diskuze ve speciální části webu </a:t>
            </a:r>
            <a:r>
              <a:rPr lang="cs-CZ" b="1" dirty="0">
                <a:ln>
                  <a:solidFill>
                    <a:schemeClr val="bg1"/>
                  </a:solidFill>
                </a:ln>
                <a:solidFill>
                  <a:schemeClr val="bg1"/>
                </a:solidFill>
                <a:hlinkClick r:id="rId2"/>
              </a:rPr>
              <a:t>https://archi.gov.cz/diskuze</a:t>
            </a:r>
            <a:r>
              <a:rPr lang="cs-CZ" b="1" dirty="0">
                <a:ln>
                  <a:solidFill>
                    <a:schemeClr val="bg1"/>
                  </a:solidFill>
                </a:ln>
                <a:solidFill>
                  <a:schemeClr val="bg1"/>
                </a:solidFill>
              </a:rPr>
              <a:t> </a:t>
            </a:r>
          </a:p>
          <a:p>
            <a:pPr lvl="1"/>
            <a:r>
              <a:rPr lang="cs-CZ" b="1" dirty="0">
                <a:ln>
                  <a:solidFill>
                    <a:schemeClr val="bg1"/>
                  </a:solidFill>
                </a:ln>
              </a:rPr>
              <a:t>Diskutujte v rámci založené diskuze. Pokud Váš příspěvek s vláknem nesouvisí, založte prosím nové diskuzní vlákno.</a:t>
            </a:r>
          </a:p>
          <a:p>
            <a:pPr lvl="1"/>
            <a:r>
              <a:rPr lang="cs-CZ" b="1" dirty="0">
                <a:ln>
                  <a:solidFill>
                    <a:schemeClr val="bg1"/>
                  </a:solidFill>
                </a:ln>
              </a:rPr>
              <a:t>Pokud zakládáte nové vlákno, nezapomeňte ho pojmenovat. Název by měl souviset s Vaším dotazem.</a:t>
            </a:r>
          </a:p>
          <a:p>
            <a:endParaRPr lang="cs-CZ" dirty="0">
              <a:ln>
                <a:solidFill>
                  <a:schemeClr val="tx1"/>
                </a:solidFill>
              </a:ln>
              <a:solidFill>
                <a:schemeClr val="bg1"/>
              </a:solidFill>
            </a:endParaRPr>
          </a:p>
        </p:txBody>
      </p:sp>
    </p:spTree>
    <p:extLst>
      <p:ext uri="{BB962C8B-B14F-4D97-AF65-F5344CB8AC3E}">
        <p14:creationId xmlns:p14="http://schemas.microsoft.com/office/powerpoint/2010/main" val="3289770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56954" y="2039140"/>
            <a:ext cx="10914610" cy="1978112"/>
          </a:xfrm>
        </p:spPr>
        <p:txBody>
          <a:bodyPr/>
          <a:lstStyle/>
          <a:p>
            <a:pPr algn="ctr"/>
            <a:r>
              <a:rPr lang="cs-CZ" b="1"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Implementační doporučení </a:t>
            </a:r>
            <a:r>
              <a:rPr lang="cs-CZ" b="1" dirty="0" err="1">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ZoPDS</a:t>
            </a:r>
            <a:endParaRPr lang="es-ES" b="1" dirty="0">
              <a:ln>
                <a:solidFill>
                  <a:schemeClr val="tx1"/>
                </a:solidFill>
              </a:ln>
              <a:solidFill>
                <a:schemeClr val="bg1"/>
              </a:solidFill>
            </a:endParaRPr>
          </a:p>
        </p:txBody>
      </p:sp>
    </p:spTree>
    <p:extLst>
      <p:ext uri="{BB962C8B-B14F-4D97-AF65-F5344CB8AC3E}">
        <p14:creationId xmlns:p14="http://schemas.microsoft.com/office/powerpoint/2010/main" val="3184153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Implementační doporučení </a:t>
            </a:r>
            <a:r>
              <a:rPr lang="cs-CZ" b="1" dirty="0" err="1">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ZoPDS</a:t>
            </a:r>
            <a:endParaRPr lang="cs-CZ" b="1" dirty="0">
              <a:ln>
                <a:solidFill>
                  <a:schemeClr val="tx1"/>
                </a:solidFill>
              </a:ln>
              <a:solidFill>
                <a:schemeClr val="bg1"/>
              </a:solidFill>
            </a:endParaRPr>
          </a:p>
        </p:txBody>
      </p:sp>
      <p:sp>
        <p:nvSpPr>
          <p:cNvPr id="3" name="Zástupný symbol pro obsah 2"/>
          <p:cNvSpPr>
            <a:spLocks noGrp="1"/>
          </p:cNvSpPr>
          <p:nvPr>
            <p:ph idx="1"/>
          </p:nvPr>
        </p:nvSpPr>
        <p:spPr>
          <a:xfrm>
            <a:off x="838200" y="1611021"/>
            <a:ext cx="10515600" cy="4351338"/>
          </a:xfrm>
        </p:spPr>
        <p:txBody>
          <a:bodyPr>
            <a:normAutofit/>
          </a:bodyPr>
          <a:lstStyle/>
          <a:p>
            <a:r>
              <a:rPr lang="cs-CZ" sz="4000" b="1" dirty="0">
                <a:ln>
                  <a:solidFill>
                    <a:schemeClr val="tx1"/>
                  </a:solidFill>
                </a:ln>
                <a:solidFill>
                  <a:schemeClr val="bg1"/>
                </a:solidFill>
              </a:rPr>
              <a:t>Pracovní skupina založená DIA</a:t>
            </a:r>
          </a:p>
          <a:p>
            <a:r>
              <a:rPr lang="cs-CZ" sz="4000" b="1" dirty="0">
                <a:ln>
                  <a:solidFill>
                    <a:schemeClr val="tx1"/>
                  </a:solidFill>
                </a:ln>
                <a:solidFill>
                  <a:schemeClr val="bg1"/>
                </a:solidFill>
              </a:rPr>
              <a:t>Doporučení k § 4, § 5, § 7, § 9 a katalogu služeb</a:t>
            </a:r>
          </a:p>
          <a:p>
            <a:r>
              <a:rPr lang="cs-CZ" sz="4000" b="1" dirty="0">
                <a:ln>
                  <a:solidFill>
                    <a:schemeClr val="bg1"/>
                  </a:solidFill>
                </a:ln>
              </a:rPr>
              <a:t>Budou následovat i další §</a:t>
            </a:r>
          </a:p>
          <a:p>
            <a:r>
              <a:rPr lang="cs-CZ" sz="4000" b="1" dirty="0">
                <a:ln>
                  <a:solidFill>
                    <a:schemeClr val="bg1"/>
                  </a:solidFill>
                </a:ln>
              </a:rPr>
              <a:t>Výsledkem budou doporučení, včetně návrhu změn zákona, které budou předloženy RVIS</a:t>
            </a:r>
          </a:p>
        </p:txBody>
      </p:sp>
    </p:spTree>
    <p:extLst>
      <p:ext uri="{BB962C8B-B14F-4D97-AF65-F5344CB8AC3E}">
        <p14:creationId xmlns:p14="http://schemas.microsoft.com/office/powerpoint/2010/main" val="3988652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56954" y="2039140"/>
            <a:ext cx="10914610" cy="1978112"/>
          </a:xfrm>
        </p:spPr>
        <p:txBody>
          <a:bodyPr/>
          <a:lstStyle/>
          <a:p>
            <a:pPr algn="ctr"/>
            <a:r>
              <a:rPr lang="cs-CZ" sz="4400" b="1" dirty="0" err="1">
                <a:ln>
                  <a:solidFill>
                    <a:sysClr val="windowText" lastClr="000000"/>
                  </a:solidFill>
                </a:ln>
                <a:solidFill>
                  <a:schemeClr val="bg1"/>
                </a:solidFill>
                <a:latin typeface="Arial" panose="020B0604020202020204" pitchFamily="34" charset="0"/>
                <a:cs typeface="Arial" panose="020B0604020202020204" pitchFamily="34" charset="0"/>
              </a:rPr>
              <a:t>ZoPDS</a:t>
            </a:r>
            <a:r>
              <a:rPr lang="cs-CZ" sz="4400" b="1" dirty="0">
                <a:ln>
                  <a:solidFill>
                    <a:sysClr val="windowText" lastClr="000000"/>
                  </a:solidFill>
                </a:ln>
                <a:solidFill>
                  <a:schemeClr val="bg1"/>
                </a:solidFill>
                <a:latin typeface="Arial" panose="020B0604020202020204" pitchFamily="34" charset="0"/>
                <a:cs typeface="Arial" panose="020B0604020202020204" pitchFamily="34" charset="0"/>
              </a:rPr>
              <a:t> a IROP</a:t>
            </a:r>
            <a:endParaRPr lang="es-ES" b="1" dirty="0">
              <a:ln>
                <a:solidFill>
                  <a:schemeClr val="tx1"/>
                </a:solidFill>
              </a:ln>
              <a:solidFill>
                <a:schemeClr val="bg1"/>
              </a:solidFill>
            </a:endParaRPr>
          </a:p>
        </p:txBody>
      </p:sp>
    </p:spTree>
    <p:extLst>
      <p:ext uri="{BB962C8B-B14F-4D97-AF65-F5344CB8AC3E}">
        <p14:creationId xmlns:p14="http://schemas.microsoft.com/office/powerpoint/2010/main" val="88267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F94DD5F-BF6B-0387-2F2D-F8EA5A6724E5}"/>
              </a:ext>
            </a:extLst>
          </p:cNvPr>
          <p:cNvSpPr>
            <a:spLocks noGrp="1"/>
          </p:cNvSpPr>
          <p:nvPr>
            <p:ph type="title"/>
          </p:nvPr>
        </p:nvSpPr>
        <p:spPr/>
        <p:txBody>
          <a:bodyPr/>
          <a:lstStyle/>
          <a:p>
            <a:r>
              <a:rPr lang="cs-CZ" dirty="0"/>
              <a:t>9. výzva IROP </a:t>
            </a:r>
          </a:p>
        </p:txBody>
      </p:sp>
      <p:sp>
        <p:nvSpPr>
          <p:cNvPr id="3" name="Zástupný obsah 2">
            <a:extLst>
              <a:ext uri="{FF2B5EF4-FFF2-40B4-BE49-F238E27FC236}">
                <a16:creationId xmlns:a16="http://schemas.microsoft.com/office/drawing/2014/main" id="{00885CB7-51F6-5E6F-2763-3A65C1829448}"/>
              </a:ext>
            </a:extLst>
          </p:cNvPr>
          <p:cNvSpPr>
            <a:spLocks noGrp="1"/>
          </p:cNvSpPr>
          <p:nvPr>
            <p:ph idx="1"/>
          </p:nvPr>
        </p:nvSpPr>
        <p:spPr>
          <a:xfrm>
            <a:off x="480001" y="1241991"/>
            <a:ext cx="11291423" cy="5095549"/>
          </a:xfrm>
        </p:spPr>
        <p:txBody>
          <a:bodyPr>
            <a:normAutofit fontScale="77500" lnSpcReduction="20000"/>
          </a:bodyPr>
          <a:lstStyle/>
          <a:p>
            <a:r>
              <a:rPr lang="cs-CZ" dirty="0"/>
              <a:t>Dotace</a:t>
            </a:r>
          </a:p>
          <a:p>
            <a:pPr lvl="1"/>
            <a:r>
              <a:rPr lang="cs-CZ" dirty="0"/>
              <a:t>Od data umožnění příjmu žádostí o podporu činí objem zaregistrovaných žádostí o podporu 483,87 mil. Kč z Evropského fondu pro regionální rozvoj, což představuje 53,6 % alokace výzvy. Ve výzvě je tak ještě k dispozici 418 mil. Kč.</a:t>
            </a:r>
          </a:p>
          <a:p>
            <a:r>
              <a:rPr lang="cs-CZ" dirty="0"/>
              <a:t>Termín</a:t>
            </a:r>
          </a:p>
          <a:p>
            <a:pPr lvl="1"/>
            <a:r>
              <a:rPr lang="cs-CZ" dirty="0"/>
              <a:t>Prodlouženo do konce roku 2023</a:t>
            </a:r>
          </a:p>
          <a:p>
            <a:r>
              <a:rPr lang="cs-CZ" dirty="0"/>
              <a:t>Oprávněnými příjemci výzvy č. 9 jsou </a:t>
            </a:r>
          </a:p>
          <a:p>
            <a:pPr lvl="1"/>
            <a:r>
              <a:rPr lang="cs-CZ" dirty="0"/>
              <a:t>především obce a kraje a jejich organizace v tzv. přechodových regionech (Plzeňský, Jihočeský, Středočeský, Jihomoravský kraj a kraj Vysočina). </a:t>
            </a:r>
          </a:p>
          <a:p>
            <a:pPr lvl="1"/>
            <a:r>
              <a:rPr lang="cs-CZ" dirty="0"/>
              <a:t>organizační složky státu; příspěvkové organizace organizačních složek státu; státní organizace; státní podniky; kraje; obce; organizace zřizované nebo zakládané kraji/obcemi.</a:t>
            </a:r>
          </a:p>
          <a:p>
            <a:r>
              <a:rPr lang="cs-CZ" dirty="0"/>
              <a:t>Podporováno je </a:t>
            </a:r>
          </a:p>
          <a:p>
            <a:pPr lvl="1"/>
            <a:r>
              <a:rPr lang="cs-CZ" dirty="0"/>
              <a:t>pořízení nových nebo modernizace stávajících informačních systémů v oblastech, jako je např. elektronizace služeb veřejné správy, rozšíření propojeného datového fondu, integrace elektronických služeb, elektronická identita, </a:t>
            </a:r>
            <a:r>
              <a:rPr lang="cs-CZ" dirty="0" err="1"/>
              <a:t>opendata</a:t>
            </a:r>
            <a:r>
              <a:rPr lang="cs-CZ" dirty="0"/>
              <a:t>, portálová řešení, automatizace, centralizace, standardizace apod. </a:t>
            </a:r>
          </a:p>
          <a:p>
            <a:r>
              <a:rPr lang="cs-CZ" b="0" i="0" dirty="0">
                <a:effectLst/>
                <a:latin typeface="Calibri" panose="020F0502020204030204" pitchFamily="34" charset="0"/>
                <a:hlinkClick r:id="rId2" tooltip="https://irop.mmr.cz/cs/vyzvy-2021-2027/vyzvy/9vyzvairop"/>
              </a:rPr>
              <a:t>https://irop.mmr.cz/cs/vyzvy-2021-2027/vyzvy/9vyzvairop</a:t>
            </a:r>
            <a:endParaRPr lang="cs-CZ" dirty="0"/>
          </a:p>
        </p:txBody>
      </p:sp>
    </p:spTree>
    <p:extLst>
      <p:ext uri="{BB962C8B-B14F-4D97-AF65-F5344CB8AC3E}">
        <p14:creationId xmlns:p14="http://schemas.microsoft.com/office/powerpoint/2010/main" val="3163803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32902F-7EB1-DE1E-3E0E-18415DF3D831}"/>
              </a:ext>
            </a:extLst>
          </p:cNvPr>
          <p:cNvSpPr>
            <a:spLocks noGrp="1"/>
          </p:cNvSpPr>
          <p:nvPr>
            <p:ph type="title"/>
          </p:nvPr>
        </p:nvSpPr>
        <p:spPr/>
        <p:txBody>
          <a:bodyPr/>
          <a:lstStyle/>
          <a:p>
            <a:r>
              <a:rPr lang="cs-CZ" dirty="0"/>
              <a:t>Projekty pro samosprávu související se ZoPDS</a:t>
            </a:r>
          </a:p>
        </p:txBody>
      </p:sp>
      <p:sp>
        <p:nvSpPr>
          <p:cNvPr id="3" name="Zástupný obsah 2">
            <a:extLst>
              <a:ext uri="{FF2B5EF4-FFF2-40B4-BE49-F238E27FC236}">
                <a16:creationId xmlns:a16="http://schemas.microsoft.com/office/drawing/2014/main" id="{41A9F124-E7DB-05DE-E89E-91FD63235998}"/>
              </a:ext>
            </a:extLst>
          </p:cNvPr>
          <p:cNvSpPr>
            <a:spLocks noGrp="1"/>
          </p:cNvSpPr>
          <p:nvPr>
            <p:ph idx="1"/>
          </p:nvPr>
        </p:nvSpPr>
        <p:spPr>
          <a:xfrm>
            <a:off x="480001" y="1104181"/>
            <a:ext cx="11291423" cy="5753819"/>
          </a:xfrm>
          <a:solidFill>
            <a:schemeClr val="bg1"/>
          </a:solidFill>
        </p:spPr>
        <p:txBody>
          <a:bodyPr>
            <a:normAutofit lnSpcReduction="10000"/>
          </a:bodyPr>
          <a:lstStyle/>
          <a:p>
            <a:r>
              <a:rPr lang="cs-CZ" sz="1867" dirty="0"/>
              <a:t>Implementace Katalogu služeb do portálu OVM</a:t>
            </a:r>
          </a:p>
          <a:p>
            <a:pPr lvl="1"/>
            <a:r>
              <a:rPr lang="cs-CZ" sz="1600" dirty="0"/>
              <a:t>Vlastní projekt spočívá v integraci Katalogu služeb do portálu OVM tak, aby se data automaticky přebírala z centrálního katalogu </a:t>
            </a:r>
          </a:p>
          <a:p>
            <a:pPr lvl="1"/>
            <a:r>
              <a:rPr lang="cs-CZ" sz="1600" dirty="0"/>
              <a:t>I když v současné době nejsou všechny služby dostupné, budou se automaticky aktualizovat podle toho, jak je budou ohlašovatelé služeb aktualizovat data a linky na elektronické formuláře. Obce a města tak nemají zbytečně plýtvat penězi na vlastní elektronické formuláře, ale naopak musí vynaložit finance na integraci služeb v přenesené působnosti. Vlastní integrace na základě rozhraní nebo otevřených dat nemusí být příliš složitá, je však nutné doplnit katalog o působností informace: Otevírací doba, kontaktní telefony, rezervace návštěv aj. </a:t>
            </a:r>
          </a:p>
          <a:p>
            <a:r>
              <a:rPr lang="cs-CZ" sz="1867" dirty="0"/>
              <a:t>Poplatky v přenesené působnosti</a:t>
            </a:r>
          </a:p>
          <a:p>
            <a:pPr lvl="1"/>
            <a:r>
              <a:rPr lang="cs-CZ" sz="1600" dirty="0"/>
              <a:t>Cílem projektu je zajistit právo na digitální službu pro oblast poplatků v přenesené působnosti. Je potřeba udělat analýzu, jak se poplatky vybírají a jaké informační systémy se na to používají. Následně je nutné vytvořit elektronické formuláře, které by umožnily službu vyřídit, pokud možno včetně zaplacení. Bude nutné se napojit na existující systémy, aby se formuláře předvyplnily v souladu s právem na využívání údajů</a:t>
            </a:r>
          </a:p>
          <a:p>
            <a:pPr lvl="1"/>
            <a:r>
              <a:rPr lang="cs-CZ" sz="1600" dirty="0"/>
              <a:t>Řešení vede na samoobslužný portál, který musí splňovat minimální podmínky pro samoobslužné formuláře</a:t>
            </a:r>
          </a:p>
          <a:p>
            <a:r>
              <a:rPr lang="cs-CZ" sz="1867" dirty="0"/>
              <a:t>Katalog služeb pro služby v samostatné působnosti</a:t>
            </a:r>
          </a:p>
          <a:p>
            <a:pPr lvl="1"/>
            <a:r>
              <a:rPr lang="cs-CZ" sz="1600" dirty="0"/>
              <a:t>Cílem projektu vytvořit federovaný katalog služeb ve stejné struktuře jako je Katalog služeb státní správy pro samostatnou působnost a soukromoprávní služby</a:t>
            </a:r>
          </a:p>
          <a:p>
            <a:pPr lvl="1"/>
            <a:r>
              <a:rPr lang="cs-CZ" sz="1600" dirty="0"/>
              <a:t>Cílem je vybudovat editovatelný katalog služeb kompatibilní s Katalogem služeb státní správy a propojit tyto dva katalogy na úrovni portálu města</a:t>
            </a:r>
          </a:p>
          <a:p>
            <a:pPr lvl="1"/>
            <a:r>
              <a:rPr lang="cs-CZ" sz="1600" dirty="0"/>
              <a:t>Následně vytvořit životní situace od státních po soukromoprávní služby</a:t>
            </a:r>
          </a:p>
        </p:txBody>
      </p:sp>
    </p:spTree>
    <p:extLst>
      <p:ext uri="{BB962C8B-B14F-4D97-AF65-F5344CB8AC3E}">
        <p14:creationId xmlns:p14="http://schemas.microsoft.com/office/powerpoint/2010/main" val="2276979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FC11CC-CC6F-CD88-B3FD-D0F73C61C046}"/>
              </a:ext>
            </a:extLst>
          </p:cNvPr>
          <p:cNvSpPr>
            <a:spLocks noGrp="1"/>
          </p:cNvSpPr>
          <p:nvPr>
            <p:ph type="title"/>
          </p:nvPr>
        </p:nvSpPr>
        <p:spPr/>
        <p:txBody>
          <a:bodyPr/>
          <a:lstStyle/>
          <a:p>
            <a:r>
              <a:rPr lang="cs-CZ" dirty="0"/>
              <a:t>Nové funkcionality a podklad pro formulář OHA </a:t>
            </a:r>
          </a:p>
        </p:txBody>
      </p:sp>
      <p:sp>
        <p:nvSpPr>
          <p:cNvPr id="3" name="Zástupný obsah 2">
            <a:extLst>
              <a:ext uri="{FF2B5EF4-FFF2-40B4-BE49-F238E27FC236}">
                <a16:creationId xmlns:a16="http://schemas.microsoft.com/office/drawing/2014/main" id="{E759EEEE-0C61-0F88-5A1F-F6CE82678237}"/>
              </a:ext>
            </a:extLst>
          </p:cNvPr>
          <p:cNvSpPr>
            <a:spLocks noGrp="1"/>
          </p:cNvSpPr>
          <p:nvPr>
            <p:ph idx="1"/>
          </p:nvPr>
        </p:nvSpPr>
        <p:spPr>
          <a:xfrm>
            <a:off x="480001" y="1391516"/>
            <a:ext cx="11291423" cy="5176061"/>
          </a:xfrm>
          <a:noFill/>
        </p:spPr>
        <p:txBody>
          <a:bodyPr>
            <a:normAutofit fontScale="92500" lnSpcReduction="10000"/>
          </a:bodyPr>
          <a:lstStyle/>
          <a:p>
            <a:r>
              <a:rPr lang="cs-CZ" dirty="0"/>
              <a:t>Žadatel pro potřeby posouzení svého záměru může uvést následující 3 nové funkcionality, pokud žadatel realizuje všechny potřebné výstupy pro realizaci požadavků ZoPDS v samosprávách (Napojení na centrální Katalog služeb VS, vytvoření lokálního katalogu služeb pro samosprávné služby, realizaci místních poplatků jako digitální službu)</a:t>
            </a:r>
          </a:p>
          <a:p>
            <a:pPr lvl="1"/>
            <a:r>
              <a:rPr lang="cs-CZ" dirty="0"/>
              <a:t>nová samoobslužná služba veřejné správy z katalogu služeb veřejné správy;</a:t>
            </a:r>
          </a:p>
          <a:p>
            <a:pPr lvl="1"/>
            <a:r>
              <a:rPr lang="cs-CZ" dirty="0"/>
              <a:t>zavádění povinností dle Zákona o právu na digitální služby</a:t>
            </a:r>
          </a:p>
          <a:p>
            <a:pPr lvl="1"/>
            <a:r>
              <a:rPr lang="cs-CZ" dirty="0"/>
              <a:t>vytvoření lokálního katalogu samosprávných služeb a napojení na centrální katalog služeb veřejné správy</a:t>
            </a:r>
          </a:p>
          <a:p>
            <a:r>
              <a:rPr lang="cs-CZ" dirty="0"/>
              <a:t>Jelikož jsou 2 ze tří funkcionalit mimo indikativní seznam dle Specifických pravidel pro žadatele a příjemce, je nutné je speciálně uvést ve studii proveditelnosti jako navržené nové funkcionality, které následně odbor Hlavního architekta eGovernmentu schválí.</a:t>
            </a:r>
          </a:p>
          <a:p>
            <a:r>
              <a:rPr lang="cs-CZ" dirty="0"/>
              <a:t>OHA připravilo podklad pro formulář OHA</a:t>
            </a:r>
          </a:p>
          <a:p>
            <a:endParaRPr lang="cs-CZ" dirty="0"/>
          </a:p>
        </p:txBody>
      </p:sp>
    </p:spTree>
    <p:extLst>
      <p:ext uri="{BB962C8B-B14F-4D97-AF65-F5344CB8AC3E}">
        <p14:creationId xmlns:p14="http://schemas.microsoft.com/office/powerpoint/2010/main" val="640924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79296A5-6A76-3CFD-C32A-F2BD15174127}"/>
              </a:ext>
            </a:extLst>
          </p:cNvPr>
          <p:cNvSpPr>
            <a:spLocks noGrp="1"/>
          </p:cNvSpPr>
          <p:nvPr>
            <p:ph type="title"/>
          </p:nvPr>
        </p:nvSpPr>
        <p:spPr/>
        <p:txBody>
          <a:bodyPr/>
          <a:lstStyle/>
          <a:p>
            <a:r>
              <a:rPr lang="cs-CZ" dirty="0"/>
              <a:t>Služby v Katalogu služeb – 7670, realizováno 373</a:t>
            </a:r>
          </a:p>
        </p:txBody>
      </p:sp>
      <p:pic>
        <p:nvPicPr>
          <p:cNvPr id="7" name="Zástupný obsah 6">
            <a:extLst>
              <a:ext uri="{FF2B5EF4-FFF2-40B4-BE49-F238E27FC236}">
                <a16:creationId xmlns:a16="http://schemas.microsoft.com/office/drawing/2014/main" id="{F04D10BF-ECB7-9985-3AAD-19BFA8ABC0F2}"/>
              </a:ext>
            </a:extLst>
          </p:cNvPr>
          <p:cNvPicPr>
            <a:picLocks noGrp="1" noChangeAspect="1"/>
          </p:cNvPicPr>
          <p:nvPr>
            <p:ph idx="1"/>
          </p:nvPr>
        </p:nvPicPr>
        <p:blipFill>
          <a:blip r:embed="rId2"/>
          <a:stretch>
            <a:fillRect/>
          </a:stretch>
        </p:blipFill>
        <p:spPr>
          <a:xfrm>
            <a:off x="484977" y="817419"/>
            <a:ext cx="7623932" cy="5924757"/>
          </a:xfrm>
          <a:prstGeom prst="rect">
            <a:avLst/>
          </a:prstGeom>
          <a:solidFill>
            <a:schemeClr val="bg1"/>
          </a:solidFill>
        </p:spPr>
      </p:pic>
    </p:spTree>
    <p:extLst>
      <p:ext uri="{BB962C8B-B14F-4D97-AF65-F5344CB8AC3E}">
        <p14:creationId xmlns:p14="http://schemas.microsoft.com/office/powerpoint/2010/main" val="2493384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8D27709-ED40-B184-16B6-6FE8E69A0898}"/>
              </a:ext>
            </a:extLst>
          </p:cNvPr>
          <p:cNvSpPr>
            <a:spLocks noGrp="1"/>
          </p:cNvSpPr>
          <p:nvPr>
            <p:ph type="title"/>
          </p:nvPr>
        </p:nvSpPr>
        <p:spPr/>
        <p:txBody>
          <a:bodyPr/>
          <a:lstStyle/>
          <a:p>
            <a:r>
              <a:rPr lang="cs-CZ" dirty="0"/>
              <a:t>Služby v Katalogu služeb – 7670, realizováno 373</a:t>
            </a:r>
          </a:p>
        </p:txBody>
      </p:sp>
      <p:pic>
        <p:nvPicPr>
          <p:cNvPr id="4" name="Zástupný obsah 3">
            <a:extLst>
              <a:ext uri="{FF2B5EF4-FFF2-40B4-BE49-F238E27FC236}">
                <a16:creationId xmlns:a16="http://schemas.microsoft.com/office/drawing/2014/main" id="{F96C69FF-178B-7B46-50B2-8FBB1F3328CA}"/>
              </a:ext>
            </a:extLst>
          </p:cNvPr>
          <p:cNvPicPr>
            <a:picLocks noGrp="1" noChangeAspect="1"/>
          </p:cNvPicPr>
          <p:nvPr>
            <p:ph idx="1"/>
          </p:nvPr>
        </p:nvPicPr>
        <p:blipFill>
          <a:blip r:embed="rId2"/>
          <a:stretch>
            <a:fillRect/>
          </a:stretch>
        </p:blipFill>
        <p:spPr>
          <a:xfrm>
            <a:off x="642541" y="817419"/>
            <a:ext cx="8738855" cy="6040581"/>
          </a:xfrm>
          <a:prstGeom prst="rect">
            <a:avLst/>
          </a:prstGeom>
        </p:spPr>
      </p:pic>
    </p:spTree>
    <p:extLst>
      <p:ext uri="{BB962C8B-B14F-4D97-AF65-F5344CB8AC3E}">
        <p14:creationId xmlns:p14="http://schemas.microsoft.com/office/powerpoint/2010/main" val="1647771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B24CAE-1145-AFFA-1A32-18CCA2260F7A}"/>
              </a:ext>
            </a:extLst>
          </p:cNvPr>
          <p:cNvSpPr>
            <a:spLocks noGrp="1"/>
          </p:cNvSpPr>
          <p:nvPr>
            <p:ph type="title"/>
          </p:nvPr>
        </p:nvSpPr>
        <p:spPr/>
        <p:txBody>
          <a:bodyPr/>
          <a:lstStyle/>
          <a:p>
            <a:r>
              <a:rPr lang="cs-CZ" dirty="0"/>
              <a:t>Popisy v Katalogu služeb</a:t>
            </a:r>
          </a:p>
        </p:txBody>
      </p:sp>
      <p:graphicFrame>
        <p:nvGraphicFramePr>
          <p:cNvPr id="6" name="Graf 5">
            <a:extLst>
              <a:ext uri="{FF2B5EF4-FFF2-40B4-BE49-F238E27FC236}">
                <a16:creationId xmlns:a16="http://schemas.microsoft.com/office/drawing/2014/main" id="{E82F9B48-692F-3704-3E0E-38024D5129B8}"/>
              </a:ext>
            </a:extLst>
          </p:cNvPr>
          <p:cNvGraphicFramePr>
            <a:graphicFrameLocks/>
          </p:cNvGraphicFramePr>
          <p:nvPr/>
        </p:nvGraphicFramePr>
        <p:xfrm>
          <a:off x="484977" y="941408"/>
          <a:ext cx="10224947" cy="53196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56294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FE45059-7EA6-ED60-58C8-EB4627DEB992}"/>
              </a:ext>
            </a:extLst>
          </p:cNvPr>
          <p:cNvSpPr>
            <a:spLocks noGrp="1"/>
          </p:cNvSpPr>
          <p:nvPr>
            <p:ph type="title"/>
          </p:nvPr>
        </p:nvSpPr>
        <p:spPr/>
        <p:txBody>
          <a:bodyPr/>
          <a:lstStyle/>
          <a:p>
            <a:r>
              <a:rPr lang="cs-CZ" dirty="0"/>
              <a:t>Přenesená působnost</a:t>
            </a:r>
          </a:p>
        </p:txBody>
      </p:sp>
      <p:sp>
        <p:nvSpPr>
          <p:cNvPr id="3" name="Zástupný text 2">
            <a:extLst>
              <a:ext uri="{FF2B5EF4-FFF2-40B4-BE49-F238E27FC236}">
                <a16:creationId xmlns:a16="http://schemas.microsoft.com/office/drawing/2014/main" id="{06378B4D-2F33-E4F8-DB26-B381D7CF6E2B}"/>
              </a:ext>
            </a:extLst>
          </p:cNvPr>
          <p:cNvSpPr>
            <a:spLocks noGrp="1"/>
          </p:cNvSpPr>
          <p:nvPr>
            <p:ph type="body" idx="1"/>
          </p:nvPr>
        </p:nvSpPr>
        <p:spPr/>
        <p:txBody>
          <a:bodyPr/>
          <a:lstStyle/>
          <a:p>
            <a:endParaRPr lang="cs-CZ"/>
          </a:p>
        </p:txBody>
      </p:sp>
    </p:spTree>
    <p:extLst>
      <p:ext uri="{BB962C8B-B14F-4D97-AF65-F5344CB8AC3E}">
        <p14:creationId xmlns:p14="http://schemas.microsoft.com/office/powerpoint/2010/main" val="571641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4064C49-FEC0-D3F5-C98E-00D4D5232220}"/>
              </a:ext>
            </a:extLst>
          </p:cNvPr>
          <p:cNvSpPr>
            <a:spLocks noGrp="1"/>
          </p:cNvSpPr>
          <p:nvPr>
            <p:ph type="title"/>
          </p:nvPr>
        </p:nvSpPr>
        <p:spPr/>
        <p:txBody>
          <a:bodyPr/>
          <a:lstStyle/>
          <a:p>
            <a:r>
              <a:rPr lang="cs-CZ" dirty="0"/>
              <a:t>Přenesená působnost – 1477 služeb</a:t>
            </a:r>
          </a:p>
        </p:txBody>
      </p:sp>
      <p:pic>
        <p:nvPicPr>
          <p:cNvPr id="5" name="Zástupný obsah 4">
            <a:extLst>
              <a:ext uri="{FF2B5EF4-FFF2-40B4-BE49-F238E27FC236}">
                <a16:creationId xmlns:a16="http://schemas.microsoft.com/office/drawing/2014/main" id="{2CE1B25F-1E61-E85A-DF80-45DCC5CD9549}"/>
              </a:ext>
            </a:extLst>
          </p:cNvPr>
          <p:cNvPicPr>
            <a:picLocks noGrp="1" noChangeAspect="1"/>
          </p:cNvPicPr>
          <p:nvPr>
            <p:ph idx="1"/>
          </p:nvPr>
        </p:nvPicPr>
        <p:blipFill>
          <a:blip r:embed="rId2"/>
          <a:stretch>
            <a:fillRect/>
          </a:stretch>
        </p:blipFill>
        <p:spPr>
          <a:xfrm>
            <a:off x="484977" y="1120563"/>
            <a:ext cx="11228633" cy="5548460"/>
          </a:xfrm>
          <a:prstGeom prst="rect">
            <a:avLst/>
          </a:prstGeom>
          <a:solidFill>
            <a:schemeClr val="bg1"/>
          </a:solidFill>
        </p:spPr>
      </p:pic>
    </p:spTree>
    <p:extLst>
      <p:ext uri="{BB962C8B-B14F-4D97-AF65-F5344CB8AC3E}">
        <p14:creationId xmlns:p14="http://schemas.microsoft.com/office/powerpoint/2010/main" val="1299063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762CB4F-5993-61EB-93DA-93AEE058EFC8}"/>
              </a:ext>
            </a:extLst>
          </p:cNvPr>
          <p:cNvSpPr>
            <a:spLocks noGrp="1"/>
          </p:cNvSpPr>
          <p:nvPr>
            <p:ph type="title"/>
          </p:nvPr>
        </p:nvSpPr>
        <p:spPr/>
        <p:txBody>
          <a:bodyPr/>
          <a:lstStyle/>
          <a:p>
            <a:r>
              <a:rPr lang="cs-CZ" dirty="0"/>
              <a:t>Chybějící formuláře pro 1461 služeb</a:t>
            </a:r>
          </a:p>
        </p:txBody>
      </p:sp>
      <p:pic>
        <p:nvPicPr>
          <p:cNvPr id="4" name="Zástupný obsah 3">
            <a:extLst>
              <a:ext uri="{FF2B5EF4-FFF2-40B4-BE49-F238E27FC236}">
                <a16:creationId xmlns:a16="http://schemas.microsoft.com/office/drawing/2014/main" id="{BA7D0369-78D7-C8D8-431F-308977117EEB}"/>
              </a:ext>
            </a:extLst>
          </p:cNvPr>
          <p:cNvPicPr>
            <a:picLocks noGrp="1" noChangeAspect="1"/>
          </p:cNvPicPr>
          <p:nvPr>
            <p:ph idx="1"/>
          </p:nvPr>
        </p:nvPicPr>
        <p:blipFill>
          <a:blip r:embed="rId2"/>
          <a:stretch>
            <a:fillRect/>
          </a:stretch>
        </p:blipFill>
        <p:spPr>
          <a:xfrm>
            <a:off x="484978" y="1023027"/>
            <a:ext cx="10292751" cy="5643885"/>
          </a:xfrm>
          <a:prstGeom prst="rect">
            <a:avLst/>
          </a:prstGeom>
        </p:spPr>
      </p:pic>
    </p:spTree>
    <p:extLst>
      <p:ext uri="{BB962C8B-B14F-4D97-AF65-F5344CB8AC3E}">
        <p14:creationId xmlns:p14="http://schemas.microsoft.com/office/powerpoint/2010/main" val="3351341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545A656-3F82-DC2A-8E4E-F37350F9235B}"/>
              </a:ext>
            </a:extLst>
          </p:cNvPr>
          <p:cNvSpPr>
            <a:spLocks noGrp="1"/>
          </p:cNvSpPr>
          <p:nvPr>
            <p:ph type="title"/>
          </p:nvPr>
        </p:nvSpPr>
        <p:spPr/>
        <p:txBody>
          <a:bodyPr/>
          <a:lstStyle/>
          <a:p>
            <a:r>
              <a:rPr lang="cs-CZ" dirty="0"/>
              <a:t>Popis služeb v Katalogu služeb – přenesená působnost</a:t>
            </a:r>
          </a:p>
        </p:txBody>
      </p:sp>
      <p:graphicFrame>
        <p:nvGraphicFramePr>
          <p:cNvPr id="5" name="Graf 4">
            <a:extLst>
              <a:ext uri="{FF2B5EF4-FFF2-40B4-BE49-F238E27FC236}">
                <a16:creationId xmlns:a16="http://schemas.microsoft.com/office/drawing/2014/main" id="{B697D08A-E4F8-DDD9-BDBD-B27B79CA8CA3}"/>
              </a:ext>
            </a:extLst>
          </p:cNvPr>
          <p:cNvGraphicFramePr>
            <a:graphicFrameLocks/>
          </p:cNvGraphicFramePr>
          <p:nvPr/>
        </p:nvGraphicFramePr>
        <p:xfrm>
          <a:off x="685640" y="817419"/>
          <a:ext cx="7950200" cy="5506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51342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1">
            <a:extLst>
              <a:ext uri="{FF2B5EF4-FFF2-40B4-BE49-F238E27FC236}">
                <a16:creationId xmlns:a16="http://schemas.microsoft.com/office/drawing/2014/main" id="{662AB192-B740-4CC0-9C95-1838B6FB28CB}"/>
              </a:ext>
            </a:extLst>
          </p:cNvPr>
          <p:cNvSpPr/>
          <p:nvPr/>
        </p:nvSpPr>
        <p:spPr>
          <a:xfrm>
            <a:off x="2819939" y="848873"/>
            <a:ext cx="6552124" cy="6010204"/>
          </a:xfrm>
          <a:custGeom>
            <a:avLst/>
            <a:gdLst>
              <a:gd name="connsiteX0" fmla="*/ 0 w 4303060"/>
              <a:gd name="connsiteY0" fmla="*/ 0 h 954741"/>
              <a:gd name="connsiteX1" fmla="*/ 4303060 w 4303060"/>
              <a:gd name="connsiteY1" fmla="*/ 0 h 954741"/>
              <a:gd name="connsiteX2" fmla="*/ 4303060 w 4303060"/>
              <a:gd name="connsiteY2" fmla="*/ 954741 h 954741"/>
              <a:gd name="connsiteX3" fmla="*/ 0 w 4303060"/>
              <a:gd name="connsiteY3" fmla="*/ 954741 h 954741"/>
              <a:gd name="connsiteX4" fmla="*/ 0 w 4303060"/>
              <a:gd name="connsiteY4" fmla="*/ 0 h 954741"/>
              <a:gd name="connsiteX0" fmla="*/ 0 w 6481483"/>
              <a:gd name="connsiteY0" fmla="*/ 0 h 1492623"/>
              <a:gd name="connsiteX1" fmla="*/ 6481483 w 6481483"/>
              <a:gd name="connsiteY1" fmla="*/ 537882 h 1492623"/>
              <a:gd name="connsiteX2" fmla="*/ 6481483 w 6481483"/>
              <a:gd name="connsiteY2" fmla="*/ 1492623 h 1492623"/>
              <a:gd name="connsiteX3" fmla="*/ 2178423 w 6481483"/>
              <a:gd name="connsiteY3" fmla="*/ 1492623 h 1492623"/>
              <a:gd name="connsiteX4" fmla="*/ 0 w 6481483"/>
              <a:gd name="connsiteY4" fmla="*/ 0 h 1492623"/>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50575 h 2743198"/>
              <a:gd name="connsiteX1" fmla="*/ 1250577 w 6481483"/>
              <a:gd name="connsiteY1" fmla="*/ 0 h 2743198"/>
              <a:gd name="connsiteX2" fmla="*/ 1707777 w 6481483"/>
              <a:gd name="connsiteY2" fmla="*/ 1048869 h 2743198"/>
              <a:gd name="connsiteX3" fmla="*/ 6481483 w 6481483"/>
              <a:gd name="connsiteY3" fmla="*/ 2743198 h 2743198"/>
              <a:gd name="connsiteX4" fmla="*/ 2178423 w 6481483"/>
              <a:gd name="connsiteY4" fmla="*/ 2743198 h 2743198"/>
              <a:gd name="connsiteX5" fmla="*/ 0 w 6481483"/>
              <a:gd name="connsiteY5" fmla="*/ 1250575 h 2743198"/>
              <a:gd name="connsiteX0" fmla="*/ 61419 w 6542902"/>
              <a:gd name="connsiteY0" fmla="*/ 1250575 h 2743198"/>
              <a:gd name="connsiteX1" fmla="*/ 1311996 w 6542902"/>
              <a:gd name="connsiteY1" fmla="*/ 0 h 2743198"/>
              <a:gd name="connsiteX2" fmla="*/ 1769196 w 6542902"/>
              <a:gd name="connsiteY2" fmla="*/ 1048869 h 2743198"/>
              <a:gd name="connsiteX3" fmla="*/ 6542902 w 6542902"/>
              <a:gd name="connsiteY3" fmla="*/ 2743198 h 2743198"/>
              <a:gd name="connsiteX4" fmla="*/ 2239842 w 6542902"/>
              <a:gd name="connsiteY4" fmla="*/ 2743198 h 2743198"/>
              <a:gd name="connsiteX5" fmla="*/ 61419 w 6542902"/>
              <a:gd name="connsiteY5" fmla="*/ 1250575 h 2743198"/>
              <a:gd name="connsiteX0" fmla="*/ 59567 w 6541050"/>
              <a:gd name="connsiteY0" fmla="*/ 1277470 h 2770093"/>
              <a:gd name="connsiteX1" fmla="*/ 1323591 w 6541050"/>
              <a:gd name="connsiteY1" fmla="*/ 0 h 2770093"/>
              <a:gd name="connsiteX2" fmla="*/ 1767344 w 6541050"/>
              <a:gd name="connsiteY2" fmla="*/ 1075764 h 2770093"/>
              <a:gd name="connsiteX3" fmla="*/ 6541050 w 6541050"/>
              <a:gd name="connsiteY3" fmla="*/ 2770093 h 2770093"/>
              <a:gd name="connsiteX4" fmla="*/ 2237990 w 6541050"/>
              <a:gd name="connsiteY4" fmla="*/ 2770093 h 2770093"/>
              <a:gd name="connsiteX5" fmla="*/ 59567 w 6541050"/>
              <a:gd name="connsiteY5" fmla="*/ 1277470 h 2770093"/>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2202012 h 3694635"/>
              <a:gd name="connsiteX1" fmla="*/ 1323591 w 6541050"/>
              <a:gd name="connsiteY1" fmla="*/ 924542 h 3694635"/>
              <a:gd name="connsiteX2" fmla="*/ 4214709 w 6541050"/>
              <a:gd name="connsiteY2" fmla="*/ 373214 h 3694635"/>
              <a:gd name="connsiteX3" fmla="*/ 5411497 w 6541050"/>
              <a:gd name="connsiteY3" fmla="*/ 10143 h 3694635"/>
              <a:gd name="connsiteX4" fmla="*/ 4470203 w 6541050"/>
              <a:gd name="connsiteY4" fmla="*/ 816967 h 3694635"/>
              <a:gd name="connsiteX5" fmla="*/ 1767344 w 6541050"/>
              <a:gd name="connsiteY5" fmla="*/ 2000306 h 3694635"/>
              <a:gd name="connsiteX6" fmla="*/ 6541050 w 6541050"/>
              <a:gd name="connsiteY6" fmla="*/ 3694635 h 3694635"/>
              <a:gd name="connsiteX7" fmla="*/ 2237990 w 6541050"/>
              <a:gd name="connsiteY7" fmla="*/ 3694635 h 3694635"/>
              <a:gd name="connsiteX8" fmla="*/ 59567 w 6541050"/>
              <a:gd name="connsiteY8" fmla="*/ 2202012 h 36946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3209926 h 4702549"/>
              <a:gd name="connsiteX1" fmla="*/ 1323591 w 6541050"/>
              <a:gd name="connsiteY1" fmla="*/ 1932456 h 4702549"/>
              <a:gd name="connsiteX2" fmla="*/ 4214709 w 6541050"/>
              <a:gd name="connsiteY2" fmla="*/ 1381128 h 4702549"/>
              <a:gd name="connsiteX3" fmla="*/ 2991026 w 6541050"/>
              <a:gd name="connsiteY3" fmla="*/ 587752 h 4702549"/>
              <a:gd name="connsiteX4" fmla="*/ 4618121 w 6541050"/>
              <a:gd name="connsiteY4" fmla="*/ 9528 h 4702549"/>
              <a:gd name="connsiteX5" fmla="*/ 4523991 w 6541050"/>
              <a:gd name="connsiteY5" fmla="*/ 265022 h 4702549"/>
              <a:gd name="connsiteX6" fmla="*/ 5411497 w 6541050"/>
              <a:gd name="connsiteY6" fmla="*/ 1018057 h 4702549"/>
              <a:gd name="connsiteX7" fmla="*/ 4470203 w 6541050"/>
              <a:gd name="connsiteY7" fmla="*/ 1824881 h 4702549"/>
              <a:gd name="connsiteX8" fmla="*/ 1767344 w 6541050"/>
              <a:gd name="connsiteY8" fmla="*/ 3008220 h 4702549"/>
              <a:gd name="connsiteX9" fmla="*/ 6541050 w 6541050"/>
              <a:gd name="connsiteY9" fmla="*/ 4702549 h 4702549"/>
              <a:gd name="connsiteX10" fmla="*/ 2237990 w 6541050"/>
              <a:gd name="connsiteY10" fmla="*/ 4702549 h 4702549"/>
              <a:gd name="connsiteX11" fmla="*/ 59567 w 6541050"/>
              <a:gd name="connsiteY11" fmla="*/ 3209926 h 4702549"/>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43216 w 6524699"/>
              <a:gd name="connsiteY0" fmla="*/ 3160057 h 4652680"/>
              <a:gd name="connsiteX1" fmla="*/ 1307240 w 6524699"/>
              <a:gd name="connsiteY1" fmla="*/ 1882587 h 4652680"/>
              <a:gd name="connsiteX2" fmla="*/ 4198358 w 6524699"/>
              <a:gd name="connsiteY2" fmla="*/ 1331259 h 4652680"/>
              <a:gd name="connsiteX3" fmla="*/ 2974675 w 6524699"/>
              <a:gd name="connsiteY3" fmla="*/ 537883 h 4652680"/>
              <a:gd name="connsiteX4" fmla="*/ 4561428 w 6524699"/>
              <a:gd name="connsiteY4" fmla="*/ 0 h 4652680"/>
              <a:gd name="connsiteX5" fmla="*/ 5166546 w 6524699"/>
              <a:gd name="connsiteY5" fmla="*/ 147918 h 4652680"/>
              <a:gd name="connsiteX6" fmla="*/ 5395146 w 6524699"/>
              <a:gd name="connsiteY6" fmla="*/ 968188 h 4652680"/>
              <a:gd name="connsiteX7" fmla="*/ 4453852 w 6524699"/>
              <a:gd name="connsiteY7" fmla="*/ 1775012 h 4652680"/>
              <a:gd name="connsiteX8" fmla="*/ 1750993 w 6524699"/>
              <a:gd name="connsiteY8" fmla="*/ 2958351 h 4652680"/>
              <a:gd name="connsiteX9" fmla="*/ 6524699 w 6524699"/>
              <a:gd name="connsiteY9" fmla="*/ 4652680 h 4652680"/>
              <a:gd name="connsiteX10" fmla="*/ 2221639 w 6524699"/>
              <a:gd name="connsiteY10" fmla="*/ 4652680 h 4652680"/>
              <a:gd name="connsiteX11" fmla="*/ 43216 w 6524699"/>
              <a:gd name="connsiteY11" fmla="*/ 3160057 h 4652680"/>
              <a:gd name="connsiteX0" fmla="*/ 70641 w 6552124"/>
              <a:gd name="connsiteY0" fmla="*/ 3160057 h 4652680"/>
              <a:gd name="connsiteX1" fmla="*/ 1334665 w 6552124"/>
              <a:gd name="connsiteY1" fmla="*/ 1882587 h 4652680"/>
              <a:gd name="connsiteX2" fmla="*/ 4225783 w 6552124"/>
              <a:gd name="connsiteY2" fmla="*/ 1331259 h 4652680"/>
              <a:gd name="connsiteX3" fmla="*/ 3002100 w 6552124"/>
              <a:gd name="connsiteY3" fmla="*/ 537883 h 4652680"/>
              <a:gd name="connsiteX4" fmla="*/ 4588853 w 6552124"/>
              <a:gd name="connsiteY4" fmla="*/ 0 h 4652680"/>
              <a:gd name="connsiteX5" fmla="*/ 5193971 w 6552124"/>
              <a:gd name="connsiteY5" fmla="*/ 147918 h 4652680"/>
              <a:gd name="connsiteX6" fmla="*/ 5422571 w 6552124"/>
              <a:gd name="connsiteY6" fmla="*/ 968188 h 4652680"/>
              <a:gd name="connsiteX7" fmla="*/ 4481277 w 6552124"/>
              <a:gd name="connsiteY7" fmla="*/ 1775012 h 4652680"/>
              <a:gd name="connsiteX8" fmla="*/ 1778418 w 6552124"/>
              <a:gd name="connsiteY8" fmla="*/ 2958351 h 4652680"/>
              <a:gd name="connsiteX9" fmla="*/ 6552124 w 6552124"/>
              <a:gd name="connsiteY9" fmla="*/ 4652680 h 4652680"/>
              <a:gd name="connsiteX10" fmla="*/ 2249064 w 6552124"/>
              <a:gd name="connsiteY10" fmla="*/ 4652680 h 4652680"/>
              <a:gd name="connsiteX11" fmla="*/ 70641 w 6552124"/>
              <a:gd name="connsiteY11" fmla="*/ 3160057 h 4652680"/>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203877 h 4696500"/>
              <a:gd name="connsiteX1" fmla="*/ 1334665 w 6552124"/>
              <a:gd name="connsiteY1" fmla="*/ 1926407 h 4696500"/>
              <a:gd name="connsiteX2" fmla="*/ 4225783 w 6552124"/>
              <a:gd name="connsiteY2" fmla="*/ 1375079 h 4696500"/>
              <a:gd name="connsiteX3" fmla="*/ 3002100 w 6552124"/>
              <a:gd name="connsiteY3" fmla="*/ 581703 h 4696500"/>
              <a:gd name="connsiteX4" fmla="*/ 4661281 w 6552124"/>
              <a:gd name="connsiteY4" fmla="*/ 30240 h 4696500"/>
              <a:gd name="connsiteX5" fmla="*/ 5499659 w 6552124"/>
              <a:gd name="connsiteY5" fmla="*/ 60063 h 4696500"/>
              <a:gd name="connsiteX6" fmla="*/ 5193971 w 6552124"/>
              <a:gd name="connsiteY6" fmla="*/ 191738 h 4696500"/>
              <a:gd name="connsiteX7" fmla="*/ 5422571 w 6552124"/>
              <a:gd name="connsiteY7" fmla="*/ 1012008 h 4696500"/>
              <a:gd name="connsiteX8" fmla="*/ 4481277 w 6552124"/>
              <a:gd name="connsiteY8" fmla="*/ 1818832 h 4696500"/>
              <a:gd name="connsiteX9" fmla="*/ 1778418 w 6552124"/>
              <a:gd name="connsiteY9" fmla="*/ 3002171 h 4696500"/>
              <a:gd name="connsiteX10" fmla="*/ 6552124 w 6552124"/>
              <a:gd name="connsiteY10" fmla="*/ 4696500 h 4696500"/>
              <a:gd name="connsiteX11" fmla="*/ 2249064 w 6552124"/>
              <a:gd name="connsiteY11" fmla="*/ 4696500 h 4696500"/>
              <a:gd name="connsiteX12" fmla="*/ 70641 w 6552124"/>
              <a:gd name="connsiteY12" fmla="*/ 3203877 h 4696500"/>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533230 h 5025853"/>
              <a:gd name="connsiteX1" fmla="*/ 1334665 w 6552124"/>
              <a:gd name="connsiteY1" fmla="*/ 2255760 h 5025853"/>
              <a:gd name="connsiteX2" fmla="*/ 4225783 w 6552124"/>
              <a:gd name="connsiteY2" fmla="*/ 1704432 h 5025853"/>
              <a:gd name="connsiteX3" fmla="*/ 3002100 w 6552124"/>
              <a:gd name="connsiteY3" fmla="*/ 911056 h 5025853"/>
              <a:gd name="connsiteX4" fmla="*/ 4634121 w 6552124"/>
              <a:gd name="connsiteY4" fmla="*/ 350540 h 5025853"/>
              <a:gd name="connsiteX5" fmla="*/ 4884023 w 6552124"/>
              <a:gd name="connsiteY5" fmla="*/ 119 h 5025853"/>
              <a:gd name="connsiteX6" fmla="*/ 5499659 w 6552124"/>
              <a:gd name="connsiteY6" fmla="*/ 389416 h 5025853"/>
              <a:gd name="connsiteX7" fmla="*/ 5193971 w 6552124"/>
              <a:gd name="connsiteY7" fmla="*/ 521091 h 5025853"/>
              <a:gd name="connsiteX8" fmla="*/ 5422571 w 6552124"/>
              <a:gd name="connsiteY8" fmla="*/ 1341361 h 5025853"/>
              <a:gd name="connsiteX9" fmla="*/ 4481277 w 6552124"/>
              <a:gd name="connsiteY9" fmla="*/ 2148185 h 5025853"/>
              <a:gd name="connsiteX10" fmla="*/ 1778418 w 6552124"/>
              <a:gd name="connsiteY10" fmla="*/ 3331524 h 5025853"/>
              <a:gd name="connsiteX11" fmla="*/ 6552124 w 6552124"/>
              <a:gd name="connsiteY11" fmla="*/ 5025853 h 5025853"/>
              <a:gd name="connsiteX12" fmla="*/ 2249064 w 6552124"/>
              <a:gd name="connsiteY12" fmla="*/ 5025853 h 5025853"/>
              <a:gd name="connsiteX13" fmla="*/ 70641 w 6552124"/>
              <a:gd name="connsiteY13" fmla="*/ 3533230 h 5025853"/>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4094446 h 5587069"/>
              <a:gd name="connsiteX1" fmla="*/ 1334665 w 6552124"/>
              <a:gd name="connsiteY1" fmla="*/ 2816976 h 5587069"/>
              <a:gd name="connsiteX2" fmla="*/ 4225783 w 6552124"/>
              <a:gd name="connsiteY2" fmla="*/ 2265648 h 5587069"/>
              <a:gd name="connsiteX3" fmla="*/ 3002100 w 6552124"/>
              <a:gd name="connsiteY3" fmla="*/ 1472272 h 5587069"/>
              <a:gd name="connsiteX4" fmla="*/ 4634121 w 6552124"/>
              <a:gd name="connsiteY4" fmla="*/ 911756 h 5587069"/>
              <a:gd name="connsiteX5" fmla="*/ 4874969 w 6552124"/>
              <a:gd name="connsiteY5" fmla="*/ 565862 h 5587069"/>
              <a:gd name="connsiteX6" fmla="*/ 5508712 w 6552124"/>
              <a:gd name="connsiteY6" fmla="*/ 20 h 5587069"/>
              <a:gd name="connsiteX7" fmla="*/ 5658094 w 6552124"/>
              <a:gd name="connsiteY7" fmla="*/ 588496 h 5587069"/>
              <a:gd name="connsiteX8" fmla="*/ 5508712 w 6552124"/>
              <a:gd name="connsiteY8" fmla="*/ 968739 h 5587069"/>
              <a:gd name="connsiteX9" fmla="*/ 5193971 w 6552124"/>
              <a:gd name="connsiteY9" fmla="*/ 1082307 h 5587069"/>
              <a:gd name="connsiteX10" fmla="*/ 5422571 w 6552124"/>
              <a:gd name="connsiteY10" fmla="*/ 1902577 h 5587069"/>
              <a:gd name="connsiteX11" fmla="*/ 4481277 w 6552124"/>
              <a:gd name="connsiteY11" fmla="*/ 2709401 h 5587069"/>
              <a:gd name="connsiteX12" fmla="*/ 1778418 w 6552124"/>
              <a:gd name="connsiteY12" fmla="*/ 3892740 h 5587069"/>
              <a:gd name="connsiteX13" fmla="*/ 6552124 w 6552124"/>
              <a:gd name="connsiteY13" fmla="*/ 5587069 h 5587069"/>
              <a:gd name="connsiteX14" fmla="*/ 2249064 w 6552124"/>
              <a:gd name="connsiteY14" fmla="*/ 5587069 h 5587069"/>
              <a:gd name="connsiteX15" fmla="*/ 70641 w 6552124"/>
              <a:gd name="connsiteY15" fmla="*/ 4094446 h 5587069"/>
              <a:gd name="connsiteX0" fmla="*/ 70641 w 6552124"/>
              <a:gd name="connsiteY0" fmla="*/ 4095830 h 5588453"/>
              <a:gd name="connsiteX1" fmla="*/ 1334665 w 6552124"/>
              <a:gd name="connsiteY1" fmla="*/ 2818360 h 5588453"/>
              <a:gd name="connsiteX2" fmla="*/ 4225783 w 6552124"/>
              <a:gd name="connsiteY2" fmla="*/ 2267032 h 5588453"/>
              <a:gd name="connsiteX3" fmla="*/ 3002100 w 6552124"/>
              <a:gd name="connsiteY3" fmla="*/ 1473656 h 5588453"/>
              <a:gd name="connsiteX4" fmla="*/ 4634121 w 6552124"/>
              <a:gd name="connsiteY4" fmla="*/ 913140 h 5588453"/>
              <a:gd name="connsiteX5" fmla="*/ 4874969 w 6552124"/>
              <a:gd name="connsiteY5" fmla="*/ 567246 h 5588453"/>
              <a:gd name="connsiteX6" fmla="*/ 4408716 w 6552124"/>
              <a:gd name="connsiteY6" fmla="*/ 485765 h 5588453"/>
              <a:gd name="connsiteX7" fmla="*/ 5508712 w 6552124"/>
              <a:gd name="connsiteY7" fmla="*/ 1404 h 5588453"/>
              <a:gd name="connsiteX8" fmla="*/ 5658094 w 6552124"/>
              <a:gd name="connsiteY8" fmla="*/ 589880 h 5588453"/>
              <a:gd name="connsiteX9" fmla="*/ 5508712 w 6552124"/>
              <a:gd name="connsiteY9" fmla="*/ 970123 h 5588453"/>
              <a:gd name="connsiteX10" fmla="*/ 5193971 w 6552124"/>
              <a:gd name="connsiteY10" fmla="*/ 1083691 h 5588453"/>
              <a:gd name="connsiteX11" fmla="*/ 5422571 w 6552124"/>
              <a:gd name="connsiteY11" fmla="*/ 1903961 h 5588453"/>
              <a:gd name="connsiteX12" fmla="*/ 4481277 w 6552124"/>
              <a:gd name="connsiteY12" fmla="*/ 2710785 h 5588453"/>
              <a:gd name="connsiteX13" fmla="*/ 1778418 w 6552124"/>
              <a:gd name="connsiteY13" fmla="*/ 3894124 h 5588453"/>
              <a:gd name="connsiteX14" fmla="*/ 6552124 w 6552124"/>
              <a:gd name="connsiteY14" fmla="*/ 5588453 h 5588453"/>
              <a:gd name="connsiteX15" fmla="*/ 2249064 w 6552124"/>
              <a:gd name="connsiteY15" fmla="*/ 5588453 h 5588453"/>
              <a:gd name="connsiteX16" fmla="*/ 70641 w 6552124"/>
              <a:gd name="connsiteY16" fmla="*/ 4095830 h 5588453"/>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3073 w 6552124"/>
              <a:gd name="connsiteY8" fmla="*/ 606582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7599 w 6552124"/>
              <a:gd name="connsiteY8" fmla="*/ 597529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3567 w 6552124"/>
              <a:gd name="connsiteY9" fmla="*/ 62921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3546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4690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72499 w 6552124"/>
              <a:gd name="connsiteY10" fmla="*/ 950612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81553 w 6552124"/>
              <a:gd name="connsiteY10" fmla="*/ 959666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193971 w 6552124"/>
              <a:gd name="connsiteY10" fmla="*/ 1082287 h 5587049"/>
              <a:gd name="connsiteX11" fmla="*/ 5422571 w 6552124"/>
              <a:gd name="connsiteY11" fmla="*/ 1902557 h 5587049"/>
              <a:gd name="connsiteX12" fmla="*/ 4481277 w 6552124"/>
              <a:gd name="connsiteY12" fmla="*/ 2709381 h 5587049"/>
              <a:gd name="connsiteX13" fmla="*/ 1778418 w 6552124"/>
              <a:gd name="connsiteY13" fmla="*/ 3892720 h 5587049"/>
              <a:gd name="connsiteX14" fmla="*/ 6552124 w 6552124"/>
              <a:gd name="connsiteY14" fmla="*/ 5587049 h 5587049"/>
              <a:gd name="connsiteX15" fmla="*/ 2249064 w 6552124"/>
              <a:gd name="connsiteY15" fmla="*/ 5587049 h 5587049"/>
              <a:gd name="connsiteX16" fmla="*/ 70641 w 6552124"/>
              <a:gd name="connsiteY16"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26406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53567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8647 w 6552124"/>
              <a:gd name="connsiteY4" fmla="*/ 947950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420577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52124" h="5634204">
                <a:moveTo>
                  <a:pt x="70641" y="4141581"/>
                </a:moveTo>
                <a:cubicBezTo>
                  <a:pt x="-108653" y="3805404"/>
                  <a:pt x="-32452" y="3213735"/>
                  <a:pt x="1334665" y="2864111"/>
                </a:cubicBezTo>
                <a:cubicBezTo>
                  <a:pt x="2175106" y="2635512"/>
                  <a:pt x="3661006" y="2505524"/>
                  <a:pt x="4225783" y="2312783"/>
                </a:cubicBezTo>
                <a:cubicBezTo>
                  <a:pt x="5046054" y="2039360"/>
                  <a:pt x="3380858" y="1875754"/>
                  <a:pt x="3002100" y="1519407"/>
                </a:cubicBezTo>
                <a:cubicBezTo>
                  <a:pt x="2616221" y="1140226"/>
                  <a:pt x="4293284" y="999366"/>
                  <a:pt x="4616013" y="958891"/>
                </a:cubicBezTo>
                <a:cubicBezTo>
                  <a:pt x="4734263" y="938343"/>
                  <a:pt x="4830300" y="728740"/>
                  <a:pt x="4874969" y="612997"/>
                </a:cubicBezTo>
                <a:cubicBezTo>
                  <a:pt x="4765729" y="602879"/>
                  <a:pt x="4570169" y="566975"/>
                  <a:pt x="4395136" y="554149"/>
                </a:cubicBezTo>
                <a:lnTo>
                  <a:pt x="5357317" y="0"/>
                </a:lnTo>
                <a:lnTo>
                  <a:pt x="6020233" y="658264"/>
                </a:lnTo>
                <a:lnTo>
                  <a:pt x="5649040" y="658263"/>
                </a:lnTo>
                <a:cubicBezTo>
                  <a:pt x="5633197" y="794819"/>
                  <a:pt x="5586820" y="896606"/>
                  <a:pt x="5513239" y="979662"/>
                </a:cubicBezTo>
                <a:cubicBezTo>
                  <a:pt x="5439658" y="1062718"/>
                  <a:pt x="5340120" y="1123326"/>
                  <a:pt x="5207551" y="1156602"/>
                </a:cubicBezTo>
                <a:cubicBezTo>
                  <a:pt x="3736490" y="1525848"/>
                  <a:pt x="4448078" y="1302503"/>
                  <a:pt x="5422571" y="1949712"/>
                </a:cubicBezTo>
                <a:cubicBezTo>
                  <a:pt x="6014242" y="2326229"/>
                  <a:pt x="5188368" y="2595545"/>
                  <a:pt x="4481277" y="2756536"/>
                </a:cubicBezTo>
                <a:cubicBezTo>
                  <a:pt x="4039765" y="2886523"/>
                  <a:pt x="810230" y="3074782"/>
                  <a:pt x="1778418" y="3939875"/>
                </a:cubicBezTo>
                <a:cubicBezTo>
                  <a:pt x="3248630" y="4975299"/>
                  <a:pt x="5808054" y="5392157"/>
                  <a:pt x="6552124" y="5634204"/>
                </a:cubicBezTo>
                <a:lnTo>
                  <a:pt x="2249064" y="5634204"/>
                </a:lnTo>
                <a:cubicBezTo>
                  <a:pt x="1227088" y="5244240"/>
                  <a:pt x="353030" y="4598781"/>
                  <a:pt x="70641" y="4141581"/>
                </a:cubicBezTo>
                <a:close/>
              </a:path>
            </a:pathLst>
          </a:custGeom>
          <a:solidFill>
            <a:schemeClr val="tx1">
              <a:lumMod val="95000"/>
              <a:lumOff val="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40" name="Freeform 159">
            <a:extLst>
              <a:ext uri="{FF2B5EF4-FFF2-40B4-BE49-F238E27FC236}">
                <a16:creationId xmlns:a16="http://schemas.microsoft.com/office/drawing/2014/main" id="{584A9F9B-0621-48B5-BEFB-5063110F27D6}"/>
              </a:ext>
            </a:extLst>
          </p:cNvPr>
          <p:cNvSpPr/>
          <p:nvPr/>
        </p:nvSpPr>
        <p:spPr>
          <a:xfrm>
            <a:off x="3578365" y="1490461"/>
            <a:ext cx="4508351" cy="5337697"/>
          </a:xfrm>
          <a:custGeom>
            <a:avLst/>
            <a:gdLst>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153730 w 4448140"/>
              <a:gd name="connsiteY10" fmla="*/ 4975761 h 4975761"/>
              <a:gd name="connsiteX11" fmla="*/ 3224982 w 4448140"/>
              <a:gd name="connsiteY11"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224982 w 4448140"/>
              <a:gd name="connsiteY10"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224982 w 4448140"/>
              <a:gd name="connsiteY9" fmla="*/ 4963886 h 4975761"/>
              <a:gd name="connsiteX0" fmla="*/ 4448140 w 4448140"/>
              <a:gd name="connsiteY0" fmla="*/ 0 h 4963886"/>
              <a:gd name="connsiteX1" fmla="*/ 4103756 w 4448140"/>
              <a:gd name="connsiteY1" fmla="*/ 308759 h 4963886"/>
              <a:gd name="connsiteX2" fmla="*/ 2916223 w 4448140"/>
              <a:gd name="connsiteY2" fmla="*/ 665019 h 4963886"/>
              <a:gd name="connsiteX3" fmla="*/ 4341262 w 4448140"/>
              <a:gd name="connsiteY3" fmla="*/ 1413164 h 4963886"/>
              <a:gd name="connsiteX4" fmla="*/ 1324930 w 4448140"/>
              <a:gd name="connsiteY4" fmla="*/ 2244437 h 4963886"/>
              <a:gd name="connsiteX5" fmla="*/ 66145 w 4448140"/>
              <a:gd name="connsiteY5" fmla="*/ 2719450 h 4963886"/>
              <a:gd name="connsiteX6" fmla="*/ 3201231 w 4448140"/>
              <a:gd name="connsiteY6" fmla="*/ 4952011 h 4963886"/>
              <a:gd name="connsiteX7" fmla="*/ 3201231 w 4448140"/>
              <a:gd name="connsiteY7" fmla="*/ 4952011 h 4963886"/>
              <a:gd name="connsiteX8" fmla="*/ 3224982 w 4448140"/>
              <a:gd name="connsiteY8" fmla="*/ 4963886 h 4963886"/>
              <a:gd name="connsiteX0" fmla="*/ 4448140 w 4448140"/>
              <a:gd name="connsiteY0" fmla="*/ 0 h 4952011"/>
              <a:gd name="connsiteX1" fmla="*/ 4103756 w 4448140"/>
              <a:gd name="connsiteY1" fmla="*/ 308759 h 4952011"/>
              <a:gd name="connsiteX2" fmla="*/ 2916223 w 4448140"/>
              <a:gd name="connsiteY2" fmla="*/ 665019 h 4952011"/>
              <a:gd name="connsiteX3" fmla="*/ 4341262 w 4448140"/>
              <a:gd name="connsiteY3" fmla="*/ 1413164 h 4952011"/>
              <a:gd name="connsiteX4" fmla="*/ 1324930 w 4448140"/>
              <a:gd name="connsiteY4" fmla="*/ 2244437 h 4952011"/>
              <a:gd name="connsiteX5" fmla="*/ 66145 w 4448140"/>
              <a:gd name="connsiteY5" fmla="*/ 2719450 h 4952011"/>
              <a:gd name="connsiteX6" fmla="*/ 3201231 w 4448140"/>
              <a:gd name="connsiteY6" fmla="*/ 4952011 h 4952011"/>
              <a:gd name="connsiteX7" fmla="*/ 3201231 w 4448140"/>
              <a:gd name="connsiteY7" fmla="*/ 4952011 h 4952011"/>
              <a:gd name="connsiteX0" fmla="*/ 4557343 w 4557343"/>
              <a:gd name="connsiteY0" fmla="*/ 0 h 4952011"/>
              <a:gd name="connsiteX1" fmla="*/ 4212959 w 4557343"/>
              <a:gd name="connsiteY1" fmla="*/ 308759 h 4952011"/>
              <a:gd name="connsiteX2" fmla="*/ 3025426 w 4557343"/>
              <a:gd name="connsiteY2" fmla="*/ 665019 h 4952011"/>
              <a:gd name="connsiteX3" fmla="*/ 4450465 w 4557343"/>
              <a:gd name="connsiteY3" fmla="*/ 1413164 h 4952011"/>
              <a:gd name="connsiteX4" fmla="*/ 1434133 w 4557343"/>
              <a:gd name="connsiteY4" fmla="*/ 2244437 h 4952011"/>
              <a:gd name="connsiteX5" fmla="*/ 61048 w 4557343"/>
              <a:gd name="connsiteY5" fmla="*/ 3056000 h 4952011"/>
              <a:gd name="connsiteX6" fmla="*/ 3310434 w 4557343"/>
              <a:gd name="connsiteY6" fmla="*/ 4952011 h 4952011"/>
              <a:gd name="connsiteX7" fmla="*/ 3310434 w 4557343"/>
              <a:gd name="connsiteY7" fmla="*/ 4952011 h 4952011"/>
              <a:gd name="connsiteX0" fmla="*/ 4612220 w 4612220"/>
              <a:gd name="connsiteY0" fmla="*/ 0 h 4952011"/>
              <a:gd name="connsiteX1" fmla="*/ 4267836 w 4612220"/>
              <a:gd name="connsiteY1" fmla="*/ 308759 h 4952011"/>
              <a:gd name="connsiteX2" fmla="*/ 3080303 w 4612220"/>
              <a:gd name="connsiteY2" fmla="*/ 665019 h 4952011"/>
              <a:gd name="connsiteX3" fmla="*/ 4505342 w 4612220"/>
              <a:gd name="connsiteY3" fmla="*/ 1413164 h 4952011"/>
              <a:gd name="connsiteX4" fmla="*/ 1489010 w 4612220"/>
              <a:gd name="connsiteY4" fmla="*/ 2244437 h 4952011"/>
              <a:gd name="connsiteX5" fmla="*/ 58775 w 4612220"/>
              <a:gd name="connsiteY5" fmla="*/ 3094100 h 4952011"/>
              <a:gd name="connsiteX6" fmla="*/ 3365311 w 4612220"/>
              <a:gd name="connsiteY6" fmla="*/ 4952011 h 4952011"/>
              <a:gd name="connsiteX7" fmla="*/ 3365311 w 4612220"/>
              <a:gd name="connsiteY7" fmla="*/ 4952011 h 4952011"/>
              <a:gd name="connsiteX0" fmla="*/ 4553445 w 4553445"/>
              <a:gd name="connsiteY0" fmla="*/ 0 h 4952011"/>
              <a:gd name="connsiteX1" fmla="*/ 4209061 w 4553445"/>
              <a:gd name="connsiteY1" fmla="*/ 308759 h 4952011"/>
              <a:gd name="connsiteX2" fmla="*/ 3021528 w 4553445"/>
              <a:gd name="connsiteY2" fmla="*/ 665019 h 4952011"/>
              <a:gd name="connsiteX3" fmla="*/ 4446567 w 4553445"/>
              <a:gd name="connsiteY3" fmla="*/ 1413164 h 4952011"/>
              <a:gd name="connsiteX4" fmla="*/ 0 w 4553445"/>
              <a:gd name="connsiteY4" fmla="*/ 3094100 h 4952011"/>
              <a:gd name="connsiteX5" fmla="*/ 3306536 w 4553445"/>
              <a:gd name="connsiteY5" fmla="*/ 4952011 h 4952011"/>
              <a:gd name="connsiteX6" fmla="*/ 3306536 w 4553445"/>
              <a:gd name="connsiteY6" fmla="*/ 4952011 h 4952011"/>
              <a:gd name="connsiteX0" fmla="*/ 4553705 w 4553705"/>
              <a:gd name="connsiteY0" fmla="*/ 0 h 4952011"/>
              <a:gd name="connsiteX1" fmla="*/ 4209321 w 4553705"/>
              <a:gd name="connsiteY1" fmla="*/ 308759 h 4952011"/>
              <a:gd name="connsiteX2" fmla="*/ 3021788 w 4553705"/>
              <a:gd name="connsiteY2" fmla="*/ 665019 h 4952011"/>
              <a:gd name="connsiteX3" fmla="*/ 4446827 w 4553705"/>
              <a:gd name="connsiteY3" fmla="*/ 1413164 h 4952011"/>
              <a:gd name="connsiteX4" fmla="*/ 260 w 4553705"/>
              <a:gd name="connsiteY4" fmla="*/ 3094100 h 4952011"/>
              <a:gd name="connsiteX5" fmla="*/ 3306796 w 4553705"/>
              <a:gd name="connsiteY5" fmla="*/ 4952011 h 4952011"/>
              <a:gd name="connsiteX6" fmla="*/ 3306796 w 4553705"/>
              <a:gd name="connsiteY6" fmla="*/ 4952011 h 4952011"/>
              <a:gd name="connsiteX0" fmla="*/ 4554909 w 4554909"/>
              <a:gd name="connsiteY0" fmla="*/ 0 h 4952011"/>
              <a:gd name="connsiteX1" fmla="*/ 4210525 w 4554909"/>
              <a:gd name="connsiteY1" fmla="*/ 308759 h 4952011"/>
              <a:gd name="connsiteX2" fmla="*/ 3022992 w 4554909"/>
              <a:gd name="connsiteY2" fmla="*/ 665019 h 4952011"/>
              <a:gd name="connsiteX3" fmla="*/ 4448031 w 4554909"/>
              <a:gd name="connsiteY3" fmla="*/ 1413164 h 4952011"/>
              <a:gd name="connsiteX4" fmla="*/ 1464 w 4554909"/>
              <a:gd name="connsiteY4" fmla="*/ 3094100 h 4952011"/>
              <a:gd name="connsiteX5" fmla="*/ 3308000 w 4554909"/>
              <a:gd name="connsiteY5" fmla="*/ 4952011 h 4952011"/>
              <a:gd name="connsiteX6" fmla="*/ 3308000 w 4554909"/>
              <a:gd name="connsiteY6" fmla="*/ 4952011 h 4952011"/>
              <a:gd name="connsiteX0" fmla="*/ 4563191 w 4603121"/>
              <a:gd name="connsiteY0" fmla="*/ 0 h 4952011"/>
              <a:gd name="connsiteX1" fmla="*/ 4218807 w 4603121"/>
              <a:gd name="connsiteY1" fmla="*/ 308759 h 4952011"/>
              <a:gd name="connsiteX2" fmla="*/ 3031274 w 4603121"/>
              <a:gd name="connsiteY2" fmla="*/ 665019 h 4952011"/>
              <a:gd name="connsiteX3" fmla="*/ 4519813 w 4603121"/>
              <a:gd name="connsiteY3" fmla="*/ 1565564 h 4952011"/>
              <a:gd name="connsiteX4" fmla="*/ 9746 w 4603121"/>
              <a:gd name="connsiteY4" fmla="*/ 3094100 h 4952011"/>
              <a:gd name="connsiteX5" fmla="*/ 3316282 w 4603121"/>
              <a:gd name="connsiteY5" fmla="*/ 4952011 h 4952011"/>
              <a:gd name="connsiteX6" fmla="*/ 3316282 w 4603121"/>
              <a:gd name="connsiteY6" fmla="*/ 4952011 h 4952011"/>
              <a:gd name="connsiteX0" fmla="*/ 4563191 w 4757714"/>
              <a:gd name="connsiteY0" fmla="*/ 0 h 4952011"/>
              <a:gd name="connsiteX1" fmla="*/ 4218807 w 4757714"/>
              <a:gd name="connsiteY1" fmla="*/ 308759 h 4952011"/>
              <a:gd name="connsiteX2" fmla="*/ 3031274 w 4757714"/>
              <a:gd name="connsiteY2" fmla="*/ 665019 h 4952011"/>
              <a:gd name="connsiteX3" fmla="*/ 4519813 w 4757714"/>
              <a:gd name="connsiteY3" fmla="*/ 1565564 h 4952011"/>
              <a:gd name="connsiteX4" fmla="*/ 9746 w 4757714"/>
              <a:gd name="connsiteY4" fmla="*/ 3094100 h 4952011"/>
              <a:gd name="connsiteX5" fmla="*/ 3316282 w 4757714"/>
              <a:gd name="connsiteY5" fmla="*/ 4952011 h 4952011"/>
              <a:gd name="connsiteX6" fmla="*/ 3316282 w 4757714"/>
              <a:gd name="connsiteY6" fmla="*/ 4952011 h 4952011"/>
              <a:gd name="connsiteX0" fmla="*/ 4568001 w 4568001"/>
              <a:gd name="connsiteY0" fmla="*/ 0 h 4952011"/>
              <a:gd name="connsiteX1" fmla="*/ 4223617 w 4568001"/>
              <a:gd name="connsiteY1" fmla="*/ 308759 h 4952011"/>
              <a:gd name="connsiteX2" fmla="*/ 3036084 w 4568001"/>
              <a:gd name="connsiteY2" fmla="*/ 665019 h 4952011"/>
              <a:gd name="connsiteX3" fmla="*/ 4524623 w 4568001"/>
              <a:gd name="connsiteY3" fmla="*/ 1565564 h 4952011"/>
              <a:gd name="connsiteX4" fmla="*/ 2210007 w 4568001"/>
              <a:gd name="connsiteY4" fmla="*/ 2180278 h 4952011"/>
              <a:gd name="connsiteX5" fmla="*/ 14556 w 4568001"/>
              <a:gd name="connsiteY5" fmla="*/ 3094100 h 4952011"/>
              <a:gd name="connsiteX6" fmla="*/ 3321092 w 4568001"/>
              <a:gd name="connsiteY6" fmla="*/ 4952011 h 4952011"/>
              <a:gd name="connsiteX7" fmla="*/ 3321092 w 4568001"/>
              <a:gd name="connsiteY7" fmla="*/ 4952011 h 4952011"/>
              <a:gd name="connsiteX0" fmla="*/ 4570585 w 4570585"/>
              <a:gd name="connsiteY0" fmla="*/ 0 h 4952011"/>
              <a:gd name="connsiteX1" fmla="*/ 4226201 w 4570585"/>
              <a:gd name="connsiteY1" fmla="*/ 308759 h 4952011"/>
              <a:gd name="connsiteX2" fmla="*/ 3038668 w 4570585"/>
              <a:gd name="connsiteY2" fmla="*/ 665019 h 4952011"/>
              <a:gd name="connsiteX3" fmla="*/ 4527207 w 4570585"/>
              <a:gd name="connsiteY3" fmla="*/ 1565564 h 4952011"/>
              <a:gd name="connsiteX4" fmla="*/ 2136391 w 4570585"/>
              <a:gd name="connsiteY4" fmla="*/ 2110428 h 4952011"/>
              <a:gd name="connsiteX5" fmla="*/ 17140 w 4570585"/>
              <a:gd name="connsiteY5" fmla="*/ 3094100 h 4952011"/>
              <a:gd name="connsiteX6" fmla="*/ 3323676 w 4570585"/>
              <a:gd name="connsiteY6" fmla="*/ 4952011 h 4952011"/>
              <a:gd name="connsiteX7" fmla="*/ 3323676 w 4570585"/>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569 w 4575569"/>
              <a:gd name="connsiteY0" fmla="*/ 0 h 4952011"/>
              <a:gd name="connsiteX1" fmla="*/ 4231185 w 4575569"/>
              <a:gd name="connsiteY1" fmla="*/ 308759 h 4952011"/>
              <a:gd name="connsiteX2" fmla="*/ 3043652 w 4575569"/>
              <a:gd name="connsiteY2" fmla="*/ 6650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600969 w 4600969"/>
              <a:gd name="connsiteY0" fmla="*/ 0 h 5009161"/>
              <a:gd name="connsiteX1" fmla="*/ 4231185 w 4600969"/>
              <a:gd name="connsiteY1" fmla="*/ 36590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46976 w 4646976"/>
              <a:gd name="connsiteY0" fmla="*/ 0 h 5003770"/>
              <a:gd name="connsiteX1" fmla="*/ 4237535 w 4646976"/>
              <a:gd name="connsiteY1" fmla="*/ 417668 h 5003770"/>
              <a:gd name="connsiteX2" fmla="*/ 2815052 w 4646976"/>
              <a:gd name="connsiteY2" fmla="*/ 754878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35822 w 4646976"/>
              <a:gd name="connsiteY2" fmla="*/ 765661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05234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567555 w 4567555"/>
              <a:gd name="connsiteY0" fmla="*/ 0 h 5003770"/>
              <a:gd name="connsiteX1" fmla="*/ 4158114 w 4567555"/>
              <a:gd name="connsiteY1" fmla="*/ 417668 h 5003770"/>
              <a:gd name="connsiteX2" fmla="*/ 2873654 w 4567555"/>
              <a:gd name="connsiteY2" fmla="*/ 814182 h 5003770"/>
              <a:gd name="connsiteX3" fmla="*/ 4425813 w 4567555"/>
              <a:gd name="connsiteY3" fmla="*/ 1579223 h 5003770"/>
              <a:gd name="connsiteX4" fmla="*/ 2061954 w 4567555"/>
              <a:gd name="connsiteY4" fmla="*/ 2162187 h 5003770"/>
              <a:gd name="connsiteX5" fmla="*/ 23216 w 4567555"/>
              <a:gd name="connsiteY5" fmla="*/ 3151250 h 5003770"/>
              <a:gd name="connsiteX6" fmla="*/ 3249239 w 4567555"/>
              <a:gd name="connsiteY6" fmla="*/ 5003770 h 5003770"/>
              <a:gd name="connsiteX7" fmla="*/ 3249239 w 4567555"/>
              <a:gd name="connsiteY7" fmla="*/ 5003770 h 5003770"/>
              <a:gd name="connsiteX0" fmla="*/ 4545124 w 4545124"/>
              <a:gd name="connsiteY0" fmla="*/ 0 h 5003770"/>
              <a:gd name="connsiteX1" fmla="*/ 4135683 w 4545124"/>
              <a:gd name="connsiteY1" fmla="*/ 417668 h 5003770"/>
              <a:gd name="connsiteX2" fmla="*/ 2851223 w 4545124"/>
              <a:gd name="connsiteY2" fmla="*/ 814182 h 5003770"/>
              <a:gd name="connsiteX3" fmla="*/ 4403382 w 4545124"/>
              <a:gd name="connsiteY3" fmla="*/ 1579223 h 5003770"/>
              <a:gd name="connsiteX4" fmla="*/ 2039523 w 4545124"/>
              <a:gd name="connsiteY4" fmla="*/ 2162187 h 5003770"/>
              <a:gd name="connsiteX5" fmla="*/ 785 w 4545124"/>
              <a:gd name="connsiteY5" fmla="*/ 3151250 h 5003770"/>
              <a:gd name="connsiteX6" fmla="*/ 3226808 w 4545124"/>
              <a:gd name="connsiteY6" fmla="*/ 5003770 h 5003770"/>
              <a:gd name="connsiteX7" fmla="*/ 3226808 w 4545124"/>
              <a:gd name="connsiteY7" fmla="*/ 5003770 h 5003770"/>
              <a:gd name="connsiteX0" fmla="*/ 4545094 w 4545094"/>
              <a:gd name="connsiteY0" fmla="*/ 0 h 5003770"/>
              <a:gd name="connsiteX1" fmla="*/ 4135653 w 4545094"/>
              <a:gd name="connsiteY1" fmla="*/ 417668 h 5003770"/>
              <a:gd name="connsiteX2" fmla="*/ 2851193 w 4545094"/>
              <a:gd name="connsiteY2" fmla="*/ 814182 h 5003770"/>
              <a:gd name="connsiteX3" fmla="*/ 4403352 w 4545094"/>
              <a:gd name="connsiteY3" fmla="*/ 1579223 h 5003770"/>
              <a:gd name="connsiteX4" fmla="*/ 2039493 w 4545094"/>
              <a:gd name="connsiteY4" fmla="*/ 2162187 h 5003770"/>
              <a:gd name="connsiteX5" fmla="*/ 755 w 4545094"/>
              <a:gd name="connsiteY5" fmla="*/ 3151250 h 5003770"/>
              <a:gd name="connsiteX6" fmla="*/ 3226778 w 4545094"/>
              <a:gd name="connsiteY6" fmla="*/ 5003770 h 5003770"/>
              <a:gd name="connsiteX7" fmla="*/ 3226778 w 4545094"/>
              <a:gd name="connsiteY7" fmla="*/ 5003770 h 5003770"/>
              <a:gd name="connsiteX0" fmla="*/ 4545419 w 4545419"/>
              <a:gd name="connsiteY0" fmla="*/ 0 h 5003770"/>
              <a:gd name="connsiteX1" fmla="*/ 4135978 w 4545419"/>
              <a:gd name="connsiteY1" fmla="*/ 417668 h 5003770"/>
              <a:gd name="connsiteX2" fmla="*/ 2851518 w 4545419"/>
              <a:gd name="connsiteY2" fmla="*/ 814182 h 5003770"/>
              <a:gd name="connsiteX3" fmla="*/ 4403677 w 4545419"/>
              <a:gd name="connsiteY3" fmla="*/ 1579223 h 5003770"/>
              <a:gd name="connsiteX4" fmla="*/ 2039818 w 4545419"/>
              <a:gd name="connsiteY4" fmla="*/ 2162187 h 5003770"/>
              <a:gd name="connsiteX5" fmla="*/ 1080 w 4545419"/>
              <a:gd name="connsiteY5" fmla="*/ 3151250 h 5003770"/>
              <a:gd name="connsiteX6" fmla="*/ 3227103 w 4545419"/>
              <a:gd name="connsiteY6" fmla="*/ 5003770 h 5003770"/>
              <a:gd name="connsiteX7" fmla="*/ 3227103 w 4545419"/>
              <a:gd name="connsiteY7" fmla="*/ 5003770 h 5003770"/>
              <a:gd name="connsiteX0" fmla="*/ 4490050 w 4490050"/>
              <a:gd name="connsiteY0" fmla="*/ 0 h 5003770"/>
              <a:gd name="connsiteX1" fmla="*/ 4080609 w 4490050"/>
              <a:gd name="connsiteY1" fmla="*/ 417668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20500 h 5003770"/>
              <a:gd name="connsiteX5" fmla="*/ 19429 w 4508350"/>
              <a:gd name="connsiteY5" fmla="*/ 3164238 h 5003770"/>
              <a:gd name="connsiteX6" fmla="*/ 3190034 w 4508350"/>
              <a:gd name="connsiteY6" fmla="*/ 5003770 h 5003770"/>
              <a:gd name="connsiteX7" fmla="*/ 3190034 w 45083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08837 h 5003770"/>
              <a:gd name="connsiteX5" fmla="*/ 19429 w 4508350"/>
              <a:gd name="connsiteY5" fmla="*/ 3164238 h 5003770"/>
              <a:gd name="connsiteX6" fmla="*/ 3190034 w 4508350"/>
              <a:gd name="connsiteY6" fmla="*/ 5003770 h 5003770"/>
              <a:gd name="connsiteX7" fmla="*/ 3190034 w 4508350"/>
              <a:gd name="connsiteY7" fmla="*/ 5003770 h 5003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8350" h="5003770">
                <a:moveTo>
                  <a:pt x="4508350" y="0"/>
                </a:moveTo>
                <a:cubicBezTo>
                  <a:pt x="4463817" y="98961"/>
                  <a:pt x="4380190" y="296550"/>
                  <a:pt x="4105130" y="429331"/>
                </a:cubicBezTo>
                <a:cubicBezTo>
                  <a:pt x="3830070" y="562112"/>
                  <a:pt x="2814412" y="605040"/>
                  <a:pt x="2857992" y="796689"/>
                </a:cubicBezTo>
                <a:cubicBezTo>
                  <a:pt x="2901572" y="988338"/>
                  <a:pt x="4509148" y="1343865"/>
                  <a:pt x="4366608" y="1579223"/>
                </a:cubicBezTo>
                <a:cubicBezTo>
                  <a:pt x="4224068" y="1814581"/>
                  <a:pt x="2881427" y="2081081"/>
                  <a:pt x="2002749" y="2208837"/>
                </a:cubicBezTo>
                <a:cubicBezTo>
                  <a:pt x="1181221" y="2349293"/>
                  <a:pt x="-178452" y="2698416"/>
                  <a:pt x="19429" y="3164238"/>
                </a:cubicBezTo>
                <a:cubicBezTo>
                  <a:pt x="217310" y="3630060"/>
                  <a:pt x="2749782" y="4694119"/>
                  <a:pt x="3190034" y="5003770"/>
                </a:cubicBezTo>
                <a:lnTo>
                  <a:pt x="3190034" y="5003770"/>
                </a:lnTo>
              </a:path>
            </a:pathLst>
          </a:custGeom>
          <a:noFill/>
          <a:ln w="28575">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grpSp>
        <p:nvGrpSpPr>
          <p:cNvPr id="54" name="Group 53">
            <a:extLst>
              <a:ext uri="{FF2B5EF4-FFF2-40B4-BE49-F238E27FC236}">
                <a16:creationId xmlns:a16="http://schemas.microsoft.com/office/drawing/2014/main" id="{098D576A-CD8A-4954-B059-CF073E7B9B1A}"/>
              </a:ext>
            </a:extLst>
          </p:cNvPr>
          <p:cNvGrpSpPr/>
          <p:nvPr/>
        </p:nvGrpSpPr>
        <p:grpSpPr>
          <a:xfrm>
            <a:off x="6043859" y="5255759"/>
            <a:ext cx="972000" cy="972000"/>
            <a:chOff x="6043858" y="5255759"/>
            <a:chExt cx="982242" cy="982242"/>
          </a:xfrm>
        </p:grpSpPr>
        <p:sp>
          <p:nvSpPr>
            <p:cNvPr id="36" name="Teardrop 35">
              <a:extLst>
                <a:ext uri="{FF2B5EF4-FFF2-40B4-BE49-F238E27FC236}">
                  <a16:creationId xmlns:a16="http://schemas.microsoft.com/office/drawing/2014/main" id="{5E3A8278-E19E-43F0-831C-8DF393545EF0}"/>
                </a:ext>
              </a:extLst>
            </p:cNvPr>
            <p:cNvSpPr/>
            <p:nvPr/>
          </p:nvSpPr>
          <p:spPr>
            <a:xfrm rot="8100000">
              <a:off x="6043858" y="5255759"/>
              <a:ext cx="982242" cy="982242"/>
            </a:xfrm>
            <a:prstGeom prst="teardrop">
              <a:avLst>
                <a:gd name="adj" fmla="val 136365"/>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37" name="Oval 36">
              <a:extLst>
                <a:ext uri="{FF2B5EF4-FFF2-40B4-BE49-F238E27FC236}">
                  <a16:creationId xmlns:a16="http://schemas.microsoft.com/office/drawing/2014/main" id="{B4B10D7B-B260-4224-AEED-9D38AA8A5BEF}"/>
                </a:ext>
              </a:extLst>
            </p:cNvPr>
            <p:cNvSpPr/>
            <p:nvPr/>
          </p:nvSpPr>
          <p:spPr>
            <a:xfrm>
              <a:off x="6070017" y="5275400"/>
              <a:ext cx="929924" cy="942961"/>
            </a:xfrm>
            <a:prstGeom prst="ellipse">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1.</a:t>
              </a:r>
            </a:p>
          </p:txBody>
        </p:sp>
      </p:grpSp>
      <p:sp>
        <p:nvSpPr>
          <p:cNvPr id="35" name="Rectangle 34">
            <a:extLst>
              <a:ext uri="{FF2B5EF4-FFF2-40B4-BE49-F238E27FC236}">
                <a16:creationId xmlns:a16="http://schemas.microsoft.com/office/drawing/2014/main" id="{973440CC-55E8-4EAB-B14D-12B816B5A54A}"/>
              </a:ext>
            </a:extLst>
          </p:cNvPr>
          <p:cNvSpPr/>
          <p:nvPr/>
        </p:nvSpPr>
        <p:spPr>
          <a:xfrm>
            <a:off x="7055617" y="4872635"/>
            <a:ext cx="3037873" cy="1405449"/>
          </a:xfrm>
          <a:prstGeom prst="rect">
            <a:avLst/>
          </a:prstGeom>
        </p:spPr>
        <p:txBody>
          <a:bodyPr wrap="square">
            <a:spAutoFit/>
          </a:bodyPr>
          <a:lstStyle/>
          <a:p>
            <a:r>
              <a:rPr lang="cs-CZ" sz="2133" b="1">
                <a:solidFill>
                  <a:schemeClr val="tx1">
                    <a:lumMod val="95000"/>
                    <a:lumOff val="5000"/>
                  </a:schemeClr>
                </a:solidFill>
                <a:ea typeface="Cambria" panose="02040503050406030204" pitchFamily="18" charset="0"/>
                <a:cs typeface="Arial" panose="020B0604020202020204" pitchFamily="34" charset="0"/>
              </a:rPr>
              <a:t>1. Etapa 1.4.- 30.9.2023</a:t>
            </a:r>
          </a:p>
          <a:p>
            <a:r>
              <a:rPr lang="cs-CZ" sz="1600">
                <a:solidFill>
                  <a:schemeClr val="tx1">
                    <a:lumMod val="95000"/>
                    <a:lumOff val="5000"/>
                  </a:schemeClr>
                </a:solidFill>
                <a:ea typeface="Cambria" panose="02040503050406030204" pitchFamily="18" charset="0"/>
                <a:cs typeface="Cardo" panose="02020600000000000000" pitchFamily="18" charset="-79"/>
              </a:rPr>
              <a:t>Přípravné práce</a:t>
            </a:r>
          </a:p>
          <a:p>
            <a:r>
              <a:rPr lang="cs-CZ" sz="1600">
                <a:solidFill>
                  <a:schemeClr val="tx1">
                    <a:lumMod val="95000"/>
                    <a:lumOff val="5000"/>
                  </a:schemeClr>
                </a:solidFill>
                <a:ea typeface="Cambria" panose="02040503050406030204" pitchFamily="18" charset="0"/>
                <a:cs typeface="Cardo" panose="02020600000000000000" pitchFamily="18" charset="-79"/>
              </a:rPr>
              <a:t>Revize stavu</a:t>
            </a:r>
          </a:p>
          <a:p>
            <a:r>
              <a:rPr lang="cs-CZ" sz="1600">
                <a:solidFill>
                  <a:schemeClr val="tx1">
                    <a:lumMod val="95000"/>
                    <a:lumOff val="5000"/>
                  </a:schemeClr>
                </a:solidFill>
                <a:ea typeface="Cambria" panose="02040503050406030204" pitchFamily="18" charset="0"/>
                <a:cs typeface="Cardo" panose="02020600000000000000" pitchFamily="18" charset="-79"/>
              </a:rPr>
              <a:t>Setkání s hlavním aktéry</a:t>
            </a:r>
          </a:p>
          <a:p>
            <a:r>
              <a:rPr lang="cs-CZ" sz="1600">
                <a:solidFill>
                  <a:schemeClr val="tx1">
                    <a:lumMod val="95000"/>
                    <a:lumOff val="5000"/>
                  </a:schemeClr>
                </a:solidFill>
                <a:ea typeface="Cambria" panose="02040503050406030204" pitchFamily="18" charset="0"/>
                <a:cs typeface="Cardo" panose="02020600000000000000" pitchFamily="18" charset="-79"/>
              </a:rPr>
              <a:t>Zahájení páce pracovního týmu</a:t>
            </a:r>
            <a:endParaRPr lang="cs-CZ" sz="1600">
              <a:solidFill>
                <a:schemeClr val="tx1">
                  <a:lumMod val="95000"/>
                  <a:lumOff val="5000"/>
                </a:schemeClr>
              </a:solidFill>
              <a:ea typeface="Cambria" panose="02040503050406030204" pitchFamily="18" charset="0"/>
              <a:cs typeface="Arial" panose="020B0604020202020204" pitchFamily="34" charset="0"/>
            </a:endParaRPr>
          </a:p>
        </p:txBody>
      </p:sp>
      <p:grpSp>
        <p:nvGrpSpPr>
          <p:cNvPr id="52" name="Group 51">
            <a:extLst>
              <a:ext uri="{FF2B5EF4-FFF2-40B4-BE49-F238E27FC236}">
                <a16:creationId xmlns:a16="http://schemas.microsoft.com/office/drawing/2014/main" id="{39A58277-40DB-46C7-BB18-3485A555B13C}"/>
              </a:ext>
            </a:extLst>
          </p:cNvPr>
          <p:cNvGrpSpPr/>
          <p:nvPr/>
        </p:nvGrpSpPr>
        <p:grpSpPr>
          <a:xfrm>
            <a:off x="3433515" y="3803407"/>
            <a:ext cx="972000" cy="972000"/>
            <a:chOff x="3464824" y="3901323"/>
            <a:chExt cx="895904" cy="895905"/>
          </a:xfrm>
        </p:grpSpPr>
        <p:sp>
          <p:nvSpPr>
            <p:cNvPr id="30" name="Teardrop 29">
              <a:extLst>
                <a:ext uri="{FF2B5EF4-FFF2-40B4-BE49-F238E27FC236}">
                  <a16:creationId xmlns:a16="http://schemas.microsoft.com/office/drawing/2014/main" id="{747E32FE-948F-441A-86E5-D132406D0CD5}"/>
                </a:ext>
              </a:extLst>
            </p:cNvPr>
            <p:cNvSpPr/>
            <p:nvPr/>
          </p:nvSpPr>
          <p:spPr>
            <a:xfrm rot="8100000">
              <a:off x="3464824" y="3901323"/>
              <a:ext cx="895904" cy="895905"/>
            </a:xfrm>
            <a:prstGeom prst="teardrop">
              <a:avLst>
                <a:gd name="adj" fmla="val 136365"/>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32" name="Oval 31">
              <a:extLst>
                <a:ext uri="{FF2B5EF4-FFF2-40B4-BE49-F238E27FC236}">
                  <a16:creationId xmlns:a16="http://schemas.microsoft.com/office/drawing/2014/main" id="{E398D38F-6DEF-4C68-B6E7-FA5468DA7E89}"/>
                </a:ext>
              </a:extLst>
            </p:cNvPr>
            <p:cNvSpPr/>
            <p:nvPr/>
          </p:nvSpPr>
          <p:spPr>
            <a:xfrm>
              <a:off x="3488683" y="3919237"/>
              <a:ext cx="848186" cy="860076"/>
            </a:xfrm>
            <a:prstGeom prst="ellipse">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2.</a:t>
              </a:r>
            </a:p>
          </p:txBody>
        </p:sp>
      </p:grpSp>
      <p:sp>
        <p:nvSpPr>
          <p:cNvPr id="29" name="Rectangle 28">
            <a:extLst>
              <a:ext uri="{FF2B5EF4-FFF2-40B4-BE49-F238E27FC236}">
                <a16:creationId xmlns:a16="http://schemas.microsoft.com/office/drawing/2014/main" id="{EB6A63FA-3EC2-4F41-B482-71DBC321F280}"/>
              </a:ext>
            </a:extLst>
          </p:cNvPr>
          <p:cNvSpPr/>
          <p:nvPr/>
        </p:nvSpPr>
        <p:spPr>
          <a:xfrm>
            <a:off x="265565" y="4076513"/>
            <a:ext cx="2939999" cy="2144305"/>
          </a:xfrm>
          <a:prstGeom prst="rect">
            <a:avLst/>
          </a:prstGeom>
        </p:spPr>
        <p:txBody>
          <a:bodyPr wrap="square">
            <a:spAutoFit/>
          </a:bodyPr>
          <a:lstStyle/>
          <a:p>
            <a:r>
              <a:rPr lang="cs-CZ" sz="1867" b="1" dirty="0">
                <a:solidFill>
                  <a:schemeClr val="tx1">
                    <a:lumMod val="95000"/>
                    <a:lumOff val="5000"/>
                  </a:schemeClr>
                </a:solidFill>
                <a:ea typeface="Cambria" panose="02040503050406030204" pitchFamily="18" charset="0"/>
                <a:cs typeface="Arial" panose="020B0604020202020204" pitchFamily="34" charset="0"/>
              </a:rPr>
              <a:t>2. Etapa 1.10.-31.12.2023</a:t>
            </a:r>
          </a:p>
          <a:p>
            <a:r>
              <a:rPr lang="cs-CZ" sz="1600" dirty="0">
                <a:solidFill>
                  <a:schemeClr val="tx1">
                    <a:lumMod val="95000"/>
                    <a:lumOff val="5000"/>
                  </a:schemeClr>
                </a:solidFill>
                <a:ea typeface="Cambria" panose="02040503050406030204" pitchFamily="18" charset="0"/>
                <a:cs typeface="Cardo" panose="02020600000000000000" pitchFamily="18" charset="-79"/>
              </a:rPr>
              <a:t>Finalizace výkladů, rozhraní</a:t>
            </a:r>
          </a:p>
          <a:p>
            <a:r>
              <a:rPr lang="cs-CZ" sz="1600" dirty="0">
                <a:solidFill>
                  <a:schemeClr val="tx1">
                    <a:lumMod val="95000"/>
                    <a:lumOff val="5000"/>
                  </a:schemeClr>
                </a:solidFill>
                <a:ea typeface="Cambria" panose="02040503050406030204" pitchFamily="18" charset="0"/>
                <a:cs typeface="Cardo" panose="02020600000000000000" pitchFamily="18" charset="-79"/>
              </a:rPr>
              <a:t>Finalizace služeb pro přenesenou působnost</a:t>
            </a:r>
          </a:p>
          <a:p>
            <a:r>
              <a:rPr lang="cs-CZ" sz="1600" dirty="0">
                <a:solidFill>
                  <a:schemeClr val="tx1">
                    <a:lumMod val="95000"/>
                    <a:lumOff val="5000"/>
                  </a:schemeClr>
                </a:solidFill>
                <a:ea typeface="Cambria" panose="02040503050406030204" pitchFamily="18" charset="0"/>
                <a:cs typeface="Cardo" panose="02020600000000000000" pitchFamily="18" charset="-79"/>
              </a:rPr>
              <a:t>Místní poplatky</a:t>
            </a:r>
          </a:p>
          <a:p>
            <a:r>
              <a:rPr lang="cs-CZ" sz="1600" dirty="0">
                <a:solidFill>
                  <a:schemeClr val="tx1">
                    <a:lumMod val="95000"/>
                    <a:lumOff val="5000"/>
                  </a:schemeClr>
                </a:solidFill>
                <a:ea typeface="Cambria" panose="02040503050406030204" pitchFamily="18" charset="0"/>
                <a:cs typeface="Cardo" panose="02020600000000000000" pitchFamily="18" charset="-79"/>
              </a:rPr>
              <a:t>Plnění katalogu služeb</a:t>
            </a:r>
          </a:p>
          <a:p>
            <a:r>
              <a:rPr lang="cs-CZ" sz="1600" dirty="0">
                <a:solidFill>
                  <a:schemeClr val="tx1">
                    <a:lumMod val="95000"/>
                    <a:lumOff val="5000"/>
                  </a:schemeClr>
                </a:solidFill>
                <a:ea typeface="Cambria" panose="02040503050406030204" pitchFamily="18" charset="0"/>
                <a:cs typeface="Cardo" panose="02020600000000000000" pitchFamily="18" charset="-79"/>
              </a:rPr>
              <a:t>Pomoc v rámci IROP</a:t>
            </a:r>
          </a:p>
          <a:p>
            <a:endParaRPr lang="cs-CZ" sz="1867" b="1" dirty="0">
              <a:solidFill>
                <a:schemeClr val="tx1">
                  <a:lumMod val="95000"/>
                  <a:lumOff val="5000"/>
                </a:schemeClr>
              </a:solidFill>
              <a:ea typeface="Cambria" panose="02040503050406030204" pitchFamily="18" charset="0"/>
              <a:cs typeface="Arial" panose="020B0604020202020204" pitchFamily="34" charset="0"/>
            </a:endParaRPr>
          </a:p>
        </p:txBody>
      </p:sp>
      <p:grpSp>
        <p:nvGrpSpPr>
          <p:cNvPr id="53" name="Group 52">
            <a:extLst>
              <a:ext uri="{FF2B5EF4-FFF2-40B4-BE49-F238E27FC236}">
                <a16:creationId xmlns:a16="http://schemas.microsoft.com/office/drawing/2014/main" id="{A981D162-C3FC-4CC5-B53A-76D5800C51C3}"/>
              </a:ext>
            </a:extLst>
          </p:cNvPr>
          <p:cNvGrpSpPr/>
          <p:nvPr/>
        </p:nvGrpSpPr>
        <p:grpSpPr>
          <a:xfrm>
            <a:off x="5238961" y="2423588"/>
            <a:ext cx="972000" cy="972000"/>
            <a:chOff x="5346250" y="2751579"/>
            <a:chExt cx="751581" cy="751579"/>
          </a:xfrm>
        </p:grpSpPr>
        <p:sp>
          <p:nvSpPr>
            <p:cNvPr id="25" name="Teardrop 24">
              <a:extLst>
                <a:ext uri="{FF2B5EF4-FFF2-40B4-BE49-F238E27FC236}">
                  <a16:creationId xmlns:a16="http://schemas.microsoft.com/office/drawing/2014/main" id="{4A0C3913-217B-4919-B118-DB74C1BEACF7}"/>
                </a:ext>
              </a:extLst>
            </p:cNvPr>
            <p:cNvSpPr/>
            <p:nvPr/>
          </p:nvSpPr>
          <p:spPr>
            <a:xfrm rot="8100000">
              <a:off x="5346250" y="2751579"/>
              <a:ext cx="751581" cy="751579"/>
            </a:xfrm>
            <a:prstGeom prst="teardrop">
              <a:avLst>
                <a:gd name="adj" fmla="val 136365"/>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26" name="Oval 25">
              <a:extLst>
                <a:ext uri="{FF2B5EF4-FFF2-40B4-BE49-F238E27FC236}">
                  <a16:creationId xmlns:a16="http://schemas.microsoft.com/office/drawing/2014/main" id="{F96339A2-EF70-4F71-ACE8-3ABA111C5190}"/>
                </a:ext>
              </a:extLst>
            </p:cNvPr>
            <p:cNvSpPr/>
            <p:nvPr/>
          </p:nvSpPr>
          <p:spPr>
            <a:xfrm>
              <a:off x="5366265" y="2766406"/>
              <a:ext cx="711550" cy="721521"/>
            </a:xfrm>
            <a:prstGeom prst="ellipse">
              <a:avLst/>
            </a:prstGeom>
            <a:solidFill>
              <a:schemeClr val="bg2">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3.</a:t>
              </a:r>
              <a:endParaRPr lang="cs-CZ" sz="1867" b="1">
                <a:solidFill>
                  <a:schemeClr val="tx1"/>
                </a:solidFill>
                <a:ea typeface="Cambria" panose="02040503050406030204" pitchFamily="18" charset="0"/>
                <a:cs typeface="Arial" panose="020B0604020202020204" pitchFamily="34" charset="0"/>
              </a:endParaRPr>
            </a:p>
          </p:txBody>
        </p:sp>
      </p:grpSp>
      <p:sp>
        <p:nvSpPr>
          <p:cNvPr id="24" name="Rectangle 23">
            <a:extLst>
              <a:ext uri="{FF2B5EF4-FFF2-40B4-BE49-F238E27FC236}">
                <a16:creationId xmlns:a16="http://schemas.microsoft.com/office/drawing/2014/main" id="{60105B0F-5E3F-40C9-81B9-0C32C9DD3D01}"/>
              </a:ext>
            </a:extLst>
          </p:cNvPr>
          <p:cNvSpPr/>
          <p:nvPr/>
        </p:nvSpPr>
        <p:spPr>
          <a:xfrm>
            <a:off x="2745583" y="2044285"/>
            <a:ext cx="2594261" cy="1856983"/>
          </a:xfrm>
          <a:prstGeom prst="rect">
            <a:avLst/>
          </a:prstGeom>
        </p:spPr>
        <p:txBody>
          <a:bodyPr wrap="square">
            <a:spAutoFit/>
          </a:bodyPr>
          <a:lstStyle/>
          <a:p>
            <a:r>
              <a:rPr lang="cs-CZ" sz="1867" b="1">
                <a:solidFill>
                  <a:schemeClr val="tx1">
                    <a:lumMod val="95000"/>
                    <a:lumOff val="5000"/>
                  </a:schemeClr>
                </a:solidFill>
                <a:ea typeface="Cambria" panose="02040503050406030204" pitchFamily="18" charset="0"/>
                <a:cs typeface="Arial" panose="020B0604020202020204" pitchFamily="34" charset="0"/>
              </a:rPr>
              <a:t>3. Etapa 1.1.- 30.6.2024</a:t>
            </a:r>
          </a:p>
          <a:p>
            <a:r>
              <a:rPr lang="cs-CZ" sz="1600">
                <a:solidFill>
                  <a:schemeClr val="tx1">
                    <a:lumMod val="95000"/>
                    <a:lumOff val="5000"/>
                  </a:schemeClr>
                </a:solidFill>
                <a:ea typeface="Cambria" panose="02040503050406030204" pitchFamily="18" charset="0"/>
                <a:cs typeface="Cardo" panose="02020600000000000000" pitchFamily="18" charset="-79"/>
              </a:rPr>
              <a:t>Mapování služeb z Katalogu na jednotlivá OVM</a:t>
            </a:r>
          </a:p>
          <a:p>
            <a:r>
              <a:rPr lang="cs-CZ" sz="1600">
                <a:solidFill>
                  <a:schemeClr val="tx1">
                    <a:lumMod val="95000"/>
                    <a:lumOff val="5000"/>
                  </a:schemeClr>
                </a:solidFill>
                <a:ea typeface="Cambria" panose="02040503050406030204" pitchFamily="18" charset="0"/>
                <a:cs typeface="Cardo" panose="02020600000000000000" pitchFamily="18" charset="-79"/>
              </a:rPr>
              <a:t>Finalizace textů pro přenesenou působnost</a:t>
            </a:r>
          </a:p>
          <a:p>
            <a:r>
              <a:rPr lang="cs-CZ" sz="1600">
                <a:solidFill>
                  <a:schemeClr val="tx1">
                    <a:lumMod val="95000"/>
                    <a:lumOff val="5000"/>
                  </a:schemeClr>
                </a:solidFill>
                <a:ea typeface="Cambria" panose="02040503050406030204" pitchFamily="18" charset="0"/>
                <a:cs typeface="Cardo" panose="02020600000000000000" pitchFamily="18" charset="-79"/>
              </a:rPr>
              <a:t>Implementace místních poplatků</a:t>
            </a:r>
            <a:endParaRPr lang="cs-CZ" sz="1600">
              <a:solidFill>
                <a:schemeClr val="tx1">
                  <a:lumMod val="95000"/>
                  <a:lumOff val="5000"/>
                </a:schemeClr>
              </a:solidFill>
              <a:ea typeface="Cambria" panose="02040503050406030204" pitchFamily="18" charset="0"/>
              <a:cs typeface="Arial" panose="020B0604020202020204" pitchFamily="34" charset="0"/>
            </a:endParaRPr>
          </a:p>
        </p:txBody>
      </p:sp>
      <p:grpSp>
        <p:nvGrpSpPr>
          <p:cNvPr id="55" name="Group 54">
            <a:extLst>
              <a:ext uri="{FF2B5EF4-FFF2-40B4-BE49-F238E27FC236}">
                <a16:creationId xmlns:a16="http://schemas.microsoft.com/office/drawing/2014/main" id="{AA6CF6EF-4F22-40DD-A27B-E0EBEC50EDD0}"/>
              </a:ext>
            </a:extLst>
          </p:cNvPr>
          <p:cNvGrpSpPr/>
          <p:nvPr/>
        </p:nvGrpSpPr>
        <p:grpSpPr>
          <a:xfrm>
            <a:off x="7400381" y="1795288"/>
            <a:ext cx="972000" cy="972000"/>
            <a:chOff x="7549425" y="2280620"/>
            <a:chExt cx="671304" cy="671305"/>
          </a:xfrm>
        </p:grpSpPr>
        <p:sp>
          <p:nvSpPr>
            <p:cNvPr id="20" name="Teardrop 19">
              <a:extLst>
                <a:ext uri="{FF2B5EF4-FFF2-40B4-BE49-F238E27FC236}">
                  <a16:creationId xmlns:a16="http://schemas.microsoft.com/office/drawing/2014/main" id="{4FB94299-A734-4876-9A41-246D263413AC}"/>
                </a:ext>
              </a:extLst>
            </p:cNvPr>
            <p:cNvSpPr/>
            <p:nvPr/>
          </p:nvSpPr>
          <p:spPr>
            <a:xfrm rot="8100000">
              <a:off x="7549425" y="2280620"/>
              <a:ext cx="671304" cy="671305"/>
            </a:xfrm>
            <a:prstGeom prst="teardrop">
              <a:avLst>
                <a:gd name="adj" fmla="val 136365"/>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21" name="Oval 20">
              <a:extLst>
                <a:ext uri="{FF2B5EF4-FFF2-40B4-BE49-F238E27FC236}">
                  <a16:creationId xmlns:a16="http://schemas.microsoft.com/office/drawing/2014/main" id="{0F690C7B-0D51-4282-A6BF-02B4EA263603}"/>
                </a:ext>
              </a:extLst>
            </p:cNvPr>
            <p:cNvSpPr/>
            <p:nvPr/>
          </p:nvSpPr>
          <p:spPr>
            <a:xfrm>
              <a:off x="7567302" y="2293840"/>
              <a:ext cx="635551" cy="644458"/>
            </a:xfrm>
            <a:prstGeom prst="ellipse">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4.</a:t>
              </a:r>
            </a:p>
          </p:txBody>
        </p:sp>
      </p:grpSp>
      <p:sp>
        <p:nvSpPr>
          <p:cNvPr id="19" name="Rectangle 18">
            <a:extLst>
              <a:ext uri="{FF2B5EF4-FFF2-40B4-BE49-F238E27FC236}">
                <a16:creationId xmlns:a16="http://schemas.microsoft.com/office/drawing/2014/main" id="{71E34B8F-08DD-4711-84C5-EC7E9B34B6A8}"/>
              </a:ext>
            </a:extLst>
          </p:cNvPr>
          <p:cNvSpPr/>
          <p:nvPr/>
        </p:nvSpPr>
        <p:spPr>
          <a:xfrm>
            <a:off x="8490206" y="2192987"/>
            <a:ext cx="3037873" cy="1610762"/>
          </a:xfrm>
          <a:prstGeom prst="rect">
            <a:avLst/>
          </a:prstGeom>
        </p:spPr>
        <p:txBody>
          <a:bodyPr wrap="square">
            <a:spAutoFit/>
          </a:bodyPr>
          <a:lstStyle/>
          <a:p>
            <a:r>
              <a:rPr lang="cs-CZ" sz="1867" b="1">
                <a:solidFill>
                  <a:schemeClr val="tx1">
                    <a:lumMod val="95000"/>
                    <a:lumOff val="5000"/>
                  </a:schemeClr>
                </a:solidFill>
                <a:ea typeface="Cambria" panose="02040503050406030204" pitchFamily="18" charset="0"/>
                <a:cs typeface="Arial" panose="020B0604020202020204" pitchFamily="34" charset="0"/>
              </a:rPr>
              <a:t>4. Etapa 1.7.- 31.12.2024</a:t>
            </a:r>
          </a:p>
          <a:p>
            <a:r>
              <a:rPr lang="cs-CZ" sz="1600">
                <a:solidFill>
                  <a:schemeClr val="tx1">
                    <a:lumMod val="95000"/>
                    <a:lumOff val="5000"/>
                  </a:schemeClr>
                </a:solidFill>
                <a:ea typeface="Cambria" panose="02040503050406030204" pitchFamily="18" charset="0"/>
                <a:cs typeface="Cardo" panose="02020600000000000000" pitchFamily="18" charset="-79"/>
              </a:rPr>
              <a:t>Finální verze PVS/PO</a:t>
            </a:r>
          </a:p>
          <a:p>
            <a:r>
              <a:rPr lang="cs-CZ" sz="1600">
                <a:solidFill>
                  <a:schemeClr val="tx1">
                    <a:lumMod val="95000"/>
                    <a:lumOff val="5000"/>
                  </a:schemeClr>
                </a:solidFill>
                <a:ea typeface="Cambria" panose="02040503050406030204" pitchFamily="18" charset="0"/>
                <a:cs typeface="Cardo" panose="02020600000000000000" pitchFamily="18" charset="-79"/>
              </a:rPr>
              <a:t>Životní situace</a:t>
            </a:r>
          </a:p>
          <a:p>
            <a:r>
              <a:rPr lang="cs-CZ" sz="1600">
                <a:solidFill>
                  <a:schemeClr val="tx1">
                    <a:lumMod val="95000"/>
                    <a:lumOff val="5000"/>
                  </a:schemeClr>
                </a:solidFill>
                <a:ea typeface="Cambria" panose="02040503050406030204" pitchFamily="18" charset="0"/>
                <a:cs typeface="Cardo" panose="02020600000000000000" pitchFamily="18" charset="-79"/>
              </a:rPr>
              <a:t>90% digitalizovaných služeb alespoň pro přenesenou působnost</a:t>
            </a:r>
            <a:endParaRPr lang="cs-CZ" sz="1600">
              <a:solidFill>
                <a:schemeClr val="tx1">
                  <a:lumMod val="95000"/>
                  <a:lumOff val="5000"/>
                </a:schemeClr>
              </a:solidFill>
              <a:ea typeface="Cambria" panose="02040503050406030204" pitchFamily="18" charset="0"/>
              <a:cs typeface="Arial" panose="020B0604020202020204" pitchFamily="34" charset="0"/>
            </a:endParaRPr>
          </a:p>
        </p:txBody>
      </p:sp>
      <p:grpSp>
        <p:nvGrpSpPr>
          <p:cNvPr id="56" name="Group 55">
            <a:extLst>
              <a:ext uri="{FF2B5EF4-FFF2-40B4-BE49-F238E27FC236}">
                <a16:creationId xmlns:a16="http://schemas.microsoft.com/office/drawing/2014/main" id="{1B18E5C7-2567-44F7-A06F-95A76949DA7B}"/>
              </a:ext>
            </a:extLst>
          </p:cNvPr>
          <p:cNvGrpSpPr/>
          <p:nvPr/>
        </p:nvGrpSpPr>
        <p:grpSpPr>
          <a:xfrm>
            <a:off x="5960119" y="910476"/>
            <a:ext cx="972000" cy="972000"/>
            <a:chOff x="6159678" y="1427065"/>
            <a:chExt cx="595443" cy="595442"/>
          </a:xfrm>
        </p:grpSpPr>
        <p:sp>
          <p:nvSpPr>
            <p:cNvPr id="15" name="Teardrop 14">
              <a:extLst>
                <a:ext uri="{FF2B5EF4-FFF2-40B4-BE49-F238E27FC236}">
                  <a16:creationId xmlns:a16="http://schemas.microsoft.com/office/drawing/2014/main" id="{F3944F4C-5138-407F-BD61-DA72ABF93198}"/>
                </a:ext>
              </a:extLst>
            </p:cNvPr>
            <p:cNvSpPr/>
            <p:nvPr/>
          </p:nvSpPr>
          <p:spPr>
            <a:xfrm rot="8100000">
              <a:off x="6159678" y="1427065"/>
              <a:ext cx="595443" cy="595442"/>
            </a:xfrm>
            <a:prstGeom prst="teardrop">
              <a:avLst>
                <a:gd name="adj" fmla="val 13636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16" name="Oval 15">
              <a:extLst>
                <a:ext uri="{FF2B5EF4-FFF2-40B4-BE49-F238E27FC236}">
                  <a16:creationId xmlns:a16="http://schemas.microsoft.com/office/drawing/2014/main" id="{C9B67A77-435A-4BEA-BBA9-BF8DCE1E8AF0}"/>
                </a:ext>
              </a:extLst>
            </p:cNvPr>
            <p:cNvSpPr/>
            <p:nvPr/>
          </p:nvSpPr>
          <p:spPr>
            <a:xfrm>
              <a:off x="6175534" y="1438769"/>
              <a:ext cx="563731" cy="571630"/>
            </a:xfrm>
            <a:prstGeom prst="ellipse">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5.</a:t>
              </a:r>
            </a:p>
          </p:txBody>
        </p:sp>
      </p:grpSp>
      <p:sp>
        <p:nvSpPr>
          <p:cNvPr id="14" name="Rectangle 13">
            <a:extLst>
              <a:ext uri="{FF2B5EF4-FFF2-40B4-BE49-F238E27FC236}">
                <a16:creationId xmlns:a16="http://schemas.microsoft.com/office/drawing/2014/main" id="{31EFB6DF-6052-470F-AC75-4D04D4408DDE}"/>
              </a:ext>
            </a:extLst>
          </p:cNvPr>
          <p:cNvSpPr/>
          <p:nvPr/>
        </p:nvSpPr>
        <p:spPr>
          <a:xfrm>
            <a:off x="3459401" y="1132077"/>
            <a:ext cx="2362209" cy="461665"/>
          </a:xfrm>
          <a:prstGeom prst="rect">
            <a:avLst/>
          </a:prstGeom>
        </p:spPr>
        <p:txBody>
          <a:bodyPr wrap="square">
            <a:spAutoFit/>
          </a:bodyPr>
          <a:lstStyle/>
          <a:p>
            <a:pPr algn="r"/>
            <a:r>
              <a:rPr lang="cs-CZ" sz="2400" b="1">
                <a:solidFill>
                  <a:schemeClr val="tx1">
                    <a:lumMod val="95000"/>
                    <a:lumOff val="5000"/>
                  </a:schemeClr>
                </a:solidFill>
                <a:ea typeface="Cambria" panose="02040503050406030204" pitchFamily="18" charset="0"/>
                <a:cs typeface="Arial" panose="020B0604020202020204" pitchFamily="34" charset="0"/>
              </a:rPr>
              <a:t>Milník 1.2.2025</a:t>
            </a:r>
          </a:p>
        </p:txBody>
      </p:sp>
      <p:sp>
        <p:nvSpPr>
          <p:cNvPr id="3" name="Nadpis 2">
            <a:extLst>
              <a:ext uri="{FF2B5EF4-FFF2-40B4-BE49-F238E27FC236}">
                <a16:creationId xmlns:a16="http://schemas.microsoft.com/office/drawing/2014/main" id="{7263AFBD-8B71-F2FC-CA92-F896246F5677}"/>
              </a:ext>
            </a:extLst>
          </p:cNvPr>
          <p:cNvSpPr>
            <a:spLocks noGrp="1"/>
          </p:cNvSpPr>
          <p:nvPr>
            <p:ph type="title"/>
          </p:nvPr>
        </p:nvSpPr>
        <p:spPr/>
        <p:txBody>
          <a:bodyPr>
            <a:normAutofit/>
          </a:bodyPr>
          <a:lstStyle/>
          <a:p>
            <a:r>
              <a:rPr lang="cs-CZ" sz="3733"/>
              <a:t>RoadMap implementace ZoPDS</a:t>
            </a:r>
          </a:p>
        </p:txBody>
      </p:sp>
    </p:spTree>
    <p:extLst>
      <p:ext uri="{BB962C8B-B14F-4D97-AF65-F5344CB8AC3E}">
        <p14:creationId xmlns:p14="http://schemas.microsoft.com/office/powerpoint/2010/main" val="4078865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28962" y="1833867"/>
            <a:ext cx="10914610" cy="1978112"/>
          </a:xfrm>
        </p:spPr>
        <p:txBody>
          <a:bodyPr/>
          <a:lstStyle/>
          <a:p>
            <a:pPr algn="ctr"/>
            <a:r>
              <a:rPr lang="es-ES" b="1" dirty="0">
                <a:ln>
                  <a:solidFill>
                    <a:schemeClr val="tx1"/>
                  </a:solidFill>
                </a:ln>
                <a:solidFill>
                  <a:schemeClr val="bg1"/>
                </a:solidFill>
              </a:rPr>
              <a:t>Otázky a nejasnosti členů pracovní skupiny</a:t>
            </a:r>
          </a:p>
        </p:txBody>
      </p:sp>
    </p:spTree>
    <p:extLst>
      <p:ext uri="{BB962C8B-B14F-4D97-AF65-F5344CB8AC3E}">
        <p14:creationId xmlns:p14="http://schemas.microsoft.com/office/powerpoint/2010/main" val="2159519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Implementační doporučení </a:t>
            </a:r>
            <a:r>
              <a:rPr lang="cs-CZ" b="1" dirty="0" err="1">
                <a:ln>
                  <a:solidFill>
                    <a:sysClr val="windowText" lastClr="000000"/>
                  </a:solidFill>
                </a:ln>
                <a:solidFill>
                  <a:schemeClr val="bg1"/>
                </a:solidFill>
                <a:latin typeface="Arial" panose="020B0604020202020204" pitchFamily="34" charset="0"/>
                <a:ea typeface="Calibri" panose="020F0502020204030204" pitchFamily="34" charset="0"/>
                <a:cs typeface="Arial" panose="020B0604020202020204" pitchFamily="34" charset="0"/>
              </a:rPr>
              <a:t>ZoPDS</a:t>
            </a:r>
            <a:endParaRPr lang="cs-CZ" b="1" dirty="0">
              <a:ln>
                <a:solidFill>
                  <a:schemeClr val="tx1"/>
                </a:solidFill>
              </a:ln>
              <a:solidFill>
                <a:schemeClr val="bg1"/>
              </a:solidFill>
            </a:endParaRPr>
          </a:p>
        </p:txBody>
      </p:sp>
      <p:sp>
        <p:nvSpPr>
          <p:cNvPr id="3" name="Zástupný symbol pro obsah 2"/>
          <p:cNvSpPr>
            <a:spLocks noGrp="1"/>
          </p:cNvSpPr>
          <p:nvPr>
            <p:ph idx="1"/>
          </p:nvPr>
        </p:nvSpPr>
        <p:spPr>
          <a:xfrm>
            <a:off x="838200" y="1611021"/>
            <a:ext cx="10515600" cy="4351338"/>
          </a:xfrm>
        </p:spPr>
        <p:txBody>
          <a:bodyPr>
            <a:normAutofit/>
          </a:bodyPr>
          <a:lstStyle/>
          <a:p>
            <a:r>
              <a:rPr lang="cs-CZ" sz="4000" b="1" dirty="0">
                <a:ln>
                  <a:solidFill>
                    <a:schemeClr val="tx1"/>
                  </a:solidFill>
                </a:ln>
                <a:solidFill>
                  <a:schemeClr val="bg1"/>
                </a:solidFill>
              </a:rPr>
              <a:t>ČTÚ – snížení zátěže na ISSS</a:t>
            </a:r>
          </a:p>
        </p:txBody>
      </p:sp>
    </p:spTree>
    <p:extLst>
      <p:ext uri="{BB962C8B-B14F-4D97-AF65-F5344CB8AC3E}">
        <p14:creationId xmlns:p14="http://schemas.microsoft.com/office/powerpoint/2010/main" val="4022916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66284" y="2001818"/>
            <a:ext cx="10914610" cy="1978112"/>
          </a:xfrm>
        </p:spPr>
        <p:txBody>
          <a:bodyPr/>
          <a:lstStyle/>
          <a:p>
            <a:pPr algn="ctr"/>
            <a:r>
              <a:rPr lang="es-ES" b="1" dirty="0">
                <a:ln>
                  <a:solidFill>
                    <a:schemeClr val="tx1"/>
                  </a:solidFill>
                </a:ln>
                <a:solidFill>
                  <a:schemeClr val="bg1"/>
                </a:solidFill>
              </a:rPr>
              <a:t>Závěr</a:t>
            </a:r>
          </a:p>
        </p:txBody>
      </p:sp>
    </p:spTree>
    <p:extLst>
      <p:ext uri="{BB962C8B-B14F-4D97-AF65-F5344CB8AC3E}">
        <p14:creationId xmlns:p14="http://schemas.microsoft.com/office/powerpoint/2010/main" val="3235774545"/>
      </p:ext>
    </p:extLst>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tiv Office">
  <a:themeElements>
    <a:clrScheme name="Motiv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tiv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iv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2023" id="{1DBA0225-D83E-C440-8585-F7EB12A0D1AE}" vid="{2BC9DBD8-A0DF-524A-81F6-A94F9E4771F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3" ma:contentTypeDescription="Vytvoří nový dokument" ma:contentTypeScope="" ma:versionID="ecf94d19de82b3b341e2de8cfb48251b">
  <xsd:schema xmlns:xsd="http://www.w3.org/2001/XMLSchema" xmlns:xs="http://www.w3.org/2001/XMLSchema" xmlns:p="http://schemas.microsoft.com/office/2006/metadata/properties" xmlns:ns2="96a559f6-78cc-4fcb-80ce-aeceb24eab07" targetNamespace="http://schemas.microsoft.com/office/2006/metadata/properties" ma:root="true" ma:fieldsID="ad8f392e0f7f0843995144df8d801885" ns2:_="">
    <xsd:import namespace="96a559f6-78cc-4fcb-80ce-aeceb24eab07"/>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A5577F-90D1-4D94-B1D8-31B5055FE45A}">
  <ds:schemaRefs>
    <ds:schemaRef ds:uri="http://schemas.microsoft.com/sharepoint/v3/contenttype/forms"/>
  </ds:schemaRefs>
</ds:datastoreItem>
</file>

<file path=customXml/itemProps2.xml><?xml version="1.0" encoding="utf-8"?>
<ds:datastoreItem xmlns:ds="http://schemas.openxmlformats.org/officeDocument/2006/customXml" ds:itemID="{408DADC0-269E-4475-BEA3-08FF2E0CD718}"/>
</file>

<file path=customXml/itemProps3.xml><?xml version="1.0" encoding="utf-8"?>
<ds:datastoreItem xmlns:ds="http://schemas.openxmlformats.org/officeDocument/2006/customXml" ds:itemID="{579E98EC-8279-4842-B4EF-743633698D36}">
  <ds:schemaRefs>
    <ds:schemaRef ds:uri="http://schemas.microsoft.com/office/2006/documentManagement/types"/>
    <ds:schemaRef ds:uri="http://purl.org/dc/terms/"/>
    <ds:schemaRef ds:uri="http://purl.org/dc/elements/1.1/"/>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3106</TotalTime>
  <Words>1096</Words>
  <Application>Microsoft Office PowerPoint</Application>
  <PresentationFormat>Širokoúhlá obrazovka</PresentationFormat>
  <Paragraphs>107</Paragraphs>
  <Slides>25</Slides>
  <Notes>0</Notes>
  <HiddenSlides>0</HiddenSlides>
  <MMClips>0</MMClips>
  <ScaleCrop>false</ScaleCrop>
  <HeadingPairs>
    <vt:vector size="6" baseType="variant">
      <vt:variant>
        <vt:lpstr>Použitá písma</vt:lpstr>
      </vt:variant>
      <vt:variant>
        <vt:i4>6</vt:i4>
      </vt:variant>
      <vt:variant>
        <vt:lpstr>Motiv</vt:lpstr>
      </vt:variant>
      <vt:variant>
        <vt:i4>2</vt:i4>
      </vt:variant>
      <vt:variant>
        <vt:lpstr>Nadpisy snímků</vt:lpstr>
      </vt:variant>
      <vt:variant>
        <vt:i4>25</vt:i4>
      </vt:variant>
    </vt:vector>
  </HeadingPairs>
  <TitlesOfParts>
    <vt:vector size="33" baseType="lpstr">
      <vt:lpstr>Arial</vt:lpstr>
      <vt:lpstr>Calibri</vt:lpstr>
      <vt:lpstr>Courier New</vt:lpstr>
      <vt:lpstr>Roboto</vt:lpstr>
      <vt:lpstr>Standardní systémové písmo</vt:lpstr>
      <vt:lpstr>Wingdings</vt:lpstr>
      <vt:lpstr>Motiv Office</vt:lpstr>
      <vt:lpstr>1_Motiv Office</vt:lpstr>
      <vt:lpstr>Prezentace aplikace PowerPoint</vt:lpstr>
      <vt:lpstr>Technický úvod, pravidla videokonference </vt:lpstr>
      <vt:lpstr>Kontext naší PS v rámci RVIS</vt:lpstr>
      <vt:lpstr> </vt:lpstr>
      <vt:lpstr>Změny v Národní architektuře eGovernmentu</vt:lpstr>
      <vt:lpstr>Změny v Národní architektuře eGovernmentu</vt:lpstr>
      <vt:lpstr>Změny v Národní architektuře eGovernmentu</vt:lpstr>
      <vt:lpstr>Diskutuje s námi</vt:lpstr>
      <vt:lpstr>Implementační doporučení ZoPDS</vt:lpstr>
      <vt:lpstr>Implementační doporučení ZoPDS</vt:lpstr>
      <vt:lpstr>ZoPDS a IROP</vt:lpstr>
      <vt:lpstr>9. výzva IROP </vt:lpstr>
      <vt:lpstr>Projekty pro samosprávu související se ZoPDS</vt:lpstr>
      <vt:lpstr>Nové funkcionality a podklad pro formulář OHA </vt:lpstr>
      <vt:lpstr>Služby v Katalogu služeb – 7670, realizováno 373</vt:lpstr>
      <vt:lpstr>Služby v Katalogu služeb – 7670, realizováno 373</vt:lpstr>
      <vt:lpstr>Popisy v Katalogu služeb</vt:lpstr>
      <vt:lpstr>Přenesená působnost</vt:lpstr>
      <vt:lpstr>Přenesená působnost – 1477 služeb</vt:lpstr>
      <vt:lpstr>Chybějící formuláře pro 1461 služeb</vt:lpstr>
      <vt:lpstr>Popis služeb v Katalogu služeb – přenesená působnost</vt:lpstr>
      <vt:lpstr>RoadMap implementace ZoPDS</vt:lpstr>
      <vt:lpstr>Otázky a nejasnosti členů pracovní skupiny</vt:lpstr>
      <vt:lpstr>Implementační doporučení ZoPDS</vt:lpstr>
      <vt:lpstr>Závěr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Tomáš Šedivec</dc:creator>
  <cp:lastModifiedBy>Tomáš Šedivec</cp:lastModifiedBy>
  <cp:revision>114</cp:revision>
  <dcterms:created xsi:type="dcterms:W3CDTF">2021-01-27T09:19:54Z</dcterms:created>
  <dcterms:modified xsi:type="dcterms:W3CDTF">2023-09-14T10:29:28Z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MyDocuments">
    <vt:bool>true</vt:bool>
  </property>
  <property fmtid="{D5CDD505-2E9C-101B-9397-08002B2CF9AE}" pid="3" name="ContentTypeId">
    <vt:lpwstr>0x01010090B00F75BED7484DA544575FBD77AFF7</vt:lpwstr>
  </property>
  <property fmtid="{D5CDD505-2E9C-101B-9397-08002B2CF9AE}" pid="4" name="MSIP_Label_defa4170-0d19-0005-0004-bc88714345d2_Enabled">
    <vt:lpwstr>true</vt:lpwstr>
  </property>
  <property fmtid="{D5CDD505-2E9C-101B-9397-08002B2CF9AE}" pid="5" name="MSIP_Label_defa4170-0d19-0005-0004-bc88714345d2_SetDate">
    <vt:lpwstr>2023-05-31T18:05:34Z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5b6b85cd-44ef-4d66-86d4-603dd2160780</vt:lpwstr>
  </property>
  <property fmtid="{D5CDD505-2E9C-101B-9397-08002B2CF9AE}" pid="9" name="MSIP_Label_defa4170-0d19-0005-0004-bc88714345d2_ActionId">
    <vt:lpwstr>c5314257-51c3-403d-a298-d6cb53c54f2a</vt:lpwstr>
  </property>
  <property fmtid="{D5CDD505-2E9C-101B-9397-08002B2CF9AE}" pid="10" name="MSIP_Label_defa4170-0d19-0005-0004-bc88714345d2_ContentBits">
    <vt:lpwstr>0</vt:lpwstr>
  </property>
</Properties>
</file>
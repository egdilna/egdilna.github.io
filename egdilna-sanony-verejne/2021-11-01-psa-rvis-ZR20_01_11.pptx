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94" r:id="rId6"/>
    <p:sldId id="295" r:id="rId7"/>
    <p:sldId id="297" r:id="rId8"/>
    <p:sldId id="298" r:id="rId9"/>
    <p:sldId id="296" r:id="rId10"/>
    <p:sldId id="299" r:id="rId11"/>
    <p:sldId id="300" r:id="rId12"/>
    <p:sldId id="301" r:id="rId13"/>
    <p:sldId id="302" r:id="rId14"/>
    <p:sldId id="303" r:id="rId15"/>
    <p:sldId id="291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24" autoAdjust="0"/>
    <p:restoredTop sz="50000" autoAdjust="0"/>
  </p:normalViewPr>
  <p:slideViewPr>
    <p:cSldViewPr>
      <p:cViewPr varScale="1">
        <p:scale>
          <a:sx n="77" d="100"/>
          <a:sy n="77" d="100"/>
        </p:scale>
        <p:origin x="70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01.11.2021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01.11.2021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01.11.2021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5400" dirty="0"/>
              <a:t>Základní registry 2.0</a:t>
            </a:r>
            <a:br>
              <a:rPr lang="cs-CZ" sz="5400" dirty="0"/>
            </a:br>
            <a:r>
              <a:rPr lang="cs-CZ" sz="5400" dirty="0"/>
              <a:t>Propojený datový fond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01.11.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90A008-B6A4-4BD9-A7C9-9AB7691D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74638"/>
            <a:ext cx="6912768" cy="1143000"/>
          </a:xfrm>
        </p:spPr>
        <p:txBody>
          <a:bodyPr/>
          <a:lstStyle/>
          <a:p>
            <a:r>
              <a:rPr lang="cs-CZ" dirty="0"/>
              <a:t>Základní motivace projektu ZR 2.0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37697F-59DF-4E8A-AFEA-6AFDB88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Zastaralé hardwarové a softwarové vybavení</a:t>
            </a:r>
          </a:p>
          <a:p>
            <a:r>
              <a:rPr lang="cs-CZ" dirty="0"/>
              <a:t>Škálovatelnost současného řešení </a:t>
            </a:r>
          </a:p>
          <a:p>
            <a:r>
              <a:rPr lang="cs-CZ" dirty="0"/>
              <a:t>Informační systém sdílené služby (do 1.2.2022 </a:t>
            </a:r>
            <a:r>
              <a:rPr lang="cs-CZ" dirty="0" err="1"/>
              <a:t>eGSB</a:t>
            </a:r>
            <a:r>
              <a:rPr lang="cs-CZ" dirty="0"/>
              <a:t> jako součást CMS)</a:t>
            </a:r>
          </a:p>
          <a:p>
            <a:r>
              <a:rPr lang="cs-CZ" dirty="0"/>
              <a:t>Aplikace základních registrů vyžadující časově náročnou aktualizaci</a:t>
            </a:r>
          </a:p>
          <a:p>
            <a:r>
              <a:rPr lang="cs-CZ" dirty="0"/>
              <a:t>Dostupnost v rámci SLA, nicméně není zajištěn </a:t>
            </a:r>
            <a:r>
              <a:rPr lang="cs-CZ" dirty="0" err="1"/>
              <a:t>bezodstávkový</a:t>
            </a:r>
            <a:r>
              <a:rPr lang="cs-CZ" dirty="0"/>
              <a:t> provoz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4041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6FB05-247C-42C2-992D-7DED604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tedy řešíme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3AA6B-ECB9-4423-AEDC-C72B1EB7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9686310" cy="4983162"/>
          </a:xfrm>
        </p:spPr>
        <p:txBody>
          <a:bodyPr>
            <a:normAutofit fontScale="775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Přechod na </a:t>
            </a:r>
            <a:r>
              <a:rPr lang="cs-CZ" dirty="0" err="1"/>
              <a:t>hyperkonvergovanou</a:t>
            </a:r>
            <a:r>
              <a:rPr lang="cs-CZ" dirty="0"/>
              <a:t> infrastrukturu</a:t>
            </a: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Zajištění vysoké dostupnosti</a:t>
            </a: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Zajištění </a:t>
            </a:r>
            <a:r>
              <a:rPr lang="cs-CZ" dirty="0" err="1"/>
              <a:t>bezodstávkového</a:t>
            </a:r>
            <a:r>
              <a:rPr lang="cs-CZ" dirty="0"/>
              <a:t> provozu</a:t>
            </a: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Optimalizace komunikační infrastruktury a datových center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Servisně orientovaná aplikační infrastruktura</a:t>
            </a:r>
          </a:p>
          <a:p>
            <a:pPr lv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Kontejnerizace aplikací základních registrů</a:t>
            </a:r>
          </a:p>
          <a:p>
            <a:pPr lv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Softwarově definovaná infrastruktura (síť a úložiště)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Sjednocení referenčního rozhraní (ISZR a ISSS)</a:t>
            </a:r>
          </a:p>
          <a:p>
            <a:pPr lv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Jednotné řízení oprávnění</a:t>
            </a:r>
          </a:p>
          <a:p>
            <a:pPr lv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Vytvoření důvěryhodného perimetru referenčního rozhraní</a:t>
            </a:r>
          </a:p>
          <a:p>
            <a:pPr lv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Sdílené služby referenčního rozhraní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dirty="0"/>
              <a:t>Vybudování plnohodnotného interního testovacího prostředí ZR a referenčního rozhraní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89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DE473-EA8E-4B0F-8C55-53496D9A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Aplikace základních registrů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714FD-DAAD-4C1E-9980-818311D4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Kontejnerizace – </a:t>
            </a:r>
            <a:r>
              <a:rPr lang="cs-CZ" dirty="0" err="1"/>
              <a:t>mikroslužby</a:t>
            </a:r>
            <a:endParaRPr lang="cs-CZ" dirty="0"/>
          </a:p>
          <a:p>
            <a:pPr lvl="1"/>
            <a:r>
              <a:rPr lang="cs-CZ" dirty="0"/>
              <a:t>Implementace změn a úprav bez odstávky služeb</a:t>
            </a:r>
          </a:p>
          <a:p>
            <a:pPr lvl="1"/>
            <a:r>
              <a:rPr lang="cs-CZ" dirty="0"/>
              <a:t>Dynamické řízení odezvy podle aktuální zátěže</a:t>
            </a:r>
          </a:p>
          <a:p>
            <a:r>
              <a:rPr lang="cs-CZ" dirty="0"/>
              <a:t>Společné prvky referenčního rozhraní</a:t>
            </a:r>
          </a:p>
          <a:p>
            <a:pPr lvl="1"/>
            <a:r>
              <a:rPr lang="cs-CZ" dirty="0"/>
              <a:t>Správa autorizace transakcí</a:t>
            </a:r>
          </a:p>
          <a:p>
            <a:pPr lvl="1"/>
            <a:r>
              <a:rPr lang="cs-CZ" dirty="0"/>
              <a:t>Modul dávkového zpracování (v současnosti FAIS)</a:t>
            </a:r>
          </a:p>
          <a:p>
            <a:r>
              <a:rPr lang="cs-CZ" dirty="0"/>
              <a:t>Jednotné logování </a:t>
            </a:r>
          </a:p>
          <a:p>
            <a:pPr lvl="1"/>
            <a:r>
              <a:rPr lang="cs-CZ" dirty="0"/>
              <a:t>Auditovatelnost transakcí – jednotné místo poskytnutí informací subjektům údajů o využívání údajů</a:t>
            </a:r>
          </a:p>
          <a:p>
            <a:r>
              <a:rPr lang="cs-CZ" dirty="0"/>
              <a:t>Centrální místo pro vyrozumívání o změně údajů </a:t>
            </a:r>
          </a:p>
          <a:p>
            <a:pPr lvl="1"/>
            <a:r>
              <a:rPr lang="cs-CZ" dirty="0">
                <a:solidFill>
                  <a:srgbClr val="FF0000"/>
                </a:solidFill>
              </a:rPr>
              <a:t>termín notifikace o změně údajů je vyhrazen pro informování subjektu údajů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79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9411C-EE78-48FC-B6B6-89EB78A88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 anchor="ctr">
            <a:normAutofit/>
          </a:bodyPr>
          <a:lstStyle/>
          <a:p>
            <a:r>
              <a:rPr lang="cs-CZ" dirty="0"/>
              <a:t>SAT – správa autorizace transakcí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D3EF8-C4EA-4D31-B75F-F292D8E50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>
            <a:normAutofit/>
          </a:bodyPr>
          <a:lstStyle/>
          <a:p>
            <a:r>
              <a:rPr lang="cs-CZ" dirty="0"/>
              <a:t>Při využívání </a:t>
            </a:r>
            <a:r>
              <a:rPr lang="cs-CZ" b="1" dirty="0"/>
              <a:t>jakýchkoli </a:t>
            </a:r>
            <a:r>
              <a:rPr lang="cs-CZ" dirty="0"/>
              <a:t>služeb referenčního rozhraní jednotné provádění kontrol</a:t>
            </a:r>
          </a:p>
          <a:p>
            <a:r>
              <a:rPr lang="cs-CZ" dirty="0"/>
              <a:t>Referenční rozhraní je jeden důvěryhodný celek</a:t>
            </a:r>
          </a:p>
          <a:p>
            <a:r>
              <a:rPr lang="cs-CZ" dirty="0"/>
              <a:t>Načítání řídících dat z RPP dynamicky vzhledem k požadavkům na služby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E8620D0-90C0-4023-B685-2AE89824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829459"/>
            <a:ext cx="5384800" cy="4067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681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Dynamické řízení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/>
          </a:bodyPr>
          <a:lstStyle/>
          <a:p>
            <a:r>
              <a:rPr lang="cs-CZ" dirty="0"/>
              <a:t>Jednotné řízení referenčního rozhraní (ISZR a ISSS)</a:t>
            </a:r>
          </a:p>
          <a:p>
            <a:r>
              <a:rPr lang="cs-CZ" dirty="0"/>
              <a:t>Přechod od současné architektury „zpracovatelských linek“ na </a:t>
            </a:r>
            <a:r>
              <a:rPr lang="cs-CZ" dirty="0" err="1"/>
              <a:t>mash</a:t>
            </a:r>
            <a:r>
              <a:rPr lang="cs-CZ" dirty="0"/>
              <a:t> (síť) </a:t>
            </a:r>
            <a:r>
              <a:rPr lang="cs-CZ" dirty="0" err="1"/>
              <a:t>mikroslužeb</a:t>
            </a:r>
            <a:r>
              <a:rPr lang="cs-CZ" dirty="0"/>
              <a:t> </a:t>
            </a:r>
          </a:p>
          <a:p>
            <a:r>
              <a:rPr lang="cs-CZ" dirty="0"/>
              <a:t>Monitoring zátěže jednotlivých </a:t>
            </a:r>
            <a:r>
              <a:rPr lang="cs-CZ" dirty="0" err="1"/>
              <a:t>mikroslužeb</a:t>
            </a:r>
            <a:r>
              <a:rPr lang="cs-CZ" dirty="0"/>
              <a:t> (</a:t>
            </a:r>
            <a:r>
              <a:rPr lang="cs-CZ" dirty="0" err="1"/>
              <a:t>swarm</a:t>
            </a:r>
            <a:r>
              <a:rPr lang="cs-CZ" dirty="0"/>
              <a:t>)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B1F5F-6755-457F-87D3-45A20E42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Společná komponenta hromadného zpracování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BE1702-CC53-49EF-B386-9CBF4CCF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ISZR v současné době omezeno kapacitou WWW služeb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Synchronní zpracování maximálně pro 100 AIFO asynchronní pro 10 000 AIFO</a:t>
            </a:r>
          </a:p>
          <a:p>
            <a:pPr lvl="1">
              <a:spcBef>
                <a:spcPts val="0"/>
              </a:spcBef>
            </a:pPr>
            <a:endParaRPr lang="cs-CZ" dirty="0">
              <a:solidFill>
                <a:srgbClr val="4D4D4D"/>
              </a:solidFill>
            </a:endParaRPr>
          </a:p>
          <a:p>
            <a:pPr>
              <a:spcBef>
                <a:spcPts val="0"/>
              </a:spcBef>
            </a:pPr>
            <a:r>
              <a:rPr lang="cs-CZ" b="1" dirty="0">
                <a:solidFill>
                  <a:srgbClr val="4D4D4D"/>
                </a:solidFill>
              </a:rPr>
              <a:t>Pro </a:t>
            </a:r>
            <a:r>
              <a:rPr lang="cs-CZ" b="1" dirty="0" err="1">
                <a:solidFill>
                  <a:srgbClr val="4D4D4D"/>
                </a:solidFill>
              </a:rPr>
              <a:t>eGSB</a:t>
            </a:r>
            <a:r>
              <a:rPr lang="cs-CZ" b="1" dirty="0">
                <a:solidFill>
                  <a:srgbClr val="4D4D4D"/>
                </a:solidFill>
              </a:rPr>
              <a:t> platí zásadní omezení na 1 AIFO při zadávání požadavku na zápis či čtení údajů (služby G1-čti data a G11 – zapiš data)</a:t>
            </a:r>
          </a:p>
          <a:p>
            <a:pPr lvl="1">
              <a:spcBef>
                <a:spcPts val="0"/>
              </a:spcBef>
            </a:pPr>
            <a:endParaRPr lang="cs-CZ" dirty="0">
              <a:solidFill>
                <a:srgbClr val="4D4D4D"/>
              </a:solidFill>
            </a:endParaRPr>
          </a:p>
          <a:p>
            <a:pPr>
              <a:spcBef>
                <a:spcPts val="0"/>
              </a:spcBef>
            </a:pPr>
            <a:r>
              <a:rPr lang="cs-CZ" dirty="0"/>
              <a:t>Požadavky zadávané na hromadný výdej řešeny pro zadávání požadavků a výdej pomocí datových schránek</a:t>
            </a:r>
          </a:p>
          <a:p>
            <a:pPr>
              <a:spcBef>
                <a:spcPts val="0"/>
              </a:spcBef>
            </a:pPr>
            <a:endParaRPr lang="cs-CZ" dirty="0"/>
          </a:p>
          <a:p>
            <a:pPr>
              <a:spcBef>
                <a:spcPts val="0"/>
              </a:spcBef>
            </a:pPr>
            <a:r>
              <a:rPr lang="cs-CZ" dirty="0"/>
              <a:t>Zásadní změna – možnost využití WWW služeb pro zadání šablony (kostra požadavku) a datových souborů. Následné zpracování datových souborů dle šablony s využitím dynamického řízení zátěže na referenčním rozhraní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804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6718A5-C7B5-4120-AD60-A7F7CA77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Společná komponenta vyrozumívání o změně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F019AA-DF6E-469A-B37D-082065341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Slouží k </a:t>
            </a:r>
            <a:r>
              <a:rPr lang="cs-CZ" b="1" dirty="0"/>
              <a:t>aktualizaci</a:t>
            </a:r>
            <a:r>
              <a:rPr lang="cs-CZ" dirty="0"/>
              <a:t> údajů v Agendových informačních systémech</a:t>
            </a:r>
          </a:p>
          <a:p>
            <a:r>
              <a:rPr lang="cs-CZ" dirty="0"/>
              <a:t>Rozšíření stávajícího mechanismu pro referenční údaje z ROB</a:t>
            </a:r>
          </a:p>
          <a:p>
            <a:pPr lvl="1"/>
            <a:r>
              <a:rPr lang="cs-CZ" dirty="0"/>
              <a:t>Správce AIS registruje AIFO pro příjem změn údajů</a:t>
            </a:r>
          </a:p>
          <a:p>
            <a:pPr lvl="1"/>
            <a:r>
              <a:rPr lang="cs-CZ" dirty="0"/>
              <a:t>Správce AIS registruje IČO pro příjem změn údajů</a:t>
            </a:r>
          </a:p>
          <a:p>
            <a:pPr lvl="1"/>
            <a:r>
              <a:rPr lang="cs-CZ" dirty="0"/>
              <a:t>Správce AIS poskytujícího údaje prostřednictvím ISSS zapisuje údaje o údajích, u kterých došlo ke změně </a:t>
            </a:r>
          </a:p>
          <a:p>
            <a:pPr lvl="1"/>
            <a:r>
              <a:rPr lang="cs-CZ" dirty="0"/>
              <a:t>Správce AIS zasílá požadavek na vyrozumění o změně údajů se specifikací rozsahu údajů – získá seznam AIFO/IČO a údaje aktualizuje od zdroje dle svých oprávnění</a:t>
            </a:r>
          </a:p>
        </p:txBody>
      </p:sp>
    </p:spTree>
    <p:extLst>
      <p:ext uri="{BB962C8B-B14F-4D97-AF65-F5344CB8AC3E}">
        <p14:creationId xmlns:p14="http://schemas.microsoft.com/office/powerpoint/2010/main" val="39705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302C38-BA4C-4A5A-8576-27A5717A0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Podpora interoperability v rámci EU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B79143-F6A7-4265-A7C9-E96689F5A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Pro výměnu údajů v rámci EU odpovídající správce buduje aplikační rozhraní – </a:t>
            </a:r>
            <a:r>
              <a:rPr lang="cs-CZ" dirty="0" err="1"/>
              <a:t>Gateway</a:t>
            </a:r>
            <a:r>
              <a:rPr lang="cs-CZ" dirty="0"/>
              <a:t>/Brána – které zajišťuje transformaci mezi požadavky na komunikaci v rámci EU a v rámci Propojeného datového fondu</a:t>
            </a:r>
          </a:p>
          <a:p>
            <a:r>
              <a:rPr lang="cs-CZ" dirty="0"/>
              <a:t>Tato brána je připojena na referenční rozhraní, prostřednictvím kterého čerpá údaje či přijímá požadavky na zápis</a:t>
            </a:r>
          </a:p>
          <a:p>
            <a:r>
              <a:rPr lang="cs-CZ" dirty="0"/>
              <a:t>Brána musí zajistit ztotožnění osob (převod na AIFO) pokud je možná</a:t>
            </a:r>
          </a:p>
          <a:p>
            <a:r>
              <a:rPr lang="cs-CZ" dirty="0"/>
              <a:t>Oprávnění na výměnu údajů prostřednictvím PPDF dle referenčních údajů v RPP</a:t>
            </a:r>
          </a:p>
        </p:txBody>
      </p:sp>
    </p:spTree>
    <p:extLst>
      <p:ext uri="{BB962C8B-B14F-4D97-AF65-F5344CB8AC3E}">
        <p14:creationId xmlns:p14="http://schemas.microsoft.com/office/powerpoint/2010/main" val="52739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54A72D-9C33-40C4-86FE-0F606245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Řídící data PPDF jsou v RPP - 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7CEDC5-F2E1-4712-BC2F-5B3CA0AD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Správce agendy zapisuje do RPP jednotlivé subjekty/objekty, o kterých vede údaje (kontexty)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Správci agend zapisují požadavky na získávání údajů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00AFD29-73A8-4B8E-AE04-DBEF2A20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708920"/>
            <a:ext cx="9640301" cy="1035735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B4CB8CC-4D0F-4635-ADB8-E1C69EE8E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46" y="4370723"/>
            <a:ext cx="7868434" cy="19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54A72D-9C33-40C4-86FE-0F606245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Řídící data PPDF jsou v RPP - 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7CEDC5-F2E1-4712-BC2F-5B3CA0AD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Správce agendy zapisuje </a:t>
            </a:r>
            <a:r>
              <a:rPr lang="cs-CZ" b="1" dirty="0"/>
              <a:t>POSKYTOVÁNÍ </a:t>
            </a:r>
            <a:r>
              <a:rPr lang="cs-CZ" dirty="0"/>
              <a:t>údajů, které vede pro jednotlivé subjekty/objekty – zajistil technickou publikaci prostřednictvím referenčního rozhraní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Technický správce agendy ve spolupráci s věcným správcem zajistí čerpání publikovaných údajů prostřednictvím referenčního rozhraní</a:t>
            </a:r>
          </a:p>
          <a:p>
            <a:pPr lvl="1"/>
            <a:r>
              <a:rPr lang="cs-CZ" b="1" dirty="0"/>
              <a:t>Již žádný proces schvalování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6704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C20727E-AE7E-4DA5-883B-1453413AFE50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7669</TotalTime>
  <Words>595</Words>
  <Application>Microsoft Office PowerPoint</Application>
  <PresentationFormat>Širokoúhlá obrazovka</PresentationFormat>
  <Paragraphs>75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Symbol</vt:lpstr>
      <vt:lpstr>MV_sablona1_2007</vt:lpstr>
      <vt:lpstr>Základní registry 2.0 Propojený datový fond </vt:lpstr>
      <vt:lpstr>Základní motivace projektu ZR 2.0</vt:lpstr>
      <vt:lpstr>Co tedy řešíme</vt:lpstr>
      <vt:lpstr>Aplikace základních registrů</vt:lpstr>
      <vt:lpstr>SAT – správa autorizace transakcí</vt:lpstr>
      <vt:lpstr>Dynamické řízení</vt:lpstr>
      <vt:lpstr>Společná komponenta hromadného zpracování</vt:lpstr>
      <vt:lpstr>Společná komponenta vyrozumívání o změně údajů</vt:lpstr>
      <vt:lpstr>Podpora interoperability v rámci EU </vt:lpstr>
      <vt:lpstr>Řídící data PPDF jsou v RPP - opakování</vt:lpstr>
      <vt:lpstr>Řídící data PPDF jsou v RPP - opakování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262</cp:revision>
  <dcterms:created xsi:type="dcterms:W3CDTF">2016-11-24T12:36:26Z</dcterms:created>
  <dcterms:modified xsi:type="dcterms:W3CDTF">2021-11-01T10:42:58Z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
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99" r:id="rId5"/>
    <p:sldId id="311" r:id="rId6"/>
    <p:sldId id="325" r:id="rId7"/>
    <p:sldId id="327" r:id="rId8"/>
    <p:sldId id="326" r:id="rId9"/>
    <p:sldId id="328" r:id="rId10"/>
    <p:sldId id="322" r:id="rId11"/>
    <p:sldId id="323" r:id="rId12"/>
    <p:sldId id="324" r:id="rId13"/>
    <p:sldId id="321" r:id="rId14"/>
    <p:sldId id="332" r:id="rId15"/>
    <p:sldId id="334" r:id="rId16"/>
    <p:sldId id="333" r:id="rId17"/>
    <p:sldId id="337" r:id="rId18"/>
    <p:sldId id="335" r:id="rId19"/>
  </p:sldIdLst>
  <p:sldSz cx="12192000" cy="6858000"/>
  <p:notesSz cx="6797675" cy="99298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vanová Markéta Ing." initials="KMI" lastIdx="13" clrIdx="0"/>
  <p:cmAuthor id="2" name="Lonský Tomáš Ing." initials="LTI" lastIdx="1" clrIdx="1"/>
  <p:cmAuthor id="3" name="Henzl Václav Ing." initials="HVI" lastIdx="3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306E"/>
    <a:srgbClr val="6B8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7" autoAdjust="0"/>
    <p:restoredTop sz="94947" autoAdjust="0"/>
  </p:normalViewPr>
  <p:slideViewPr>
    <p:cSldViewPr snapToGrid="0">
      <p:cViewPr varScale="1">
        <p:scale>
          <a:sx n="117" d="100"/>
          <a:sy n="117" d="100"/>
        </p:scale>
        <p:origin x="630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400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oubek Jan Ing." userId="1857f13a-6bd9-49b7-ab1e-a5a524920d61" providerId="ADAL" clId="{4F2C188E-8690-4DCD-B1FC-6AE5F3155990}"/>
    <pc:docChg chg="custSel modSld">
      <pc:chgData name="Paroubek Jan Ing." userId="1857f13a-6bd9-49b7-ab1e-a5a524920d61" providerId="ADAL" clId="{4F2C188E-8690-4DCD-B1FC-6AE5F3155990}" dt="2021-10-04T13:19:33.050" v="217" actId="20577"/>
      <pc:docMkLst>
        <pc:docMk/>
      </pc:docMkLst>
      <pc:sldChg chg="modSp mod">
        <pc:chgData name="Paroubek Jan Ing." userId="1857f13a-6bd9-49b7-ab1e-a5a524920d61" providerId="ADAL" clId="{4F2C188E-8690-4DCD-B1FC-6AE5F3155990}" dt="2021-10-04T08:33:44.667" v="177" actId="20577"/>
        <pc:sldMkLst>
          <pc:docMk/>
          <pc:sldMk cId="1779658117" sldId="332"/>
        </pc:sldMkLst>
        <pc:spChg chg="mod">
          <ac:chgData name="Paroubek Jan Ing." userId="1857f13a-6bd9-49b7-ab1e-a5a524920d61" providerId="ADAL" clId="{4F2C188E-8690-4DCD-B1FC-6AE5F3155990}" dt="2021-10-04T08:33:44.667" v="177" actId="20577"/>
          <ac:spMkLst>
            <pc:docMk/>
            <pc:sldMk cId="1779658117" sldId="332"/>
            <ac:spMk id="6" creationId="{A0EB6B31-376D-471E-A0CE-1402D4AB44F5}"/>
          </ac:spMkLst>
        </pc:spChg>
      </pc:sldChg>
      <pc:sldChg chg="modNotesTx">
        <pc:chgData name="Paroubek Jan Ing." userId="1857f13a-6bd9-49b7-ab1e-a5a524920d61" providerId="ADAL" clId="{4F2C188E-8690-4DCD-B1FC-6AE5F3155990}" dt="2021-10-04T13:19:33.050" v="217" actId="20577"/>
        <pc:sldMkLst>
          <pc:docMk/>
          <pc:sldMk cId="2763538876" sldId="33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600"/>
          </a:xfrm>
          <a:prstGeom prst="rect">
            <a:avLst/>
          </a:prstGeom>
        </p:spPr>
        <p:txBody>
          <a:bodyPr vert="horz" lIns="91010" tIns="45505" rIns="91010" bIns="45505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600"/>
          </a:xfrm>
          <a:prstGeom prst="rect">
            <a:avLst/>
          </a:prstGeom>
        </p:spPr>
        <p:txBody>
          <a:bodyPr vert="horz" lIns="91010" tIns="45505" rIns="91010" bIns="45505" rtlCol="0"/>
          <a:lstStyle>
            <a:lvl1pPr algn="r">
              <a:defRPr sz="1200"/>
            </a:lvl1pPr>
          </a:lstStyle>
          <a:p>
            <a:fld id="{158D7E1D-7250-436E-ABFC-78355E1BB32B}" type="datetimeFigureOut">
              <a:rPr lang="cs-CZ" smtClean="0"/>
              <a:t>04.10.2021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432214"/>
            <a:ext cx="2945659" cy="497600"/>
          </a:xfrm>
          <a:prstGeom prst="rect">
            <a:avLst/>
          </a:prstGeom>
        </p:spPr>
        <p:txBody>
          <a:bodyPr vert="horz" lIns="91010" tIns="45505" rIns="91010" bIns="45505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50443" y="9432214"/>
            <a:ext cx="2945659" cy="497600"/>
          </a:xfrm>
          <a:prstGeom prst="rect">
            <a:avLst/>
          </a:prstGeom>
        </p:spPr>
        <p:txBody>
          <a:bodyPr vert="horz" lIns="91010" tIns="45505" rIns="91010" bIns="45505" rtlCol="0" anchor="b"/>
          <a:lstStyle>
            <a:lvl1pPr algn="r">
              <a:defRPr sz="1200"/>
            </a:lvl1pPr>
          </a:lstStyle>
          <a:p>
            <a:fld id="{087FC494-23D7-4569-B56E-74A55C7566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29844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010" tIns="45505" rIns="91010" bIns="45505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010" tIns="45505" rIns="91010" bIns="45505" rtlCol="0"/>
          <a:lstStyle>
            <a:lvl1pPr algn="r">
              <a:defRPr sz="1200"/>
            </a:lvl1pPr>
          </a:lstStyle>
          <a:p>
            <a:fld id="{EA284481-7CB2-45FB-88CD-F3F3CAE301BB}" type="datetimeFigureOut">
              <a:rPr lang="cs-CZ" smtClean="0"/>
              <a:t>04.10.2021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10" tIns="45505" rIns="91010" bIns="45505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9768" y="4778723"/>
            <a:ext cx="5438140" cy="3909864"/>
          </a:xfrm>
          <a:prstGeom prst="rect">
            <a:avLst/>
          </a:prstGeom>
        </p:spPr>
        <p:txBody>
          <a:bodyPr vert="horz" lIns="91010" tIns="45505" rIns="91010" bIns="45505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431599"/>
            <a:ext cx="2945659" cy="498214"/>
          </a:xfrm>
          <a:prstGeom prst="rect">
            <a:avLst/>
          </a:prstGeom>
        </p:spPr>
        <p:txBody>
          <a:bodyPr vert="horz" lIns="91010" tIns="45505" rIns="91010" bIns="45505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50443" y="9431599"/>
            <a:ext cx="2945659" cy="498214"/>
          </a:xfrm>
          <a:prstGeom prst="rect">
            <a:avLst/>
          </a:prstGeom>
        </p:spPr>
        <p:txBody>
          <a:bodyPr vert="horz" lIns="91010" tIns="45505" rIns="91010" bIns="45505" rtlCol="0" anchor="b"/>
          <a:lstStyle>
            <a:lvl1pPr algn="r">
              <a:defRPr sz="1200"/>
            </a:lvl1pPr>
          </a:lstStyle>
          <a:p>
            <a:fld id="{84DB5542-DF3F-4B55-B11A-E017F02162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777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Podmínky úhrady</a:t>
            </a:r>
            <a:r>
              <a:rPr lang="cs-CZ" baseline="0" dirty="0"/>
              <a:t> upravují činnosti i předem nedefinované v zákoně, např.:</a:t>
            </a:r>
          </a:p>
          <a:p>
            <a:pPr marL="171450" indent="-171450">
              <a:buFontTx/>
              <a:buChar char="-"/>
            </a:pPr>
            <a:r>
              <a:rPr lang="cs-CZ" baseline="0" dirty="0"/>
              <a:t>Přesnou platnost časového poplatku – úhrada ihned vs. Úhrada s předstihem (až do 90 dní) – končí poslední den platnosti o půlnoci</a:t>
            </a:r>
          </a:p>
          <a:p>
            <a:pPr marL="171450" indent="-171450">
              <a:buFontTx/>
              <a:buChar char="-"/>
            </a:pPr>
            <a:r>
              <a:rPr lang="cs-CZ" baseline="0" dirty="0"/>
              <a:t>Jakými prostředky je možné úhradu provést – bezhotovostně – </a:t>
            </a:r>
            <a:r>
              <a:rPr lang="cs-CZ" baseline="0" dirty="0" err="1"/>
              <a:t>eshop</a:t>
            </a:r>
            <a:r>
              <a:rPr lang="cs-CZ" baseline="0" dirty="0"/>
              <a:t>, kiosek (VISA a Master </a:t>
            </a:r>
            <a:r>
              <a:rPr lang="cs-CZ" baseline="0" dirty="0" err="1"/>
              <a:t>card</a:t>
            </a:r>
            <a:r>
              <a:rPr lang="cs-CZ" baseline="0" dirty="0"/>
              <a:t>, </a:t>
            </a:r>
            <a:r>
              <a:rPr lang="cs-CZ" baseline="0" dirty="0" err="1"/>
              <a:t>VisaElectron</a:t>
            </a:r>
            <a:r>
              <a:rPr lang="cs-CZ" baseline="0" dirty="0"/>
              <a:t>, Maestro); bezhotovostním příkazem – </a:t>
            </a:r>
            <a:r>
              <a:rPr lang="cs-CZ" baseline="0" dirty="0" err="1"/>
              <a:t>eshop</a:t>
            </a:r>
            <a:r>
              <a:rPr lang="cs-CZ" baseline="0" dirty="0"/>
              <a:t>; hotovostně/bezhotovostně – fyzické OM; problémy, které musíme řešit – když někdo provede jinak např. složením na pokladně v ČNB (blokace automatizovaných </a:t>
            </a:r>
            <a:r>
              <a:rPr lang="cs-CZ" baseline="0" dirty="0" err="1"/>
              <a:t>fin</a:t>
            </a:r>
            <a:r>
              <a:rPr lang="cs-CZ" baseline="0" dirty="0"/>
              <a:t>. Toků) nebo poštovní poukázkou s vygenerovaným údajů k platbě převodem (problém v rámci vratky), ale to všeobecně v rámci platby u distributora – nutné znát čísla účtů, ze kterých to chodí a na které nelze vracet!!!</a:t>
            </a:r>
          </a:p>
          <a:p>
            <a:r>
              <a:rPr lang="cs-CZ" baseline="0" dirty="0"/>
              <a:t>Vratky – zákaznické a další - musí být řešeno jinak „neodůvodněné obohacení státu“ např. duplicitní úhrada či úhrada na neexistující SPZ 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B5542-DF3F-4B55-B11A-E017F0216288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1031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Problémy na straně ČSOB</a:t>
            </a:r>
            <a:r>
              <a:rPr lang="cs-CZ" baseline="0" dirty="0"/>
              <a:t> – </a:t>
            </a:r>
            <a:r>
              <a:rPr lang="cs-CZ" baseline="0" dirty="0" err="1"/>
              <a:t>multinásobné</a:t>
            </a:r>
            <a:r>
              <a:rPr lang="cs-CZ" baseline="0" dirty="0"/>
              <a:t> platby; klientovi se zobrazují informace o tom, že platby neproběhly a on opakovaně zadává, poté má vícenásobně uhrazeno; !!!problematické z pohledu manuálního řešení vratek bez manipulačního poplatku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B5542-DF3F-4B55-B11A-E017F0216288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39553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Problém – vazba na IS – pokud se udělá transakce mimo IS, je neidentifikovatelná pro IS, tzn. nezaúčtovatelná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B5542-DF3F-4B55-B11A-E017F0216288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40754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B5542-DF3F-4B55-B11A-E017F0216288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643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Mnoho dalších myšlenek ke </a:t>
            </a:r>
            <a:r>
              <a:rPr lang="cs-CZ"/>
              <a:t>každé variantě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B5542-DF3F-4B55-B11A-E017F0216288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758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9306E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29306E"/>
                </a:solidFill>
              </a:defRPr>
            </a:lvl1pPr>
            <a:lvl2pPr>
              <a:defRPr>
                <a:solidFill>
                  <a:srgbClr val="29306E"/>
                </a:solidFill>
              </a:defRPr>
            </a:lvl2pPr>
            <a:lvl3pPr>
              <a:defRPr>
                <a:solidFill>
                  <a:srgbClr val="29306E"/>
                </a:solidFill>
              </a:defRPr>
            </a:lvl3pPr>
            <a:lvl4pPr>
              <a:defRPr>
                <a:solidFill>
                  <a:srgbClr val="29306E"/>
                </a:solidFill>
              </a:defRPr>
            </a:lvl4pPr>
            <a:lvl5pPr>
              <a:defRPr>
                <a:solidFill>
                  <a:srgbClr val="29306E"/>
                </a:solidFill>
              </a:defRPr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132416" y="6315437"/>
            <a:ext cx="408093" cy="365125"/>
          </a:xfrm>
        </p:spPr>
        <p:txBody>
          <a:bodyPr/>
          <a:lstStyle>
            <a:lvl1pPr>
              <a:defRPr sz="1100"/>
            </a:lvl1pPr>
          </a:lstStyle>
          <a:p>
            <a:fld id="{6AC38FD7-D672-47B4-AEDA-35754C906905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1155847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2547657"/>
            <a:ext cx="9144000" cy="962306"/>
          </a:xfrm>
        </p:spPr>
        <p:txBody>
          <a:bodyPr anchor="b"/>
          <a:lstStyle>
            <a:lvl1pPr algn="ctr">
              <a:defRPr sz="6000">
                <a:solidFill>
                  <a:srgbClr val="29306E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46208"/>
            <a:ext cx="9144000" cy="1611591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6B8CB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8464-FC28-44B1-8355-7D98E791BE3F}" type="datetimeFigureOut">
              <a:rPr lang="cs-CZ" smtClean="0"/>
              <a:t>04.10.2021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FD7-D672-47B4-AEDA-35754C9069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542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29306E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8464-FC28-44B1-8355-7D98E791BE3F}" type="datetimeFigureOut">
              <a:rPr lang="cs-CZ" smtClean="0"/>
              <a:t>04.10.2021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FD7-D672-47B4-AEDA-35754C9069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9456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9306E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29306E"/>
                </a:solidFill>
              </a:defRPr>
            </a:lvl1pPr>
            <a:lvl2pPr>
              <a:defRPr>
                <a:solidFill>
                  <a:srgbClr val="29306E"/>
                </a:solidFill>
              </a:defRPr>
            </a:lvl2pPr>
            <a:lvl3pPr>
              <a:defRPr>
                <a:solidFill>
                  <a:srgbClr val="29306E"/>
                </a:solidFill>
              </a:defRPr>
            </a:lvl3pPr>
            <a:lvl4pPr>
              <a:defRPr>
                <a:solidFill>
                  <a:srgbClr val="29306E"/>
                </a:solidFill>
              </a:defRPr>
            </a:lvl4pPr>
            <a:lvl5pPr>
              <a:defRPr>
                <a:solidFill>
                  <a:srgbClr val="29306E"/>
                </a:solidFill>
              </a:defRPr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29306E"/>
                </a:solidFill>
              </a:defRPr>
            </a:lvl1pPr>
            <a:lvl2pPr>
              <a:defRPr>
                <a:solidFill>
                  <a:srgbClr val="29306E"/>
                </a:solidFill>
              </a:defRPr>
            </a:lvl2pPr>
            <a:lvl3pPr>
              <a:defRPr>
                <a:solidFill>
                  <a:srgbClr val="29306E"/>
                </a:solidFill>
              </a:defRPr>
            </a:lvl3pPr>
            <a:lvl4pPr>
              <a:defRPr>
                <a:solidFill>
                  <a:srgbClr val="29306E"/>
                </a:solidFill>
              </a:defRPr>
            </a:lvl4pPr>
            <a:lvl5pPr>
              <a:defRPr>
                <a:solidFill>
                  <a:srgbClr val="29306E"/>
                </a:solidFill>
              </a:defRPr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8464-FC28-44B1-8355-7D98E791BE3F}" type="datetimeFigureOut">
              <a:rPr lang="cs-CZ" smtClean="0"/>
              <a:t>04.10.2021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FD7-D672-47B4-AEDA-35754C9069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6708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8464-FC28-44B1-8355-7D98E791BE3F}" type="datetimeFigureOut">
              <a:rPr lang="cs-CZ" smtClean="0"/>
              <a:t>04.10.2021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FD7-D672-47B4-AEDA-35754C9069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5398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8464-FC28-44B1-8355-7D98E791BE3F}" type="datetimeFigureOut">
              <a:rPr lang="cs-CZ" smtClean="0"/>
              <a:t>04.10.2021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FD7-D672-47B4-AEDA-35754C9069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808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>
                <a:solidFill>
                  <a:srgbClr val="29306E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rgbClr val="29306E"/>
                </a:solidFill>
              </a:defRPr>
            </a:lvl1pPr>
            <a:lvl2pPr>
              <a:defRPr sz="2800">
                <a:solidFill>
                  <a:srgbClr val="29306E"/>
                </a:solidFill>
              </a:defRPr>
            </a:lvl2pPr>
            <a:lvl3pPr>
              <a:defRPr sz="2400">
                <a:solidFill>
                  <a:srgbClr val="29306E"/>
                </a:solidFill>
              </a:defRPr>
            </a:lvl3pPr>
            <a:lvl4pPr>
              <a:defRPr sz="2000">
                <a:solidFill>
                  <a:srgbClr val="29306E"/>
                </a:solidFill>
              </a:defRPr>
            </a:lvl4pPr>
            <a:lvl5pPr>
              <a:defRPr sz="2000">
                <a:solidFill>
                  <a:srgbClr val="29306E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235200"/>
            <a:ext cx="3932237" cy="3633787"/>
          </a:xfrm>
        </p:spPr>
        <p:txBody>
          <a:bodyPr/>
          <a:lstStyle>
            <a:lvl1pPr marL="0" indent="0">
              <a:buNone/>
              <a:defRPr sz="1600">
                <a:solidFill>
                  <a:srgbClr val="29306E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8464-FC28-44B1-8355-7D98E791BE3F}" type="datetimeFigureOut">
              <a:rPr lang="cs-CZ" smtClean="0"/>
              <a:t>04.10.2021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FD7-D672-47B4-AEDA-35754C9069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003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>
                <a:solidFill>
                  <a:srgbClr val="29306E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obrázk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235200"/>
            <a:ext cx="3932237" cy="3633787"/>
          </a:xfrm>
        </p:spPr>
        <p:txBody>
          <a:bodyPr/>
          <a:lstStyle>
            <a:lvl1pPr marL="0" indent="0">
              <a:buNone/>
              <a:defRPr sz="1600">
                <a:solidFill>
                  <a:srgbClr val="29306E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8464-FC28-44B1-8355-7D98E791BE3F}" type="datetimeFigureOut">
              <a:rPr lang="cs-CZ" smtClean="0"/>
              <a:t>04.10.2021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FD7-D672-47B4-AEDA-35754C9069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2416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1103085"/>
            <a:ext cx="10515600" cy="71147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993951"/>
            <a:ext cx="10515600" cy="4183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E8464-FC28-44B1-8355-7D98E791BE3F}" type="datetimeFigureOut">
              <a:rPr lang="cs-CZ" smtClean="0"/>
              <a:t>04.10.2021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38FD7-D672-47B4-AEDA-35754C906905}" type="slidenum">
              <a:rPr lang="cs-CZ" smtClean="0"/>
              <a:t>‹#›</a:t>
            </a:fld>
            <a:endParaRPr lang="cs-CZ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CB793DB6-8177-0746-9C76-ACF651078DE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55376" y="343196"/>
            <a:ext cx="1584267" cy="409052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7D30F940-868D-7D44-9AA2-D618A1F7DBC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alphaModFix amt="40000"/>
          </a:blip>
          <a:stretch>
            <a:fillRect/>
          </a:stretch>
        </p:blipFill>
        <p:spPr>
          <a:xfrm>
            <a:off x="10255376" y="4973711"/>
            <a:ext cx="2187903" cy="2098601"/>
          </a:xfrm>
          <a:prstGeom prst="rect">
            <a:avLst/>
          </a:prstGeom>
        </p:spPr>
      </p:pic>
      <p:pic>
        <p:nvPicPr>
          <p:cNvPr id="11" name="Picture 2" descr="SFDI | SFDI podepsal smlouvu s dodavatelem informačního systému ...">
            <a:extLst>
              <a:ext uri="{FF2B5EF4-FFF2-40B4-BE49-F238E27FC236}">
                <a16:creationId xmlns:a16="http://schemas.microsoft.com/office/drawing/2014/main" id="{FEA87E16-C7F7-4AC9-86B9-49279921D2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08" y="241161"/>
            <a:ext cx="2743200" cy="70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283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9306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29306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9306E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9306E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29306E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29306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vaclav.henzl@cendis.cz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lucie.bartakova@sfdi.cz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edalnice.cz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>
            <a:extLst>
              <a:ext uri="{FF2B5EF4-FFF2-40B4-BE49-F238E27FC236}">
                <a16:creationId xmlns:a16="http://schemas.microsoft.com/office/drawing/2014/main" id="{CB7B3B85-ABE2-4274-B06C-636D6B6A9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061" y="4469013"/>
            <a:ext cx="5807747" cy="218144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7A5F1A-51A0-427A-800A-C00E49BF4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9320"/>
            <a:ext cx="9144000" cy="1214253"/>
          </a:xfrm>
        </p:spPr>
        <p:txBody>
          <a:bodyPr>
            <a:normAutofit fontScale="90000"/>
          </a:bodyPr>
          <a:lstStyle/>
          <a:p>
            <a:pPr algn="ctr"/>
            <a:r>
              <a:rPr lang="cs-CZ" dirty="0">
                <a:latin typeface="Calibri" panose="020F0502020204030204" pitchFamily="34" charset="0"/>
                <a:cs typeface="Calibri" panose="020F0502020204030204" pitchFamily="34" charset="0"/>
              </a:rPr>
              <a:t>Elektronická dálniční známka, její úhrada a finanční toky</a:t>
            </a:r>
          </a:p>
        </p:txBody>
      </p:sp>
      <p:sp>
        <p:nvSpPr>
          <p:cNvPr id="7" name="Podnadpis 6">
            <a:extLst>
              <a:ext uri="{FF2B5EF4-FFF2-40B4-BE49-F238E27FC236}">
                <a16:creationId xmlns:a16="http://schemas.microsoft.com/office/drawing/2014/main" id="{5A255F1C-751B-4AC9-980A-F2C340B8C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62329"/>
            <a:ext cx="9144000" cy="1647929"/>
          </a:xfrm>
        </p:spPr>
        <p:txBody>
          <a:bodyPr>
            <a:normAutofit fontScale="62500" lnSpcReduction="20000"/>
          </a:bodyPr>
          <a:lstStyle/>
          <a:p>
            <a:r>
              <a:rPr lang="cs-CZ" sz="3200" b="1" dirty="0"/>
              <a:t>IS EDAZ</a:t>
            </a:r>
          </a:p>
          <a:p>
            <a:br>
              <a:rPr lang="cs-CZ" sz="2300" dirty="0"/>
            </a:br>
            <a:r>
              <a:rPr lang="cs-CZ" sz="2300" dirty="0">
                <a:effectLst/>
                <a:ea typeface="Calibri" panose="020F0502020204030204" pitchFamily="34" charset="0"/>
              </a:rPr>
              <a:t>zasedání Pracovní skupiny pro architekturu a řízení ICT Rady vlády pro informační společnost</a:t>
            </a:r>
            <a:br>
              <a:rPr lang="cs-CZ" sz="2300" dirty="0"/>
            </a:br>
            <a:r>
              <a:rPr lang="cs-CZ" sz="2300" dirty="0"/>
              <a:t>4.10.2021</a:t>
            </a:r>
            <a:br>
              <a:rPr lang="cs-CZ" dirty="0"/>
            </a:br>
            <a:br>
              <a:rPr lang="cs-CZ" dirty="0"/>
            </a:br>
            <a:r>
              <a:rPr lang="cs-CZ" dirty="0"/>
              <a:t>Ing. Jan Paroubek, </a:t>
            </a:r>
            <a:r>
              <a:rPr lang="cs-CZ" dirty="0">
                <a:hlinkClick r:id="rId3"/>
              </a:rPr>
              <a:t>jan.paroubek@cendis.cz</a:t>
            </a:r>
            <a:r>
              <a:rPr lang="cs-CZ" dirty="0"/>
              <a:t>, +420 603 543 079</a:t>
            </a:r>
          </a:p>
          <a:p>
            <a:r>
              <a:rPr lang="cs-CZ" dirty="0"/>
              <a:t>Ing. Lucie Bartáková, </a:t>
            </a:r>
            <a:r>
              <a:rPr lang="cs-CZ" dirty="0">
                <a:hlinkClick r:id="rId4"/>
              </a:rPr>
              <a:t>lucie.bartakova@sfdi.cz</a:t>
            </a:r>
            <a:r>
              <a:rPr lang="cs-CZ" dirty="0"/>
              <a:t>, +420 601 560 627</a:t>
            </a:r>
          </a:p>
        </p:txBody>
      </p:sp>
    </p:spTree>
    <p:extLst>
      <p:ext uri="{BB962C8B-B14F-4D97-AF65-F5344CB8AC3E}">
        <p14:creationId xmlns:p14="http://schemas.microsoft.com/office/powerpoint/2010/main" val="3217978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7A5F1A-51A0-427A-800A-C00E49BF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2307"/>
            <a:ext cx="10515600" cy="754464"/>
          </a:xfrm>
        </p:spPr>
        <p:txBody>
          <a:bodyPr>
            <a:normAutofit/>
          </a:bodyPr>
          <a:lstStyle/>
          <a:p>
            <a:r>
              <a:rPr lang="cs-CZ" dirty="0">
                <a:latin typeface="Calibri" panose="020F0502020204030204" pitchFamily="34" charset="0"/>
                <a:cs typeface="Calibri" panose="020F0502020204030204" pitchFamily="34" charset="0"/>
              </a:rPr>
              <a:t>Legislativa a základní princip fungování</a:t>
            </a:r>
          </a:p>
        </p:txBody>
      </p:sp>
      <p:sp>
        <p:nvSpPr>
          <p:cNvPr id="5" name="Zástupný obsah 12">
            <a:extLst>
              <a:ext uri="{FF2B5EF4-FFF2-40B4-BE49-F238E27FC236}">
                <a16:creationId xmlns:a16="http://schemas.microsoft.com/office/drawing/2014/main" id="{3CE39376-110A-4248-BE7E-5B863B41F883}"/>
              </a:ext>
            </a:extLst>
          </p:cNvPr>
          <p:cNvSpPr txBox="1">
            <a:spLocks/>
          </p:cNvSpPr>
          <p:nvPr/>
        </p:nvSpPr>
        <p:spPr>
          <a:xfrm>
            <a:off x="838200" y="2196862"/>
            <a:ext cx="3289663" cy="4360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dirty="0"/>
              <a:t>§</a:t>
            </a:r>
            <a:r>
              <a:rPr lang="en-GB" dirty="0"/>
              <a:t>21 </a:t>
            </a:r>
            <a:r>
              <a:rPr lang="cs-CZ" dirty="0"/>
              <a:t>zákona  13/1997 Sb. o pozemních komunikacích</a:t>
            </a:r>
            <a:br>
              <a:rPr lang="cs-CZ" dirty="0"/>
            </a:br>
            <a:br>
              <a:rPr lang="cs-CZ" dirty="0"/>
            </a:br>
            <a:r>
              <a:rPr lang="cs-CZ" b="1" dirty="0"/>
              <a:t>silničním motorové vozidlo nejméně se čtyřmi koly, jehož největší povolená hmotnost činí nejvýše 3,5 tuny </a:t>
            </a:r>
          </a:p>
          <a:p>
            <a:pPr marL="0" indent="0">
              <a:buNone/>
            </a:pPr>
            <a:r>
              <a:rPr lang="cs-CZ" dirty="0"/>
              <a:t>SFDI = vlastník, správce</a:t>
            </a:r>
            <a:br>
              <a:rPr lang="cs-CZ" dirty="0"/>
            </a:br>
            <a:r>
              <a:rPr lang="cs-CZ" dirty="0"/>
              <a:t>CENDIS = provozovatel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5438FE14-24B8-4758-9D7B-6C842973B1C2}"/>
              </a:ext>
            </a:extLst>
          </p:cNvPr>
          <p:cNvSpPr/>
          <p:nvPr/>
        </p:nvSpPr>
        <p:spPr>
          <a:xfrm>
            <a:off x="4488109" y="2196862"/>
            <a:ext cx="2043320" cy="7544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Úhrada časového poplatku</a:t>
            </a:r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2E0B9D7E-9E75-4551-8B69-F14C4D79291F}"/>
              </a:ext>
            </a:extLst>
          </p:cNvPr>
          <p:cNvSpPr/>
          <p:nvPr/>
        </p:nvSpPr>
        <p:spPr>
          <a:xfrm>
            <a:off x="4488109" y="3170982"/>
            <a:ext cx="2043320" cy="13095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Osvobození od úhrady časového poplatku – bez oznámení</a:t>
            </a:r>
          </a:p>
        </p:txBody>
      </p:sp>
      <p:sp>
        <p:nvSpPr>
          <p:cNvPr id="16" name="Obdélník 15">
            <a:extLst>
              <a:ext uri="{FF2B5EF4-FFF2-40B4-BE49-F238E27FC236}">
                <a16:creationId xmlns:a16="http://schemas.microsoft.com/office/drawing/2014/main" id="{9CD85962-73DB-42E2-9084-2B6FF3F78CFB}"/>
              </a:ext>
            </a:extLst>
          </p:cNvPr>
          <p:cNvSpPr/>
          <p:nvPr/>
        </p:nvSpPr>
        <p:spPr>
          <a:xfrm>
            <a:off x="4488109" y="4700215"/>
            <a:ext cx="2043320" cy="13095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Osvobození od úhrady časového poplatku – s oznámením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AE1F374E-EA31-4832-811E-F17F9C990E19}"/>
              </a:ext>
            </a:extLst>
          </p:cNvPr>
          <p:cNvSpPr/>
          <p:nvPr/>
        </p:nvSpPr>
        <p:spPr>
          <a:xfrm>
            <a:off x="8216396" y="3309759"/>
            <a:ext cx="1554480" cy="10320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Evidence časového poplatku</a:t>
            </a:r>
          </a:p>
        </p:txBody>
      </p:sp>
      <p:cxnSp>
        <p:nvCxnSpPr>
          <p:cNvPr id="19" name="Spojnice: pravoúhlá 18">
            <a:extLst>
              <a:ext uri="{FF2B5EF4-FFF2-40B4-BE49-F238E27FC236}">
                <a16:creationId xmlns:a16="http://schemas.microsoft.com/office/drawing/2014/main" id="{7DF1663C-40DA-4098-9C05-7208C6369B00}"/>
              </a:ext>
            </a:extLst>
          </p:cNvPr>
          <p:cNvCxnSpPr>
            <a:stCxn id="8" idx="3"/>
            <a:endCxn id="17" idx="0"/>
          </p:cNvCxnSpPr>
          <p:nvPr/>
        </p:nvCxnSpPr>
        <p:spPr>
          <a:xfrm>
            <a:off x="6531429" y="2574094"/>
            <a:ext cx="2462207" cy="7356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pojnice: pravoúhlá 20">
            <a:extLst>
              <a:ext uri="{FF2B5EF4-FFF2-40B4-BE49-F238E27FC236}">
                <a16:creationId xmlns:a16="http://schemas.microsoft.com/office/drawing/2014/main" id="{11BE763B-A854-4727-85E5-BE1D7A9C1229}"/>
              </a:ext>
            </a:extLst>
          </p:cNvPr>
          <p:cNvCxnSpPr>
            <a:stCxn id="16" idx="3"/>
            <a:endCxn id="17" idx="2"/>
          </p:cNvCxnSpPr>
          <p:nvPr/>
        </p:nvCxnSpPr>
        <p:spPr>
          <a:xfrm flipV="1">
            <a:off x="6531429" y="4341780"/>
            <a:ext cx="2462207" cy="10132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ástupný obsah 12">
            <a:extLst>
              <a:ext uri="{FF2B5EF4-FFF2-40B4-BE49-F238E27FC236}">
                <a16:creationId xmlns:a16="http://schemas.microsoft.com/office/drawing/2014/main" id="{D712DA59-D46E-44D4-848D-EBC21D3B7AEB}"/>
              </a:ext>
            </a:extLst>
          </p:cNvPr>
          <p:cNvSpPr txBox="1">
            <a:spLocks/>
          </p:cNvSpPr>
          <p:nvPr/>
        </p:nvSpPr>
        <p:spPr>
          <a:xfrm>
            <a:off x="6663443" y="2195623"/>
            <a:ext cx="690946" cy="763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sz="1100" dirty="0"/>
              <a:t>§</a:t>
            </a:r>
            <a:r>
              <a:rPr lang="en-GB" sz="1100" dirty="0"/>
              <a:t>21</a:t>
            </a:r>
            <a:r>
              <a:rPr lang="cs-CZ" sz="1100" dirty="0"/>
              <a:t>  a)</a:t>
            </a:r>
          </a:p>
          <a:p>
            <a:pPr marL="0" indent="0">
              <a:buNone/>
            </a:pPr>
            <a:endParaRPr lang="cs-CZ" sz="1100" dirty="0"/>
          </a:p>
          <a:p>
            <a:pPr marL="0" indent="0">
              <a:buNone/>
            </a:pPr>
            <a:endParaRPr lang="cs-CZ" sz="1100" dirty="0"/>
          </a:p>
          <a:p>
            <a:pPr marL="0" indent="0">
              <a:buNone/>
            </a:pPr>
            <a:endParaRPr lang="cs-CZ" sz="1100" dirty="0"/>
          </a:p>
          <a:p>
            <a:pPr marL="0" indent="0">
              <a:buNone/>
            </a:pPr>
            <a:endParaRPr lang="cs-CZ" sz="1100" dirty="0"/>
          </a:p>
        </p:txBody>
      </p:sp>
      <p:sp>
        <p:nvSpPr>
          <p:cNvPr id="26" name="Zástupný obsah 12">
            <a:extLst>
              <a:ext uri="{FF2B5EF4-FFF2-40B4-BE49-F238E27FC236}">
                <a16:creationId xmlns:a16="http://schemas.microsoft.com/office/drawing/2014/main" id="{1238A738-5430-4FFE-BA3E-ED8BD33FAD40}"/>
              </a:ext>
            </a:extLst>
          </p:cNvPr>
          <p:cNvSpPr txBox="1">
            <a:spLocks/>
          </p:cNvSpPr>
          <p:nvPr/>
        </p:nvSpPr>
        <p:spPr>
          <a:xfrm>
            <a:off x="6663442" y="3190622"/>
            <a:ext cx="1448591" cy="7631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sz="1100" dirty="0"/>
              <a:t>§</a:t>
            </a:r>
            <a:r>
              <a:rPr lang="en-GB" sz="1100" dirty="0"/>
              <a:t>2</a:t>
            </a:r>
            <a:r>
              <a:rPr lang="cs-CZ" sz="1100" dirty="0"/>
              <a:t>0 h) – ZTP</a:t>
            </a:r>
            <a:br>
              <a:rPr lang="cs-CZ" sz="1100" dirty="0"/>
            </a:br>
            <a:r>
              <a:rPr lang="cs-CZ" sz="1100" dirty="0"/>
              <a:t>§20 i) – </a:t>
            </a:r>
            <a:r>
              <a:rPr lang="cs-CZ" sz="1100" dirty="0" err="1"/>
              <a:t>hemoblastoza</a:t>
            </a:r>
            <a:br>
              <a:rPr lang="cs-CZ" sz="1100" dirty="0"/>
            </a:br>
            <a:r>
              <a:rPr lang="cs-CZ" sz="1100" dirty="0"/>
              <a:t>§20 l) – </a:t>
            </a:r>
            <a:r>
              <a:rPr lang="cs-CZ" sz="1100" dirty="0" err="1"/>
              <a:t>zách</a:t>
            </a:r>
            <a:r>
              <a:rPr lang="cs-CZ" sz="1100" dirty="0"/>
              <a:t> + </a:t>
            </a:r>
            <a:r>
              <a:rPr lang="cs-CZ" sz="1100" dirty="0" err="1"/>
              <a:t>likv</a:t>
            </a:r>
            <a:br>
              <a:rPr lang="cs-CZ" sz="1100" dirty="0"/>
            </a:br>
            <a:r>
              <a:rPr lang="cs-CZ" sz="1100" dirty="0"/>
              <a:t>§20 o) – značky EL</a:t>
            </a:r>
            <a:br>
              <a:rPr lang="cs-CZ" sz="1100" dirty="0"/>
            </a:br>
            <a:r>
              <a:rPr lang="cs-CZ" sz="1100" dirty="0"/>
              <a:t>§20 p) - historická</a:t>
            </a:r>
          </a:p>
          <a:p>
            <a:pPr marL="0" indent="0">
              <a:buNone/>
            </a:pPr>
            <a:endParaRPr lang="cs-CZ" sz="1100" dirty="0"/>
          </a:p>
          <a:p>
            <a:pPr marL="0" indent="0">
              <a:buNone/>
            </a:pPr>
            <a:endParaRPr lang="cs-CZ" sz="1100" dirty="0"/>
          </a:p>
          <a:p>
            <a:pPr marL="0" indent="0">
              <a:buNone/>
            </a:pPr>
            <a:endParaRPr lang="cs-CZ" sz="1100" dirty="0"/>
          </a:p>
          <a:p>
            <a:pPr marL="0" indent="0">
              <a:buNone/>
            </a:pPr>
            <a:endParaRPr lang="cs-CZ" sz="1100" dirty="0"/>
          </a:p>
        </p:txBody>
      </p:sp>
      <p:sp>
        <p:nvSpPr>
          <p:cNvPr id="27" name="Zástupný obsah 12">
            <a:extLst>
              <a:ext uri="{FF2B5EF4-FFF2-40B4-BE49-F238E27FC236}">
                <a16:creationId xmlns:a16="http://schemas.microsoft.com/office/drawing/2014/main" id="{25981EC3-45AF-420E-A07D-87EAB1C58782}"/>
              </a:ext>
            </a:extLst>
          </p:cNvPr>
          <p:cNvSpPr txBox="1">
            <a:spLocks/>
          </p:cNvSpPr>
          <p:nvPr/>
        </p:nvSpPr>
        <p:spPr>
          <a:xfrm>
            <a:off x="6663442" y="4700215"/>
            <a:ext cx="1448591" cy="763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sz="1100" dirty="0"/>
              <a:t>§</a:t>
            </a:r>
            <a:r>
              <a:rPr lang="en-GB" sz="1100" dirty="0"/>
              <a:t>2</a:t>
            </a:r>
            <a:r>
              <a:rPr lang="cs-CZ" sz="1100" dirty="0"/>
              <a:t>0 a), b), c), d), e), f), g), j), k), m), n), o) mimo značky EL</a:t>
            </a:r>
          </a:p>
          <a:p>
            <a:pPr marL="0" indent="0">
              <a:buNone/>
            </a:pPr>
            <a:endParaRPr lang="cs-CZ" sz="1100" dirty="0"/>
          </a:p>
          <a:p>
            <a:pPr marL="0" indent="0">
              <a:buNone/>
            </a:pPr>
            <a:endParaRPr lang="cs-CZ" sz="1100" dirty="0"/>
          </a:p>
          <a:p>
            <a:pPr marL="0" indent="0">
              <a:buNone/>
            </a:pPr>
            <a:endParaRPr lang="cs-CZ" sz="1100" dirty="0"/>
          </a:p>
        </p:txBody>
      </p:sp>
      <p:pic>
        <p:nvPicPr>
          <p:cNvPr id="28" name="Picture 2" descr="Celní správa České republiky – Wikipedie">
            <a:extLst>
              <a:ext uri="{FF2B5EF4-FFF2-40B4-BE49-F238E27FC236}">
                <a16:creationId xmlns:a16="http://schemas.microsoft.com/office/drawing/2014/main" id="{007FB170-2AAD-4655-81D2-C1E1190CA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8450" y="3910856"/>
            <a:ext cx="430924" cy="430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Policie České republiky – Wikipedie">
            <a:extLst>
              <a:ext uri="{FF2B5EF4-FFF2-40B4-BE49-F238E27FC236}">
                <a16:creationId xmlns:a16="http://schemas.microsoft.com/office/drawing/2014/main" id="{63AB2E09-FA71-4BD6-98C1-4966D0362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776" y="3910856"/>
            <a:ext cx="430924" cy="430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PZ 8B81182">
            <a:extLst>
              <a:ext uri="{FF2B5EF4-FFF2-40B4-BE49-F238E27FC236}">
                <a16:creationId xmlns:a16="http://schemas.microsoft.com/office/drawing/2014/main" id="{6881D0FA-B2BC-4349-A54D-7DE94552F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5239" y="3777510"/>
            <a:ext cx="1935320" cy="44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AA482F16-96B0-443A-B5C7-FD080C43A6CB}"/>
              </a:ext>
            </a:extLst>
          </p:cNvPr>
          <p:cNvSpPr txBox="1"/>
          <p:nvPr/>
        </p:nvSpPr>
        <p:spPr>
          <a:xfrm>
            <a:off x="9940834" y="3309759"/>
            <a:ext cx="1869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400" b="1" dirty="0"/>
              <a:t>CZ-8B81182</a:t>
            </a:r>
          </a:p>
        </p:txBody>
      </p:sp>
    </p:spTree>
    <p:extLst>
      <p:ext uri="{BB962C8B-B14F-4D97-AF65-F5344CB8AC3E}">
        <p14:creationId xmlns:p14="http://schemas.microsoft.com/office/powerpoint/2010/main" val="137163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7A5F1A-51A0-427A-800A-C00E49BF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2307"/>
            <a:ext cx="10515600" cy="754464"/>
          </a:xfrm>
        </p:spPr>
        <p:txBody>
          <a:bodyPr>
            <a:normAutofit/>
          </a:bodyPr>
          <a:lstStyle/>
          <a:p>
            <a:r>
              <a:rPr lang="cs-CZ" dirty="0">
                <a:latin typeface="Calibri" panose="020F0502020204030204" pitchFamily="34" charset="0"/>
                <a:cs typeface="Calibri" panose="020F0502020204030204" pitchFamily="34" charset="0"/>
              </a:rPr>
              <a:t>E-SHOP  www.edalnice.cz</a:t>
            </a:r>
          </a:p>
        </p:txBody>
      </p:sp>
      <p:sp>
        <p:nvSpPr>
          <p:cNvPr id="3" name="Zástupný obsah 12">
            <a:extLst>
              <a:ext uri="{FF2B5EF4-FFF2-40B4-BE49-F238E27FC236}">
                <a16:creationId xmlns:a16="http://schemas.microsoft.com/office/drawing/2014/main" id="{354CD8AD-9897-4450-9D26-1EA60EEB94D5}"/>
              </a:ext>
            </a:extLst>
          </p:cNvPr>
          <p:cNvSpPr txBox="1">
            <a:spLocks/>
          </p:cNvSpPr>
          <p:nvPr/>
        </p:nvSpPr>
        <p:spPr>
          <a:xfrm>
            <a:off x="838200" y="2196862"/>
            <a:ext cx="9272451" cy="43606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cs-CZ" b="1" dirty="0"/>
              <a:t>možnost úhrady časového poplatku s platbou kartou / převodem</a:t>
            </a:r>
          </a:p>
          <a:p>
            <a:pPr>
              <a:buFontTx/>
              <a:buChar char="-"/>
            </a:pPr>
            <a:r>
              <a:rPr lang="cs-CZ" b="1" dirty="0"/>
              <a:t>možnost správy známky</a:t>
            </a:r>
          </a:p>
          <a:p>
            <a:pPr lvl="1">
              <a:buFontTx/>
              <a:buChar char="-"/>
            </a:pPr>
            <a:r>
              <a:rPr lang="cs-CZ" dirty="0"/>
              <a:t>Změna SPZ</a:t>
            </a:r>
          </a:p>
          <a:p>
            <a:pPr lvl="2">
              <a:buFontTx/>
              <a:buChar char="-"/>
            </a:pPr>
            <a:r>
              <a:rPr lang="cs-CZ" dirty="0"/>
              <a:t>před počátkem platnosti známky</a:t>
            </a:r>
          </a:p>
          <a:p>
            <a:pPr lvl="2">
              <a:buFontTx/>
              <a:buChar char="-"/>
            </a:pPr>
            <a:r>
              <a:rPr lang="cs-CZ" dirty="0"/>
              <a:t>maximálně </a:t>
            </a:r>
            <a:r>
              <a:rPr lang="en-GB" dirty="0"/>
              <a:t>1</a:t>
            </a:r>
            <a:r>
              <a:rPr lang="cs-CZ" dirty="0"/>
              <a:t>x</a:t>
            </a:r>
          </a:p>
          <a:p>
            <a:pPr lvl="1">
              <a:buFontTx/>
              <a:buChar char="-"/>
            </a:pPr>
            <a:r>
              <a:rPr lang="cs-CZ" dirty="0"/>
              <a:t>Změna počátku platnosti (před počátkem platnosti známky)</a:t>
            </a:r>
          </a:p>
          <a:p>
            <a:pPr lvl="2">
              <a:buFontTx/>
              <a:buChar char="-"/>
            </a:pPr>
            <a:r>
              <a:rPr lang="cs-CZ" dirty="0"/>
              <a:t>před počátkem platnosti známky</a:t>
            </a:r>
          </a:p>
          <a:p>
            <a:pPr lvl="2">
              <a:buFontTx/>
              <a:buChar char="-"/>
            </a:pPr>
            <a:r>
              <a:rPr lang="cs-CZ" dirty="0"/>
              <a:t>maximálně </a:t>
            </a:r>
            <a:r>
              <a:rPr lang="en-GB" dirty="0"/>
              <a:t>1</a:t>
            </a:r>
            <a:r>
              <a:rPr lang="cs-CZ" dirty="0"/>
              <a:t>x</a:t>
            </a:r>
            <a:endParaRPr lang="en-GB" dirty="0"/>
          </a:p>
          <a:p>
            <a:pPr lvl="2">
              <a:buFontTx/>
              <a:buChar char="-"/>
            </a:pPr>
            <a:r>
              <a:rPr lang="cs-CZ" dirty="0"/>
              <a:t>n</a:t>
            </a:r>
            <a:r>
              <a:rPr lang="en-GB" dirty="0" err="1"/>
              <a:t>ov</a:t>
            </a:r>
            <a:r>
              <a:rPr lang="cs-CZ" dirty="0"/>
              <a:t>ě zvolený počátek platnosti maximálně </a:t>
            </a:r>
            <a:r>
              <a:rPr lang="cs-CZ" b="1" dirty="0"/>
              <a:t>+3 měsíce od provedení úhrady</a:t>
            </a:r>
            <a:endParaRPr lang="cs-CZ" dirty="0"/>
          </a:p>
          <a:p>
            <a:pPr lvl="1">
              <a:buFontTx/>
              <a:buChar char="-"/>
            </a:pPr>
            <a:r>
              <a:rPr lang="cs-CZ" dirty="0"/>
              <a:t>Nastavení notifikačních a kontaktních údajů před uplynutím platnosti</a:t>
            </a:r>
          </a:p>
          <a:p>
            <a:pPr lvl="2">
              <a:buFontTx/>
              <a:buChar char="-"/>
            </a:pPr>
            <a:r>
              <a:rPr lang="cs-CZ" dirty="0"/>
              <a:t>maximálně 1x denně</a:t>
            </a:r>
          </a:p>
          <a:p>
            <a:pPr lvl="1">
              <a:buFontTx/>
              <a:buChar char="-"/>
            </a:pPr>
            <a:r>
              <a:rPr lang="cs-CZ" dirty="0"/>
              <a:t>Znovu zaslání potvrzení o úhradě</a:t>
            </a:r>
          </a:p>
          <a:p>
            <a:pPr lvl="2">
              <a:buFontTx/>
              <a:buChar char="-"/>
            </a:pPr>
            <a:r>
              <a:rPr lang="cs-CZ" dirty="0"/>
              <a:t>.PDF, e-mail</a:t>
            </a:r>
          </a:p>
          <a:p>
            <a:pPr lvl="2">
              <a:buFontTx/>
              <a:buChar char="-"/>
            </a:pPr>
            <a:r>
              <a:rPr lang="cs-CZ" dirty="0"/>
              <a:t>možnost správy známky</a:t>
            </a:r>
          </a:p>
          <a:p>
            <a:pPr>
              <a:buFontTx/>
              <a:buChar char="-"/>
            </a:pPr>
            <a:r>
              <a:rPr lang="cs-CZ" b="1" dirty="0"/>
              <a:t>možnost ověření platnosti známky </a:t>
            </a:r>
            <a:br>
              <a:rPr lang="cs-CZ" dirty="0"/>
            </a:br>
            <a:br>
              <a:rPr lang="cs-CZ" dirty="0"/>
            </a:b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05F6C3A-B01C-4734-8B74-819A2F218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899" y="4552949"/>
            <a:ext cx="2276751" cy="194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156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7A5F1A-51A0-427A-800A-C00E49BF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2307"/>
            <a:ext cx="10515600" cy="754464"/>
          </a:xfrm>
        </p:spPr>
        <p:txBody>
          <a:bodyPr>
            <a:normAutofit/>
          </a:bodyPr>
          <a:lstStyle/>
          <a:p>
            <a:r>
              <a:rPr lang="cs-CZ" dirty="0">
                <a:latin typeface="Calibri" panose="020F0502020204030204" pitchFamily="34" charset="0"/>
                <a:cs typeface="Calibri" panose="020F0502020204030204" pitchFamily="34" charset="0"/>
              </a:rPr>
              <a:t>Distribuce</a:t>
            </a:r>
          </a:p>
        </p:txBody>
      </p:sp>
      <p:sp>
        <p:nvSpPr>
          <p:cNvPr id="3" name="Zástupný obsah 12">
            <a:extLst>
              <a:ext uri="{FF2B5EF4-FFF2-40B4-BE49-F238E27FC236}">
                <a16:creationId xmlns:a16="http://schemas.microsoft.com/office/drawing/2014/main" id="{F42DAAFF-589F-4938-8BAF-94179DA32A65}"/>
              </a:ext>
            </a:extLst>
          </p:cNvPr>
          <p:cNvSpPr txBox="1">
            <a:spLocks/>
          </p:cNvSpPr>
          <p:nvPr/>
        </p:nvSpPr>
        <p:spPr>
          <a:xfrm>
            <a:off x="838200" y="2196862"/>
            <a:ext cx="9272451" cy="43606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cs-CZ" dirty="0"/>
              <a:t>možnost platby v hotovosti / kartou</a:t>
            </a:r>
            <a:br>
              <a:rPr lang="cs-CZ" dirty="0"/>
            </a:br>
            <a:r>
              <a:rPr lang="cs-CZ" dirty="0"/>
              <a:t>možnost opravy špatně zadaných údajů do 15 minut od úhrady</a:t>
            </a:r>
            <a:br>
              <a:rPr lang="cs-CZ" dirty="0"/>
            </a:br>
            <a:r>
              <a:rPr lang="cs-CZ" b="1" dirty="0"/>
              <a:t>možnost následné správy známky na e-</a:t>
            </a:r>
            <a:r>
              <a:rPr lang="cs-CZ" b="1" dirty="0" err="1"/>
              <a:t>shopu</a:t>
            </a:r>
            <a:endParaRPr lang="cs-CZ" b="1" dirty="0"/>
          </a:p>
          <a:p>
            <a:pPr>
              <a:buFontTx/>
              <a:buChar char="-"/>
            </a:pPr>
            <a:r>
              <a:rPr lang="cs-CZ" dirty="0"/>
              <a:t>Nově bude možné provádět i změnu na OM před nabytím platnosti (od 1.11.2021)</a:t>
            </a:r>
            <a:br>
              <a:rPr lang="cs-CZ" dirty="0"/>
            </a:br>
            <a:r>
              <a:rPr lang="cs-CZ" dirty="0"/>
              <a:t>celkem 3338 prodejních míst</a:t>
            </a:r>
            <a:br>
              <a:rPr lang="cs-CZ" dirty="0"/>
            </a:br>
            <a:endParaRPr lang="cs-CZ" dirty="0"/>
          </a:p>
          <a:p>
            <a:pPr>
              <a:buFontTx/>
              <a:buChar char="-"/>
            </a:pPr>
            <a:r>
              <a:rPr lang="cs-CZ" dirty="0"/>
              <a:t>ČEPRO</a:t>
            </a:r>
            <a:br>
              <a:rPr lang="cs-CZ" dirty="0"/>
            </a:br>
            <a:r>
              <a:rPr lang="cs-CZ" dirty="0"/>
              <a:t>čerpací stanice pod značkou </a:t>
            </a:r>
            <a:r>
              <a:rPr lang="cs-CZ" b="1" dirty="0" err="1"/>
              <a:t>EuroOil</a:t>
            </a:r>
            <a:br>
              <a:rPr lang="cs-CZ" b="1" dirty="0"/>
            </a:br>
            <a:r>
              <a:rPr lang="cs-CZ" dirty="0"/>
              <a:t>200 prodejních míst</a:t>
            </a:r>
            <a:br>
              <a:rPr lang="cs-CZ" b="1" dirty="0"/>
            </a:br>
            <a:endParaRPr lang="cs-CZ" b="1" dirty="0"/>
          </a:p>
          <a:p>
            <a:pPr>
              <a:buFontTx/>
              <a:buChar char="-"/>
            </a:pPr>
            <a:r>
              <a:rPr lang="cs-CZ" dirty="0"/>
              <a:t>ČESKÁ POŠTA</a:t>
            </a:r>
            <a:br>
              <a:rPr lang="en-GB" dirty="0"/>
            </a:br>
            <a:r>
              <a:rPr lang="en-GB" dirty="0"/>
              <a:t>3</a:t>
            </a:r>
            <a:r>
              <a:rPr lang="cs-CZ" dirty="0"/>
              <a:t> </a:t>
            </a:r>
            <a:r>
              <a:rPr lang="en-GB" dirty="0"/>
              <a:t>138 </a:t>
            </a:r>
            <a:r>
              <a:rPr lang="cs-CZ" dirty="0"/>
              <a:t>prodejních míst</a:t>
            </a:r>
            <a:br>
              <a:rPr lang="cs-CZ" dirty="0"/>
            </a:b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2050" name="Picture 2" descr="Rukánový znak ČEPRO | Požární bezpečnost s.r.o.">
            <a:extLst>
              <a:ext uri="{FF2B5EF4-FFF2-40B4-BE49-F238E27FC236}">
                <a16:creationId xmlns:a16="http://schemas.microsoft.com/office/drawing/2014/main" id="{740EBA45-E1C1-4483-B19E-48B2477E4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4145" y="1001281"/>
            <a:ext cx="1916239" cy="925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ogo česká pošta | Město Horní Planá">
            <a:extLst>
              <a:ext uri="{FF2B5EF4-FFF2-40B4-BE49-F238E27FC236}">
                <a16:creationId xmlns:a16="http://schemas.microsoft.com/office/drawing/2014/main" id="{85D57721-E9AB-4A3A-965C-DDAE4FF53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505" y="773251"/>
            <a:ext cx="2952750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1872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 descr="Obsah obrázku text, exteriér, tráva, obloha&#10;&#10;Popis byl vytvořen automaticky">
            <a:extLst>
              <a:ext uri="{FF2B5EF4-FFF2-40B4-BE49-F238E27FC236}">
                <a16:creationId xmlns:a16="http://schemas.microsoft.com/office/drawing/2014/main" id="{E41E9B78-9B09-4741-8E01-B48D20794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3814396"/>
            <a:ext cx="5105400" cy="304360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7A5F1A-51A0-427A-800A-C00E49BF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2307"/>
            <a:ext cx="10515600" cy="754464"/>
          </a:xfrm>
        </p:spPr>
        <p:txBody>
          <a:bodyPr>
            <a:normAutofit/>
          </a:bodyPr>
          <a:lstStyle/>
          <a:p>
            <a:r>
              <a:rPr lang="cs-CZ" dirty="0">
                <a:latin typeface="Calibri" panose="020F0502020204030204" pitchFamily="34" charset="0"/>
                <a:cs typeface="Calibri" panose="020F0502020204030204" pitchFamily="34" charset="0"/>
              </a:rPr>
              <a:t>Kiosky</a:t>
            </a:r>
          </a:p>
        </p:txBody>
      </p:sp>
      <p:sp>
        <p:nvSpPr>
          <p:cNvPr id="3" name="Zástupný obsah 12">
            <a:extLst>
              <a:ext uri="{FF2B5EF4-FFF2-40B4-BE49-F238E27FC236}">
                <a16:creationId xmlns:a16="http://schemas.microsoft.com/office/drawing/2014/main" id="{74C0FDC6-9F55-4B74-9D2C-214BB1E3EB87}"/>
              </a:ext>
            </a:extLst>
          </p:cNvPr>
          <p:cNvSpPr txBox="1">
            <a:spLocks/>
          </p:cNvSpPr>
          <p:nvPr/>
        </p:nvSpPr>
        <p:spPr>
          <a:xfrm>
            <a:off x="838200" y="2196862"/>
            <a:ext cx="9272451" cy="4360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cs-CZ" b="1" dirty="0"/>
              <a:t>13 kiosků </a:t>
            </a:r>
            <a:r>
              <a:rPr lang="en-GB" dirty="0"/>
              <a:t>(resp. 14 kiosk</a:t>
            </a:r>
            <a:r>
              <a:rPr lang="cs-CZ" dirty="0"/>
              <a:t>ů) situovaných zejména na hraniční přechody</a:t>
            </a:r>
            <a:br>
              <a:rPr lang="cs-CZ" dirty="0"/>
            </a:br>
            <a:r>
              <a:rPr lang="cs-CZ" i="1" dirty="0"/>
              <a:t>2x Antošovice, 2x Lanžhot, Dolní Dvořiště, 2x Rozvadov, 3x Varvažov</a:t>
            </a:r>
            <a:br>
              <a:rPr lang="cs-CZ" i="1" dirty="0"/>
            </a:br>
            <a:r>
              <a:rPr lang="cs-CZ" i="1" dirty="0"/>
              <a:t>Osice, Chotěbuz, Mikulov, SFDI Praha Sokolovská</a:t>
            </a:r>
            <a:endParaRPr lang="cs-CZ" b="1" i="1" dirty="0"/>
          </a:p>
          <a:p>
            <a:pPr>
              <a:buFontTx/>
              <a:buChar char="-"/>
            </a:pPr>
            <a:r>
              <a:rPr lang="cs-CZ" b="1" dirty="0"/>
              <a:t>možnost úhrady časového poplatku </a:t>
            </a:r>
            <a:r>
              <a:rPr lang="cs-CZ" b="1" dirty="0">
                <a:solidFill>
                  <a:srgbClr val="FF0000"/>
                </a:solidFill>
              </a:rPr>
              <a:t>pouze platbou kartou</a:t>
            </a:r>
          </a:p>
          <a:p>
            <a:pPr>
              <a:buFontTx/>
              <a:buChar char="-"/>
            </a:pPr>
            <a:r>
              <a:rPr lang="cs-CZ" dirty="0"/>
              <a:t>není možnost správy známky </a:t>
            </a:r>
          </a:p>
          <a:p>
            <a:pPr>
              <a:buFontTx/>
              <a:buChar char="-"/>
            </a:pPr>
            <a:r>
              <a:rPr lang="cs-CZ" dirty="0"/>
              <a:t>není možnost ověření platnosti známky</a:t>
            </a:r>
            <a:br>
              <a:rPr lang="cs-CZ" dirty="0"/>
            </a:br>
            <a:br>
              <a:rPr lang="cs-CZ" dirty="0"/>
            </a:b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4437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7A5F1A-51A0-427A-800A-C00E49BF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2307"/>
            <a:ext cx="10515600" cy="754464"/>
          </a:xfrm>
        </p:spPr>
        <p:txBody>
          <a:bodyPr>
            <a:normAutofit/>
          </a:bodyPr>
          <a:lstStyle/>
          <a:p>
            <a:r>
              <a:rPr lang="cs-CZ" u="sng" dirty="0">
                <a:latin typeface="Calibri" panose="020F0502020204030204" pitchFamily="34" charset="0"/>
                <a:cs typeface="Calibri" panose="020F0502020204030204" pitchFamily="34" charset="0"/>
              </a:rPr>
              <a:t>Úhrada časového poplatku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180D2A66-9AEB-4312-8575-ED57D63E6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3951"/>
            <a:ext cx="10515600" cy="41830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dirty="0"/>
              <a:t>Úhrada poplatku na e-shopu a v kiosku je přímo na účet SFDI v ČNB (povinnost pro státní organizace ze zákona 218/2000 Sb.)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Platba kartou – nejjistější způsob úhrady a zároveň nejbezpečnější z pohledu eliminace chyb; nicméně ….</a:t>
            </a:r>
          </a:p>
          <a:p>
            <a:pPr marL="0" indent="0">
              <a:buNone/>
            </a:pPr>
            <a:r>
              <a:rPr lang="cs-CZ" dirty="0"/>
              <a:t>Platba převodem – velké množství chyb na straně klientů; špatná čísla bankovních účtů, na které úhradu odesílají (dotační účty SFDI bez předčíslí); nejsou uvedeny VS v poli VS nebo vůbec – velké % manuálního párování plateb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Úhrada poplatku od distributorů – široká síť ČP – větší množství chyb na straně informací od obsluhy; špatně zadávali kódy země registrací vozidla – nutnost umožnit vratky v důsledku neexistencí SPZ (manipulační poplatek)</a:t>
            </a:r>
          </a:p>
        </p:txBody>
      </p:sp>
    </p:spTree>
    <p:extLst>
      <p:ext uri="{BB962C8B-B14F-4D97-AF65-F5344CB8AC3E}">
        <p14:creationId xmlns:p14="http://schemas.microsoft.com/office/powerpoint/2010/main" val="2608878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7A5F1A-51A0-427A-800A-C00E49BF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2815"/>
            <a:ext cx="10515600" cy="754464"/>
          </a:xfrm>
        </p:spPr>
        <p:txBody>
          <a:bodyPr>
            <a:normAutofit/>
          </a:bodyPr>
          <a:lstStyle/>
          <a:p>
            <a:r>
              <a:rPr lang="cs-CZ" dirty="0">
                <a:latin typeface="Calibri" panose="020F0502020204030204" pitchFamily="34" charset="0"/>
                <a:cs typeface="Calibri" panose="020F0502020204030204" pitchFamily="34" charset="0"/>
              </a:rPr>
              <a:t>Účet u ČNB</a:t>
            </a:r>
          </a:p>
        </p:txBody>
      </p:sp>
      <p:sp>
        <p:nvSpPr>
          <p:cNvPr id="32" name="Zástupný obsah 4">
            <a:extLst>
              <a:ext uri="{FF2B5EF4-FFF2-40B4-BE49-F238E27FC236}">
                <a16:creationId xmlns:a16="http://schemas.microsoft.com/office/drawing/2014/main" id="{1BFE25E2-8FCC-4F35-A344-DF150C20A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7279"/>
            <a:ext cx="10515600" cy="4733521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cs-CZ" sz="3400" dirty="0"/>
              <a:t>SFDI je na základě zákona vést účty u ČNB; </a:t>
            </a:r>
          </a:p>
          <a:p>
            <a:pPr marL="0" indent="0">
              <a:buNone/>
            </a:pPr>
            <a:r>
              <a:rPr lang="cs-CZ" sz="3400" dirty="0"/>
              <a:t>Máme zřízeny 3 účty provozní + 3 testovací</a:t>
            </a:r>
          </a:p>
          <a:p>
            <a:pPr>
              <a:buFontTx/>
              <a:buChar char="-"/>
            </a:pPr>
            <a:r>
              <a:rPr lang="cs-CZ" sz="3400" dirty="0" err="1"/>
              <a:t>Eshop</a:t>
            </a:r>
            <a:endParaRPr lang="cs-CZ" sz="3400" dirty="0"/>
          </a:p>
          <a:p>
            <a:pPr>
              <a:buFontTx/>
              <a:buChar char="-"/>
            </a:pPr>
            <a:r>
              <a:rPr lang="cs-CZ" sz="3400" dirty="0"/>
              <a:t>Kiosky</a:t>
            </a:r>
          </a:p>
          <a:p>
            <a:pPr>
              <a:buFontTx/>
              <a:buChar char="-"/>
            </a:pPr>
            <a:r>
              <a:rPr lang="cs-CZ" sz="3400" dirty="0"/>
              <a:t>Distribuce</a:t>
            </a:r>
          </a:p>
          <a:p>
            <a:pPr marL="0" indent="0">
              <a:buNone/>
            </a:pPr>
            <a:r>
              <a:rPr lang="cs-CZ" sz="3400" u="sng" dirty="0"/>
              <a:t>Problémy</a:t>
            </a:r>
            <a:r>
              <a:rPr lang="cs-CZ" sz="3400" dirty="0"/>
              <a:t>:</a:t>
            </a:r>
          </a:p>
          <a:p>
            <a:pPr marL="0" indent="0">
              <a:buNone/>
            </a:pPr>
            <a:r>
              <a:rPr lang="cs-CZ" sz="3400" dirty="0"/>
              <a:t>Předčíslí účtu – při platbě převodem lidé při opisování uvádí účet bez předčíslí (na základě zkušenosti bude nutné zavést jiný účet bez předčíslí)</a:t>
            </a:r>
          </a:p>
          <a:p>
            <a:pPr marL="0" indent="0">
              <a:buNone/>
            </a:pPr>
            <a:r>
              <a:rPr lang="cs-CZ" sz="3400" dirty="0"/>
              <a:t>V době </a:t>
            </a:r>
            <a:r>
              <a:rPr lang="cs-CZ" sz="3400" dirty="0" err="1"/>
              <a:t>covidu</a:t>
            </a:r>
            <a:r>
              <a:rPr lang="cs-CZ" sz="3400" dirty="0"/>
              <a:t> nebyla pružnost na straně ČNB v rámci řešení problémů</a:t>
            </a:r>
          </a:p>
          <a:p>
            <a:pPr marL="0" indent="0">
              <a:buNone/>
            </a:pPr>
            <a:r>
              <a:rPr lang="cs-CZ" sz="3400" u="sng" dirty="0"/>
              <a:t>Výhody</a:t>
            </a:r>
            <a:r>
              <a:rPr lang="cs-CZ" sz="3400" dirty="0"/>
              <a:t>:</a:t>
            </a:r>
          </a:p>
          <a:p>
            <a:pPr marL="0" indent="0">
              <a:buNone/>
            </a:pPr>
            <a:r>
              <a:rPr lang="cs-CZ" sz="3400" dirty="0"/>
              <a:t>- Účty jsou napojeny na interní systémy SFDI – máme kontrolu nad tím, co se na účtech děje, jediné disponibilní právo mají pověření zaměstnanci SFDI; z pohledu zákona o finanční kontrole 320/2000 Sb. to není jinak ani možné</a:t>
            </a:r>
          </a:p>
          <a:p>
            <a:pPr marL="0" indent="0">
              <a:buNone/>
            </a:pPr>
            <a:r>
              <a:rPr lang="cs-CZ" sz="3400" u="sng" dirty="0"/>
              <a:t>Nevýhody</a:t>
            </a:r>
            <a:r>
              <a:rPr lang="cs-CZ" sz="3400" dirty="0"/>
              <a:t>:</a:t>
            </a:r>
          </a:p>
          <a:p>
            <a:pPr>
              <a:buFontTx/>
              <a:buChar char="-"/>
            </a:pPr>
            <a:r>
              <a:rPr lang="cs-CZ" sz="3400" dirty="0"/>
              <a:t>Výpisy pouze v pracovní dny</a:t>
            </a:r>
          </a:p>
          <a:p>
            <a:pPr>
              <a:buFontTx/>
              <a:buChar char="-"/>
            </a:pPr>
            <a:r>
              <a:rPr lang="cs-CZ" sz="3400" dirty="0"/>
              <a:t>Dle zákona o finanční kontrole musí být prostředky v rámci vratek schváleny – věcný správce, příkazce, hlavní účetní – bez této kontroly a schválení nesmí prostředky odejít!!! Tzn. veškeré vratky musí zkontrolovat a odeslat SFDI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44319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7A5F1A-51A0-427A-800A-C00E49BF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8242"/>
            <a:ext cx="10515600" cy="754464"/>
          </a:xfrm>
        </p:spPr>
        <p:txBody>
          <a:bodyPr>
            <a:normAutofit/>
          </a:bodyPr>
          <a:lstStyle/>
          <a:p>
            <a:r>
              <a:rPr lang="cs-CZ" dirty="0">
                <a:latin typeface="Calibri" panose="020F0502020204030204" pitchFamily="34" charset="0"/>
                <a:cs typeface="Calibri" panose="020F0502020204030204" pitchFamily="34" charset="0"/>
              </a:rPr>
              <a:t>Zaúčtování a řešené problémy</a:t>
            </a:r>
          </a:p>
        </p:txBody>
      </p:sp>
      <p:sp>
        <p:nvSpPr>
          <p:cNvPr id="24" name="Zástupný obsah 12">
            <a:extLst>
              <a:ext uri="{FF2B5EF4-FFF2-40B4-BE49-F238E27FC236}">
                <a16:creationId xmlns:a16="http://schemas.microsoft.com/office/drawing/2014/main" id="{7AB302D2-2F82-45FE-9851-5FFDB379E09A}"/>
              </a:ext>
            </a:extLst>
          </p:cNvPr>
          <p:cNvSpPr txBox="1">
            <a:spLocks/>
          </p:cNvSpPr>
          <p:nvPr/>
        </p:nvSpPr>
        <p:spPr>
          <a:xfrm>
            <a:off x="4024380" y="2405155"/>
            <a:ext cx="7823631" cy="1023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cs-CZ" dirty="0"/>
          </a:p>
        </p:txBody>
      </p:sp>
      <p:sp>
        <p:nvSpPr>
          <p:cNvPr id="27" name="Zástupný obsah 12">
            <a:extLst>
              <a:ext uri="{FF2B5EF4-FFF2-40B4-BE49-F238E27FC236}">
                <a16:creationId xmlns:a16="http://schemas.microsoft.com/office/drawing/2014/main" id="{1F543D22-CEBE-4BC2-8D1E-5F260D273178}"/>
              </a:ext>
            </a:extLst>
          </p:cNvPr>
          <p:cNvSpPr txBox="1">
            <a:spLocks/>
          </p:cNvSpPr>
          <p:nvPr/>
        </p:nvSpPr>
        <p:spPr>
          <a:xfrm>
            <a:off x="4024379" y="3984468"/>
            <a:ext cx="7144364" cy="12781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cs-CZ" dirty="0"/>
          </a:p>
        </p:txBody>
      </p:sp>
      <p:sp>
        <p:nvSpPr>
          <p:cNvPr id="28" name="Zástupný obsah 12">
            <a:extLst>
              <a:ext uri="{FF2B5EF4-FFF2-40B4-BE49-F238E27FC236}">
                <a16:creationId xmlns:a16="http://schemas.microsoft.com/office/drawing/2014/main" id="{7B5F3228-4D7F-444D-8B76-AB4FC6FEBB78}"/>
              </a:ext>
            </a:extLst>
          </p:cNvPr>
          <p:cNvSpPr txBox="1">
            <a:spLocks/>
          </p:cNvSpPr>
          <p:nvPr/>
        </p:nvSpPr>
        <p:spPr>
          <a:xfrm>
            <a:off x="4024379" y="6053008"/>
            <a:ext cx="7627690" cy="635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cs-CZ" dirty="0"/>
          </a:p>
        </p:txBody>
      </p:sp>
      <p:sp>
        <p:nvSpPr>
          <p:cNvPr id="13" name="Zástupný obsah 4">
            <a:extLst>
              <a:ext uri="{FF2B5EF4-FFF2-40B4-BE49-F238E27FC236}">
                <a16:creationId xmlns:a16="http://schemas.microsoft.com/office/drawing/2014/main" id="{1C08EE3C-7056-4756-A307-31CF33AE2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2706"/>
            <a:ext cx="10515600" cy="4878626"/>
          </a:xfrm>
        </p:spPr>
        <p:txBody>
          <a:bodyPr>
            <a:normAutofit fontScale="4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cs-CZ" sz="3500" u="sng" dirty="0"/>
              <a:t>Platby ze zahraničí (převodem) </a:t>
            </a:r>
            <a:r>
              <a:rPr lang="cs-CZ" sz="3500" dirty="0"/>
              <a:t>– systém nastaven v počátku tak, že VS musí být u platby převodem uveden v poli VS; problém u zahraničních, kdy tuto položku nemají všichni nebo nejsou schopni uvést = manuální párování, pokud lze a je VS nebo SPZ uveden alespoň někde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cs-CZ" sz="3500" dirty="0"/>
              <a:t>- Platby přes tuzemské „spřízněné banky“ tzv. sběrné účty – v případě vratky jsme neměli kam vrátit – nutno dohodnout s každou bankou, jaké informace budeme poskytovat, aby oni následně identifikovali a vrátili klientovi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cs-CZ" sz="3500" u="sng" dirty="0"/>
              <a:t>Platby v nesprávné výši </a:t>
            </a:r>
            <a:r>
              <a:rPr lang="cs-CZ" sz="3500" dirty="0"/>
              <a:t>– v mnoha případech neumí zahraniční klienti zaslat částku tak, aby nám přišla ve správné výši tzn. často chybí pár korun, někdy halířů</a:t>
            </a:r>
            <a:r>
              <a:rPr lang="cs-CZ" sz="3500" dirty="0">
                <a:sym typeface="Wingdings" panose="05000000000000000000" pitchFamily="2" charset="2"/>
              </a:rPr>
              <a:t>, platba musí být vrácena a zákazník nemá uhrazeno; přeplatky jsou vraceny; u zahraničních plateb mimo EHP – vysoké poplatky v řádech 150 Kč – dle podmínek si tuto částku z vratky strháváme</a:t>
            </a:r>
            <a:r>
              <a:rPr lang="cs-CZ" sz="3500" dirty="0"/>
              <a:t> </a:t>
            </a:r>
            <a:endParaRPr lang="cs-CZ" sz="3500" u="sng" dirty="0"/>
          </a:p>
          <a:p>
            <a:pPr marL="0" indent="0">
              <a:lnSpc>
                <a:spcPct val="120000"/>
              </a:lnSpc>
              <a:buNone/>
            </a:pPr>
            <a:r>
              <a:rPr lang="cs-CZ" sz="3500" u="sng" dirty="0"/>
              <a:t>Platby nepřijdou včas </a:t>
            </a:r>
            <a:r>
              <a:rPr lang="cs-CZ" sz="3500" dirty="0"/>
              <a:t>– aby bylo možné platbu spárovat musí přijít nejdéle v den nabytí platnosti, poté již automatizovaná vratka</a:t>
            </a:r>
            <a:endParaRPr lang="cs-CZ" sz="3500" u="sng" dirty="0"/>
          </a:p>
          <a:p>
            <a:pPr marL="0" indent="0">
              <a:lnSpc>
                <a:spcPct val="120000"/>
              </a:lnSpc>
              <a:buNone/>
            </a:pPr>
            <a:r>
              <a:rPr lang="cs-CZ" sz="3500" u="sng" dirty="0"/>
              <a:t>Vratky</a:t>
            </a:r>
            <a:r>
              <a:rPr lang="cs-CZ" sz="3500" dirty="0"/>
              <a:t> viz dříve + typy vratek – neidentifikovatelné platby (nemáme dostatek údajů pro spárování s objednávkou); nedoplatky; přeplatky (rozdíl vracíme) a zákaznické vratky – vazba na spisovou službu (Call centrum); platby přijdou až po nabytí platnosti časového poplatku; </a:t>
            </a:r>
            <a:r>
              <a:rPr lang="cs-CZ" sz="3500" dirty="0" err="1"/>
              <a:t>multivratky</a:t>
            </a:r>
            <a:r>
              <a:rPr lang="cs-CZ" sz="3500" dirty="0"/>
              <a:t> – hromadná úhrada = stejný VS, následná vratka – platební brána neumí automaticky zpracovat; nutné manuálně vracet, nyní doprogramována automatika na straně IS EDAZ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cs-CZ" sz="3500" u="sng" dirty="0"/>
              <a:t>Předběžná finanční kontrola </a:t>
            </a:r>
            <a:r>
              <a:rPr lang="cs-CZ" sz="3500" dirty="0"/>
              <a:t>viz dříve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cs-CZ" sz="3500" u="sng" dirty="0"/>
              <a:t>Kiosky</a:t>
            </a:r>
            <a:r>
              <a:rPr lang="cs-CZ" sz="3500" dirty="0"/>
              <a:t> – recyklace variabilních symbolů; úpravy nastavení SW kiosků!!!; zapomenuté platební karty; obzvláště zahraniční klienti nejsou zvyklí platit kartami, nemají nastavené platby kartou</a:t>
            </a:r>
          </a:p>
          <a:p>
            <a:pPr marL="0" indent="0">
              <a:lnSpc>
                <a:spcPct val="120000"/>
              </a:lnSpc>
              <a:buNone/>
            </a:pPr>
            <a:endParaRPr lang="cs-CZ" dirty="0"/>
          </a:p>
          <a:p>
            <a:pPr marL="0" indent="0">
              <a:lnSpc>
                <a:spcPct val="120000"/>
              </a:lnSpc>
              <a:buNone/>
            </a:pPr>
            <a:r>
              <a:rPr lang="cs-CZ" sz="3400" b="1" dirty="0"/>
              <a:t>Vše, co nebyly schopny dodat ČNB/ČSOB – platební brána, kiosky – muselo být dovyvinuto na straně IS EDAZ!!!</a:t>
            </a:r>
          </a:p>
        </p:txBody>
      </p:sp>
    </p:spTree>
    <p:extLst>
      <p:ext uri="{BB962C8B-B14F-4D97-AF65-F5344CB8AC3E}">
        <p14:creationId xmlns:p14="http://schemas.microsoft.com/office/powerpoint/2010/main" val="2541860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Zástupný obsah 6" descr="Obsah obrázku interiér, stůl, okno, kancelář&#10;&#10;Popis byl vytvořen automaticky">
            <a:extLst>
              <a:ext uri="{FF2B5EF4-FFF2-40B4-BE49-F238E27FC236}">
                <a16:creationId xmlns:a16="http://schemas.microsoft.com/office/drawing/2014/main" id="{493CB890-A5D4-4F15-9236-8B0950B82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967" y="4512860"/>
            <a:ext cx="4179368" cy="2350895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7A5F1A-51A0-427A-800A-C00E49BF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2307"/>
            <a:ext cx="10515600" cy="754464"/>
          </a:xfrm>
        </p:spPr>
        <p:txBody>
          <a:bodyPr>
            <a:normAutofit/>
          </a:bodyPr>
          <a:lstStyle/>
          <a:p>
            <a:r>
              <a:rPr lang="cs-CZ" dirty="0">
                <a:latin typeface="Calibri" panose="020F0502020204030204" pitchFamily="34" charset="0"/>
                <a:cs typeface="Calibri" panose="020F0502020204030204" pitchFamily="34" charset="0"/>
              </a:rPr>
              <a:t>Agendové funkce</a:t>
            </a:r>
          </a:p>
        </p:txBody>
      </p:sp>
      <p:sp>
        <p:nvSpPr>
          <p:cNvPr id="24" name="Zástupný obsah 12">
            <a:extLst>
              <a:ext uri="{FF2B5EF4-FFF2-40B4-BE49-F238E27FC236}">
                <a16:creationId xmlns:a16="http://schemas.microsoft.com/office/drawing/2014/main" id="{A8B70CC8-F634-45A0-9508-1395A30AB21C}"/>
              </a:ext>
            </a:extLst>
          </p:cNvPr>
          <p:cNvSpPr txBox="1">
            <a:spLocks/>
          </p:cNvSpPr>
          <p:nvPr/>
        </p:nvSpPr>
        <p:spPr>
          <a:xfrm>
            <a:off x="838200" y="2196862"/>
            <a:ext cx="9272451" cy="4360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9306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cs-CZ" dirty="0"/>
              <a:t>Call centrum 24/7 </a:t>
            </a:r>
            <a:r>
              <a:rPr lang="cs-CZ" b="1" dirty="0"/>
              <a:t>Brno</a:t>
            </a:r>
            <a:r>
              <a:rPr lang="cs-CZ" dirty="0"/>
              <a:t> tel. 222 266 757 nebo </a:t>
            </a:r>
            <a:r>
              <a:rPr lang="cs-CZ" dirty="0">
                <a:hlinkClick r:id="rId3"/>
              </a:rPr>
              <a:t>info@edalnice.cz</a:t>
            </a:r>
            <a:endParaRPr lang="cs-CZ" dirty="0"/>
          </a:p>
          <a:p>
            <a:pPr>
              <a:buFontTx/>
              <a:buChar char="-"/>
            </a:pPr>
            <a:r>
              <a:rPr lang="cs-CZ" dirty="0"/>
              <a:t>Datová schránka IS EDAZ </a:t>
            </a:r>
            <a:r>
              <a:rPr lang="cs-CZ" b="1" dirty="0"/>
              <a:t>ws5mh9w</a:t>
            </a:r>
            <a:r>
              <a:rPr lang="cs-CZ" dirty="0"/>
              <a:t> </a:t>
            </a:r>
            <a:r>
              <a:rPr lang="cs-CZ" b="1" dirty="0">
                <a:solidFill>
                  <a:srgbClr val="FF0000"/>
                </a:solidFill>
              </a:rPr>
              <a:t>(NE DS SFDI e5qaihb)</a:t>
            </a:r>
          </a:p>
          <a:p>
            <a:pPr>
              <a:buFontTx/>
              <a:buChar char="-"/>
            </a:pPr>
            <a:r>
              <a:rPr lang="cs-CZ" dirty="0"/>
              <a:t>Agendové funkce:</a:t>
            </a:r>
          </a:p>
          <a:p>
            <a:pPr lvl="1">
              <a:buFontTx/>
              <a:buChar char="-"/>
            </a:pPr>
            <a:r>
              <a:rPr lang="cs-CZ" dirty="0"/>
              <a:t>Oznámení osvobození, oznámení pominutí osvobození – vstup do RSV – manuálně, stejně jako do základních registrů</a:t>
            </a:r>
          </a:p>
          <a:p>
            <a:pPr lvl="1">
              <a:buFontTx/>
              <a:buChar char="-"/>
            </a:pPr>
            <a:r>
              <a:rPr lang="cs-CZ" dirty="0"/>
              <a:t>Avízo o změně SPZ z důvodu zničení, ztráty, krádeže</a:t>
            </a:r>
          </a:p>
          <a:p>
            <a:pPr lvl="1">
              <a:buFontTx/>
              <a:buChar char="-"/>
            </a:pPr>
            <a:r>
              <a:rPr lang="cs-CZ" dirty="0"/>
              <a:t>Žádost o vratku (duplicita, nesprávná úhrada)</a:t>
            </a:r>
          </a:p>
          <a:p>
            <a:pPr lvl="1">
              <a:buFontTx/>
              <a:buChar char="-"/>
            </a:pPr>
            <a:r>
              <a:rPr lang="cs-CZ" dirty="0"/>
              <a:t>Reklamace ze strany bankovních asociacích, banky</a:t>
            </a:r>
            <a:endParaRPr lang="cs-CZ" b="1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23018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7A5F1A-51A0-427A-800A-C00E49BF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2307"/>
            <a:ext cx="10515600" cy="754464"/>
          </a:xfrm>
        </p:spPr>
        <p:txBody>
          <a:bodyPr>
            <a:normAutofit/>
          </a:bodyPr>
          <a:lstStyle/>
          <a:p>
            <a:r>
              <a:rPr lang="cs-CZ" dirty="0">
                <a:latin typeface="Calibri" panose="020F0502020204030204" pitchFamily="34" charset="0"/>
                <a:cs typeface="Calibri" panose="020F0502020204030204" pitchFamily="34" charset="0"/>
              </a:rPr>
              <a:t>Náklady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7F7084AF-25A9-4A72-97EB-A5A4FEDC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3951"/>
            <a:ext cx="10515600" cy="41830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Na platební bránu a terminály – výběrové řízení (můžeme poskytnout); </a:t>
            </a:r>
          </a:p>
          <a:p>
            <a:r>
              <a:rPr lang="cs-CZ" dirty="0"/>
              <a:t>stanovení funkčních a nefunkčních požadavků v ZD, </a:t>
            </a:r>
          </a:p>
          <a:p>
            <a:r>
              <a:rPr lang="cs-CZ" dirty="0"/>
              <a:t>SLA 99,9 %; maximální povolené odstávky a kdy mohou být; </a:t>
            </a:r>
          </a:p>
          <a:p>
            <a:r>
              <a:rPr lang="cs-CZ" dirty="0"/>
              <a:t>integrační požadavky – testovací a provozní prostředí; </a:t>
            </a:r>
          </a:p>
          <a:p>
            <a:r>
              <a:rPr lang="cs-CZ" dirty="0"/>
              <a:t>kvalifikace – ekonomická – výše obratu; zajištění; smluvní pokuty; </a:t>
            </a:r>
          </a:p>
          <a:p>
            <a:r>
              <a:rPr lang="cs-CZ" dirty="0"/>
              <a:t>cena ve formě Poplatku za zpracování transakcí ve struktuře MIF++ </a:t>
            </a:r>
          </a:p>
          <a:p>
            <a:pPr lvl="1"/>
            <a:r>
              <a:rPr lang="cs-CZ" dirty="0"/>
              <a:t>(3 složky – 1. složka stanovena regulátorem; 2. složka poplatky karetních asociací VISA a MASTER) a 3. složka = hodnotící kritérium transakční poplatek účastníka</a:t>
            </a:r>
          </a:p>
          <a:p>
            <a:pPr lvl="1"/>
            <a:r>
              <a:rPr lang="cs-CZ" dirty="0"/>
              <a:t>Za srpen 2021 průměr 1,01 %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Na řešení vratek a nestandardních věcí – vše mimo automatizaci velmi náročné na kapacity a zdroje!!!</a:t>
            </a:r>
          </a:p>
        </p:txBody>
      </p:sp>
    </p:spTree>
    <p:extLst>
      <p:ext uri="{BB962C8B-B14F-4D97-AF65-F5344CB8AC3E}">
        <p14:creationId xmlns:p14="http://schemas.microsoft.com/office/powerpoint/2010/main" val="1899136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7A5F1A-51A0-427A-800A-C00E49BF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2307"/>
            <a:ext cx="10515600" cy="754464"/>
          </a:xfrm>
        </p:spPr>
        <p:txBody>
          <a:bodyPr>
            <a:normAutofit/>
          </a:bodyPr>
          <a:lstStyle/>
          <a:p>
            <a:r>
              <a:rPr lang="cs-CZ" dirty="0">
                <a:latin typeface="Calibri" panose="020F0502020204030204" pitchFamily="34" charset="0"/>
                <a:cs typeface="Calibri" panose="020F0502020204030204" pitchFamily="34" charset="0"/>
              </a:rPr>
              <a:t>Aplikace zkušeností do jiných agend</a:t>
            </a:r>
          </a:p>
        </p:txBody>
      </p:sp>
      <p:sp>
        <p:nvSpPr>
          <p:cNvPr id="6" name="Zástupný obsah 4">
            <a:extLst>
              <a:ext uri="{FF2B5EF4-FFF2-40B4-BE49-F238E27FC236}">
                <a16:creationId xmlns:a16="http://schemas.microsoft.com/office/drawing/2014/main" id="{A0EB6B31-376D-471E-A0CE-1402D4AB4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3951"/>
            <a:ext cx="10515600" cy="418301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cs-CZ" dirty="0"/>
              <a:t>CENDIS připravuje pro rezort dopravy digitalizaci agend – portálové řešení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9 agend:</a:t>
            </a:r>
            <a:endParaRPr lang="cs-CZ" dirty="0">
              <a:cs typeface="Calibri"/>
            </a:endParaRPr>
          </a:p>
          <a:p>
            <a:pPr>
              <a:buFontTx/>
              <a:buChar char="-"/>
            </a:pPr>
            <a:r>
              <a:rPr lang="cs-CZ" dirty="0"/>
              <a:t>Přenesená působnost (agendu zajišťují ORP nebo kraje)</a:t>
            </a:r>
            <a:endParaRPr lang="cs-CZ" dirty="0">
              <a:cs typeface="Calibri"/>
            </a:endParaRPr>
          </a:p>
          <a:p>
            <a:pPr>
              <a:buFontTx/>
              <a:buChar char="-"/>
            </a:pPr>
            <a:r>
              <a:rPr lang="cs-CZ" dirty="0">
                <a:ea typeface="+mn-lt"/>
                <a:cs typeface="+mn-lt"/>
              </a:rPr>
              <a:t>Více než 100 služeb</a:t>
            </a:r>
            <a:endParaRPr lang="cs-CZ" dirty="0">
              <a:cs typeface="Calibri" panose="020F0502020204030204"/>
            </a:endParaRPr>
          </a:p>
          <a:p>
            <a:pPr>
              <a:buFontTx/>
              <a:buChar char="-"/>
            </a:pPr>
            <a:r>
              <a:rPr lang="cs-CZ" dirty="0"/>
              <a:t>U značné části nutná úhrada správního poplatku (jako jeden z úkonů dané služby)</a:t>
            </a:r>
          </a:p>
          <a:p>
            <a:pPr>
              <a:buFontTx/>
              <a:buChar char="-"/>
            </a:pPr>
            <a:endParaRPr lang="cs-CZ" dirty="0">
              <a:cs typeface="Calibri"/>
            </a:endParaRPr>
          </a:p>
          <a:p>
            <a:pPr>
              <a:buFontTx/>
              <a:buChar char="-"/>
            </a:pPr>
            <a:r>
              <a:rPr lang="cs-CZ" dirty="0">
                <a:cs typeface="Calibri"/>
              </a:rPr>
              <a:t>Agendy pro fyzické i právnické osoby, tuzemské i zahraniční</a:t>
            </a:r>
          </a:p>
          <a:p>
            <a:pPr lvl="1">
              <a:buFontTx/>
              <a:buChar char="-"/>
            </a:pPr>
            <a:r>
              <a:rPr lang="cs-CZ" dirty="0">
                <a:cs typeface="Calibri"/>
              </a:rPr>
              <a:t>Platby kartou, převodem, (i hotovost?)</a:t>
            </a:r>
          </a:p>
          <a:p>
            <a:pPr lvl="1">
              <a:buFontTx/>
              <a:buChar char="-"/>
            </a:pPr>
            <a:r>
              <a:rPr lang="cs-CZ" dirty="0">
                <a:cs typeface="Calibri"/>
              </a:rPr>
              <a:t>Velký potenciál nepředpokládaných situací</a:t>
            </a:r>
          </a:p>
          <a:p>
            <a:pPr lvl="1">
              <a:buFontTx/>
              <a:buChar char="-"/>
            </a:pPr>
            <a:r>
              <a:rPr lang="cs-CZ">
                <a:cs typeface="Calibri"/>
              </a:rPr>
              <a:t>Storna žádostí?</a:t>
            </a:r>
            <a:endParaRPr lang="cs-CZ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9658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7A5F1A-51A0-427A-800A-C00E49BF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2307"/>
            <a:ext cx="10515600" cy="754464"/>
          </a:xfrm>
        </p:spPr>
        <p:txBody>
          <a:bodyPr>
            <a:normAutofit/>
          </a:bodyPr>
          <a:lstStyle/>
          <a:p>
            <a:r>
              <a:rPr lang="cs-CZ" dirty="0">
                <a:latin typeface="Calibri"/>
                <a:cs typeface="Calibri"/>
              </a:rPr>
              <a:t>Problémy spojené s úhradou poplatku</a:t>
            </a:r>
            <a:endParaRPr lang="cs-CZ" dirty="0"/>
          </a:p>
        </p:txBody>
      </p:sp>
      <p:sp>
        <p:nvSpPr>
          <p:cNvPr id="6" name="Zástupný obsah 4">
            <a:extLst>
              <a:ext uri="{FF2B5EF4-FFF2-40B4-BE49-F238E27FC236}">
                <a16:creationId xmlns:a16="http://schemas.microsoft.com/office/drawing/2014/main" id="{A0EB6B31-376D-471E-A0CE-1402D4AB4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3951"/>
            <a:ext cx="10515600" cy="41830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cs-CZ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cs-CZ" dirty="0">
                <a:ea typeface="+mn-lt"/>
                <a:cs typeface="+mn-lt"/>
              </a:rPr>
              <a:t>EDAZ – dává reálný obrázek o platbách poplatků a procesů s tím spojených</a:t>
            </a:r>
          </a:p>
          <a:p>
            <a:pPr marL="0" indent="0">
              <a:buNone/>
            </a:pPr>
            <a:endParaRPr lang="cs-CZ" dirty="0">
              <a:cs typeface="Calibri"/>
            </a:endParaRPr>
          </a:p>
          <a:p>
            <a:pPr marL="0" indent="0">
              <a:buNone/>
            </a:pPr>
            <a:r>
              <a:rPr lang="cs-CZ" dirty="0">
                <a:cs typeface="Calibri"/>
              </a:rPr>
              <a:t>Problémem není příjem finančních prostředků, zprostředkování, samotná platební brána, ale účet na který platba směřuje a možnosti disponovat s informacemi o tomto účtu, s tímto účtem a s prostředky na něm.</a:t>
            </a:r>
          </a:p>
          <a:p>
            <a:pPr marL="0" indent="0">
              <a:buNone/>
            </a:pPr>
            <a:r>
              <a:rPr lang="cs-CZ" dirty="0">
                <a:cs typeface="Calibri"/>
              </a:rPr>
              <a:t>Nutné vedení vedlejší účetní knihy v daném IS a přenos agregovaných dat do hlavní knihy každé dotčené organizace.</a:t>
            </a:r>
          </a:p>
          <a:p>
            <a:pPr marL="0" indent="0">
              <a:buNone/>
            </a:pPr>
            <a:endParaRPr lang="cs-CZ" dirty="0">
              <a:cs typeface="Calibri"/>
            </a:endParaRPr>
          </a:p>
          <a:p>
            <a:pPr marL="0" indent="0">
              <a:buNone/>
            </a:pPr>
            <a:r>
              <a:rPr lang="cs-CZ" dirty="0">
                <a:cs typeface="Calibri"/>
              </a:rPr>
              <a:t>Správní poplatek jakékoli agendy bude generovat podobné problémy, jako EDAZ. </a:t>
            </a:r>
          </a:p>
          <a:p>
            <a:pPr marL="914400" lvl="1"/>
            <a:endParaRPr lang="cs-CZ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0234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7A5F1A-51A0-427A-800A-C00E49BF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2243"/>
            <a:ext cx="10515600" cy="754464"/>
          </a:xfrm>
        </p:spPr>
        <p:txBody>
          <a:bodyPr>
            <a:normAutofit/>
          </a:bodyPr>
          <a:lstStyle/>
          <a:p>
            <a:r>
              <a:rPr lang="cs-CZ" dirty="0">
                <a:latin typeface="Calibri" panose="020F0502020204030204" pitchFamily="34" charset="0"/>
                <a:cs typeface="Calibri" panose="020F0502020204030204" pitchFamily="34" charset="0"/>
              </a:rPr>
              <a:t>Možnosti řešení správních poplatků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71A86921-7F91-4572-9FDD-71EFFD25A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6707"/>
            <a:ext cx="10515600" cy="468409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457200" indent="-457200">
              <a:buAutoNum type="arabicPeriod"/>
            </a:pPr>
            <a:r>
              <a:rPr lang="cs-CZ" dirty="0"/>
              <a:t>Na místě (ORP nebo kraji) </a:t>
            </a:r>
          </a:p>
          <a:p>
            <a:pPr lvl="1"/>
            <a:r>
              <a:rPr lang="cs-CZ" dirty="0"/>
              <a:t>Popírá digitalizaci (možná pouze částečná - platba při převzetí – neseme riziko, že nikdo nevyzvedne)</a:t>
            </a:r>
            <a:endParaRPr lang="cs-CZ" dirty="0">
              <a:cs typeface="Calibri"/>
            </a:endParaRPr>
          </a:p>
          <a:p>
            <a:pPr marL="457200" indent="-457200">
              <a:buAutoNum type="arabicPeriod"/>
            </a:pPr>
            <a:r>
              <a:rPr lang="cs-CZ" dirty="0"/>
              <a:t>Zrušením správních poplatků (nepřijatelné pro rozpočet i zneužívání systému)</a:t>
            </a:r>
          </a:p>
          <a:p>
            <a:pPr lvl="1"/>
            <a:r>
              <a:rPr lang="cs-CZ" dirty="0"/>
              <a:t>Možné řešení částečným zrušením správních poplatků, tím ale problém nezmizí, jen se zmenší</a:t>
            </a:r>
          </a:p>
          <a:p>
            <a:pPr lvl="2"/>
            <a:r>
              <a:rPr lang="cs-CZ" dirty="0">
                <a:cs typeface="Calibri" panose="020F0502020204030204"/>
              </a:rPr>
              <a:t>Rušit poplatky do určité hodnoty / do určitého počtu? </a:t>
            </a:r>
          </a:p>
          <a:p>
            <a:pPr marL="457200" indent="-457200">
              <a:buAutoNum type="arabicPeriod"/>
            </a:pPr>
            <a:r>
              <a:rPr lang="cs-CZ" dirty="0"/>
              <a:t>Správní poplatky směřovat na centrální (státní) účet</a:t>
            </a:r>
          </a:p>
          <a:p>
            <a:pPr lvl="1"/>
            <a:r>
              <a:rPr lang="cs-CZ" dirty="0">
                <a:cs typeface="Calibri" panose="020F0502020204030204"/>
              </a:rPr>
              <a:t>Rozdělení řešit v rámci rozpočtu? Přijatelné / nepřijatelné pro ORP / kraje</a:t>
            </a:r>
          </a:p>
          <a:p>
            <a:pPr marL="457200" indent="-457200">
              <a:buAutoNum type="arabicPeriod"/>
            </a:pPr>
            <a:r>
              <a:rPr lang="cs-CZ" dirty="0"/>
              <a:t>Správní poplatky směřovat na účet MD a rozdělovat podle řešených případů</a:t>
            </a:r>
          </a:p>
          <a:p>
            <a:pPr lvl="1"/>
            <a:r>
              <a:rPr lang="cs-CZ" dirty="0">
                <a:cs typeface="Calibri"/>
              </a:rPr>
              <a:t>N</a:t>
            </a:r>
            <a:r>
              <a:rPr lang="cs-CZ" dirty="0">
                <a:ea typeface="+mn-lt"/>
                <a:cs typeface="+mn-lt"/>
              </a:rPr>
              <a:t>áročné pro zpracování souvisejících operací (finanční toky)</a:t>
            </a:r>
          </a:p>
          <a:p>
            <a:pPr marL="457200" indent="-457200">
              <a:buAutoNum type="arabicPeriod"/>
            </a:pPr>
            <a:r>
              <a:rPr lang="cs-CZ" dirty="0"/>
              <a:t>Zřídit a vést účet pro ORP nebo kraj</a:t>
            </a:r>
          </a:p>
          <a:p>
            <a:pPr lvl="1"/>
            <a:r>
              <a:rPr lang="cs-CZ" dirty="0"/>
              <a:t>Přístup k výpisům z účtů</a:t>
            </a:r>
            <a:endParaRPr lang="cs-CZ" dirty="0">
              <a:cs typeface="Calibri"/>
            </a:endParaRPr>
          </a:p>
          <a:p>
            <a:pPr lvl="1"/>
            <a:r>
              <a:rPr lang="cs-CZ" dirty="0"/>
              <a:t>Nutná možnost procesovat finanční toky (vratky) – problém předběžné finanční kontroly</a:t>
            </a:r>
            <a:endParaRPr lang="cs-CZ" dirty="0">
              <a:cs typeface="Calibri"/>
            </a:endParaRPr>
          </a:p>
          <a:p>
            <a:pPr marL="457200" indent="-457200">
              <a:buAutoNum type="arabicPeriod"/>
            </a:pPr>
            <a:r>
              <a:rPr lang="cs-CZ" dirty="0">
                <a:cs typeface="Calibri"/>
              </a:rPr>
              <a:t>Stávající účty každého ORP či kraje, včetně zajištění platební brány ze strany ORP / kraje</a:t>
            </a:r>
          </a:p>
          <a:p>
            <a:pPr lvl="1"/>
            <a:r>
              <a:rPr lang="cs-CZ" dirty="0">
                <a:cs typeface="Calibri"/>
              </a:rPr>
              <a:t>Prakticky nereálné, neřešitelné (velmi obtížně řešitelné) vratky, párování plateb</a:t>
            </a:r>
          </a:p>
          <a:p>
            <a:pPr lvl="1"/>
            <a:r>
              <a:rPr lang="cs-CZ" dirty="0">
                <a:cs typeface="Calibri"/>
              </a:rPr>
              <a:t>Přenesení zodpovědnosti za finanční toky na ORP/kraj</a:t>
            </a:r>
          </a:p>
          <a:p>
            <a:pPr lvl="1"/>
            <a:r>
              <a:rPr lang="cs-CZ" dirty="0">
                <a:cs typeface="Calibri"/>
              </a:rPr>
              <a:t>Nutnost zajistit přenos informace o platbě</a:t>
            </a:r>
          </a:p>
          <a:p>
            <a:pPr lvl="1"/>
            <a:r>
              <a:rPr lang="cs-CZ" dirty="0">
                <a:cs typeface="Calibri"/>
              </a:rPr>
              <a:t>Nejistá odpovědnost za celý proces</a:t>
            </a:r>
          </a:p>
        </p:txBody>
      </p:sp>
    </p:spTree>
    <p:extLst>
      <p:ext uri="{BB962C8B-B14F-4D97-AF65-F5344CB8AC3E}">
        <p14:creationId xmlns:p14="http://schemas.microsoft.com/office/powerpoint/2010/main" val="2763538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F3370D-02F6-451D-A8C1-6A1CC16DD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50198"/>
            <a:ext cx="9144000" cy="962306"/>
          </a:xfrm>
        </p:spPr>
        <p:txBody>
          <a:bodyPr/>
          <a:lstStyle/>
          <a:p>
            <a:r>
              <a:rPr lang="cs-CZ" dirty="0"/>
              <a:t>Kdo pomůže / rozhodne?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79467DF-3E5A-49DA-993F-47876F00A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45492"/>
            <a:ext cx="9144000" cy="2712307"/>
          </a:xfrm>
        </p:spPr>
        <p:txBody>
          <a:bodyPr/>
          <a:lstStyle/>
          <a:p>
            <a:pPr algn="l"/>
            <a:r>
              <a:rPr lang="cs-CZ" dirty="0"/>
              <a:t>Proces digitalizace přináší nové situace k řešení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dirty="0"/>
              <a:t>Týkají se více většiny rezortů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dirty="0"/>
              <a:t>Mělo by existovat jednotné řešení</a:t>
            </a:r>
          </a:p>
          <a:p>
            <a:pPr algn="l"/>
            <a:endParaRPr lang="cs-CZ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94583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7A5F1A-51A0-427A-800A-C00E49BF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1446"/>
            <a:ext cx="10515600" cy="715107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latin typeface="Calibri" panose="020F0502020204030204" pitchFamily="34" charset="0"/>
                <a:cs typeface="Calibri" panose="020F0502020204030204" pitchFamily="34" charset="0"/>
              </a:rPr>
              <a:t>Děkujeme Vám za pozornost</a:t>
            </a:r>
          </a:p>
        </p:txBody>
      </p:sp>
    </p:spTree>
    <p:extLst>
      <p:ext uri="{BB962C8B-B14F-4D97-AF65-F5344CB8AC3E}">
        <p14:creationId xmlns:p14="http://schemas.microsoft.com/office/powerpoint/2010/main" val="351470793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Vlastní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29306D"/>
      </a:accent2>
      <a:accent3>
        <a:srgbClr val="A5A5A5"/>
      </a:accent3>
      <a:accent4>
        <a:srgbClr val="FF0000"/>
      </a:accent4>
      <a:accent5>
        <a:srgbClr val="FEFFFE"/>
      </a:accent5>
      <a:accent6>
        <a:srgbClr val="9BC5EA"/>
      </a:accent6>
      <a:hlink>
        <a:srgbClr val="28306C"/>
      </a:hlink>
      <a:folHlink>
        <a:srgbClr val="698DB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1D1033-742D-4640-9991-8C31B1B3F7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0D94A5-5624-4009-B631-70DF4EE6AC28}">
  <ds:schemaRefs>
    <ds:schemaRef ds:uri="http://schemas.microsoft.com/office/2006/metadata/properties"/>
    <ds:schemaRef ds:uri="92a72c98-bd6a-40bc-b0bd-8bc800312a0f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AB2B7A0-6D5E-48F8-80D9-F513110F7910}"/>
</file>

<file path=docProps/app.xml><?xml version="1.0" encoding="utf-8"?>
<Properties xmlns="http://schemas.openxmlformats.org/officeDocument/2006/extended-properties" xmlns:vt="http://schemas.openxmlformats.org/officeDocument/2006/docPropsVTypes">
  <TotalTime>12500</TotalTime>
  <Words>1778</Words>
  <Application>Microsoft Office PowerPoint</Application>
  <PresentationFormat>Širokoúhlá obrazovka</PresentationFormat>
  <Paragraphs>152</Paragraphs>
  <Slides>15</Slides>
  <Notes>5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18" baseType="lpstr">
      <vt:lpstr>Arial</vt:lpstr>
      <vt:lpstr>Calibri</vt:lpstr>
      <vt:lpstr>Motiv Office</vt:lpstr>
      <vt:lpstr>Elektronická dálniční známka, její úhrada a finanční toky</vt:lpstr>
      <vt:lpstr>Legislativa a základní princip fungování</vt:lpstr>
      <vt:lpstr>E-SHOP  www.edalnice.cz</vt:lpstr>
      <vt:lpstr>Distribuce</vt:lpstr>
      <vt:lpstr>Kiosky</vt:lpstr>
      <vt:lpstr>Úhrada časového poplatku</vt:lpstr>
      <vt:lpstr>Účet u ČNB</vt:lpstr>
      <vt:lpstr>Zaúčtování a řešené problémy</vt:lpstr>
      <vt:lpstr>Agendové funkce</vt:lpstr>
      <vt:lpstr>Náklady</vt:lpstr>
      <vt:lpstr>Aplikace zkušeností do jiných agend</vt:lpstr>
      <vt:lpstr>Problémy spojené s úhradou poplatku</vt:lpstr>
      <vt:lpstr>Možnosti řešení správních poplatků</vt:lpstr>
      <vt:lpstr>Kdo pomůže / rozhodne?</vt:lpstr>
      <vt:lpstr>Děkujeme Vám za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SYSTÉM NÁRODNÍHO TARIFU  Koncepce</dc:title>
  <dc:creator>Václav Henzl</dc:creator>
  <cp:lastModifiedBy>Paroubek Jan Ing.</cp:lastModifiedBy>
  <cp:revision>381</cp:revision>
  <cp:lastPrinted>2017-11-20T17:29:22Z</cp:lastPrinted>
  <dcterms:created xsi:type="dcterms:W3CDTF">2017-02-09T09:32:29Z</dcterms:created>
  <dcterms:modified xsi:type="dcterms:W3CDTF">2021-10-04T13:19:37Z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0x010100E9AEB83A636D584A98B40D13138E9B32</vt:lpwstr>
  </property>
</Properties>
</file>
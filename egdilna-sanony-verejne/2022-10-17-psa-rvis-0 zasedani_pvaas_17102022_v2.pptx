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7" r:id="rId5"/>
    <p:sldId id="260" r:id="rId6"/>
    <p:sldId id="261" r:id="rId7"/>
    <p:sldId id="259" r:id="rId8"/>
    <p:sldId id="285" r:id="rId9"/>
    <p:sldId id="274" r:id="rId10"/>
    <p:sldId id="275" r:id="rId11"/>
    <p:sldId id="276" r:id="rId12"/>
    <p:sldId id="269" r:id="rId13"/>
    <p:sldId id="300" r:id="rId14"/>
    <p:sldId id="301" r:id="rId15"/>
    <p:sldId id="302" r:id="rId16"/>
    <p:sldId id="304" r:id="rId17"/>
    <p:sldId id="305" r:id="rId18"/>
    <p:sldId id="303" r:id="rId19"/>
    <p:sldId id="299" r:id="rId20"/>
    <p:sldId id="288" r:id="rId21"/>
    <p:sldId id="294" r:id="rId22"/>
    <p:sldId id="289" r:id="rId23"/>
    <p:sldId id="290" r:id="rId24"/>
    <p:sldId id="295" r:id="rId25"/>
    <p:sldId id="296" r:id="rId26"/>
    <p:sldId id="297" r:id="rId27"/>
    <p:sldId id="298" r:id="rId28"/>
    <p:sldId id="272" r:id="rId29"/>
    <p:sldId id="287" r:id="rId30"/>
    <p:sldId id="270" r:id="rId3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0" y="4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smtClean="0"/>
              <a:t>Kliknutím můžete upravit styl předlohy.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17.10.2022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00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17.10.2022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153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17.10.2022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040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17.10.2022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645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17.10.2022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714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17.10.2022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981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17.10.2022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850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17.10.2022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973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17.10.2022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017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17.10.2022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90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17.10.2022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462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EB83-090E-473B-B959-92A4B5275361}" type="datetimeFigureOut">
              <a:rPr lang="cs-CZ" smtClean="0"/>
              <a:pPr/>
              <a:t>17.10.2022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90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znalostni_baze:aisp_editace_verejnych_udaju" TargetMode="External"/><Relationship Id="rId2" Type="http://schemas.openxmlformats.org/officeDocument/2006/relationships/hyperlink" Target="https://archi.gov.cz/znalostni_baze:prace_s_klientem?do=diff&amp;rev2%5B0%5D=1656075380&amp;rev2%5B1%5D=1663921636&amp;difftype=sidebysid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chi.gov.cz/nap:mandat?do=diff&amp;rev2%5B0%5D=1661331152&amp;rev2%5B1%5D=1663932887&amp;difftype=sidebyside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diskuz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vcr.cz/clanek/atestace-elektronickych-systemu-spisovych-sluzeb.aspx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432857" y="5620012"/>
            <a:ext cx="8533612" cy="954107"/>
          </a:xfrm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odbor Hlavního architekta eGovernmentu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2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Ministerstvo vnitra ČR</a:t>
            </a:r>
          </a:p>
        </p:txBody>
      </p:sp>
      <p:sp>
        <p:nvSpPr>
          <p:cNvPr id="5" name="Obdélník 4"/>
          <p:cNvSpPr/>
          <p:nvPr/>
        </p:nvSpPr>
        <p:spPr>
          <a:xfrm>
            <a:off x="1122174" y="611598"/>
            <a:ext cx="9649072" cy="34163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/>
            </a:r>
            <a:b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54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cs-CZ" sz="5400" b="1" i="0" u="none" strike="noStrike" kern="1200" cap="none" spc="0" normalizeH="0" baseline="0" noProof="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Zasedání</a:t>
            </a:r>
            <a:r>
              <a:rPr kumimoji="0" lang="cs-CZ" sz="5400" b="1" i="0" u="none" strike="noStrike" kern="1200" cap="none" spc="0" normalizeH="0" noProof="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pracovní skupiny pro architekturu a řízení ICT</a:t>
            </a:r>
            <a: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/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/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2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lang="cs-CZ" sz="32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kumimoji="0" lang="cs-CZ" sz="3200" b="1" i="0" u="none" strike="noStrike" kern="1200" cap="none" spc="0" normalizeH="0" baseline="0" noProof="0" dirty="0" err="1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asedání</a:t>
            </a:r>
            <a:r>
              <a:rPr kumimoji="0" lang="cs-CZ" sz="3200" b="1" i="0" u="none" strike="noStrike" kern="1200" cap="none" spc="0" normalizeH="0" baseline="0" noProof="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17. 10. 2022</a:t>
            </a:r>
            <a:endParaRPr kumimoji="0" lang="cs-CZ" sz="3200" b="1" i="0" u="none" strike="noStrike" kern="1200" cap="none" spc="0" normalizeH="0" baseline="0" noProof="0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14458" y="1638431"/>
            <a:ext cx="8811491" cy="1754326"/>
          </a:xfr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54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028305" y="237608"/>
            <a:ext cx="8587048" cy="707886"/>
          </a:xfr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Kontext naší PS v rámci RVIS</a:t>
            </a:r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372" y="1084024"/>
            <a:ext cx="8814981" cy="577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>
            <a:normAutofit fontScale="90000"/>
          </a:bodyPr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843248" y="30612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Agenda</a:t>
            </a:r>
            <a:endParaRPr lang="en-US" sz="4000" b="1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55112" y="1228855"/>
            <a:ext cx="1152127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8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8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cs-CZ" sz="2800" dirty="0" smtClean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8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28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Změny v Národní architektuře eGovernmentu </a:t>
            </a:r>
            <a:r>
              <a:rPr lang="cs-CZ" sz="2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</a:t>
            </a:r>
            <a:r>
              <a:rPr lang="cs-CZ" sz="28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Šedivec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DTM ČR </a:t>
            </a:r>
            <a:r>
              <a:rPr lang="cs-CZ" sz="28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Kraj Vysočina a ČÚZK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Atestace spisových služeb – </a:t>
            </a:r>
            <a:r>
              <a:rPr lang="cs-CZ" sz="28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MVČR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Využívání služeb eGov u veřejných vysokých škol – </a:t>
            </a:r>
            <a:r>
              <a:rPr lang="cs-CZ" sz="28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ZČU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IROP a usnesení vlády č. 831/2022 –</a:t>
            </a:r>
            <a:r>
              <a:rPr lang="cs-CZ" sz="28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MVČR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8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Otázky </a:t>
            </a:r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nejasnosti členů pracovní skupiny – </a:t>
            </a:r>
            <a:r>
              <a:rPr lang="cs-CZ" sz="28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</a:t>
            </a:r>
            <a:r>
              <a:rPr lang="cs-CZ" sz="28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Š</a:t>
            </a:r>
            <a:r>
              <a:rPr lang="cs-CZ" sz="28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edivec</a:t>
            </a:r>
            <a:endParaRPr lang="cs-CZ" sz="2800" dirty="0">
              <a:ln>
                <a:solidFill>
                  <a:schemeClr val="bg1"/>
                </a:solidFill>
              </a:ln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/>
            <a:endParaRPr lang="cs-CZ" sz="2800" dirty="0">
              <a:ln>
                <a:solidFill>
                  <a:schemeClr val="bg1"/>
                </a:solidFill>
              </a:ln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cs-CZ" sz="28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cs-CZ" sz="28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Závěr</a:t>
            </a:r>
            <a:r>
              <a:rPr lang="cs-CZ" sz="28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4946" y="1889852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756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77923" y="877078"/>
            <a:ext cx="11296691" cy="5770857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Viz také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</a:t>
            </a:r>
            <a:r>
              <a:rPr lang="cs-CZ" b="1" u="sng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archi.gov.cz/vyhledavani:changelog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Oznámení výkonu agendy soukromoprávním uživatelem údajů (SPUÚ</a:t>
            </a:r>
            <a:r>
              <a:rPr lang="cs-CZ" sz="29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) </a:t>
            </a:r>
            <a:r>
              <a:rPr lang="cs-CZ" sz="2900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</a:t>
            </a:r>
            <a:r>
              <a:rPr lang="cs-CZ" sz="2900" b="1" u="sng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archi.gov.cz/znalostni_baze:aisp_oznameni_vykonu_agendy_spuu</a:t>
            </a:r>
          </a:p>
          <a:p>
            <a:pPr>
              <a:lnSpc>
                <a:spcPct val="120000"/>
              </a:lnSpc>
            </a:pPr>
            <a:r>
              <a:rPr lang="pl-PL" sz="29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Stručný návod na aktualizaci oprávnění na </a:t>
            </a:r>
            <a:r>
              <a:rPr lang="pl-PL" sz="2900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údaje </a:t>
            </a:r>
            <a:r>
              <a:rPr lang="cs-CZ" sz="2900" b="1" u="sng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https://archi.gov.cz/znalostni_baze:aisp_editace_opravneni  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Práce s klientem veřejné správy na portálu 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2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2"/>
              </a:rPr>
              <a:t>archi.gov.cz/znalostni_baze:prace_s_klientem?do=diff&amp;rev2%5B0%5D=1656075380&amp;rev2%5B1%5D=1663921636&amp;difftype=sidebyside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   </a:t>
            </a: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Stručný </a:t>
            </a: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návod na aktualizaci ohlášení využití veřejných údajů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3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3"/>
              </a:rPr>
              <a:t>archi.gov.cz/znalostni_baze:aisp_editace_verejnych_udaju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  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Mandáty/zastupování a role v elektronické komunikaci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4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4"/>
              </a:rPr>
              <a:t>archi.gov.cz/nap:mandat?do=diff&amp;rev2%5B0%5D=1661331152&amp;rev2%5B1%5D=1663932887&amp;difftype=sidebyside</a:t>
            </a:r>
            <a:endParaRPr lang="cs-CZ" sz="2900" b="1" dirty="0" smtClean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04381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2118049"/>
            <a:ext cx="10515600" cy="4814596"/>
          </a:xfrm>
        </p:spPr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Poslední seznam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 jednomyslně schválen 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usnesením RVIS 2022/4/29/U5</a:t>
            </a:r>
          </a:p>
          <a:p>
            <a:pPr marL="0" indent="0">
              <a:buNone/>
            </a:pP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Nadále budou změny schvalovány v hierarchii RVIS: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Pracovní skupina pro architekturu a řízení ICT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Pracovní výbor pro efektivní a centrálně koordinované ICT veřejné správy 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Výkonný výbor Informační koncepce ČR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Plenární zasedání RVIS</a:t>
            </a:r>
            <a:endParaRPr lang="cs-CZ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28221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Diskutuje s námi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611021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Pravidla diskuze na konci každé stránky:</a:t>
            </a:r>
          </a:p>
          <a:p>
            <a:pPr lvl="1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Dotazy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se musí týkat dané stránky. Pokud Váš dotaz se stránkou nesouvisí a nenašli jste potřebné informace pomocí vyhledávání, založte prosím nové diskuzní vlákno ve speciální části webu 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2"/>
              </a:rPr>
              <a:t>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https://archi.gov.cz/diskuze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Pravidla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diskuze ve speciální části </a:t>
            </a: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webu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https://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archi.gov.cz/diskuze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  <a:endParaRPr lang="cs-CZ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lvl="1"/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Diskutujte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v rámci založené diskuze. Pokud Váš příspěvek s vláknem nesouvisí, založte prosím nové diskuzní vlákno.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Pokud zakládáte nové vlákno, nezapomeňte ho pojmenovat. Název by měl souviset s Vaším dotazem.</a:t>
            </a:r>
          </a:p>
          <a:p>
            <a:endParaRPr lang="cs-CZ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77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039140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DTM ČR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677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039140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Atestace spisových služeb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532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Atestace spisových služeb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Zástupný symbol pro obsah 2"/>
          <p:cNvSpPr txBox="1">
            <a:spLocks/>
          </p:cNvSpPr>
          <p:nvPr/>
        </p:nvSpPr>
        <p:spPr>
          <a:xfrm>
            <a:off x="829962" y="1550504"/>
            <a:ext cx="10515600" cy="482103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ejaktuálnější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informace k atestům eSSL, které byly odborné veřejnosti prezentovány dne 19. 9. 2022 na semináři pod záštitou MV: https://www.mvcr.cz/</a:t>
            </a:r>
            <a:r>
              <a:rPr lang="cs-CZ" b="1" dirty="0" err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clanek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/podklady-ze-seminare-atestace-elektronickych-systemu-spisove-sluzby-a-souvisejici-legislativni-zmeny-spisove-sluzby-konaneho-dne-19-zari-2022.aspx. </a:t>
            </a:r>
          </a:p>
          <a:p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Další aktuální informace budeme zveřejňovat průběžně na webových stránkách MV v odkazu: </a:t>
            </a:r>
            <a:r>
              <a:rPr lang="cs-CZ" b="1" dirty="0">
                <a:ln>
                  <a:solidFill>
                    <a:schemeClr val="bg1"/>
                  </a:solidFill>
                </a:ln>
                <a:hlinkClick r:id="rId2"/>
              </a:rPr>
              <a:t>https://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hlinkClick r:id="rId2"/>
              </a:rPr>
              <a:t>www.mvcr.cz/clanek/atestace-elektronickych-systemu-spisovych-sluzeb.aspx</a:t>
            </a: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 </a:t>
            </a:r>
            <a:endParaRPr lang="cs-CZ" b="1" dirty="0">
              <a:ln>
                <a:solidFill>
                  <a:schemeClr val="bg1"/>
                </a:solidFill>
              </a:ln>
            </a:endParaRPr>
          </a:p>
          <a:p>
            <a:endParaRPr lang="cs-CZ" b="1" dirty="0">
              <a:ln>
                <a:solidFill>
                  <a:schemeClr val="bg1"/>
                </a:solidFill>
              </a:ln>
            </a:endParaRP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Bude-li to žádoucí, </a:t>
            </a: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dostaví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se </a:t>
            </a: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zástupci OASS na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některé z jednání pracovní </a:t>
            </a: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skupiny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k závěru letošního roku, kdy </a:t>
            </a: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budou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ujasněny některé podstatné detaily pro atestace eSSL, na kterých se teprve pracuje.</a:t>
            </a:r>
          </a:p>
          <a:p>
            <a:endParaRPr lang="cs-CZ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433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Atestace spisových služeb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Zástupný symbol pro obsah 2"/>
          <p:cNvSpPr txBox="1">
            <a:spLocks/>
          </p:cNvSpPr>
          <p:nvPr/>
        </p:nvSpPr>
        <p:spPr>
          <a:xfrm>
            <a:off x="829962" y="1550504"/>
            <a:ext cx="10515600" cy="48210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Zákon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č. 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89/2022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Sb., 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odkládá 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účinnost pravidel atestace elektronických systémů spisové služby na 1. červenec 2023 a zároveň odkládá účinnost povinnosti vykonávat spisovou službu v atestovaných elektronických systémech spisové služby na 1. leden 2026. </a:t>
            </a:r>
            <a:endParaRPr lang="cs-CZ" b="1" dirty="0" smtClean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Ministerstvo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vnitra podle tohoto zákona připraví nová pravidla atestace elektronických systémů spisových služeb do 31. ledna 2023.</a:t>
            </a:r>
            <a:endParaRPr lang="cs-CZ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03675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Harmonogram </a:t>
            </a:r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úpravy </a:t>
            </a:r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vyhlášky č. 259/2012 Sb</a:t>
            </a:r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</a:t>
            </a:r>
            <a:endParaRPr lang="cs-CZ" sz="40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Zástupný symbol pro obsah 2"/>
          <p:cNvSpPr txBox="1">
            <a:spLocks/>
          </p:cNvSpPr>
          <p:nvPr/>
        </p:nvSpPr>
        <p:spPr>
          <a:xfrm>
            <a:off x="909734" y="1877076"/>
            <a:ext cx="10515600" cy="482103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Červenec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– zveřejnění první části nového znění NSESSS odborné veřejnosti k náhledu a k připomínkám.</a:t>
            </a:r>
          </a:p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Srpen – dokončení novely vyhlášky č. 259/2012 Sb.; konzultace legislativních úprav s vybranými veřejnoprávními původci a dodavateli, výrobci eSSL.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Září – připomínkové řízení k vyhlášce č. 259/2012 Sb.; zpracování připomínek odborné veřejnosti k NSESSS.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Říjen – schvalovací proces novely vyhlášky č. 259/2012 Sb.; finalizace NSESSS; tvorba atestačních pravidel.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Listopad – dokončení procesních úkonů v přípravě nové legislativy; tvorba atestačních pravidel.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Prosinec – zveřejnění novely vyhlášky č. 259/2012 Sb. a nového NSESSS; tvorba atestačních pravidel.</a:t>
            </a:r>
          </a:p>
        </p:txBody>
      </p:sp>
    </p:spTree>
    <p:extLst>
      <p:ext uri="{BB962C8B-B14F-4D97-AF65-F5344CB8AC3E}">
        <p14:creationId xmlns:p14="http://schemas.microsoft.com/office/powerpoint/2010/main" val="3702748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Harmonogram </a:t>
            </a:r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atestace</a:t>
            </a:r>
            <a:endParaRPr lang="cs-CZ" sz="40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Zástupný symbol pro obsah 2"/>
          <p:cNvSpPr txBox="1">
            <a:spLocks/>
          </p:cNvSpPr>
          <p:nvPr/>
        </p:nvSpPr>
        <p:spPr>
          <a:xfrm>
            <a:off x="909734" y="1924998"/>
            <a:ext cx="10515600" cy="482103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31. ledna 2023</a:t>
            </a:r>
          </a:p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 tohoto data je Ministerstvo vnitra povinno stanovit a publikovat postup atestačního střediska 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při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provádění atestace 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podmínky provádění atestace a výši úplaty za provedení atestace.</a:t>
            </a:r>
          </a:p>
          <a:p>
            <a:pPr marL="0" indent="0"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1. července 2023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Účinnost ustanovení upravujícího samotný proces atestací elektronických systémů spisové </a:t>
            </a: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služby. Od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tohoto data bude zahájeno atestování elektronických systémů spisové služby.</a:t>
            </a:r>
          </a:p>
          <a:p>
            <a:pPr marL="0" indent="0">
              <a:buNone/>
            </a:pPr>
            <a:r>
              <a:rPr lang="cs-CZ" b="1" dirty="0">
                <a:ln>
                  <a:solidFill>
                    <a:schemeClr val="bg1"/>
                  </a:solidFill>
                </a:ln>
              </a:rPr>
              <a:t>1. července 2024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Od tohoto data se zakazuje nabízet nebo dodávat elektronický systém spisové služby, který nesplňuje požadavky právních předpisů </a:t>
            </a: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a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u kterého není splnění těchto požadavků potvrzeno atestem </a:t>
            </a: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1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. ledna 2026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Od tohoto data budou veřejnoprávní původci povinni vykonávat spisovou službu výlučně v elektronické podobě a výlučně v atestovaných elektronických systémech spisové služby.</a:t>
            </a:r>
          </a:p>
        </p:txBody>
      </p:sp>
    </p:spTree>
    <p:extLst>
      <p:ext uri="{BB962C8B-B14F-4D97-AF65-F5344CB8AC3E}">
        <p14:creationId xmlns:p14="http://schemas.microsoft.com/office/powerpoint/2010/main" val="29090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Stanovisko ÚOHS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Zástupný symbol pro obsah 2"/>
          <p:cNvSpPr txBox="1">
            <a:spLocks/>
          </p:cNvSpPr>
          <p:nvPr/>
        </p:nvSpPr>
        <p:spPr>
          <a:xfrm>
            <a:off x="801970" y="1447868"/>
            <a:ext cx="10515600" cy="482103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 případech, kdy již je zadávací řízení zahájeno (tzn. před 1. 2. 2022), by měli zadavatelé zohlednit, zda je ještě možno přistoupit ke změně zadávací dokumentace (viz § 99 ZZVZ) tak, aby stanovené zadávací podmínky reflektovaly předmětnou změnu v zákonu o archivnictví či zda jsou naplněny důvody pro zrušení zadávacího řízení (viz § 127 ZZVZ), typicky za situace, kdy již není možno přistoupit ke změně zadávacích podmínek. V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souvislosti s případnými </a:t>
            </a: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kroky zadavatelů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spočívajících ve zrušení zadávacího řízení je nezbytné reflektovat to, že ke zrušení zadávacího řízení dle § 127 odst. 2 písm. d) ZZVZ je možno přistoupit pouze za situace, když se důvody hodné zvláštního zřetele vyskytly v průběhu zadávacího řízení.</a:t>
            </a:r>
          </a:p>
          <a:p>
            <a:r>
              <a:rPr lang="cs-CZ" b="1" dirty="0">
                <a:ln>
                  <a:solidFill>
                    <a:schemeClr val="bg1"/>
                  </a:solidFill>
                </a:ln>
              </a:rPr>
              <a:t>Zadavatelé, kteří teprve budou zahajovat zadávací řízení (tzn. po 1. 2. 2022) by již měli zadávací podmínky přizpůsobit právě podmínkám stanoveným v § 69e zákona o archivnictví. K tomu viz i shora uvedené informace v tomto doporučení</a:t>
            </a: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.</a:t>
            </a:r>
            <a:endParaRPr lang="cs-CZ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325798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039140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IROP a usnesení vlády č. 831/2022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85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IROP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788773" y="1741040"/>
            <a:ext cx="10515600" cy="4814596"/>
          </a:xfrm>
        </p:spPr>
        <p:txBody>
          <a:bodyPr/>
          <a:lstStyle/>
          <a:p>
            <a:pPr marL="0" indent="0">
              <a:buNone/>
            </a:pPr>
            <a:endParaRPr lang="cs-CZ" b="1" dirty="0">
              <a:ln>
                <a:solidFill>
                  <a:schemeClr val="bg1"/>
                </a:solidFill>
              </a:ln>
            </a:endParaRPr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034" y="1524452"/>
            <a:ext cx="9279077" cy="524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90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IROP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1" name="Zástupný symbol pro obsah 10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730" y="1690688"/>
            <a:ext cx="11694792" cy="417443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215377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IROP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Zástupný symbol pro obsah 2"/>
          <p:cNvSpPr txBox="1">
            <a:spLocks/>
          </p:cNvSpPr>
          <p:nvPr/>
        </p:nvSpPr>
        <p:spPr>
          <a:xfrm>
            <a:off x="829962" y="1550504"/>
            <a:ext cx="10515600" cy="48210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IROP</a:t>
            </a:r>
          </a:p>
          <a:p>
            <a:pPr lvl="1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Výzvy KYBEZ 3, 4 a 5 (29)</a:t>
            </a:r>
          </a:p>
          <a:p>
            <a:pPr lvl="1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Výzvy eGOV 8, 9, 10 a 11 </a:t>
            </a:r>
          </a:p>
          <a:p>
            <a:pPr lvl="1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Výzvy Neveřejné sítě 45, 46, 47</a:t>
            </a:r>
          </a:p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Důraz na procesní a organizační zajištění (byznys </a:t>
            </a: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architektura)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Důraz na plnění povinností zákona č. 365/2000 Sb. (IKČR, provozní dokumentace, IK, …)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Důraz na plnění povinností zákona č. 111/2009 Sb. (vyplněnost RPP, agendy, rejstřík ISVS, …) 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Důraz na plnění povinností zákona č. 12/2020 Sb. včetně Digitálního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Č</a:t>
            </a: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eska</a:t>
            </a:r>
          </a:p>
          <a:p>
            <a:endParaRPr lang="cs-CZ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02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Usnesení </a:t>
            </a:r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vlády č. 831/2022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Zástupný symbol pro obsah 2"/>
          <p:cNvSpPr txBox="1">
            <a:spLocks/>
          </p:cNvSpPr>
          <p:nvPr/>
        </p:nvSpPr>
        <p:spPr>
          <a:xfrm>
            <a:off x="909734" y="188105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Usnesení vlády ze dne 5. října 2022 č. 831, kterým se mění usnesení vlády ze dne 27. ledna 2020 č. 86, </a:t>
            </a:r>
            <a:b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</a:br>
            <a:r>
              <a:rPr lang="cs-CZ" sz="3600" b="1" dirty="0">
                <a:ln>
                  <a:solidFill>
                    <a:schemeClr val="bg1"/>
                  </a:solidFill>
                </a:ln>
              </a:rPr>
              <a:t>o uložení povinností informovat vládu v souvislosti s výdaji v oblasti informačních a komunikačních technologií </a:t>
            </a:r>
            <a:endParaRPr lang="cs-CZ" sz="3600" b="1" dirty="0" smtClean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737149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Usnesení </a:t>
            </a:r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vlády č. 831/2022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Zástupný symbol pro obsah 2"/>
          <p:cNvSpPr txBox="1">
            <a:spLocks/>
          </p:cNvSpPr>
          <p:nvPr/>
        </p:nvSpPr>
        <p:spPr>
          <a:xfrm>
            <a:off x="909734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Platné a účinné od 5. října 2022.</a:t>
            </a:r>
          </a:p>
          <a:p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Nejedná se o nové UV, pouze o „novelu“ UV 86/2020.</a:t>
            </a:r>
          </a:p>
          <a:p>
            <a:r>
              <a:rPr lang="cs-CZ" sz="3600" b="1" dirty="0">
                <a:ln>
                  <a:solidFill>
                    <a:schemeClr val="bg1"/>
                  </a:solidFill>
                </a:ln>
              </a:rPr>
              <a:t>Došlo i ke změnám přílohy UV – Základní zásady postupu při posuzování záměrů výdajů v oblasti IKT.</a:t>
            </a:r>
          </a:p>
          <a:p>
            <a:pPr marL="0" indent="0">
              <a:buNone/>
            </a:pPr>
            <a:r>
              <a:rPr lang="cs-CZ" sz="3600" b="1" dirty="0" smtClean="0">
                <a:ln>
                  <a:solidFill>
                    <a:schemeClr val="bg1"/>
                  </a:solidFill>
                </a:ln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291052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Usnesení </a:t>
            </a:r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vlády č. 831/2022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Zástupný symbol pro obsah 2"/>
          <p:cNvSpPr txBox="1">
            <a:spLocks/>
          </p:cNvSpPr>
          <p:nvPr/>
        </p:nvSpPr>
        <p:spPr>
          <a:xfrm>
            <a:off x="909734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Nemění se: Ministerstva, ÚSÚ (včetně organizací nebo právnických osob, k nimž jimi řízený ústřední správní úřad plní funkci zakladatele nebo zřizovatele nebo které spadají do jeho působnosti, a podřízených organizačních složek státu – nově </a:t>
            </a:r>
            <a:r>
              <a:rPr lang="cs-CZ" sz="3600" b="1" dirty="0">
                <a:ln>
                  <a:solidFill>
                    <a:schemeClr val="bg1"/>
                  </a:solidFill>
                </a:ln>
              </a:rPr>
              <a:t>mohou žádat o posouzení projektu samostatně se souhlasem nadřízené organizace ).</a:t>
            </a:r>
          </a:p>
          <a:p>
            <a:r>
              <a:rPr lang="cs-CZ" sz="3600" b="1" dirty="0">
                <a:ln>
                  <a:solidFill>
                    <a:schemeClr val="bg1"/>
                  </a:solidFill>
                </a:ln>
              </a:rPr>
              <a:t>Z působnosti UV výslovně vyňaty ISVS, na které se nevtahuje zákon č. 365/2000 Sb., o ISVS (utajované informace, obrana státu, provozní ISVS</a:t>
            </a:r>
            <a:r>
              <a:rPr lang="cs-CZ" sz="3600" b="1" dirty="0" smtClean="0">
                <a:ln>
                  <a:solidFill>
                    <a:schemeClr val="bg1"/>
                  </a:solidFill>
                </a:ln>
              </a:rPr>
              <a:t>…). </a:t>
            </a:r>
          </a:p>
        </p:txBody>
      </p:sp>
    </p:spTree>
    <p:extLst>
      <p:ext uri="{BB962C8B-B14F-4D97-AF65-F5344CB8AC3E}">
        <p14:creationId xmlns:p14="http://schemas.microsoft.com/office/powerpoint/2010/main" val="1250023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Usnesení </a:t>
            </a:r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vlády č. 831/2022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Zástupný symbol pro obsah 2"/>
          <p:cNvSpPr txBox="1">
            <a:spLocks/>
          </p:cNvSpPr>
          <p:nvPr/>
        </p:nvSpPr>
        <p:spPr>
          <a:xfrm>
            <a:off x="909734" y="2110561"/>
            <a:ext cx="10515600" cy="47411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cs-CZ" sz="36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Informace </a:t>
            </a:r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 záměrech učinit výdaj v oblasti IKT směřují pouze na OHA MVČR, nikoli na vládu.</a:t>
            </a:r>
          </a:p>
          <a:p>
            <a:pPr marL="0" indent="0">
              <a:buNone/>
            </a:pPr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a) výdaje související s určeným ISVS – OHA vydává</a:t>
            </a:r>
            <a:r>
              <a:rPr lang="cs-CZ" sz="3600" b="1" dirty="0">
                <a:ln>
                  <a:solidFill>
                    <a:schemeClr val="bg1"/>
                  </a:solidFill>
                </a:ln>
              </a:rPr>
              <a:t> stanovisko ve lhůtě do 30 dnů (v odůvodněných případech 60 dnů)</a:t>
            </a:r>
          </a:p>
          <a:p>
            <a:pPr marL="0" indent="0">
              <a:buNone/>
            </a:pPr>
            <a:r>
              <a:rPr lang="cs-CZ" sz="3600" b="1" dirty="0">
                <a:ln>
                  <a:solidFill>
                    <a:schemeClr val="bg1"/>
                  </a:solidFill>
                </a:ln>
              </a:rPr>
              <a:t>b) ostatní výdaje </a:t>
            </a:r>
            <a:endParaRPr lang="cs-CZ" sz="3600" b="1" dirty="0" smtClean="0">
              <a:ln>
                <a:solidFill>
                  <a:schemeClr val="bg1"/>
                </a:solidFill>
              </a:ln>
            </a:endParaRPr>
          </a:p>
          <a:p>
            <a:pPr marL="457200" lvl="1" indent="0">
              <a:buNone/>
            </a:pPr>
            <a:r>
              <a:rPr lang="cs-CZ" sz="3200" b="1" dirty="0" smtClean="0">
                <a:ln>
                  <a:solidFill>
                    <a:schemeClr val="bg1"/>
                  </a:solidFill>
                </a:ln>
              </a:rPr>
              <a:t>– </a:t>
            </a: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rozhodný finanční limit zvýšen z 6mil. Kč na </a:t>
            </a:r>
            <a:r>
              <a:rPr lang="cs-CZ" sz="3200" b="1" dirty="0" smtClean="0">
                <a:ln>
                  <a:solidFill>
                    <a:schemeClr val="bg1"/>
                  </a:solidFill>
                </a:ln>
              </a:rPr>
              <a:t>20mil.Kč</a:t>
            </a:r>
          </a:p>
          <a:p>
            <a:pPr marL="457200" lvl="1" indent="0">
              <a:buNone/>
            </a:pPr>
            <a:r>
              <a:rPr lang="cs-CZ" sz="3200" b="1" dirty="0" smtClean="0">
                <a:ln>
                  <a:solidFill>
                    <a:schemeClr val="bg1"/>
                  </a:solidFill>
                </a:ln>
              </a:rPr>
              <a:t>– </a:t>
            </a: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OHA vydává vyjádření ve lhůtě do zpravidla 7 pracovních dnů, že není </a:t>
            </a:r>
            <a:r>
              <a:rPr lang="cs-CZ" sz="3200" b="1" dirty="0" smtClean="0">
                <a:ln>
                  <a:solidFill>
                    <a:schemeClr val="bg1"/>
                  </a:solidFill>
                </a:ln>
              </a:rPr>
              <a:t>třeba </a:t>
            </a:r>
            <a:r>
              <a:rPr lang="cs-CZ" sz="3200" b="1" dirty="0">
                <a:ln>
                  <a:solidFill>
                    <a:schemeClr val="bg1"/>
                  </a:solidFill>
                </a:ln>
              </a:rPr>
              <a:t>žádat o stanovisko podle a</a:t>
            </a:r>
            <a:r>
              <a:rPr lang="cs-CZ" sz="3200" b="1" dirty="0" smtClean="0">
                <a:ln>
                  <a:solidFill>
                    <a:schemeClr val="bg1"/>
                  </a:solidFill>
                </a:ln>
              </a:rPr>
              <a:t>)</a:t>
            </a:r>
            <a:endParaRPr lang="cs-CZ" sz="32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164352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Usnesení </a:t>
            </a:r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vlády č. 831/2022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Zástupný symbol pro obsah 2"/>
          <p:cNvSpPr txBox="1">
            <a:spLocks/>
          </p:cNvSpPr>
          <p:nvPr/>
        </p:nvSpPr>
        <p:spPr>
          <a:xfrm>
            <a:off x="909734" y="1690688"/>
            <a:ext cx="10515600" cy="5167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cs-CZ" sz="36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Formuláře</a:t>
            </a:r>
            <a:endParaRPr lang="cs-CZ" sz="36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Aktualizovány a zveřejněny na https://archi.gov.cz/uvod_schvalovani</a:t>
            </a:r>
          </a:p>
          <a:p>
            <a:r>
              <a:rPr lang="cs-CZ" sz="3600" b="1" dirty="0">
                <a:ln>
                  <a:solidFill>
                    <a:schemeClr val="bg1"/>
                  </a:solidFill>
                </a:ln>
              </a:rPr>
              <a:t>Typy formulářů se nemění, ruší se formulář obsahující informace o ICT projektu pro vládu</a:t>
            </a:r>
            <a:r>
              <a:rPr lang="cs-CZ" sz="36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6515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Otázky a nejasnosti členů pracovní skupiny</a:t>
            </a:r>
          </a:p>
        </p:txBody>
      </p:sp>
    </p:spTree>
    <p:extLst>
      <p:ext uri="{BB962C8B-B14F-4D97-AF65-F5344CB8AC3E}">
        <p14:creationId xmlns:p14="http://schemas.microsoft.com/office/powerpoint/2010/main" val="215951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Otázky a nejasnosti členů pracovní skupiny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2327758"/>
            <a:ext cx="10515600" cy="4351338"/>
          </a:xfrm>
        </p:spPr>
        <p:txBody>
          <a:bodyPr>
            <a:normAutofit/>
          </a:bodyPr>
          <a:lstStyle/>
          <a:p>
            <a:r>
              <a:rPr lang="cs-CZ" sz="40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ČÚZK otázky k elektronickému podpisu v ROB</a:t>
            </a:r>
            <a:endParaRPr lang="cs-CZ" sz="40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sz="4000" b="1" dirty="0" smtClean="0">
                <a:ln>
                  <a:solidFill>
                    <a:schemeClr val="bg1"/>
                  </a:solidFill>
                </a:ln>
              </a:rPr>
              <a:t>OHA využívání služby ISZR E36</a:t>
            </a:r>
            <a:endParaRPr lang="cs-CZ" sz="4000" b="1" dirty="0">
              <a:ln>
                <a:solidFill>
                  <a:schemeClr val="bg1"/>
                </a:solidFill>
              </a:ln>
            </a:endParaRPr>
          </a:p>
          <a:p>
            <a:r>
              <a:rPr lang="cs-CZ" sz="4000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MHMP otázky k ZoPDS</a:t>
            </a:r>
          </a:p>
        </p:txBody>
      </p:sp>
    </p:spTree>
    <p:extLst>
      <p:ext uri="{BB962C8B-B14F-4D97-AF65-F5344CB8AC3E}">
        <p14:creationId xmlns:p14="http://schemas.microsoft.com/office/powerpoint/2010/main" val="2557978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66284" y="2001818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BB22A6-7EA4-4A6D-BF17-454C8191BDDE}"/>
</file>

<file path=customXml/itemProps3.xml><?xml version="1.0" encoding="utf-8"?>
<ds:datastoreItem xmlns:ds="http://schemas.openxmlformats.org/officeDocument/2006/customXml" ds:itemID="{579E98EC-8279-4842-B4EF-743633698D36}">
  <ds:schemaRefs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1616</TotalTime>
  <Words>1297</Words>
  <Application>Microsoft Office PowerPoint</Application>
  <PresentationFormat>Širokoúhlá obrazovka</PresentationFormat>
  <Paragraphs>109</Paragraphs>
  <Slides>27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27</vt:i4>
      </vt:variant>
    </vt:vector>
  </HeadingPairs>
  <TitlesOfParts>
    <vt:vector size="30" baseType="lpstr">
      <vt:lpstr>Arial</vt:lpstr>
      <vt:lpstr>Calibri</vt:lpstr>
      <vt:lpstr>Motiv Office</vt:lpstr>
      <vt:lpstr>Prezentace aplikace PowerPoint</vt:lpstr>
      <vt:lpstr>Technický úvod, pravidla videokonference </vt:lpstr>
      <vt:lpstr>Kontext naší PS v rámci RVIS</vt:lpstr>
      <vt:lpstr> </vt:lpstr>
      <vt:lpstr>Změny v Národní architektuře eGovernmentu</vt:lpstr>
      <vt:lpstr>Změny v Národní architektuře eGovernmentu</vt:lpstr>
      <vt:lpstr>Změny v Národní architektuře eGovernmentu</vt:lpstr>
      <vt:lpstr>Diskutuje s námi</vt:lpstr>
      <vt:lpstr>DTM ČR</vt:lpstr>
      <vt:lpstr>Atestace spisových služeb</vt:lpstr>
      <vt:lpstr>Atestace spisových služeb</vt:lpstr>
      <vt:lpstr>Atestace spisových služeb</vt:lpstr>
      <vt:lpstr>Harmonogram úpravy vyhlášky č. 259/2012 Sb.</vt:lpstr>
      <vt:lpstr>Harmonogram atestace</vt:lpstr>
      <vt:lpstr>Stanovisko ÚOHS</vt:lpstr>
      <vt:lpstr>IROP a usnesení vlády č. 831/2022</vt:lpstr>
      <vt:lpstr>IROP</vt:lpstr>
      <vt:lpstr>IROP</vt:lpstr>
      <vt:lpstr>IROP</vt:lpstr>
      <vt:lpstr>Usnesení vlády č. 831/2022</vt:lpstr>
      <vt:lpstr>Usnesení vlády č. 831/2022</vt:lpstr>
      <vt:lpstr>Usnesení vlády č. 831/2022</vt:lpstr>
      <vt:lpstr>Usnesení vlády č. 831/2022</vt:lpstr>
      <vt:lpstr>Usnesení vlády č. 831/2022</vt:lpstr>
      <vt:lpstr>Otázky a nejasnosti členů pracovní skupiny</vt:lpstr>
      <vt:lpstr>Otázky a nejasnosti členů pracovní skupiny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Šedivec Tomáš</cp:lastModifiedBy>
  <cp:revision>89</cp:revision>
  <dcterms:created xsi:type="dcterms:W3CDTF">2021-01-27T09:19:54Z</dcterms:created>
  <dcterms:modified xsi:type="dcterms:W3CDTF">2022-10-17T10:38:00Z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0x01010090B00F75BED7484DA544575FBD77AFF7</vt:lpwstr>
  </property>
</Properties>
</file>
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9144000" cy="6858000"/>
  <p:embeddedFontLst>
    <p:embeddedFont>
      <p:font typeface="Azeret Mono" pitchFamily="2" charset="-18"/>
      <p:regular r:id="rId14"/>
      <p:bold r:id="rId15"/>
      <p:italic r:id="rId16"/>
      <p:boldItalic r:id="rId17"/>
    </p:embeddedFont>
    <p:embeddedFont>
      <p:font typeface="Azeret Mono Medium" pitchFamily="2" charset="-18"/>
      <p:regular r:id="rId18"/>
      <p: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FF6600"/>
    <a:srgbClr val="358537"/>
    <a:srgbClr val="2E2D2C"/>
    <a:srgbClr val="46AD48"/>
    <a:srgbClr val="E8EDE8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639628-E71C-4135-A2D3-6C8D6BDAB59D}" v="8" dt="2025-03-25T14:55:28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6197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216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05.05.2025</a:t>
            </a:fld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05.05.2025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 dirty="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 dirty="0">
                <a:solidFill>
                  <a:schemeClr val="bg1"/>
                </a:solidFill>
              </a:rPr>
              <a:t>DIA.</a:t>
            </a:r>
            <a:r>
              <a:rPr lang="cs-CZ" dirty="0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 dirty="0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6D0ACC70-CB7E-3F18-F92A-9ACDFF91ACB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7500" y="6642100"/>
            <a:ext cx="925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cs-CZ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Interní informace</a:t>
            </a:r>
          </a:p>
        </p:txBody>
      </p:sp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AEEB82-2035-2BEE-E0BC-8D264806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50" y="1735122"/>
            <a:ext cx="11113200" cy="1173600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/>
              <a:t>Test ostrovního režimu CMS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9CA7F5A-F93E-7DFF-8DE7-4F77606F2E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45C65979-D421-1F5C-8028-0774101B4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230" y="3265199"/>
            <a:ext cx="11491039" cy="1173600"/>
          </a:xfrm>
        </p:spPr>
        <p:txBody>
          <a:bodyPr/>
          <a:lstStyle/>
          <a:p>
            <a:pPr algn="ctr"/>
            <a:r>
              <a:rPr lang="cs-CZ" sz="2000" dirty="0">
                <a:solidFill>
                  <a:srgbClr val="00B0F0"/>
                </a:solidFill>
              </a:rPr>
              <a:t>Realizace a zjištění z testu dne 6.3.2025 ve spolupráci s MĚSTEM CHEB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1456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E3A4F0-D934-66AF-3DA0-0C122CD2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3600" dirty="0"/>
              <a:t>Ostrovní režim CMS stručně_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F21D91-272B-4232-7267-8BAC147BA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00" y="1568346"/>
            <a:ext cx="11113200" cy="4144869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b="1" dirty="0">
                <a:ea typeface="Calibri" panose="020F0502020204030204" pitchFamily="34" charset="0"/>
              </a:rPr>
              <a:t>Ostrovní režim CMS  </a:t>
            </a:r>
            <a:r>
              <a:rPr lang="cs-CZ" dirty="0">
                <a:ea typeface="Calibri" panose="020F0502020204030204" pitchFamily="34" charset="0"/>
              </a:rPr>
              <a:t>v rámci komunikační infrastruktury informačních systémů veřejné správy je bezpečnostní opatření, v rámci kterého je tato síť </a:t>
            </a:r>
            <a:r>
              <a:rPr lang="cs-CZ" b="1" dirty="0">
                <a:ea typeface="Calibri" panose="020F0502020204030204" pitchFamily="34" charset="0"/>
              </a:rPr>
              <a:t>odpojena od veřejné sítě internet </a:t>
            </a:r>
            <a:r>
              <a:rPr lang="cs-CZ" dirty="0">
                <a:ea typeface="Calibri" panose="020F0502020204030204" pitchFamily="34" charset="0"/>
              </a:rPr>
              <a:t>a umožňuje komunikaci pouze mezi AIS a ISVS (viz. Zákon 365 §5 bod d), které mají přiřazenou IP adresu pro zveřejňování v </a:t>
            </a:r>
            <a:r>
              <a:rPr lang="cs-CZ" dirty="0" err="1">
                <a:ea typeface="Calibri" panose="020F0502020204030204" pitchFamily="34" charset="0"/>
              </a:rPr>
              <a:t>Cenrálním</a:t>
            </a:r>
            <a:r>
              <a:rPr lang="cs-CZ" dirty="0">
                <a:ea typeface="Calibri" panose="020F0502020204030204" pitchFamily="34" charset="0"/>
              </a:rPr>
              <a:t> místě Služeb (CMS). Síťové služby nutné k zabezpečení autonomní komunikace ostrovního režimu jsou obsluhovány pouze z interních zdrojů CMS (</a:t>
            </a:r>
            <a:r>
              <a:rPr lang="cs-CZ" dirty="0" err="1">
                <a:ea typeface="Calibri" panose="020F0502020204030204" pitchFamily="34" charset="0"/>
              </a:rPr>
              <a:t>autentikační</a:t>
            </a:r>
            <a:r>
              <a:rPr lang="cs-CZ" dirty="0">
                <a:ea typeface="Calibri" panose="020F0502020204030204" pitchFamily="34" charset="0"/>
              </a:rPr>
              <a:t> a autorizační služby, služby vytvářející důvěru atd.).</a:t>
            </a:r>
            <a:endParaRPr lang="cs-CZ" dirty="0">
              <a:latin typeface="Roboto"/>
              <a:ea typeface="Roboto"/>
              <a:cs typeface="Robo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cs-CZ" dirty="0">
                <a:ea typeface="Calibri" panose="020F0502020204030204" pitchFamily="34" charset="0"/>
              </a:rPr>
              <a:t>Testování ostrovního režimu CMS: DIA pověřené architektonickým dohledem CMS a MVČR, jakožto správce CMS, jsou za účelem řízení rizik (a v jeho rámci provádění penetračního testování a testování zranitelností), jakož i v rámci krizového řízení, </a:t>
            </a:r>
            <a:r>
              <a:rPr lang="cs-CZ" b="1" dirty="0">
                <a:ea typeface="Calibri" panose="020F0502020204030204" pitchFamily="34" charset="0"/>
              </a:rPr>
              <a:t>oprávněni otestovat provoz CMS v tzv. ostrovním režimu </a:t>
            </a:r>
            <a:r>
              <a:rPr lang="cs-CZ" dirty="0">
                <a:ea typeface="Calibri" panose="020F0502020204030204" pitchFamily="34" charset="0"/>
              </a:rPr>
              <a:t>a uživatelé CMS povinni toto testování strpět a nekomunikovat jinak než přes CMS (a šířeji KIVS, jehož je CMS součástí).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8D475DB-AC74-CC77-2410-6663A275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6B48066-7F94-FC7D-3FD7-18478B29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240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D4597F-3E72-5845-C002-FE1BD08A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3600" dirty="0"/>
              <a:t>Termíny a přípravné kroky_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7157377-BED0-770D-B801-FE7BB3149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00" y="1538810"/>
            <a:ext cx="11113200" cy="4214718"/>
          </a:xfrm>
        </p:spPr>
        <p:txBody>
          <a:bodyPr>
            <a:normAutofit fontScale="32500" lnSpcReduction="20000"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cs-CZ" sz="5500" b="1" dirty="0">
                <a:effectLst/>
              </a:rPr>
              <a:t>Dne 6.3.2025 </a:t>
            </a:r>
            <a:r>
              <a:rPr lang="cs-CZ" sz="5500" dirty="0">
                <a:effectLst/>
              </a:rPr>
              <a:t>od 09:00 do 13:00 proběhl test „Ostrovního režimu CMS 2“ v perimetru Města Cheb.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cs-CZ" sz="5500" dirty="0">
                <a:effectLst/>
              </a:rPr>
              <a:t>Cílem této aktivity bylo ve spolupráci s dotčenými OVM a dohledovými týmy, ověřit výkon vytipovaných agend v tomto režimu a evidovat případná omezení a výpadky.</a:t>
            </a:r>
            <a:endParaRPr lang="cs-CZ" sz="55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cs-CZ" sz="5500" dirty="0">
                <a:effectLst/>
              </a:rPr>
              <a:t>Především jsme se soustředili na dostupnosti (či nedostupnosti) spolupracujících informačních systémů, výkonu svěřených agend a fungování služeb vytvářejících důvěru (certifikáty, podpisy, časová razítka).</a:t>
            </a:r>
            <a:endParaRPr lang="cs-CZ" sz="55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cs-CZ" sz="5500" dirty="0">
                <a:effectLst/>
              </a:rPr>
              <a:t>Dotčeným subjektům bylo zasláno s týdenním předstihem oznámení, včetně instrukcí se soupisem požadavků ke spolupráci a testovací scénáře pro služby vytvářející důvěru.</a:t>
            </a:r>
            <a:endParaRPr lang="cs-CZ" sz="55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cs-CZ" sz="5500" dirty="0"/>
              <a:t>K případným dotazům a upřesnění byla uspořádána Q&amp;A telekonference a to 3 dny před samotnou akcí za účasti všech organizátorů.</a:t>
            </a:r>
            <a:endParaRPr lang="cs-CZ" sz="5500" dirty="0">
              <a:effectLst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cs-CZ" sz="5500" dirty="0"/>
              <a:t>Akce podléhala schválení vedením města.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674F66F-CC98-B47C-EFCF-A161446A2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9F854BF-B93B-FA65-33F9-B4148F65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34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ECAF95-6384-277E-0DD9-F440F406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3600" dirty="0"/>
              <a:t>Zúčastněné pracovní týmy_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321965-7CFC-1783-4F79-67736B2FA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Hlavními organizátory akce byly týmy DIA a NAKIT a odbor informatiky Města Cheb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Akce byla konzultována a vlastní přípravy se účastnili zástupci OPITK a OKB MVČR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Vyrozumění k záměru realizovat test obdrželi zástupci NÚKIB a tým dohledového centra DCeGOV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Přípravné aktivity byly koordinovány s certifikačními autoritami: Národní CA, </a:t>
            </a:r>
            <a:r>
              <a:rPr lang="cs-CZ" dirty="0" err="1"/>
              <a:t>PostSignum</a:t>
            </a:r>
            <a:r>
              <a:rPr lang="cs-CZ" dirty="0"/>
              <a:t>, ICA</a:t>
            </a:r>
          </a:p>
          <a:p>
            <a:pPr marL="114300" indent="0">
              <a:buNone/>
            </a:pPr>
            <a:r>
              <a:rPr lang="cs-CZ" dirty="0"/>
              <a:t>V den testu byl zřízena telekonference mezi koordinačním týmem v sídle NAKIT a výkonným týmem města Cheb. Do komunikace byly zapojeny dohledová centra CMS a DCeGOV. Průběžně probíhala evidence zjištění do připravené struktury evidence s přiřazováním priority.</a:t>
            </a:r>
          </a:p>
          <a:p>
            <a:pPr marL="114300" indent="0">
              <a:buNone/>
            </a:pPr>
            <a:r>
              <a:rPr lang="cs-CZ" dirty="0"/>
              <a:t>Byl stanoven „exit“ plán pro případné předčasné ukončení testu.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0BFD86-DC07-90DF-1176-FB2CFC1CB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B989743-0850-EF50-2DC2-8AFCC6B2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7177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F380EE-C8F4-E260-C0B0-1E96A765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3600" dirty="0"/>
              <a:t>Hlavní zjištění z testu_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0B1C14-85FB-3648-C5C7-27B1FA110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17834"/>
            <a:ext cx="11113200" cy="4552235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Test výkonu matričních záležitostí proběhl v pořádku; také proces žádosti o vydání os. dokladů fungoval.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Koncové body pro služby vytvářející důvěru </a:t>
            </a:r>
            <a:r>
              <a:rPr lang="cs-CZ" dirty="0" err="1"/>
              <a:t>vypublikované</a:t>
            </a:r>
            <a:r>
              <a:rPr lang="cs-CZ" dirty="0"/>
              <a:t> v CMS byly funkční (ověření platnosti OCSP, CRL); služba časového razítka, zprostředkovaná třetí stranou nebyla dostupná (SOFA).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Ověření přes </a:t>
            </a:r>
            <a:r>
              <a:rPr lang="cs-CZ" dirty="0" err="1"/>
              <a:t>CzechPoint</a:t>
            </a:r>
            <a:r>
              <a:rPr lang="cs-CZ" dirty="0"/>
              <a:t> bylo blokováno neaktualizovanou verzí </a:t>
            </a:r>
            <a:r>
              <a:rPr lang="cs-CZ" dirty="0" err="1"/>
              <a:t>FormFiller</a:t>
            </a:r>
            <a:r>
              <a:rPr lang="cs-CZ" dirty="0"/>
              <a:t>, bez internetu nelze řešit.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Některé z agend byly mapovány na publikace v internetu; po přesměrování na </a:t>
            </a:r>
            <a:r>
              <a:rPr lang="cs-CZ" b="1" dirty="0"/>
              <a:t>*.cms2.cz </a:t>
            </a:r>
            <a:r>
              <a:rPr lang="cs-CZ" dirty="0"/>
              <a:t>byly funkční.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Obecně je nefunkční funkcionalita </a:t>
            </a:r>
            <a:r>
              <a:rPr lang="cs-CZ" dirty="0" err="1"/>
              <a:t>portrálů</a:t>
            </a:r>
            <a:r>
              <a:rPr lang="cs-CZ" dirty="0"/>
              <a:t> využívající zdroje </a:t>
            </a:r>
            <a:r>
              <a:rPr lang="cs-CZ" dirty="0" err="1"/>
              <a:t>vypublikované</a:t>
            </a:r>
            <a:r>
              <a:rPr lang="cs-CZ" dirty="0"/>
              <a:t> pouze do internetu; konkrétně agendy SŽP (CRVE, ISPOP, ISOH), MPSV (OK nouze &amp; OK služby), DTM kraje, nefunkční přístup do portálu AIS RPP; pro přístup do AIS přes JIP/CAAIS není možno využít prostředky NIA; nefunkční byl tisk řidičského průkazu a webový klient městské policie (využívá pouze internet), nedostupné emaily v </a:t>
            </a:r>
            <a:r>
              <a:rPr lang="cs-CZ"/>
              <a:t>prostředí O365, nedostupné </a:t>
            </a:r>
            <a:r>
              <a:rPr lang="cs-CZ" dirty="0"/>
              <a:t>aktualizace operačních systémů a serverových systémů.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Nedostupné byly platební terminály, platby bankovními kartami </a:t>
            </a:r>
            <a:r>
              <a:rPr lang="cs-CZ" dirty="0" err="1"/>
              <a:t>nefugovaly</a:t>
            </a:r>
            <a:r>
              <a:rPr lang="cs-CZ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Datové schránky i proces přihlašování přes ISDS fungovaly.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5021F82-09EE-2724-8046-CFC71782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BBEBB10-B28D-32B0-E17C-40B3EE76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12804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F1F3CC-0676-412E-8289-5B3E94B3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25" y="432000"/>
            <a:ext cx="11620072" cy="1296000"/>
          </a:xfrm>
        </p:spPr>
        <p:txBody>
          <a:bodyPr/>
          <a:lstStyle/>
          <a:p>
            <a:r>
              <a:rPr lang="cs-CZ" sz="3600" dirty="0"/>
              <a:t>Doporučení a výhled následných aktivit_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C00566-5BB1-E60D-6328-108D98E75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18" y="1475879"/>
            <a:ext cx="11262182" cy="440093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Stanovit a začlenit  kritéria pro průzkum dopadu externích služeb ISVS, portálů, spisových služeb z veřejného internetu na celkovou funkčnost systémů, přidat tento požadavek do atestačních procesů a jeho zohlednění i do architektonických principů.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Dbát dodržování pravidel </a:t>
            </a:r>
            <a:r>
              <a:rPr lang="cs-CZ" dirty="0" err="1"/>
              <a:t>DesignGOV</a:t>
            </a:r>
            <a:r>
              <a:rPr lang="cs-CZ" dirty="0"/>
              <a:t> a testovat webová rozhraní a aktualizaci aplikací uvnitř úřadu.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Je potvrzena nutnost zajistit publikaci služeb dalších CA do perimetru CMS (RAZR, Software 602).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 současnosti probíhá detailní vyhodnocování zjištění této etapy testu dle priorit a dotčené subjekty budou kontaktovány a vyrozuměny ohledně návrhu a realizace potřebných úprav.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 plánu dalších etap testování ostrovního režimu je pokračování dílčím testem (Olomouc, Praha 6) a dalších zájemců.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Sdílení zjištění a konzultace dalšího rozvoje na úrovni NÚKIB a odborů kybernetické bezpečnosti (BRS).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87BBCE4-B2EE-3649-03BF-766205FEE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BFFB682-786F-2B44-34F6-6631A2B9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392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9F37D0-175F-85CD-1752-D174CAC9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00" y="540180"/>
            <a:ext cx="11113200" cy="1296000"/>
          </a:xfrm>
        </p:spPr>
        <p:txBody>
          <a:bodyPr/>
          <a:lstStyle/>
          <a:p>
            <a:r>
              <a:rPr lang="cs-CZ" dirty="0"/>
              <a:t>KONTAKT PRO </a:t>
            </a:r>
            <a:r>
              <a:rPr lang="cs-CZ" dirty="0" err="1"/>
              <a:t>zÁJEMCE</a:t>
            </a:r>
            <a:r>
              <a:rPr lang="cs-CZ" dirty="0"/>
              <a:t> O </a:t>
            </a:r>
            <a:r>
              <a:rPr lang="cs-CZ" dirty="0" err="1"/>
              <a:t>ÚČasT</a:t>
            </a:r>
            <a:r>
              <a:rPr lang="cs-CZ" dirty="0"/>
              <a:t> v TESTU_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5395E1-BDEE-5E9E-32C3-0B227D4A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8792" y="2334778"/>
            <a:ext cx="6117654" cy="2993380"/>
          </a:xfrm>
        </p:spPr>
        <p:txBody>
          <a:bodyPr/>
          <a:lstStyle/>
          <a:p>
            <a:pPr algn="ctr"/>
            <a:r>
              <a:rPr lang="cs-CZ" sz="2800" dirty="0"/>
              <a:t>Martin Cerman</a:t>
            </a:r>
          </a:p>
          <a:p>
            <a:pPr algn="ctr"/>
            <a:r>
              <a:rPr lang="cs-CZ" sz="2400" dirty="0">
                <a:solidFill>
                  <a:srgbClr val="00B0F0"/>
                </a:solidFill>
              </a:rPr>
              <a:t>martin.cerman@dia.gov.cz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796ACB8-F796-BC4F-A124-0D418E5A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1058454-1DD3-8B43-B666-EEED0879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0246258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_ORP PKr_20250220_v4.pptx" id="{0B16395C-FCE7-4829-AC1D-F6B1507E0B20}" vid="{F869F598-BFAA-48E6-97F7-DB43FEE0699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252811-4CDA-437F-A54B-A3D8F76B36D4}"/>
</file>

<file path=customXml/itemProps2.xml><?xml version="1.0" encoding="utf-8"?>
<ds:datastoreItem xmlns:ds="http://schemas.openxmlformats.org/officeDocument/2006/customXml" ds:itemID="{BFFC4A16-FB80-4302-ABCF-BFA1C75DBE66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47f099f3-9cff-4890-85a2-ec685806d317"/>
    <ds:schemaRef ds:uri="http://schemas.openxmlformats.org/package/2006/metadata/core-properties"/>
    <ds:schemaRef ds:uri="875a90bc-a2bf-465b-8076-1cf649d442d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cc168b4-0267-4bd6-8e85-481e0b7f64cb}" enabled="1" method="Standard" siteId="{1db41d6f-1f37-46db-bd3e-c483abb8105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prezentace_ORP PKr_20250220_v4</Template>
  <TotalTime>85</TotalTime>
  <Words>808</Words>
  <Application>Microsoft Office PowerPoint</Application>
  <PresentationFormat>Širokoúhlá obrazovka</PresentationFormat>
  <Paragraphs>50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4" baseType="lpstr">
      <vt:lpstr>Wingdings</vt:lpstr>
      <vt:lpstr>Azeret Mono Medium</vt:lpstr>
      <vt:lpstr>Arial</vt:lpstr>
      <vt:lpstr>Calibri</vt:lpstr>
      <vt:lpstr>Azeret Mono</vt:lpstr>
      <vt:lpstr>Roboto</vt:lpstr>
      <vt:lpstr>DIA_ nadpis a text s odrážkami</vt:lpstr>
      <vt:lpstr>Test ostrovního režimu CMS </vt:lpstr>
      <vt:lpstr>Ostrovní režim CMS stručně_</vt:lpstr>
      <vt:lpstr>Termíny a přípravné kroky_</vt:lpstr>
      <vt:lpstr>Zúčastněné pracovní týmy_</vt:lpstr>
      <vt:lpstr>Hlavní zjištění z testu_</vt:lpstr>
      <vt:lpstr>Doporučení a výhled následných aktivit_</vt:lpstr>
      <vt:lpstr>KONTAKT PRO zÁJEMCE O ÚČasT v TESTU_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Mánek Pavel</dc:creator>
  <cp:keywords>PPT prezentace šablona DIA PowerPoint</cp:keywords>
  <dc:description/>
  <cp:lastModifiedBy>Cerman Martin</cp:lastModifiedBy>
  <cp:revision>4</cp:revision>
  <dcterms:created xsi:type="dcterms:W3CDTF">2025-03-25T14:25:29Z</dcterms:created>
  <dcterms:modified xsi:type="dcterms:W3CDTF">2025-05-05T09:40:10Z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2024-09-02T08:28:39Z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79c9a512-ef52-443c-b672-755ea7981620</vt:lpwstr>
  </property>
  <property fmtid="{D5CDD505-2E9C-101B-9397-08002B2CF9AE}" pid="9" name="MSIP_Label_defa4170-0d19-0005-0004-bc88714345d2_ContentBits">
    <vt:lpwstr>0</vt:lpwstr>
  </property>
  <property fmtid="{D5CDD505-2E9C-101B-9397-08002B2CF9AE}" pid="10" name="ClassificationContentMarkingFooterLocations">
    <vt:lpwstr>DIA_ nadpis a text s odrážkami:7</vt:lpwstr>
  </property>
  <property fmtid="{D5CDD505-2E9C-101B-9397-08002B2CF9AE}" pid="11" name="ClassificationContentMarkingFooterText">
    <vt:lpwstr>Interní informace</vt:lpwstr>
  </property>
</Properties>
</file>
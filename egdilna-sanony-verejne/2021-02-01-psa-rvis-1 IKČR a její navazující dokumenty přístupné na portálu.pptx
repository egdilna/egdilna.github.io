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89" r:id="rId4"/>
    <p:sldId id="259" r:id="rId5"/>
    <p:sldId id="262" r:id="rId6"/>
    <p:sldId id="263" r:id="rId7"/>
    <p:sldId id="265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616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43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345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259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383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853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956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33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701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848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59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008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r_dokument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p_dokumen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ikc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vyhledavani:vyhledavani_kategorie" TargetMode="External"/><Relationship Id="rId2" Type="http://schemas.openxmlformats.org/officeDocument/2006/relationships/hyperlink" Target="https://archi.gov.cz/nap_dokument:uvod#zakladni_architektonicke_principy_a_jejich_naplnen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playgroud:novy_uvo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52D18A9A-58EA-4AFF-B4BB-C452ED33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212976"/>
            <a:ext cx="10729192" cy="1362075"/>
          </a:xfrm>
        </p:spPr>
        <p:txBody>
          <a:bodyPr>
            <a:normAutofit/>
          </a:bodyPr>
          <a:lstStyle/>
          <a:p>
            <a:pPr algn="ctr"/>
            <a:r>
              <a:rPr lang="cs-CZ" b="1" dirty="0"/>
              <a:t>IKČR a její navazující dokumenty přístupné na portálu </a:t>
            </a:r>
            <a:r>
              <a:rPr lang="cs-CZ" b="1" dirty="0">
                <a:hlinkClick r:id="rId2"/>
              </a:rPr>
              <a:t>https://archi.gov.cz</a:t>
            </a:r>
            <a:r>
              <a:rPr lang="cs-CZ" b="1" dirty="0" smtClean="0">
                <a:hlinkClick r:id="rId2"/>
              </a:rPr>
              <a:t>/</a:t>
            </a:r>
            <a:r>
              <a:rPr lang="cs-CZ" b="1" dirty="0" smtClean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151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cs-CZ" sz="3200" b="1" dirty="0">
                <a:hlinkClick r:id="rId2"/>
              </a:rPr>
              <a:t>https://archi.gov.cz/</a:t>
            </a:r>
            <a:r>
              <a:rPr lang="cs-CZ" sz="3200" b="1" dirty="0"/>
              <a:t>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07368" y="1261135"/>
            <a:ext cx="114492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Vnitroresortní a meziresortní připomínkové řízení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2800" dirty="0">
              <a:solidFill>
                <a:srgbClr val="4F4F4F"/>
              </a:solidFill>
              <a:latin typeface="Arial CE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Probíhalo přes půl roku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Vypořádáno na 200 připomínek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Ukončí se usnesením vlády, která vezme materiál na vědomí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Následné změny bude schvalovat tento pracovní výbor a RVIS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Při podstatných</a:t>
            </a: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 změnách a povinnostech </a:t>
            </a: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vůči principům a cílům IKČR zvážení </a:t>
            </a: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dalšího oficiálního připomínkového řízení</a:t>
            </a:r>
            <a:endParaRPr kumimoji="0" lang="cs-CZ" sz="2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6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cs-CZ" sz="3200" b="1" dirty="0">
                <a:hlinkClick r:id="rId2"/>
              </a:rPr>
              <a:t>https://archi.gov.cz/</a:t>
            </a:r>
            <a:r>
              <a:rPr lang="cs-CZ" sz="3200" b="1" dirty="0"/>
              <a:t>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07368" y="1261135"/>
            <a:ext cx="114492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4 </a:t>
            </a: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základní výstupy v rámci </a:t>
            </a: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Národní </a:t>
            </a: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architektury VS, které OHA </a:t>
            </a: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vydalo</a:t>
            </a:r>
            <a:endParaRPr kumimoji="0" lang="cs-CZ" sz="2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NAR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rámec, který popíše jak správně tvořit architekturu úřadu, jak ji udržovat a rozvíjet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NAP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2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popis současného stavu architektury VS, jejího budoucího stavu a plánů jak se k budoucímu stavu dostat. Obsahovat bude popisy lokálních i centrálních architektur dle </a:t>
            </a: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NAR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Metody řízení ICT VS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sz="2800" dirty="0">
                <a:solidFill>
                  <a:srgbClr val="4F4F4F"/>
                </a:solidFill>
                <a:latin typeface="Arial CE"/>
              </a:rPr>
              <a:t>m</a:t>
            </a: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etodika pro řízení ICT z pohledu útvaru, který je za to zodpovědný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Slovní</a:t>
            </a:r>
            <a:r>
              <a:rPr lang="cs-CZ" sz="2800" dirty="0" smtClean="0">
                <a:solidFill>
                  <a:srgbClr val="4F4F4F"/>
                </a:solidFill>
                <a:latin typeface="Arial CE"/>
              </a:rPr>
              <a:t>k pojmů eGovernmentu</a:t>
            </a:r>
            <a:endParaRPr kumimoji="0" lang="cs-CZ" sz="2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10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52D18A9A-58EA-4AFF-B4BB-C452ED33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3284985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Národní architektonický </a:t>
            </a:r>
            <a:r>
              <a:rPr lang="cs-CZ" b="1" dirty="0" smtClean="0"/>
              <a:t>rámec</a:t>
            </a:r>
            <a:br>
              <a:rPr lang="cs-CZ" b="1" dirty="0" smtClean="0"/>
            </a:br>
            <a:r>
              <a:rPr lang="cs-CZ" b="1" dirty="0"/>
              <a:t/>
            </a:r>
            <a:br>
              <a:rPr lang="cs-CZ" b="1" dirty="0"/>
            </a:br>
            <a:r>
              <a:rPr lang="cs-CZ" b="1" dirty="0">
                <a:hlinkClick r:id="rId2"/>
              </a:rPr>
              <a:t>https://</a:t>
            </a:r>
            <a:r>
              <a:rPr lang="cs-CZ" b="1" dirty="0" smtClean="0">
                <a:hlinkClick r:id="rId2"/>
              </a:rPr>
              <a:t>archi.gov.cz/nar_dokument</a:t>
            </a:r>
            <a:r>
              <a:rPr lang="cs-CZ" b="1" dirty="0" smtClean="0"/>
              <a:t> 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1296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706090"/>
          </a:xfrm>
        </p:spPr>
        <p:txBody>
          <a:bodyPr/>
          <a:lstStyle/>
          <a:p>
            <a:r>
              <a:rPr lang="cs-CZ" b="1" dirty="0"/>
              <a:t>Národní architektonický rámec </a:t>
            </a:r>
            <a:endParaRPr lang="cs-CZ" dirty="0"/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417638"/>
            <a:ext cx="8629924" cy="4896544"/>
          </a:xfrm>
        </p:spPr>
      </p:pic>
    </p:spTree>
    <p:extLst>
      <p:ext uri="{BB962C8B-B14F-4D97-AF65-F5344CB8AC3E}">
        <p14:creationId xmlns:p14="http://schemas.microsoft.com/office/powerpoint/2010/main" val="201912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Národní </a:t>
            </a: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architektonický rámec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917" y="1052736"/>
            <a:ext cx="7836221" cy="55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Národní </a:t>
            </a: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architektonický rámec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26" y="1152284"/>
            <a:ext cx="8508186" cy="55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3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52D18A9A-58EA-4AFF-B4BB-C452ED33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3284985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Národní architektonický </a:t>
            </a:r>
            <a:r>
              <a:rPr lang="cs-CZ" b="1" dirty="0" smtClean="0"/>
              <a:t>plán</a:t>
            </a:r>
            <a:br>
              <a:rPr lang="cs-CZ" b="1" dirty="0" smtClean="0"/>
            </a:br>
            <a:r>
              <a:rPr lang="cs-CZ" b="1" dirty="0"/>
              <a:t/>
            </a:r>
            <a:br>
              <a:rPr lang="cs-CZ" b="1" dirty="0"/>
            </a:br>
            <a:r>
              <a:rPr lang="cs-CZ" b="1" dirty="0">
                <a:hlinkClick r:id="rId2"/>
              </a:rPr>
              <a:t>https://</a:t>
            </a:r>
            <a:r>
              <a:rPr lang="cs-CZ" b="1" dirty="0" smtClean="0">
                <a:hlinkClick r:id="rId2"/>
              </a:rPr>
              <a:t>archi.gov.cz/nap_dokument</a:t>
            </a:r>
            <a:r>
              <a:rPr lang="cs-CZ" b="1" dirty="0" smtClean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557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045" y="846177"/>
            <a:ext cx="6552728" cy="5710578"/>
          </a:xfrm>
        </p:spPr>
      </p:pic>
    </p:spTree>
    <p:extLst>
      <p:ext uri="{BB962C8B-B14F-4D97-AF65-F5344CB8AC3E}">
        <p14:creationId xmlns:p14="http://schemas.microsoft.com/office/powerpoint/2010/main" val="169645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Národní architektonický plán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07368" y="1261135"/>
            <a:ext cx="1152128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cs-CZ" sz="2400" dirty="0">
                <a:solidFill>
                  <a:srgbClr val="4F4F4F"/>
                </a:solidFill>
                <a:latin typeface="Arial CE"/>
              </a:rPr>
              <a:t>NAP je návazným dokumentem </a:t>
            </a:r>
            <a:r>
              <a:rPr lang="cs-CZ" sz="2400" b="0" i="0" u="none" strike="noStrike" dirty="0" smtClean="0">
                <a:solidFill>
                  <a:srgbClr val="337AB7"/>
                </a:solidFill>
                <a:effectLst/>
                <a:latin typeface="Helvetica Neue"/>
                <a:hlinkClick r:id="rId2" tooltip="ikcr"/>
              </a:rPr>
              <a:t>IKČR</a:t>
            </a:r>
            <a:r>
              <a:rPr lang="cs-CZ" sz="2400" dirty="0" smtClean="0">
                <a:solidFill>
                  <a:srgbClr val="4F4F4F"/>
                </a:solidFill>
                <a:latin typeface="Arial CE"/>
              </a:rPr>
              <a:t>, </a:t>
            </a:r>
            <a:r>
              <a:rPr lang="cs-CZ" sz="2400" dirty="0">
                <a:solidFill>
                  <a:srgbClr val="4F4F4F"/>
                </a:solidFill>
                <a:latin typeface="Arial CE"/>
              </a:rPr>
              <a:t>který rozvíjí principy, zásady a cíle v ní vedené a</a:t>
            </a:r>
            <a:r>
              <a:rPr lang="cs-CZ" sz="2400" b="0" i="0" dirty="0" smtClean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cs-CZ" sz="2400" b="1" i="0" dirty="0" smtClean="0">
                <a:solidFill>
                  <a:srgbClr val="333333"/>
                </a:solidFill>
                <a:effectLst/>
                <a:latin typeface="Helvetica Neue"/>
              </a:rPr>
              <a:t>pro úřady je závazný</a:t>
            </a:r>
            <a:r>
              <a:rPr lang="cs-CZ" sz="2400" b="0" i="0" dirty="0" smtClean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cs-CZ" sz="2400" dirty="0">
                <a:solidFill>
                  <a:srgbClr val="4F4F4F"/>
                </a:solidFill>
                <a:latin typeface="Arial CE"/>
              </a:rPr>
              <a:t>v míře </a:t>
            </a:r>
            <a:r>
              <a:rPr lang="cs-CZ" sz="2400" dirty="0" smtClean="0">
                <a:solidFill>
                  <a:srgbClr val="4F4F4F"/>
                </a:solidFill>
                <a:latin typeface="Arial CE"/>
              </a:rPr>
              <a:t>jejich naplňování.</a:t>
            </a:r>
            <a:r>
              <a:rPr lang="cs-CZ" sz="2400" b="0" i="0" dirty="0" smtClean="0">
                <a:solidFill>
                  <a:srgbClr val="333333"/>
                </a:solidFill>
                <a:effectLst/>
                <a:latin typeface="Helvetica Neue"/>
              </a:rPr>
              <a:t> To platí pro úřady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, které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souhrnně označuje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pojem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orgány veřejné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správy (OVS),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tj. na „státní orgány nebo orgány územních samosprávných celků“, tedy včetně obcí a krajů.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cs-CZ" sz="2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Splnění požadavků kladených NAP uvádí OVS do své vlastní informační koncepce.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1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OHA bude následně kontrolovat splnění požadavků NAP v jednotlivých žádostech o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stanovisko.</a:t>
            </a:r>
            <a:endParaRPr kumimoji="0" lang="cs-CZ" sz="2400" b="1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07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Národní architektonický plán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07368" y="1268760"/>
            <a:ext cx="1116124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dirty="0">
                <a:solidFill>
                  <a:srgbClr val="4F4F4F"/>
                </a:solidFill>
                <a:latin typeface="Arial CE"/>
              </a:rPr>
              <a:t>Základní architektonické principy a jejich naplnění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 smtClean="0">
                <a:solidFill>
                  <a:prstClr val="black"/>
                </a:solidFill>
                <a:hlinkClick r:id="rId2"/>
              </a:rPr>
              <a:t>https</a:t>
            </a:r>
            <a:r>
              <a:rPr lang="cs-CZ" dirty="0">
                <a:solidFill>
                  <a:prstClr val="black"/>
                </a:solidFill>
                <a:hlinkClick r:id="rId2"/>
              </a:rPr>
              <a:t>://</a:t>
            </a:r>
            <a:r>
              <a:rPr lang="cs-CZ" dirty="0" smtClean="0">
                <a:solidFill>
                  <a:prstClr val="black"/>
                </a:solidFill>
                <a:hlinkClick r:id="rId2"/>
              </a:rPr>
              <a:t>archi.gov.cz/nap_dokument:uvod#zakladni_architektonicke_principy_a_jejich_naplneni</a:t>
            </a:r>
            <a:endParaRPr lang="cs-CZ" dirty="0" smtClean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 dirty="0">
              <a:solidFill>
                <a:prstClr val="black"/>
              </a:solidFill>
            </a:endParaRPr>
          </a:p>
          <a:p>
            <a:pPr lvl="0"/>
            <a:r>
              <a:rPr lang="cs-CZ" sz="2400" dirty="0">
                <a:solidFill>
                  <a:srgbClr val="4F4F4F"/>
                </a:solidFill>
                <a:latin typeface="Arial CE"/>
              </a:rPr>
              <a:t> Přehled sdílených služeb, funkčních celků a tematických oblastí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prstClr val="black"/>
                </a:solidFill>
                <a:hlinkClick r:id="rId3"/>
              </a:rPr>
              <a:t>https://archi.gov.cz/vyhledavani:vyhledavani_kategorie</a:t>
            </a:r>
            <a:r>
              <a:rPr lang="cs-CZ" dirty="0">
                <a:solidFill>
                  <a:prstClr val="black"/>
                </a:solidFill>
              </a:rPr>
              <a:t> </a:t>
            </a:r>
            <a:endParaRPr lang="cs-CZ" dirty="0" smtClean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 dirty="0">
              <a:solidFill>
                <a:prstClr val="black"/>
              </a:solidFill>
            </a:endParaRPr>
          </a:p>
          <a:p>
            <a:pPr lvl="0"/>
            <a:r>
              <a:rPr lang="cs-CZ" sz="2400" dirty="0">
                <a:solidFill>
                  <a:srgbClr val="4F4F4F"/>
                </a:solidFill>
                <a:latin typeface="Arial CE"/>
              </a:rPr>
              <a:t>Základní rozcestník (</a:t>
            </a:r>
            <a:r>
              <a:rPr lang="cs-CZ" sz="2400" dirty="0" err="1">
                <a:solidFill>
                  <a:srgbClr val="4F4F4F"/>
                </a:solidFill>
                <a:latin typeface="Arial CE"/>
              </a:rPr>
              <a:t>landing</a:t>
            </a:r>
            <a:r>
              <a:rPr lang="cs-CZ" sz="2400" dirty="0">
                <a:solidFill>
                  <a:srgbClr val="4F4F4F"/>
                </a:solidFill>
                <a:latin typeface="Arial CE"/>
              </a:rPr>
              <a:t> </a:t>
            </a:r>
            <a:r>
              <a:rPr lang="cs-CZ" sz="2400" dirty="0" err="1">
                <a:solidFill>
                  <a:srgbClr val="4F4F4F"/>
                </a:solidFill>
                <a:latin typeface="Arial CE"/>
              </a:rPr>
              <a:t>page</a:t>
            </a:r>
            <a:r>
              <a:rPr lang="cs-CZ" sz="2400" dirty="0">
                <a:solidFill>
                  <a:srgbClr val="4F4F4F"/>
                </a:solidFill>
                <a:latin typeface="Arial CE"/>
              </a:rPr>
              <a:t>) pro celou znalostní bázi českého eGovernmentu </a:t>
            </a:r>
            <a:endParaRPr lang="cs-CZ" sz="2400" dirty="0" smtClean="0">
              <a:solidFill>
                <a:srgbClr val="4F4F4F"/>
              </a:solidFill>
              <a:latin typeface="Arial CE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cs-CZ" b="1" dirty="0" smtClean="0">
                <a:solidFill>
                  <a:srgbClr val="4F4F4F"/>
                </a:solidFill>
                <a:latin typeface="Arial CE"/>
              </a:rPr>
              <a:t>Probíhá práce, nápady jsou vítány </a:t>
            </a:r>
            <a:r>
              <a:rPr lang="cs-CZ" b="1" dirty="0" smtClean="0">
                <a:solidFill>
                  <a:srgbClr val="4F4F4F"/>
                </a:solidFill>
                <a:latin typeface="Arial CE"/>
                <a:hlinkClick r:id="rId4"/>
              </a:rPr>
              <a:t>https://archi.gov.cz/playgroud:novy_uvod</a:t>
            </a:r>
            <a:r>
              <a:rPr lang="cs-CZ" b="1" dirty="0" smtClean="0">
                <a:solidFill>
                  <a:srgbClr val="4F4F4F"/>
                </a:solidFill>
                <a:latin typeface="Arial CE"/>
              </a:rPr>
              <a:t> </a:t>
            </a:r>
            <a:endParaRPr lang="cs-CZ" b="1" dirty="0">
              <a:solidFill>
                <a:srgbClr val="4F4F4F"/>
              </a:solidFill>
              <a:latin typeface="Arial CE"/>
            </a:endParaRPr>
          </a:p>
        </p:txBody>
      </p:sp>
    </p:spTree>
    <p:extLst>
      <p:ext uri="{BB962C8B-B14F-4D97-AF65-F5344CB8AC3E}">
        <p14:creationId xmlns:p14="http://schemas.microsoft.com/office/powerpoint/2010/main" val="192008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CE20CF-7F97-4A6B-9675-88CF4D0D27FA}"/>
</file>

<file path=customXml/itemProps2.xml><?xml version="1.0" encoding="utf-8"?>
<ds:datastoreItem xmlns:ds="http://schemas.openxmlformats.org/officeDocument/2006/customXml" ds:itemID="{5C62BD7E-EDCA-418B-BA5B-AB931CAC5B16}"/>
</file>

<file path=customXml/itemProps3.xml><?xml version="1.0" encoding="utf-8"?>
<ds:datastoreItem xmlns:ds="http://schemas.openxmlformats.org/officeDocument/2006/customXml" ds:itemID="{62DD8E08-0D69-4CA5-8AC2-52F2DD804A8E}"/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317</Words>
  <Application>Microsoft Office PowerPoint</Application>
  <PresentationFormat>Širokoúhlá obrazovka</PresentationFormat>
  <Paragraphs>51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Arial CE</vt:lpstr>
      <vt:lpstr>Calibri</vt:lpstr>
      <vt:lpstr>Helvetica Neue</vt:lpstr>
      <vt:lpstr>MV_sablona1_2007</vt:lpstr>
      <vt:lpstr>IKČR a její navazující dokumenty přístupné na portálu https://archi.gov.cz/ </vt:lpstr>
      <vt:lpstr> </vt:lpstr>
      <vt:lpstr> </vt:lpstr>
      <vt:lpstr>Národní architektonický rámec  https://archi.gov.cz/nar_dokument  </vt:lpstr>
      <vt:lpstr>Národní architektonický rámec </vt:lpstr>
      <vt:lpstr> </vt:lpstr>
      <vt:lpstr> </vt:lpstr>
      <vt:lpstr>Národní architektonický plán  https://archi.gov.cz/nap_dokument </vt:lpstr>
      <vt:lpstr>Prezentace aplikace PowerPoint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IKČR a její navazující dokumenty přístupné na portálu https://archi.gov.cz/</dc:title>
  <dc:creator>Tomáš Šedivec</dc:creator>
  <cp:lastModifiedBy>Tomáš Šedivec</cp:lastModifiedBy>
  <cp:revision>4</cp:revision>
  <dcterms:created xsi:type="dcterms:W3CDTF">2021-01-27T09:05:36Z</dcterms:created>
  <dcterms:modified xsi:type="dcterms:W3CDTF">2021-02-01T11:23:43Z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
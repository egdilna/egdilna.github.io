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revisionInfo.xml" ContentType="application/vnd.ms-powerpoint.revisioninfo+xml"/>
  <Override PartName="/docProps/core.xml" ContentType="application/vnd.openxmlformats-package.core-properties+xml"/>
  <Override PartName="/customXml/itemProps1.xml" ContentType="application/vnd.openxmlformats-officedocument.customXmlProperties+xml"/>
  <Override PartName="/customXml/itemProps2.xml" ContentType="application/vnd.openxmlformats-officedocument.customXml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trictFirstAndLastChars="0" embedTrueTypeFonts="1" saveSubsetFonts="1" autoCompressPictures="0">
  <p:sldMasterIdLst>
    <p:sldMasterId id="2147483659" r:id="rId1"/>
  </p:sldMasterIdLst>
  <p:sldIdLst>
    <p:sldId id="257" r:id="rId2"/>
    <p:sldId id="258" r:id="rId3"/>
    <p:sldId id="290" r:id="rId4"/>
    <p:sldId id="291" r:id="rId5"/>
    <p:sldId id="292" r:id="rId6"/>
    <p:sldId id="275" r:id="rId7"/>
  </p:sldIdLst>
  <p:sldSz cx="9144000" cy="5143500" type="screen16x9"/>
  <p:notesSz cx="6858000" cy="9144000"/>
  <p:embeddedFontLst>
    <p:embeddedFont>
      <p:font typeface="Roboto" panose="02000000000000000000" pitchFamily="2" charset="0"/>
      <p:regular r:id="rId8"/>
      <p:bold r:id="rId9"/>
      <p:italic r:id="rId10"/>
      <p:boldItalic r:id="rId11"/>
    </p:embeddedFont>
  </p:embeddedFontLst>
  <p:custDataLst>
    <p:tags r:id="rId12"/>
  </p:custData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2116AEB-E2C1-400D-9C2C-AF91EB19010F}" v="7" dt="2023-06-05T07:54:14.203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135" d="100"/>
          <a:sy n="135" d="100"/>
        </p:scale>
        <p:origin x="126" y="378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font" Target="fonts/font1.fntdata"/><Relationship Id="rId13" Type="http://schemas.openxmlformats.org/officeDocument/2006/relationships/presProps" Target="presProps.xml"/><Relationship Id="rId18" Type="http://schemas.openxmlformats.org/officeDocument/2006/relationships/customXml" Target="../customXml/item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gs" Target="tags/tag1.xml"/><Relationship Id="rId17" Type="http://schemas.microsoft.com/office/2015/10/relationships/revisionInfo" Target="revisionInfo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4.fntdata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font" Target="fonts/font3.fntdata"/><Relationship Id="rId19" Type="http://schemas.openxmlformats.org/officeDocument/2006/relationships/customXml" Target="../customXml/item2.xml"/><Relationship Id="rId4" Type="http://schemas.openxmlformats.org/officeDocument/2006/relationships/slide" Target="slides/slide3.xml"/><Relationship Id="rId9" Type="http://schemas.openxmlformats.org/officeDocument/2006/relationships/font" Target="fonts/font2.fntdata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rázek 1" descr="Obsah obrázku text, klipart&#10;&#10;Popis byl vytvořen automaticky">
            <a:extLst>
              <a:ext uri="{FF2B5EF4-FFF2-40B4-BE49-F238E27FC236}">
                <a16:creationId xmlns:a16="http://schemas.microsoft.com/office/drawing/2014/main" id="{D5B4C68F-7AD6-C020-C4AB-793B83E27F4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3558" y="4409617"/>
            <a:ext cx="2457092" cy="357315"/>
          </a:xfrm>
          <a:prstGeom prst="rect">
            <a:avLst/>
          </a:prstGeom>
        </p:spPr>
      </p:pic>
      <p:pic>
        <p:nvPicPr>
          <p:cNvPr id="3" name="Picture 35">
            <a:extLst>
              <a:ext uri="{FF2B5EF4-FFF2-40B4-BE49-F238E27FC236}">
                <a16:creationId xmlns:a16="http://schemas.microsoft.com/office/drawing/2014/main" id="{48CDF99E-F4F5-150C-5B6B-06A1511D9CA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49487" y="4426535"/>
            <a:ext cx="5485777" cy="141842"/>
          </a:xfrm>
          <a:prstGeom prst="rect">
            <a:avLst/>
          </a:prstGeom>
        </p:spPr>
      </p:pic>
      <p:sp>
        <p:nvSpPr>
          <p:cNvPr id="4" name="Rectangle 9">
            <a:extLst>
              <a:ext uri="{FF2B5EF4-FFF2-40B4-BE49-F238E27FC236}">
                <a16:creationId xmlns:a16="http://schemas.microsoft.com/office/drawing/2014/main" id="{255D6267-B513-B020-B423-B9D12CE79430}"/>
              </a:ext>
            </a:extLst>
          </p:cNvPr>
          <p:cNvSpPr/>
          <p:nvPr/>
        </p:nvSpPr>
        <p:spPr>
          <a:xfrm>
            <a:off x="1" y="5053426"/>
            <a:ext cx="9147106" cy="93179"/>
          </a:xfrm>
          <a:prstGeom prst="rect">
            <a:avLst/>
          </a:prstGeom>
          <a:solidFill>
            <a:srgbClr val="00214D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Google Shape;54;p13">
            <a:extLst>
              <a:ext uri="{FF2B5EF4-FFF2-40B4-BE49-F238E27FC236}">
                <a16:creationId xmlns:a16="http://schemas.microsoft.com/office/drawing/2014/main" id="{5C4EC8E0-C7D4-B501-2823-7EF1A9962610}"/>
              </a:ext>
            </a:extLst>
          </p:cNvPr>
          <p:cNvSpPr txBox="1">
            <a:spLocks noGrp="1"/>
          </p:cNvSpPr>
          <p:nvPr>
            <p:ph type="ctrTitle" hasCustomPrompt="1"/>
          </p:nvPr>
        </p:nvSpPr>
        <p:spPr>
          <a:xfrm>
            <a:off x="311700" y="1235969"/>
            <a:ext cx="8520600" cy="819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>
              <a:defRPr/>
            </a:lvl1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cs-CZ" sz="4400" b="1" dirty="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Hlavní nadpis prezentace</a:t>
            </a:r>
            <a:endParaRPr sz="4400" b="1" dirty="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" name="Google Shape;55;p13">
            <a:extLst>
              <a:ext uri="{FF2B5EF4-FFF2-40B4-BE49-F238E27FC236}">
                <a16:creationId xmlns:a16="http://schemas.microsoft.com/office/drawing/2014/main" id="{5DC2C187-E098-0BB0-FBEA-892270C37D14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311700" y="2362241"/>
            <a:ext cx="8520600" cy="604814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lnSpcReduction="10000"/>
          </a:bodyPr>
          <a:lstStyle>
            <a:lvl1pPr>
              <a:defRPr sz="2000"/>
            </a:lvl1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cs-CZ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Kliknutím můžete upravit styl předlohy.</a:t>
            </a:r>
            <a:endParaRPr dirty="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>
  <p:cSld name="TITLE_AND_BODY">
    <p:bg>
      <p:bgPr>
        <a:solidFill>
          <a:schemeClr val="tx2"/>
        </a:solidFill>
        <a:effectLst/>
      </p:bgPr>
    </p:bg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4"/>
          <p:cNvSpPr txBox="1">
            <a:spLocks noGrp="1"/>
          </p:cNvSpPr>
          <p:nvPr>
            <p:ph type="body" idx="1" hasCustomPrompt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00050" lvl="0" indent="-285750">
              <a:spcBef>
                <a:spcPts val="0"/>
              </a:spcBef>
              <a:spcAft>
                <a:spcPts val="0"/>
              </a:spcAft>
              <a:buSzPts val="1800"/>
              <a:buFontTx/>
              <a:buBlip>
                <a:blip r:embed="rId2"/>
              </a:buBlip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r>
              <a:rPr lang="cs-CZ" dirty="0"/>
              <a:t>Text prezentace</a:t>
            </a:r>
          </a:p>
          <a:p>
            <a:r>
              <a:rPr lang="cs-CZ" dirty="0"/>
              <a:t>Text prezentace</a:t>
            </a:r>
          </a:p>
          <a:p>
            <a:endParaRPr lang="cs-CZ" dirty="0"/>
          </a:p>
        </p:txBody>
      </p:sp>
      <p:sp>
        <p:nvSpPr>
          <p:cNvPr id="2" name="Google Shape;63;p14">
            <a:extLst>
              <a:ext uri="{FF2B5EF4-FFF2-40B4-BE49-F238E27FC236}">
                <a16:creationId xmlns:a16="http://schemas.microsoft.com/office/drawing/2014/main" id="{BED3DDDC-A531-285D-40E3-BF93D19F5D52}"/>
              </a:ext>
            </a:extLst>
          </p:cNvPr>
          <p:cNvSpPr/>
          <p:nvPr/>
        </p:nvSpPr>
        <p:spPr>
          <a:xfrm rot="10800000" flipH="1">
            <a:off x="0" y="1531"/>
            <a:ext cx="9144000" cy="819600"/>
          </a:xfrm>
          <a:prstGeom prst="rect">
            <a:avLst/>
          </a:prstGeom>
          <a:solidFill>
            <a:srgbClr val="00122A"/>
          </a:solidFill>
          <a:ln w="9525" cap="flat" cmpd="sng">
            <a:noFill/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" name="Google Shape;64;p14">
            <a:extLst>
              <a:ext uri="{FF2B5EF4-FFF2-40B4-BE49-F238E27FC236}">
                <a16:creationId xmlns:a16="http://schemas.microsoft.com/office/drawing/2014/main" id="{B1BCE614-9853-B0BF-37A0-08754D2FB331}"/>
              </a:ext>
            </a:extLst>
          </p:cNvPr>
          <p:cNvSpPr txBox="1">
            <a:spLocks noGrp="1"/>
          </p:cNvSpPr>
          <p:nvPr>
            <p:ph type="ctrTitle"/>
          </p:nvPr>
        </p:nvSpPr>
        <p:spPr>
          <a:xfrm>
            <a:off x="222855" y="232215"/>
            <a:ext cx="6560100" cy="402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cs-CZ" sz="2400" b="1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Kliknutím lze upravit styl.</a:t>
            </a:r>
            <a:endParaRPr sz="2400" b="1" dirty="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" name="Rectangle 2">
            <a:extLst>
              <a:ext uri="{FF2B5EF4-FFF2-40B4-BE49-F238E27FC236}">
                <a16:creationId xmlns:a16="http://schemas.microsoft.com/office/drawing/2014/main" id="{AF531F78-4134-4310-03B5-95CF287B1EDC}"/>
              </a:ext>
            </a:extLst>
          </p:cNvPr>
          <p:cNvSpPr/>
          <p:nvPr/>
        </p:nvSpPr>
        <p:spPr>
          <a:xfrm>
            <a:off x="1" y="5053426"/>
            <a:ext cx="9147106" cy="93179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>
  <p:cSld name="TITLE_ONLY">
    <p:bg>
      <p:bgPr>
        <a:solidFill>
          <a:schemeClr val="tx2"/>
        </a:solidFill>
        <a:effectLst/>
      </p:bgPr>
    </p:bg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63;p14">
            <a:extLst>
              <a:ext uri="{FF2B5EF4-FFF2-40B4-BE49-F238E27FC236}">
                <a16:creationId xmlns:a16="http://schemas.microsoft.com/office/drawing/2014/main" id="{4FDC2EEC-0C27-F2D3-E2E3-3A571687ADD7}"/>
              </a:ext>
            </a:extLst>
          </p:cNvPr>
          <p:cNvSpPr/>
          <p:nvPr/>
        </p:nvSpPr>
        <p:spPr>
          <a:xfrm rot="10800000" flipH="1">
            <a:off x="0" y="1531"/>
            <a:ext cx="9144000" cy="819600"/>
          </a:xfrm>
          <a:prstGeom prst="rect">
            <a:avLst/>
          </a:prstGeom>
          <a:solidFill>
            <a:srgbClr val="00122A"/>
          </a:solidFill>
          <a:ln w="9525" cap="flat" cmpd="sng">
            <a:noFill/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" name="Google Shape;64;p14">
            <a:extLst>
              <a:ext uri="{FF2B5EF4-FFF2-40B4-BE49-F238E27FC236}">
                <a16:creationId xmlns:a16="http://schemas.microsoft.com/office/drawing/2014/main" id="{6F81B93B-71AE-2143-510B-C672125FB2C4}"/>
              </a:ext>
            </a:extLst>
          </p:cNvPr>
          <p:cNvSpPr txBox="1">
            <a:spLocks noGrp="1"/>
          </p:cNvSpPr>
          <p:nvPr>
            <p:ph type="ctrTitle"/>
          </p:nvPr>
        </p:nvSpPr>
        <p:spPr>
          <a:xfrm>
            <a:off x="222855" y="232215"/>
            <a:ext cx="6560100" cy="402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cs-CZ" sz="2400" b="1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Kliknutím lze upravit styl.</a:t>
            </a:r>
            <a:endParaRPr sz="2400" b="1" dirty="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" name="Rectangle 2">
            <a:extLst>
              <a:ext uri="{FF2B5EF4-FFF2-40B4-BE49-F238E27FC236}">
                <a16:creationId xmlns:a16="http://schemas.microsoft.com/office/drawing/2014/main" id="{8DB6C1F0-C266-296F-549F-410004683D60}"/>
              </a:ext>
            </a:extLst>
          </p:cNvPr>
          <p:cNvSpPr/>
          <p:nvPr/>
        </p:nvSpPr>
        <p:spPr>
          <a:xfrm>
            <a:off x="1" y="5053426"/>
            <a:ext cx="9147106" cy="93179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rázek 7" descr="Obsah obrázku text, klipart&#10;&#10;Popis byl vytvořen automaticky">
            <a:extLst>
              <a:ext uri="{FF2B5EF4-FFF2-40B4-BE49-F238E27FC236}">
                <a16:creationId xmlns:a16="http://schemas.microsoft.com/office/drawing/2014/main" id="{9CC9F3C0-237F-387B-235E-1D4102740C9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3558" y="4409617"/>
            <a:ext cx="2457092" cy="357315"/>
          </a:xfrm>
          <a:prstGeom prst="rect">
            <a:avLst/>
          </a:prstGeom>
        </p:spPr>
      </p:pic>
      <p:pic>
        <p:nvPicPr>
          <p:cNvPr id="3" name="Picture 35">
            <a:extLst>
              <a:ext uri="{FF2B5EF4-FFF2-40B4-BE49-F238E27FC236}">
                <a16:creationId xmlns:a16="http://schemas.microsoft.com/office/drawing/2014/main" id="{B2B7AE1D-1DC8-9C5D-F6AA-CBC1E65AF75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49487" y="4426535"/>
            <a:ext cx="5485777" cy="141842"/>
          </a:xfrm>
          <a:prstGeom prst="rect">
            <a:avLst/>
          </a:prstGeom>
        </p:spPr>
      </p:pic>
      <p:sp>
        <p:nvSpPr>
          <p:cNvPr id="4" name="Google Shape;54;p13">
            <a:extLst>
              <a:ext uri="{FF2B5EF4-FFF2-40B4-BE49-F238E27FC236}">
                <a16:creationId xmlns:a16="http://schemas.microsoft.com/office/drawing/2014/main" id="{3B4E0843-CB06-733D-8156-FB2919820227}"/>
              </a:ext>
            </a:extLst>
          </p:cNvPr>
          <p:cNvSpPr txBox="1">
            <a:spLocks noGrp="1"/>
          </p:cNvSpPr>
          <p:nvPr>
            <p:ph type="ctrTitle" hasCustomPrompt="1"/>
          </p:nvPr>
        </p:nvSpPr>
        <p:spPr>
          <a:xfrm>
            <a:off x="4736123" y="1873133"/>
            <a:ext cx="3967223" cy="819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>
              <a:defRPr sz="3300" baseline="0"/>
            </a:lvl1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cs-CZ" sz="3300" b="1" baseline="0" dirty="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Jméno</a:t>
            </a:r>
            <a:endParaRPr sz="4400" b="1" dirty="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" name="Google Shape;55;p13">
            <a:extLst>
              <a:ext uri="{FF2B5EF4-FFF2-40B4-BE49-F238E27FC236}">
                <a16:creationId xmlns:a16="http://schemas.microsoft.com/office/drawing/2014/main" id="{64C759A3-0EDC-93CA-7FCE-8FD288CF1B11}"/>
              </a:ext>
            </a:extLst>
          </p:cNvPr>
          <p:cNvSpPr txBox="1">
            <a:spLocks noGrp="1"/>
          </p:cNvSpPr>
          <p:nvPr>
            <p:ph type="subTitle" idx="1" hasCustomPrompt="1"/>
          </p:nvPr>
        </p:nvSpPr>
        <p:spPr>
          <a:xfrm>
            <a:off x="4736122" y="2864758"/>
            <a:ext cx="3967223" cy="604814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lnSpcReduction="10000"/>
          </a:bodyPr>
          <a:lstStyle>
            <a:lvl1pPr>
              <a:defRPr/>
            </a:lvl1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cs" dirty="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Kontakt</a:t>
            </a:r>
            <a:endParaRPr dirty="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rgbClr val="00122A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9">
            <a:extLst>
              <a:ext uri="{FF2B5EF4-FFF2-40B4-BE49-F238E27FC236}">
                <a16:creationId xmlns:a16="http://schemas.microsoft.com/office/drawing/2014/main" id="{02FC0693-740A-4A27-1BDB-F1A4CA7FA704}"/>
              </a:ext>
            </a:extLst>
          </p:cNvPr>
          <p:cNvSpPr/>
          <p:nvPr/>
        </p:nvSpPr>
        <p:spPr>
          <a:xfrm>
            <a:off x="1" y="5053426"/>
            <a:ext cx="9147106" cy="93179"/>
          </a:xfrm>
          <a:prstGeom prst="rect">
            <a:avLst/>
          </a:prstGeom>
          <a:solidFill>
            <a:srgbClr val="00214D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50" r:id="rId2"/>
    <p:sldLayoutId id="2147483652" r:id="rId3"/>
    <p:sldLayoutId id="2147483657" r:id="rId4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chemeClr val="bg1"/>
          </a:solidFill>
          <a:latin typeface="Roboto" panose="02000000000000000000" pitchFamily="2" charset="0"/>
          <a:ea typeface="Roboto" panose="02000000000000000000" pitchFamily="2" charset="0"/>
          <a:cs typeface="Roboto" panose="02000000000000000000" pitchFamily="2" charset="0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Roboto" panose="02000000000000000000" pitchFamily="2" charset="0"/>
          <a:ea typeface="Roboto" panose="02000000000000000000" pitchFamily="2" charset="0"/>
          <a:cs typeface="Roboto" panose="02000000000000000000" pitchFamily="2" charset="0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https://joinup.ec.europa.eu/interoperable-europe" TargetMode="External"/><Relationship Id="rId2" Type="http://schemas.openxmlformats.org/officeDocument/2006/relationships/hyperlink" Target="https://eur-lex.europa.eu/legal-content/CS/TXT/?uri=CELEX:52022PC0720" TargetMode="Externa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hyperlink" Target="https://joinup.ec.europa.eu/collection/nifo-national-interoperability-framework-observatory/european-interoperability-framework-detail" TargetMode="Externa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hyperlink" Target="https://edps.europa.eu/data-protection/our-work/publications/opinions/2023-01-13-edps-opinion-interoperable-europe-act_en" TargetMode="Externa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hyperlink" Target="mailto:Tomas.sedivec@dia.gov.cz" TargetMode="External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Google Shape;54;p13">
            <a:extLst>
              <a:ext uri="{FF2B5EF4-FFF2-40B4-BE49-F238E27FC236}">
                <a16:creationId xmlns:a16="http://schemas.microsoft.com/office/drawing/2014/main" id="{AD77A338-D22D-3453-611B-EEA8FFBD855D}"/>
              </a:ext>
            </a:extLst>
          </p:cNvPr>
          <p:cNvSpPr txBox="1">
            <a:spLocks noGrp="1"/>
          </p:cNvSpPr>
          <p:nvPr>
            <p:ph type="ctrTitle"/>
          </p:nvPr>
        </p:nvSpPr>
        <p:spPr>
          <a:xfrm>
            <a:off x="152950" y="663154"/>
            <a:ext cx="8520600" cy="819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cs-CZ" sz="4000" b="1" dirty="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AKT O INTEROPERABILNÍ EVROPĚ</a:t>
            </a:r>
            <a:endParaRPr sz="4000" b="1" dirty="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" name="Podnadpis 2">
            <a:extLst>
              <a:ext uri="{FF2B5EF4-FFF2-40B4-BE49-F238E27FC236}">
                <a16:creationId xmlns:a16="http://schemas.microsoft.com/office/drawing/2014/main" id="{30368377-AB11-D9B6-11BD-9672BF96EFB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11700" y="2070100"/>
            <a:ext cx="8520600" cy="896955"/>
          </a:xfrm>
        </p:spPr>
        <p:txBody>
          <a:bodyPr>
            <a:normAutofit/>
          </a:bodyPr>
          <a:lstStyle/>
          <a:p>
            <a:pPr algn="ctr"/>
            <a:r>
              <a:rPr lang="cs-CZ" dirty="0">
                <a:solidFill>
                  <a:schemeClr val="accent4">
                    <a:lumMod val="60000"/>
                    <a:lumOff val="40000"/>
                  </a:schemeClr>
                </a:solidFill>
                <a:hlinkClick r:id="rId2"/>
              </a:rPr>
              <a:t>Návrh Nařízení Evropského parlamentu a rady, kterým se stanoví </a:t>
            </a:r>
            <a:br>
              <a:rPr lang="cs-CZ" dirty="0">
                <a:solidFill>
                  <a:schemeClr val="accent4">
                    <a:lumMod val="60000"/>
                    <a:lumOff val="40000"/>
                  </a:schemeClr>
                </a:solidFill>
                <a:hlinkClick r:id="rId2"/>
              </a:rPr>
            </a:br>
            <a:r>
              <a:rPr lang="cs-CZ" dirty="0">
                <a:solidFill>
                  <a:schemeClr val="accent4">
                    <a:lumMod val="60000"/>
                    <a:lumOff val="40000"/>
                  </a:schemeClr>
                </a:solidFill>
                <a:hlinkClick r:id="rId2"/>
              </a:rPr>
              <a:t>opatření pro vysokou úroveň interoperability veřejného sektoru v celé Unii</a:t>
            </a:r>
            <a:endParaRPr lang="cs-CZ" dirty="0">
              <a:solidFill>
                <a:schemeClr val="accent4">
                  <a:lumMod val="60000"/>
                  <a:lumOff val="40000"/>
                </a:schemeClr>
              </a:solidFill>
            </a:endParaRPr>
          </a:p>
        </p:txBody>
      </p:sp>
      <p:pic>
        <p:nvPicPr>
          <p:cNvPr id="7" name="Obrázek 6">
            <a:hlinkClick r:id="rId3"/>
            <a:extLst>
              <a:ext uri="{FF2B5EF4-FFF2-40B4-BE49-F238E27FC236}">
                <a16:creationId xmlns:a16="http://schemas.microsoft.com/office/drawing/2014/main" id="{1AF6FD52-9155-8DCC-C005-CA6E49294DCE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13393" t="35567" r="51223" b="43563"/>
          <a:stretch/>
        </p:blipFill>
        <p:spPr bwMode="auto">
          <a:xfrm>
            <a:off x="2897608" y="3122675"/>
            <a:ext cx="2495983" cy="828000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</p:spTree>
    <p:extLst>
      <p:ext uri="{BB962C8B-B14F-4D97-AF65-F5344CB8AC3E}">
        <p14:creationId xmlns:p14="http://schemas.microsoft.com/office/powerpoint/2010/main" val="102169373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text 1">
            <a:extLst>
              <a:ext uri="{FF2B5EF4-FFF2-40B4-BE49-F238E27FC236}">
                <a16:creationId xmlns:a16="http://schemas.microsoft.com/office/drawing/2014/main" id="{B18B94A3-1DAF-CE1B-109A-71C442EDF04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 fontScale="62500" lnSpcReduction="20000"/>
          </a:bodyPr>
          <a:lstStyle/>
          <a:p>
            <a:r>
              <a:rPr lang="en-US" sz="2400" dirty="0"/>
              <a:t>1. </a:t>
            </a:r>
            <a:r>
              <a:rPr lang="cs-CZ" sz="2400" dirty="0"/>
              <a:t>Interoperabilita ve veřejném sektoru a čtyři svobody EU</a:t>
            </a:r>
            <a:br>
              <a:rPr lang="cs-CZ" sz="2400" dirty="0"/>
            </a:br>
            <a:endParaRPr lang="cs-CZ" sz="2400" dirty="0"/>
          </a:p>
          <a:p>
            <a:r>
              <a:rPr lang="en-US" sz="2400" dirty="0"/>
              <a:t>2.</a:t>
            </a:r>
            <a:r>
              <a:rPr lang="cs-CZ" sz="2400" dirty="0"/>
              <a:t> Návrh Aktu o Interoperabilní Evropě a zásadní opatření na podporu digitální transformace:</a:t>
            </a:r>
            <a:br>
              <a:rPr lang="cs-CZ" sz="2400" dirty="0"/>
            </a:br>
            <a:endParaRPr lang="cs-CZ" sz="2400" dirty="0"/>
          </a:p>
          <a:p>
            <a:pPr lvl="1">
              <a:buClr>
                <a:srgbClr val="820000"/>
              </a:buClr>
              <a:buFont typeface="Arial" panose="020B0604020202020204" pitchFamily="34" charset="0"/>
              <a:buChar char="•"/>
            </a:pPr>
            <a:r>
              <a:rPr lang="cs-CZ" sz="2400" dirty="0"/>
              <a:t>Rámec pro transparentní a strukturovanou spolupráci;</a:t>
            </a:r>
            <a:br>
              <a:rPr lang="cs-CZ" sz="2400" dirty="0"/>
            </a:br>
            <a:endParaRPr lang="cs-CZ" sz="2400" dirty="0"/>
          </a:p>
          <a:p>
            <a:pPr lvl="1">
              <a:buClr>
                <a:srgbClr val="820000"/>
              </a:buClr>
              <a:buFont typeface="Arial" panose="020B0604020202020204" pitchFamily="34" charset="0"/>
              <a:buChar char="•"/>
            </a:pPr>
            <a:r>
              <a:rPr lang="cs-CZ" sz="2400" dirty="0"/>
              <a:t>Povinně prováděná hodnocení </a:t>
            </a:r>
            <a:r>
              <a:rPr lang="cs-CZ" sz="2400" i="1" dirty="0"/>
              <a:t>přeshraniční</a:t>
            </a:r>
            <a:r>
              <a:rPr lang="cs-CZ" sz="2400" dirty="0"/>
              <a:t> interoperability </a:t>
            </a:r>
            <a:br>
              <a:rPr lang="cs-CZ" sz="2400" dirty="0"/>
            </a:br>
            <a:r>
              <a:rPr lang="cs-CZ" sz="2400" dirty="0"/>
              <a:t>na úrovni návrhů politik, legislativy a digitálních řešení; </a:t>
            </a:r>
            <a:br>
              <a:rPr lang="cs-CZ" sz="2400" dirty="0"/>
            </a:br>
            <a:endParaRPr lang="cs-CZ" sz="2400" dirty="0"/>
          </a:p>
          <a:p>
            <a:pPr lvl="1">
              <a:buClr>
                <a:srgbClr val="820000"/>
              </a:buClr>
              <a:buFont typeface="Arial" panose="020B0604020202020204" pitchFamily="34" charset="0"/>
              <a:buChar char="•"/>
            </a:pPr>
            <a:r>
              <a:rPr lang="cs-CZ" sz="2400" dirty="0"/>
              <a:t>Sdílení konkrétních interoperabilních řešení na portále Interoperabilní Evropa;</a:t>
            </a:r>
            <a:br>
              <a:rPr lang="cs-CZ" sz="2400" dirty="0"/>
            </a:br>
            <a:endParaRPr lang="cs-CZ" sz="2400" dirty="0"/>
          </a:p>
          <a:p>
            <a:pPr lvl="1">
              <a:buClr>
                <a:srgbClr val="820000"/>
              </a:buClr>
              <a:buFont typeface="Arial" panose="020B0604020202020204" pitchFamily="34" charset="0"/>
              <a:buChar char="•"/>
            </a:pPr>
            <a:r>
              <a:rPr lang="cs-CZ" sz="2400" dirty="0"/>
              <a:t>Opatření na podporu inovací, včetně regulatorních </a:t>
            </a:r>
            <a:r>
              <a:rPr lang="cs-CZ" sz="2400" dirty="0" err="1"/>
              <a:t>sandboxů</a:t>
            </a:r>
            <a:r>
              <a:rPr lang="cs-CZ" sz="2400" dirty="0"/>
              <a:t> pro bezpečné testovaní politiky a GovTech projektů i pro cílené vzdělávání</a:t>
            </a:r>
          </a:p>
          <a:p>
            <a:pPr lvl="1">
              <a:buClr>
                <a:srgbClr val="820000"/>
              </a:buClr>
              <a:buFont typeface="Arial" panose="020B0604020202020204" pitchFamily="34" charset="0"/>
              <a:buChar char="•"/>
            </a:pPr>
            <a:endParaRPr lang="cs-CZ" sz="2400" dirty="0"/>
          </a:p>
          <a:p>
            <a:pPr lvl="1">
              <a:buClr>
                <a:srgbClr val="820000"/>
              </a:buClr>
              <a:buFont typeface="Arial" panose="020B0604020202020204" pitchFamily="34" charset="0"/>
              <a:buChar char="•"/>
            </a:pPr>
            <a:endParaRPr lang="cs-CZ" sz="2400" dirty="0"/>
          </a:p>
          <a:p>
            <a:r>
              <a:rPr lang="cs-CZ" sz="2400" dirty="0"/>
              <a:t>3. Stav projednávání a hlavní připomínky ze strany členských států EU</a:t>
            </a:r>
          </a:p>
        </p:txBody>
      </p:sp>
      <p:sp>
        <p:nvSpPr>
          <p:cNvPr id="4" name="Google Shape;64;p14">
            <a:extLst>
              <a:ext uri="{FF2B5EF4-FFF2-40B4-BE49-F238E27FC236}">
                <a16:creationId xmlns:a16="http://schemas.microsoft.com/office/drawing/2014/main" id="{BC461B80-3923-7D91-AC98-BF59FBE838E6}"/>
              </a:ext>
            </a:extLst>
          </p:cNvPr>
          <p:cNvSpPr txBox="1">
            <a:spLocks noGrp="1"/>
          </p:cNvSpPr>
          <p:nvPr>
            <p:ph type="ctrTitle"/>
          </p:nvPr>
        </p:nvSpPr>
        <p:spPr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cs-CZ" sz="2400" b="1" dirty="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Kontext a hlavní body návrhu</a:t>
            </a:r>
            <a:endParaRPr sz="2400" b="1" dirty="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  <p:extLst>
      <p:ext uri="{BB962C8B-B14F-4D97-AF65-F5344CB8AC3E}">
        <p14:creationId xmlns:p14="http://schemas.microsoft.com/office/powerpoint/2010/main" val="23595852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text 1">
            <a:extLst>
              <a:ext uri="{FF2B5EF4-FFF2-40B4-BE49-F238E27FC236}">
                <a16:creationId xmlns:a16="http://schemas.microsoft.com/office/drawing/2014/main" id="{19D1E1B6-13B0-D586-80B3-D818522045E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cs-CZ" dirty="0">
                <a:solidFill>
                  <a:srgbClr val="404040"/>
                </a:solidFill>
                <a:latin typeface="arial" panose="020B0604020202020204" pitchFamily="34" charset="0"/>
                <a:hlinkClick r:id="rId2"/>
              </a:rPr>
              <a:t>Evropský rámec interoperability</a:t>
            </a:r>
            <a:r>
              <a:rPr lang="cs-CZ" dirty="0">
                <a:solidFill>
                  <a:srgbClr val="404040"/>
                </a:solidFill>
                <a:latin typeface="arial" panose="020B0604020202020204" pitchFamily="34" charset="0"/>
              </a:rPr>
              <a:t> : </a:t>
            </a:r>
            <a:r>
              <a:rPr lang="cs-CZ" dirty="0">
                <a:solidFill>
                  <a:schemeClr val="tx1"/>
                </a:solidFill>
              </a:rPr>
              <a:t>12 zásad; různé úrovně interoperability (legislativní, organizační, technická, sémantická) a koncepční model pro poskytování integrovaných služeb veřejné správy;</a:t>
            </a:r>
            <a:br>
              <a:rPr lang="cs-CZ" dirty="0">
                <a:solidFill>
                  <a:schemeClr val="tx1"/>
                </a:solidFill>
              </a:rPr>
            </a:br>
            <a:r>
              <a:rPr lang="cs-CZ" dirty="0">
                <a:solidFill>
                  <a:schemeClr val="tx1"/>
                </a:solidFill>
              </a:rPr>
              <a:t> </a:t>
            </a:r>
          </a:p>
          <a:p>
            <a:r>
              <a:rPr lang="cs-CZ" dirty="0">
                <a:solidFill>
                  <a:schemeClr val="tx1"/>
                </a:solidFill>
              </a:rPr>
              <a:t>Doporučení nejsou právně závazná; v ČR byla zohledněna Hlavním Architektem eGovernmentu;</a:t>
            </a:r>
          </a:p>
          <a:p>
            <a:endParaRPr lang="cs-CZ" dirty="0">
              <a:solidFill>
                <a:schemeClr val="tx1"/>
              </a:solidFill>
            </a:endParaRPr>
          </a:p>
          <a:p>
            <a:r>
              <a:rPr lang="cs-CZ" dirty="0">
                <a:solidFill>
                  <a:schemeClr val="tx1"/>
                </a:solidFill>
              </a:rPr>
              <a:t>Akt pro Interoperabilní Evropu urychlí zavádění řešení pro přeshraniční výměnu dat a sdílení interoperabilních řešení, která jsou již k dispozici dle určitých pravidel. Odhadované finanční úspory: 5, 5 – 6, 3 miliónů EUR pro občany a 5,7 do 19,2 miliard EUR pro podnikatele a firmy při interakci </a:t>
            </a:r>
            <a:br>
              <a:rPr lang="cs-CZ" dirty="0">
                <a:solidFill>
                  <a:schemeClr val="tx1"/>
                </a:solidFill>
              </a:rPr>
            </a:br>
            <a:r>
              <a:rPr lang="cs-CZ" dirty="0">
                <a:solidFill>
                  <a:schemeClr val="tx1"/>
                </a:solidFill>
              </a:rPr>
              <a:t>s veřejnou správou;</a:t>
            </a:r>
          </a:p>
          <a:p>
            <a:endParaRPr lang="cs-CZ" b="0" i="0" dirty="0">
              <a:solidFill>
                <a:schemeClr val="tx1"/>
              </a:solidFill>
              <a:effectLst/>
            </a:endParaRPr>
          </a:p>
          <a:p>
            <a:r>
              <a:rPr lang="cs-CZ" b="0" i="0" dirty="0">
                <a:solidFill>
                  <a:schemeClr val="tx1"/>
                </a:solidFill>
                <a:effectLst/>
              </a:rPr>
              <a:t>Působnost Aktu nezavádí povinnost konkrétních standardů a řešení interoperability; </a:t>
            </a:r>
          </a:p>
          <a:p>
            <a:pPr marL="114300" indent="0">
              <a:buNone/>
            </a:pPr>
            <a:endParaRPr lang="cs-CZ" b="0" i="0" dirty="0">
              <a:solidFill>
                <a:schemeClr val="tx1"/>
              </a:solidFill>
              <a:effectLst/>
            </a:endParaRPr>
          </a:p>
          <a:p>
            <a:r>
              <a:rPr lang="cs-CZ" b="0" i="0" dirty="0">
                <a:solidFill>
                  <a:schemeClr val="tx1"/>
                </a:solidFill>
                <a:effectLst/>
              </a:rPr>
              <a:t>Evropská komise bere v úvahu již existující sektorová přeshraniční řešení a sítě, </a:t>
            </a:r>
            <a:br>
              <a:rPr lang="cs-CZ" b="0" i="0" dirty="0">
                <a:solidFill>
                  <a:schemeClr val="tx1"/>
                </a:solidFill>
                <a:effectLst/>
              </a:rPr>
            </a:br>
            <a:r>
              <a:rPr lang="cs-CZ" b="0" i="0" dirty="0">
                <a:solidFill>
                  <a:schemeClr val="tx1"/>
                </a:solidFill>
                <a:effectLst/>
              </a:rPr>
              <a:t>jako je např. EESSI a ECRIS.</a:t>
            </a:r>
          </a:p>
        </p:txBody>
      </p:sp>
      <p:sp>
        <p:nvSpPr>
          <p:cNvPr id="3" name="Nadpis 2">
            <a:extLst>
              <a:ext uri="{FF2B5EF4-FFF2-40B4-BE49-F238E27FC236}">
                <a16:creationId xmlns:a16="http://schemas.microsoft.com/office/drawing/2014/main" id="{F2DD3A7D-1E5B-D8D2-DA86-56A6EC90927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22855" y="232215"/>
            <a:ext cx="7489294" cy="402600"/>
          </a:xfrm>
        </p:spPr>
        <p:txBody>
          <a:bodyPr/>
          <a:lstStyle/>
          <a:p>
            <a:r>
              <a:rPr lang="cs-CZ" sz="1800" b="1" dirty="0">
                <a:solidFill>
                  <a:schemeClr val="lt1"/>
                </a:solidFill>
                <a:latin typeface="Roboto"/>
                <a:ea typeface="Roboto"/>
                <a:cs typeface="Roboto"/>
              </a:rPr>
              <a:t>Interoperabilita ve veřejném sektoru a jednotný digitální trh</a:t>
            </a:r>
          </a:p>
        </p:txBody>
      </p:sp>
    </p:spTree>
    <p:extLst>
      <p:ext uri="{BB962C8B-B14F-4D97-AF65-F5344CB8AC3E}">
        <p14:creationId xmlns:p14="http://schemas.microsoft.com/office/powerpoint/2010/main" val="418393195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text 1">
            <a:extLst>
              <a:ext uri="{FF2B5EF4-FFF2-40B4-BE49-F238E27FC236}">
                <a16:creationId xmlns:a16="http://schemas.microsoft.com/office/drawing/2014/main" id="{53C10E67-4947-2DBD-B77E-7BF153DF666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 fontScale="55000" lnSpcReduction="20000"/>
          </a:bodyPr>
          <a:lstStyle/>
          <a:p>
            <a:pPr marL="400050" lvl="1" indent="-285750">
              <a:buSzPts val="1800"/>
              <a:buBlip>
                <a:blip r:embed="rId2"/>
              </a:buBlip>
            </a:pPr>
            <a:r>
              <a:rPr lang="cs-CZ" sz="250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Rámec pro transparentní a strukturovanou spolupráci:</a:t>
            </a:r>
          </a:p>
          <a:p>
            <a:pPr marL="1054100" lvl="2" indent="0">
              <a:buClr>
                <a:srgbClr val="820000"/>
              </a:buClr>
              <a:buNone/>
            </a:pPr>
            <a:endParaRPr lang="cs-CZ" sz="2500" dirty="0"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  <a:p>
            <a:pPr marL="1054100" lvl="2" indent="0">
              <a:buClr>
                <a:srgbClr val="820000"/>
              </a:buClr>
              <a:buNone/>
            </a:pPr>
            <a:r>
              <a:rPr lang="cs-CZ" sz="2500" b="1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Výbor pro Interoperabilní Evropu</a:t>
            </a:r>
          </a:p>
          <a:p>
            <a:pPr marL="1054100" lvl="2" indent="0">
              <a:buClr>
                <a:srgbClr val="820000"/>
              </a:buClr>
              <a:buNone/>
            </a:pPr>
            <a:br>
              <a:rPr lang="cs-CZ" sz="250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</a:br>
            <a:r>
              <a:rPr lang="cs-CZ" sz="2500" b="1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Portál „Interoperabilní Evropa“</a:t>
            </a:r>
          </a:p>
          <a:p>
            <a:pPr marL="1054100" lvl="2" indent="0">
              <a:buClr>
                <a:srgbClr val="820000"/>
              </a:buClr>
              <a:buNone/>
            </a:pPr>
            <a:br>
              <a:rPr lang="cs-CZ" sz="250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</a:br>
            <a:r>
              <a:rPr lang="cs-CZ" sz="250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„</a:t>
            </a:r>
            <a:r>
              <a:rPr lang="cs-CZ" sz="2500" b="1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Agenda pro Interoperabilní Evropu</a:t>
            </a:r>
            <a:r>
              <a:rPr lang="cs-CZ" sz="250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“ - plánování, monitorování, implementace</a:t>
            </a:r>
          </a:p>
          <a:p>
            <a:pPr marL="114300" lvl="1" indent="0">
              <a:buSzPts val="1800"/>
              <a:buNone/>
            </a:pPr>
            <a:endParaRPr lang="cs-CZ" sz="2500" dirty="0"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  <a:p>
            <a:pPr marL="114300" lvl="1" indent="0">
              <a:buSzPts val="1800"/>
              <a:buNone/>
            </a:pPr>
            <a:endParaRPr lang="cs-CZ" sz="2500" dirty="0"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  <a:p>
            <a:pPr marL="400050" lvl="1" indent="-285750">
              <a:buSzPts val="1800"/>
              <a:buBlip>
                <a:blip r:embed="rId2"/>
              </a:buBlip>
            </a:pPr>
            <a:r>
              <a:rPr lang="cs-CZ" sz="250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Povinně prováděná </a:t>
            </a:r>
            <a:r>
              <a:rPr lang="cs-CZ" sz="2500" b="1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hodnocení přeshraniční interoperability </a:t>
            </a:r>
            <a:r>
              <a:rPr lang="cs-CZ" sz="250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již na úrovni návrhů politik, legislativy </a:t>
            </a:r>
            <a:br>
              <a:rPr lang="cs-CZ" sz="250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</a:br>
            <a:r>
              <a:rPr lang="cs-CZ" sz="250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a digitálních řešení                (včasné zohlednění přeshraniční výměny dat a interoperability); </a:t>
            </a:r>
          </a:p>
          <a:p>
            <a:pPr marL="400050" lvl="1" indent="-285750">
              <a:buSzPts val="1800"/>
              <a:buBlip>
                <a:blip r:embed="rId2"/>
              </a:buBlip>
            </a:pPr>
            <a:endParaRPr lang="cs-CZ" sz="2500" dirty="0"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  <a:p>
            <a:pPr marL="400050" lvl="1" indent="-285750">
              <a:buSzPts val="1800"/>
              <a:buBlip>
                <a:blip r:embed="rId2"/>
              </a:buBlip>
            </a:pPr>
            <a:r>
              <a:rPr lang="cs-CZ" sz="250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Sdílení konkrétních interoperabilních řešení na portále </a:t>
            </a:r>
            <a:r>
              <a:rPr lang="cs-CZ" sz="2500" b="1" dirty="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Interoperabilní Evropa</a:t>
            </a:r>
            <a:r>
              <a:rPr lang="cs-CZ" sz="250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;</a:t>
            </a:r>
          </a:p>
          <a:p>
            <a:pPr marL="400050" lvl="1" indent="-285750">
              <a:buSzPts val="1800"/>
              <a:buBlip>
                <a:blip r:embed="rId2"/>
              </a:buBlip>
            </a:pPr>
            <a:endParaRPr lang="cs-CZ" sz="2500" dirty="0"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  <a:p>
            <a:pPr marL="400050" lvl="1" indent="-285750">
              <a:buSzPts val="1800"/>
              <a:buBlip>
                <a:blip r:embed="rId2"/>
              </a:buBlip>
            </a:pPr>
            <a:r>
              <a:rPr lang="cs-CZ" sz="2500" b="1" dirty="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Opatření na podporu inovací</a:t>
            </a:r>
            <a:r>
              <a:rPr lang="cs-CZ" sz="250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, včetně regulatorních </a:t>
            </a:r>
            <a:r>
              <a:rPr lang="cs-CZ" sz="2500" dirty="0" err="1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sandboxů</a:t>
            </a:r>
            <a:r>
              <a:rPr lang="cs-CZ" sz="250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pro bezpečné testovaní politiky </a:t>
            </a:r>
            <a:br>
              <a:rPr lang="cs-CZ" sz="250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</a:br>
            <a:r>
              <a:rPr lang="cs-CZ" sz="250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a GovTech projektů a zároveň jako prostor pro cílená školení a  vzdělávání</a:t>
            </a:r>
          </a:p>
          <a:p>
            <a:pPr lvl="1">
              <a:buClr>
                <a:srgbClr val="820000"/>
              </a:buClr>
              <a:buFont typeface="Arial" panose="020B0604020202020204" pitchFamily="34" charset="0"/>
              <a:buChar char="•"/>
            </a:pPr>
            <a:endParaRPr lang="cs-CZ" sz="2500" dirty="0"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  <a:p>
            <a:pPr lvl="1">
              <a:buClr>
                <a:srgbClr val="820000"/>
              </a:buClr>
              <a:buFont typeface="Arial" panose="020B0604020202020204" pitchFamily="34" charset="0"/>
              <a:buChar char="•"/>
            </a:pPr>
            <a:endParaRPr lang="cs-CZ" sz="2500" dirty="0"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  <a:p>
            <a:pPr marL="114300" indent="0">
              <a:buNone/>
            </a:pPr>
            <a:endParaRPr lang="cs-CZ" sz="2400" dirty="0"/>
          </a:p>
          <a:p>
            <a:endParaRPr lang="cs-CZ" dirty="0"/>
          </a:p>
        </p:txBody>
      </p:sp>
      <p:sp>
        <p:nvSpPr>
          <p:cNvPr id="3" name="Nadpis 2">
            <a:extLst>
              <a:ext uri="{FF2B5EF4-FFF2-40B4-BE49-F238E27FC236}">
                <a16:creationId xmlns:a16="http://schemas.microsoft.com/office/drawing/2014/main" id="{97608143-5062-A5F9-0E7F-B6B5A41EA3F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cs-CZ" sz="1800" dirty="0"/>
              <a:t>Návrh Aktu o Interoperabilní Evropě zavádí</a:t>
            </a:r>
            <a:r>
              <a:rPr lang="cs-CZ" dirty="0"/>
              <a:t>: </a:t>
            </a:r>
          </a:p>
        </p:txBody>
      </p:sp>
      <p:sp>
        <p:nvSpPr>
          <p:cNvPr id="4" name="Šipka: doprava 3">
            <a:extLst>
              <a:ext uri="{FF2B5EF4-FFF2-40B4-BE49-F238E27FC236}">
                <a16:creationId xmlns:a16="http://schemas.microsoft.com/office/drawing/2014/main" id="{EFFAA702-EB15-DCFB-B70D-4E43A27A22F6}"/>
              </a:ext>
            </a:extLst>
          </p:cNvPr>
          <p:cNvSpPr/>
          <p:nvPr/>
        </p:nvSpPr>
        <p:spPr>
          <a:xfrm>
            <a:off x="2374605" y="2991293"/>
            <a:ext cx="503274" cy="99238"/>
          </a:xfrm>
          <a:prstGeom prst="rightArrow">
            <a:avLst/>
          </a:prstGeom>
          <a:solidFill>
            <a:srgbClr val="00B0F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023998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text 1">
            <a:extLst>
              <a:ext uri="{FF2B5EF4-FFF2-40B4-BE49-F238E27FC236}">
                <a16:creationId xmlns:a16="http://schemas.microsoft.com/office/drawing/2014/main" id="{79D5D8EA-834C-CE18-D2C4-D3AA13ED2B3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cs-CZ" dirty="0"/>
              <a:t>Komise přijala návrh Aktu pro Interoperabilní Evropu  dne 18. 11. 2022</a:t>
            </a:r>
          </a:p>
          <a:p>
            <a:pPr marL="114300" indent="0">
              <a:buNone/>
            </a:pPr>
            <a:endParaRPr lang="cs-CZ" dirty="0"/>
          </a:p>
          <a:p>
            <a:r>
              <a:rPr lang="cs-CZ" dirty="0">
                <a:hlinkClick r:id="rId2"/>
              </a:rPr>
              <a:t>Evropský inspektor ochrany údajů</a:t>
            </a:r>
            <a:r>
              <a:rPr lang="cs-CZ" dirty="0"/>
              <a:t> ve svém stanovisku (13. 1. 2023) upozorňuje na pozitivní aspekty chybějící interoperability a technických překážek tam, kde je žádoucí ochrana osobních údajů (omezen účelu). </a:t>
            </a:r>
            <a:br>
              <a:rPr lang="cs-CZ" dirty="0"/>
            </a:br>
            <a:r>
              <a:rPr lang="cs-CZ" dirty="0"/>
              <a:t>Návrh nařízení neobsahuje dostatečné oprávnění zpracovávat osobní údaje v propojeném mezinárodním prostředí (kromě </a:t>
            </a:r>
            <a:r>
              <a:rPr lang="cs-CZ" dirty="0" err="1"/>
              <a:t>sandboxů</a:t>
            </a:r>
            <a:r>
              <a:rPr lang="cs-CZ" dirty="0"/>
              <a:t>). </a:t>
            </a:r>
          </a:p>
          <a:p>
            <a:endParaRPr lang="cs-CZ" dirty="0"/>
          </a:p>
          <a:p>
            <a:pPr marL="114300" indent="0">
              <a:buNone/>
            </a:pPr>
            <a:endParaRPr lang="cs-CZ" dirty="0"/>
          </a:p>
          <a:p>
            <a:r>
              <a:rPr lang="cs-CZ" dirty="0"/>
              <a:t>První kompromisní text byl diskutován v pracovní skupině Rady EU WP TELECOM dne 31.3. 2023</a:t>
            </a:r>
          </a:p>
          <a:p>
            <a:endParaRPr lang="cs-CZ" dirty="0"/>
          </a:p>
          <a:p>
            <a:pPr lvl="1"/>
            <a:r>
              <a:rPr lang="cs-CZ" u="sng" dirty="0"/>
              <a:t>Nejdůležitější změny</a:t>
            </a:r>
            <a:r>
              <a:rPr lang="cs-CZ" dirty="0"/>
              <a:t>: zavedení výjimky v oblasti národní bezpečnosti, upřesnění rozsahu nařízení </a:t>
            </a:r>
            <a:br>
              <a:rPr lang="cs-CZ" dirty="0"/>
            </a:br>
            <a:r>
              <a:rPr lang="cs-CZ" dirty="0"/>
              <a:t>a typu služeb, na které se bude vztahovat povinnost posouzení interoperability, sladění kapitoly </a:t>
            </a:r>
            <a:br>
              <a:rPr lang="cs-CZ" dirty="0"/>
            </a:br>
            <a:r>
              <a:rPr lang="cs-CZ" dirty="0"/>
              <a:t>o regulatorních sandboxech s ustanoveními Aktu pro umělou inteligenci, vyjasnění působnosti </a:t>
            </a:r>
            <a:br>
              <a:rPr lang="cs-CZ" dirty="0"/>
            </a:br>
            <a:r>
              <a:rPr lang="cs-CZ" dirty="0"/>
              <a:t>GDPR a povinnosti provádět hodnocení interoperability i pro jednotlivé instituce a ředitelství Evropské komise</a:t>
            </a:r>
          </a:p>
          <a:p>
            <a:pPr marL="114300" indent="0">
              <a:buNone/>
            </a:pPr>
            <a:endParaRPr lang="cs-CZ" dirty="0"/>
          </a:p>
          <a:p>
            <a:r>
              <a:rPr lang="cs-CZ" dirty="0"/>
              <a:t>Druhý kompromisní text diskutován  31. 5. 2023. Běží termín pro zasílání připomínek. </a:t>
            </a:r>
            <a:br>
              <a:rPr lang="cs-CZ" dirty="0"/>
            </a:br>
            <a:r>
              <a:rPr lang="cs-CZ" dirty="0"/>
              <a:t>Na červen nejsou plánována další projednáván textu, avšak EK věří, že by bylo možné nařízení přijmout </a:t>
            </a:r>
            <a:br>
              <a:rPr lang="cs-CZ" dirty="0"/>
            </a:br>
            <a:r>
              <a:rPr lang="cs-CZ" dirty="0"/>
              <a:t>do konce 2023.  Členské státy žádají delší dobu na implementaci – tento bod zatím není rozhodnut. </a:t>
            </a:r>
          </a:p>
          <a:p>
            <a:endParaRPr lang="cs-CZ" dirty="0"/>
          </a:p>
          <a:p>
            <a:endParaRPr lang="cs-CZ" dirty="0"/>
          </a:p>
          <a:p>
            <a:pPr marL="114300" indent="0">
              <a:buNone/>
            </a:pPr>
            <a:endParaRPr lang="cs-CZ" dirty="0"/>
          </a:p>
        </p:txBody>
      </p:sp>
      <p:sp>
        <p:nvSpPr>
          <p:cNvPr id="3" name="Nadpis 2">
            <a:extLst>
              <a:ext uri="{FF2B5EF4-FFF2-40B4-BE49-F238E27FC236}">
                <a16:creationId xmlns:a16="http://schemas.microsoft.com/office/drawing/2014/main" id="{32842217-5056-F7D8-1CD5-B06D3243929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22855" y="232215"/>
            <a:ext cx="7758652" cy="402600"/>
          </a:xfrm>
        </p:spPr>
        <p:txBody>
          <a:bodyPr/>
          <a:lstStyle/>
          <a:p>
            <a:r>
              <a:rPr lang="cs-CZ" sz="1600" dirty="0"/>
              <a:t>Projednávání návrhu a hlavní připomínky ze strany členských států EU</a:t>
            </a:r>
            <a:br>
              <a:rPr lang="cs-CZ" dirty="0"/>
            </a:br>
            <a:endParaRPr lang="cs-CZ" dirty="0"/>
          </a:p>
        </p:txBody>
      </p:sp>
    </p:spTree>
    <p:extLst>
      <p:ext uri="{BB962C8B-B14F-4D97-AF65-F5344CB8AC3E}">
        <p14:creationId xmlns:p14="http://schemas.microsoft.com/office/powerpoint/2010/main" val="278108882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F32B22E3-EB69-C15F-5F4E-A408A5400645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cs-CZ" dirty="0"/>
              <a:t>Alena Klímová</a:t>
            </a:r>
            <a:br>
              <a:rPr lang="cs-CZ" dirty="0"/>
            </a:br>
            <a:r>
              <a:rPr lang="cs-CZ" sz="1400" dirty="0"/>
              <a:t>oddělení mezinárodního eGovernmentu</a:t>
            </a:r>
          </a:p>
        </p:txBody>
      </p:sp>
      <p:sp>
        <p:nvSpPr>
          <p:cNvPr id="3" name="Podnadpis 2">
            <a:extLst>
              <a:ext uri="{FF2B5EF4-FFF2-40B4-BE49-F238E27FC236}">
                <a16:creationId xmlns:a16="http://schemas.microsoft.com/office/drawing/2014/main" id="{6CF3FC22-4467-189E-2033-9D901A5BEE81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cs-CZ" dirty="0">
                <a:solidFill>
                  <a:schemeClr val="bg2">
                    <a:lumMod val="20000"/>
                    <a:lumOff val="80000"/>
                  </a:schemeClr>
                </a:solidFill>
                <a:hlinkClick r:id="rId2"/>
              </a:rPr>
              <a:t>alena.klimova@dia.gov.cz</a:t>
            </a:r>
            <a:endParaRPr lang="cs-CZ" dirty="0">
              <a:solidFill>
                <a:schemeClr val="bg2">
                  <a:lumMod val="20000"/>
                  <a:lumOff val="8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33716810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LIDO_APP_VERSION" val="1.6.1.4122"/>
  <p:tag name="SLIDO_PRESENTATION_ID" val="00000000-0000-0000-0000-000000000000"/>
  <p:tag name="SLIDO_EVENT_UUID" val="ede24eb3-3bae-479d-a759-b8993ae8f341"/>
  <p:tag name="SLIDO_EVENT_SECTION_UUID" val="eef55343-d16f-4573-aa4f-31f9ff3c7a07"/>
</p:tagLst>
</file>

<file path=ppt/theme/theme1.xml><?xml version="1.0" encoding="utf-8"?>
<a:theme xmlns:a="http://schemas.openxmlformats.org/drawingml/2006/main" name="Motiv_tmave modra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Motiv_tmave modra" id="{0527EF99-B1F2-4546-BBDE-DFB61FBC5094}" vid="{DE900892-6623-445E-9057-06E22C88A4B1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kument" ma:contentTypeID="0x010100B7636834349BDE4785976B8F50EC4529" ma:contentTypeVersion="3" ma:contentTypeDescription="Vytvoří nový dokument" ma:contentTypeScope="" ma:versionID="ecf94d19de82b3b341e2de8cfb48251b">
  <xsd:schema xmlns:xsd="http://www.w3.org/2001/XMLSchema" xmlns:xs="http://www.w3.org/2001/XMLSchema" xmlns:p="http://schemas.microsoft.com/office/2006/metadata/properties" xmlns:ns2="96a559f6-78cc-4fcb-80ce-aeceb24eab07" targetNamespace="http://schemas.microsoft.com/office/2006/metadata/properties" ma:root="true" ma:fieldsID="ad8f392e0f7f0843995144df8d801885" ns2:_="">
    <xsd:import namespace="96a559f6-78cc-4fcb-80ce-aeceb24eab07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bjectDetectorVersion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6a559f6-78cc-4fcb-80ce-aeceb24eab07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bjectDetectorVersions" ma:index="10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yp obsahu"/>
        <xsd:element ref="dc:title" minOccurs="0" maxOccurs="1" ma:index="4" ma:displayName="Nadpis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92745463-1E35-499F-8A23-632CB0277B6F}"/>
</file>

<file path=customXml/itemProps2.xml><?xml version="1.0" encoding="utf-8"?>
<ds:datastoreItem xmlns:ds="http://schemas.openxmlformats.org/officeDocument/2006/customXml" ds:itemID="{A4F2814E-AF85-41D0-915C-B174A5C43421}"/>
</file>

<file path=docProps/app.xml><?xml version="1.0" encoding="utf-8"?>
<Properties xmlns="http://schemas.openxmlformats.org/officeDocument/2006/extended-properties" xmlns:vt="http://schemas.openxmlformats.org/officeDocument/2006/docPropsVTypes">
  <Template>Motiv_tmave modra</Template>
  <TotalTime>107</TotalTime>
  <Words>578</Words>
  <Application>Microsoft Office PowerPoint</Application>
  <PresentationFormat>Předvádění na obrazovce (16:9)</PresentationFormat>
  <Paragraphs>50</Paragraphs>
  <Slides>6</Slides>
  <Notes>0</Notes>
  <HiddenSlides>0</HiddenSlides>
  <MMClips>0</MMClips>
  <ScaleCrop>false</ScaleCrop>
  <HeadingPairs>
    <vt:vector size="6" baseType="variant">
      <vt:variant>
        <vt:lpstr>Použitá písma</vt:lpstr>
      </vt:variant>
      <vt:variant>
        <vt:i4>3</vt:i4>
      </vt:variant>
      <vt:variant>
        <vt:lpstr>Motiv</vt:lpstr>
      </vt:variant>
      <vt:variant>
        <vt:i4>1</vt:i4>
      </vt:variant>
      <vt:variant>
        <vt:lpstr>Nadpisy snímků</vt:lpstr>
      </vt:variant>
      <vt:variant>
        <vt:i4>6</vt:i4>
      </vt:variant>
    </vt:vector>
  </HeadingPairs>
  <TitlesOfParts>
    <vt:vector size="10" baseType="lpstr">
      <vt:lpstr>Arial</vt:lpstr>
      <vt:lpstr>Roboto</vt:lpstr>
      <vt:lpstr>Arial</vt:lpstr>
      <vt:lpstr>Motiv_tmave modra</vt:lpstr>
      <vt:lpstr>AKT O INTEROPERABILNÍ EVROPĚ</vt:lpstr>
      <vt:lpstr>Kontext a hlavní body návrhu</vt:lpstr>
      <vt:lpstr>Interoperabilita ve veřejném sektoru a jednotný digitální trh</vt:lpstr>
      <vt:lpstr>Návrh Aktu o Interoperabilní Evropě zavádí: </vt:lpstr>
      <vt:lpstr>Projednávání návrhu a hlavní připomínky ze strany členských států EU </vt:lpstr>
      <vt:lpstr>Alena Klímová oddělení mezinárodního eGovernmentu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Schvalování projektů eGovernmentu a architektura</dc:title>
  <dc:creator>Tomáš Šedivec</dc:creator>
  <cp:lastModifiedBy>Alena Klímová</cp:lastModifiedBy>
  <cp:revision>5</cp:revision>
  <dcterms:created xsi:type="dcterms:W3CDTF">2023-05-26T10:57:30Z</dcterms:created>
  <dcterms:modified xsi:type="dcterms:W3CDTF">2023-06-05T08:01:15Z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defa4170-0d19-0005-0004-bc88714345d2_Enabled">
    <vt:lpwstr>true</vt:lpwstr>
  </property>
  <property fmtid="{D5CDD505-2E9C-101B-9397-08002B2CF9AE}" pid="3" name="MSIP_Label_defa4170-0d19-0005-0004-bc88714345d2_SetDate">
    <vt:lpwstr>2023-05-26T10:57:30Z</vt:lpwstr>
  </property>
  <property fmtid="{D5CDD505-2E9C-101B-9397-08002B2CF9AE}" pid="4" name="MSIP_Label_defa4170-0d19-0005-0004-bc88714345d2_Method">
    <vt:lpwstr>Standard</vt:lpwstr>
  </property>
  <property fmtid="{D5CDD505-2E9C-101B-9397-08002B2CF9AE}" pid="5" name="MSIP_Label_defa4170-0d19-0005-0004-bc88714345d2_Name">
    <vt:lpwstr>defa4170-0d19-0005-0004-bc88714345d2</vt:lpwstr>
  </property>
  <property fmtid="{D5CDD505-2E9C-101B-9397-08002B2CF9AE}" pid="6" name="MSIP_Label_defa4170-0d19-0005-0004-bc88714345d2_SiteId">
    <vt:lpwstr>5b6b85cd-44ef-4d66-86d4-603dd2160780</vt:lpwstr>
  </property>
  <property fmtid="{D5CDD505-2E9C-101B-9397-08002B2CF9AE}" pid="7" name="MSIP_Label_defa4170-0d19-0005-0004-bc88714345d2_ActionId">
    <vt:lpwstr>c09e6451-34d9-4c02-9220-7088212e7b32</vt:lpwstr>
  </property>
  <property fmtid="{D5CDD505-2E9C-101B-9397-08002B2CF9AE}" pid="8" name="MSIP_Label_defa4170-0d19-0005-0004-bc88714345d2_ContentBits">
    <vt:lpwstr>0</vt:lpwstr>
  </property>
  <property fmtid="{D5CDD505-2E9C-101B-9397-08002B2CF9AE}" pid="9" name="SlidoAppVersion">
    <vt:lpwstr>1.6.1.4122</vt:lpwstr>
  </property>
</Properties>
</file>
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74" r:id="rId5"/>
    <p:sldId id="316" r:id="rId6"/>
    <p:sldId id="303" r:id="rId7"/>
    <p:sldId id="300" r:id="rId8"/>
    <p:sldId id="299" r:id="rId9"/>
    <p:sldId id="304" r:id="rId10"/>
    <p:sldId id="317" r:id="rId11"/>
    <p:sldId id="302" r:id="rId12"/>
    <p:sldId id="305" r:id="rId13"/>
    <p:sldId id="306" r:id="rId14"/>
    <p:sldId id="309" r:id="rId15"/>
    <p:sldId id="308" r:id="rId16"/>
    <p:sldId id="314" r:id="rId17"/>
    <p:sldId id="310" r:id="rId18"/>
    <p:sldId id="311" r:id="rId19"/>
    <p:sldId id="312" r:id="rId20"/>
    <p:sldId id="324" r:id="rId21"/>
    <p:sldId id="318" r:id="rId22"/>
    <p:sldId id="322" r:id="rId23"/>
    <p:sldId id="320" r:id="rId24"/>
    <p:sldId id="321" r:id="rId25"/>
    <p:sldId id="323" r:id="rId26"/>
    <p:sldId id="289" r:id="rId27"/>
    <p:sldId id="287" r:id="rId28"/>
    <p:sldId id="290" r:id="rId29"/>
    <p:sldId id="293" r:id="rId30"/>
    <p:sldId id="294" r:id="rId31"/>
    <p:sldId id="291" r:id="rId32"/>
    <p:sldId id="285" r:id="rId33"/>
    <p:sldId id="267" r:id="rId34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98E"/>
    <a:srgbClr val="46AD48"/>
    <a:srgbClr val="E8EDE8"/>
    <a:srgbClr val="2E2D2C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27"/>
    <p:restoredTop sz="96301"/>
  </p:normalViewPr>
  <p:slideViewPr>
    <p:cSldViewPr snapToGrid="0">
      <p:cViewPr varScale="1">
        <p:scale>
          <a:sx n="114" d="100"/>
          <a:sy n="114" d="100"/>
        </p:scale>
        <p:origin x="192" y="464"/>
      </p:cViewPr>
      <p:guideLst/>
    </p:cSldViewPr>
  </p:slideViewPr>
  <p:outlineViewPr>
    <p:cViewPr>
      <p:scale>
        <a:sx n="33" d="100"/>
        <a:sy n="33" d="100"/>
      </p:scale>
      <p:origin x="0" y="-78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5" d="100"/>
          <a:sy n="125" d="100"/>
        </p:scale>
        <p:origin x="216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 Jan" userId="619497a3-6dda-48a9-9783-3fc51734f31c" providerId="ADAL" clId="{4B3DD82C-6F9D-8944-8117-560070421635}"/>
    <pc:docChg chg="delSld modSld">
      <pc:chgData name="Petr Jan" userId="619497a3-6dda-48a9-9783-3fc51734f31c" providerId="ADAL" clId="{4B3DD82C-6F9D-8944-8117-560070421635}" dt="2024-12-09T12:12:26.219" v="3"/>
      <pc:docMkLst>
        <pc:docMk/>
      </pc:docMkLst>
      <pc:sldChg chg="del">
        <pc:chgData name="Petr Jan" userId="619497a3-6dda-48a9-9783-3fc51734f31c" providerId="ADAL" clId="{4B3DD82C-6F9D-8944-8117-560070421635}" dt="2024-12-09T12:10:30.262" v="0" actId="2696"/>
        <pc:sldMkLst>
          <pc:docMk/>
          <pc:sldMk cId="294200125" sldId="292"/>
        </pc:sldMkLst>
      </pc:sldChg>
      <pc:sldChg chg="del">
        <pc:chgData name="Petr Jan" userId="619497a3-6dda-48a9-9783-3fc51734f31c" providerId="ADAL" clId="{4B3DD82C-6F9D-8944-8117-560070421635}" dt="2024-12-09T12:10:31.575" v="1" actId="2696"/>
        <pc:sldMkLst>
          <pc:docMk/>
          <pc:sldMk cId="2377141234" sldId="295"/>
        </pc:sldMkLst>
      </pc:sldChg>
      <pc:sldChg chg="modSp mod">
        <pc:chgData name="Petr Jan" userId="619497a3-6dda-48a9-9783-3fc51734f31c" providerId="ADAL" clId="{4B3DD82C-6F9D-8944-8117-560070421635}" dt="2024-12-09T12:12:26.219" v="3"/>
        <pc:sldMkLst>
          <pc:docMk/>
          <pc:sldMk cId="2589239342" sldId="304"/>
        </pc:sldMkLst>
        <pc:spChg chg="mod">
          <ac:chgData name="Petr Jan" userId="619497a3-6dda-48a9-9783-3fc51734f31c" providerId="ADAL" clId="{4B3DD82C-6F9D-8944-8117-560070421635}" dt="2024-12-09T12:12:26.219" v="3"/>
          <ac:spMkLst>
            <pc:docMk/>
            <pc:sldMk cId="2589239342" sldId="304"/>
            <ac:spMk id="3" creationId="{C060CF7F-A1DC-931A-629F-C4B3B5153D9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ADB3CE-AF68-8E44-B285-5C6BD1CCE065}" type="doc">
      <dgm:prSet loTypeId="urn:microsoft.com/office/officeart/2005/8/layout/matrix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42780209-4CD6-E940-B603-07C771EC3E2F}">
      <dgm:prSet phldrT="[Text]"/>
      <dgm:spPr/>
      <dgm:t>
        <a:bodyPr/>
        <a:lstStyle/>
        <a:p>
          <a:r>
            <a:rPr lang="cs-CZ" dirty="0"/>
            <a:t>složité</a:t>
          </a:r>
        </a:p>
        <a:p>
          <a:r>
            <a:rPr lang="cs-CZ" dirty="0" err="1"/>
            <a:t>máločetné</a:t>
          </a:r>
          <a:endParaRPr lang="cs-CZ" dirty="0"/>
        </a:p>
      </dgm:t>
    </dgm:pt>
    <dgm:pt modelId="{71229A2F-56AF-BE48-901A-172301B6CE56}" type="parTrans" cxnId="{6E7A3391-FB92-2042-9AA2-0657B19E54BE}">
      <dgm:prSet/>
      <dgm:spPr/>
      <dgm:t>
        <a:bodyPr/>
        <a:lstStyle/>
        <a:p>
          <a:endParaRPr lang="cs-CZ"/>
        </a:p>
      </dgm:t>
    </dgm:pt>
    <dgm:pt modelId="{17187527-D66B-6240-A6AA-017AD57822F0}" type="sibTrans" cxnId="{6E7A3391-FB92-2042-9AA2-0657B19E54BE}">
      <dgm:prSet/>
      <dgm:spPr/>
      <dgm:t>
        <a:bodyPr/>
        <a:lstStyle/>
        <a:p>
          <a:endParaRPr lang="cs-CZ"/>
        </a:p>
      </dgm:t>
    </dgm:pt>
    <dgm:pt modelId="{59C10B16-8601-C34A-BCF6-5D72E34AC796}">
      <dgm:prSet phldrT="[Text]"/>
      <dgm:spPr>
        <a:solidFill>
          <a:srgbClr val="35398E"/>
        </a:solidFill>
      </dgm:spPr>
      <dgm:t>
        <a:bodyPr/>
        <a:lstStyle/>
        <a:p>
          <a:r>
            <a:rPr lang="cs-CZ" dirty="0"/>
            <a:t>složité</a:t>
          </a:r>
        </a:p>
        <a:p>
          <a:r>
            <a:rPr lang="cs-CZ" dirty="0"/>
            <a:t>vícečetné</a:t>
          </a:r>
        </a:p>
      </dgm:t>
    </dgm:pt>
    <dgm:pt modelId="{1EF596BC-F3F6-B34A-82C7-068F573E8603}" type="parTrans" cxnId="{CB94DC71-A563-304A-9B0D-83D1D53B427C}">
      <dgm:prSet/>
      <dgm:spPr/>
      <dgm:t>
        <a:bodyPr/>
        <a:lstStyle/>
        <a:p>
          <a:endParaRPr lang="cs-CZ"/>
        </a:p>
      </dgm:t>
    </dgm:pt>
    <dgm:pt modelId="{2BEAC080-947E-8241-8632-C27007DD53BA}" type="sibTrans" cxnId="{CB94DC71-A563-304A-9B0D-83D1D53B427C}">
      <dgm:prSet/>
      <dgm:spPr/>
      <dgm:t>
        <a:bodyPr/>
        <a:lstStyle/>
        <a:p>
          <a:endParaRPr lang="cs-CZ"/>
        </a:p>
      </dgm:t>
    </dgm:pt>
    <dgm:pt modelId="{ED8D9EA3-95D6-514D-9238-8702CEE68508}">
      <dgm:prSet phldrT="[Text]"/>
      <dgm:spPr/>
      <dgm:t>
        <a:bodyPr/>
        <a:lstStyle/>
        <a:p>
          <a:r>
            <a:rPr lang="cs-CZ" dirty="0"/>
            <a:t>jednoduché</a:t>
          </a:r>
        </a:p>
        <a:p>
          <a:r>
            <a:rPr lang="cs-CZ" dirty="0" err="1"/>
            <a:t>máločetné</a:t>
          </a:r>
          <a:endParaRPr lang="cs-CZ" dirty="0"/>
        </a:p>
      </dgm:t>
    </dgm:pt>
    <dgm:pt modelId="{5C5891D5-C14A-EA4D-8F91-0330DE472B0B}" type="parTrans" cxnId="{B9CE5AE1-2227-DD48-98C8-EC0398B408A9}">
      <dgm:prSet/>
      <dgm:spPr/>
      <dgm:t>
        <a:bodyPr/>
        <a:lstStyle/>
        <a:p>
          <a:endParaRPr lang="cs-CZ"/>
        </a:p>
      </dgm:t>
    </dgm:pt>
    <dgm:pt modelId="{5A33D116-A0AD-AF48-935D-536811E1EB9C}" type="sibTrans" cxnId="{B9CE5AE1-2227-DD48-98C8-EC0398B408A9}">
      <dgm:prSet/>
      <dgm:spPr/>
      <dgm:t>
        <a:bodyPr/>
        <a:lstStyle/>
        <a:p>
          <a:endParaRPr lang="cs-CZ"/>
        </a:p>
      </dgm:t>
    </dgm:pt>
    <dgm:pt modelId="{5183F063-999B-D44D-BF00-22390E7E2E5A}">
      <dgm:prSet phldrT="[Text]"/>
      <dgm:spPr/>
      <dgm:t>
        <a:bodyPr/>
        <a:lstStyle/>
        <a:p>
          <a:r>
            <a:rPr lang="cs-CZ" dirty="0"/>
            <a:t>jednoduché</a:t>
          </a:r>
        </a:p>
        <a:p>
          <a:r>
            <a:rPr lang="cs-CZ" dirty="0"/>
            <a:t>vícečetné</a:t>
          </a:r>
        </a:p>
      </dgm:t>
    </dgm:pt>
    <dgm:pt modelId="{8AD0CC28-7B6A-6746-82B5-9FDB324887A7}" type="parTrans" cxnId="{98CD08A6-98AF-274E-B1F2-F9550692415F}">
      <dgm:prSet/>
      <dgm:spPr/>
      <dgm:t>
        <a:bodyPr/>
        <a:lstStyle/>
        <a:p>
          <a:endParaRPr lang="cs-CZ"/>
        </a:p>
      </dgm:t>
    </dgm:pt>
    <dgm:pt modelId="{CDBA1752-CAFD-4840-BA00-16AA914ED7C8}" type="sibTrans" cxnId="{98CD08A6-98AF-274E-B1F2-F9550692415F}">
      <dgm:prSet/>
      <dgm:spPr/>
      <dgm:t>
        <a:bodyPr/>
        <a:lstStyle/>
        <a:p>
          <a:endParaRPr lang="cs-CZ"/>
        </a:p>
      </dgm:t>
    </dgm:pt>
    <dgm:pt modelId="{DF3C0D27-FEA0-2B47-8101-3F1F664274AD}" type="pres">
      <dgm:prSet presAssocID="{4FADB3CE-AF68-8E44-B285-5C6BD1CCE065}" presName="matrix" presStyleCnt="0">
        <dgm:presLayoutVars>
          <dgm:chMax val="1"/>
          <dgm:dir/>
          <dgm:resizeHandles val="exact"/>
        </dgm:presLayoutVars>
      </dgm:prSet>
      <dgm:spPr/>
    </dgm:pt>
    <dgm:pt modelId="{39C2AEA9-FD60-5047-B0AA-07B3BDB693C7}" type="pres">
      <dgm:prSet presAssocID="{4FADB3CE-AF68-8E44-B285-5C6BD1CCE065}" presName="diamond" presStyleLbl="bgShp" presStyleIdx="0" presStyleCnt="1"/>
      <dgm:spPr/>
    </dgm:pt>
    <dgm:pt modelId="{3A6582C9-704E-D74F-881E-87244F78E058}" type="pres">
      <dgm:prSet presAssocID="{4FADB3CE-AF68-8E44-B285-5C6BD1CCE06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EDFD1D7-6843-2947-9CFA-04D752158A8A}" type="pres">
      <dgm:prSet presAssocID="{4FADB3CE-AF68-8E44-B285-5C6BD1CCE06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F66A068-C5B5-144F-BBF8-2F67A309D77E}" type="pres">
      <dgm:prSet presAssocID="{4FADB3CE-AF68-8E44-B285-5C6BD1CCE06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CF6F464-C558-7645-BBDF-6DF99583F11C}" type="pres">
      <dgm:prSet presAssocID="{4FADB3CE-AF68-8E44-B285-5C6BD1CCE06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0664615-E60A-BA48-B050-98D902545333}" type="presOf" srcId="{4FADB3CE-AF68-8E44-B285-5C6BD1CCE065}" destId="{DF3C0D27-FEA0-2B47-8101-3F1F664274AD}" srcOrd="0" destOrd="0" presId="urn:microsoft.com/office/officeart/2005/8/layout/matrix3"/>
    <dgm:cxn modelId="{CB94DC71-A563-304A-9B0D-83D1D53B427C}" srcId="{4FADB3CE-AF68-8E44-B285-5C6BD1CCE065}" destId="{59C10B16-8601-C34A-BCF6-5D72E34AC796}" srcOrd="1" destOrd="0" parTransId="{1EF596BC-F3F6-B34A-82C7-068F573E8603}" sibTransId="{2BEAC080-947E-8241-8632-C27007DD53BA}"/>
    <dgm:cxn modelId="{6E7A3391-FB92-2042-9AA2-0657B19E54BE}" srcId="{4FADB3CE-AF68-8E44-B285-5C6BD1CCE065}" destId="{42780209-4CD6-E940-B603-07C771EC3E2F}" srcOrd="0" destOrd="0" parTransId="{71229A2F-56AF-BE48-901A-172301B6CE56}" sibTransId="{17187527-D66B-6240-A6AA-017AD57822F0}"/>
    <dgm:cxn modelId="{98CD08A6-98AF-274E-B1F2-F9550692415F}" srcId="{4FADB3CE-AF68-8E44-B285-5C6BD1CCE065}" destId="{5183F063-999B-D44D-BF00-22390E7E2E5A}" srcOrd="3" destOrd="0" parTransId="{8AD0CC28-7B6A-6746-82B5-9FDB324887A7}" sibTransId="{CDBA1752-CAFD-4840-BA00-16AA914ED7C8}"/>
    <dgm:cxn modelId="{2496C4B5-FBC3-8F41-ABEA-FAF90D467F90}" type="presOf" srcId="{ED8D9EA3-95D6-514D-9238-8702CEE68508}" destId="{9F66A068-C5B5-144F-BBF8-2F67A309D77E}" srcOrd="0" destOrd="0" presId="urn:microsoft.com/office/officeart/2005/8/layout/matrix3"/>
    <dgm:cxn modelId="{3A33CBBA-DE14-F345-B733-6EAA5C34804E}" type="presOf" srcId="{59C10B16-8601-C34A-BCF6-5D72E34AC796}" destId="{7EDFD1D7-6843-2947-9CFA-04D752158A8A}" srcOrd="0" destOrd="0" presId="urn:microsoft.com/office/officeart/2005/8/layout/matrix3"/>
    <dgm:cxn modelId="{B9CE5AE1-2227-DD48-98C8-EC0398B408A9}" srcId="{4FADB3CE-AF68-8E44-B285-5C6BD1CCE065}" destId="{ED8D9EA3-95D6-514D-9238-8702CEE68508}" srcOrd="2" destOrd="0" parTransId="{5C5891D5-C14A-EA4D-8F91-0330DE472B0B}" sibTransId="{5A33D116-A0AD-AF48-935D-536811E1EB9C}"/>
    <dgm:cxn modelId="{5D4C91EE-B637-3743-B3AF-A17257D6B1E7}" type="presOf" srcId="{5183F063-999B-D44D-BF00-22390E7E2E5A}" destId="{5CF6F464-C558-7645-BBDF-6DF99583F11C}" srcOrd="0" destOrd="0" presId="urn:microsoft.com/office/officeart/2005/8/layout/matrix3"/>
    <dgm:cxn modelId="{E90225F6-F791-C444-BCC3-DCC50DDEBDF9}" type="presOf" srcId="{42780209-4CD6-E940-B603-07C771EC3E2F}" destId="{3A6582C9-704E-D74F-881E-87244F78E058}" srcOrd="0" destOrd="0" presId="urn:microsoft.com/office/officeart/2005/8/layout/matrix3"/>
    <dgm:cxn modelId="{8424C0FC-8F49-2746-8922-A8AC15036C0D}" type="presParOf" srcId="{DF3C0D27-FEA0-2B47-8101-3F1F664274AD}" destId="{39C2AEA9-FD60-5047-B0AA-07B3BDB693C7}" srcOrd="0" destOrd="0" presId="urn:microsoft.com/office/officeart/2005/8/layout/matrix3"/>
    <dgm:cxn modelId="{E52CD1D3-CDBA-854E-90CD-552A05AE59C2}" type="presParOf" srcId="{DF3C0D27-FEA0-2B47-8101-3F1F664274AD}" destId="{3A6582C9-704E-D74F-881E-87244F78E058}" srcOrd="1" destOrd="0" presId="urn:microsoft.com/office/officeart/2005/8/layout/matrix3"/>
    <dgm:cxn modelId="{B152A301-04D4-7648-B1E0-82053210B272}" type="presParOf" srcId="{DF3C0D27-FEA0-2B47-8101-3F1F664274AD}" destId="{7EDFD1D7-6843-2947-9CFA-04D752158A8A}" srcOrd="2" destOrd="0" presId="urn:microsoft.com/office/officeart/2005/8/layout/matrix3"/>
    <dgm:cxn modelId="{12C172E6-1830-0A44-867C-5926BA71694C}" type="presParOf" srcId="{DF3C0D27-FEA0-2B47-8101-3F1F664274AD}" destId="{9F66A068-C5B5-144F-BBF8-2F67A309D77E}" srcOrd="3" destOrd="0" presId="urn:microsoft.com/office/officeart/2005/8/layout/matrix3"/>
    <dgm:cxn modelId="{3F8897B4-F385-A147-8FD4-3A6297C1CD50}" type="presParOf" srcId="{DF3C0D27-FEA0-2B47-8101-3F1F664274AD}" destId="{5CF6F464-C558-7645-BBDF-6DF99583F11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2AEA9-FD60-5047-B0AA-07B3BDB693C7}">
      <dsp:nvSpPr>
        <dsp:cNvPr id="0" name=""/>
        <dsp:cNvSpPr/>
      </dsp:nvSpPr>
      <dsp:spPr>
        <a:xfrm>
          <a:off x="199675" y="0"/>
          <a:ext cx="4144963" cy="4144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582C9-704E-D74F-881E-87244F78E058}">
      <dsp:nvSpPr>
        <dsp:cNvPr id="0" name=""/>
        <dsp:cNvSpPr/>
      </dsp:nvSpPr>
      <dsp:spPr>
        <a:xfrm>
          <a:off x="593446" y="393771"/>
          <a:ext cx="1616535" cy="1616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složité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 err="1"/>
            <a:t>máločetné</a:t>
          </a:r>
          <a:endParaRPr lang="cs-CZ" sz="1900" kern="1200" dirty="0"/>
        </a:p>
      </dsp:txBody>
      <dsp:txXfrm>
        <a:off x="672359" y="472684"/>
        <a:ext cx="1458709" cy="1458709"/>
      </dsp:txXfrm>
    </dsp:sp>
    <dsp:sp modelId="{7EDFD1D7-6843-2947-9CFA-04D752158A8A}">
      <dsp:nvSpPr>
        <dsp:cNvPr id="0" name=""/>
        <dsp:cNvSpPr/>
      </dsp:nvSpPr>
      <dsp:spPr>
        <a:xfrm>
          <a:off x="2334331" y="393771"/>
          <a:ext cx="1616535" cy="1616535"/>
        </a:xfrm>
        <a:prstGeom prst="roundRect">
          <a:avLst/>
        </a:prstGeom>
        <a:solidFill>
          <a:srgbClr val="35398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složité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vícečetné</a:t>
          </a:r>
        </a:p>
      </dsp:txBody>
      <dsp:txXfrm>
        <a:off x="2413244" y="472684"/>
        <a:ext cx="1458709" cy="1458709"/>
      </dsp:txXfrm>
    </dsp:sp>
    <dsp:sp modelId="{9F66A068-C5B5-144F-BBF8-2F67A309D77E}">
      <dsp:nvSpPr>
        <dsp:cNvPr id="0" name=""/>
        <dsp:cNvSpPr/>
      </dsp:nvSpPr>
      <dsp:spPr>
        <a:xfrm>
          <a:off x="593446" y="2134655"/>
          <a:ext cx="1616535" cy="1616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jednoduché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 err="1"/>
            <a:t>máločetné</a:t>
          </a:r>
          <a:endParaRPr lang="cs-CZ" sz="1900" kern="1200" dirty="0"/>
        </a:p>
      </dsp:txBody>
      <dsp:txXfrm>
        <a:off x="672359" y="2213568"/>
        <a:ext cx="1458709" cy="1458709"/>
      </dsp:txXfrm>
    </dsp:sp>
    <dsp:sp modelId="{5CF6F464-C558-7645-BBDF-6DF99583F11C}">
      <dsp:nvSpPr>
        <dsp:cNvPr id="0" name=""/>
        <dsp:cNvSpPr/>
      </dsp:nvSpPr>
      <dsp:spPr>
        <a:xfrm>
          <a:off x="2334331" y="2134655"/>
          <a:ext cx="1616535" cy="1616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jednoduché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vícečetné</a:t>
          </a:r>
        </a:p>
      </dsp:txBody>
      <dsp:txXfrm>
        <a:off x="2413244" y="2213568"/>
        <a:ext cx="1458709" cy="1458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09.12.2024</a:t>
            </a:fld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1148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0229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23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04394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22092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25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80229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32006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27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7806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5471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29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40415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30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1069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 dirty="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 dirty="0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 dirty="0">
                <a:solidFill>
                  <a:schemeClr val="bg1"/>
                </a:solidFill>
              </a:rPr>
              <a:t>DIA.</a:t>
            </a:r>
            <a:r>
              <a:rPr lang="cs-CZ" dirty="0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 dirty="0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sp.cz/sqw/text/tiskt.sqw?o=9&amp;ct=774&amp;ct1=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estsofas.602.cz/fas/formservice/filler.open?filingid=d0bfd3e2-1bec-488e-90bb-7f99efc3602d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jan.petr@dia.gov.cz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4F70-7456-297E-EB64-30FBF058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3600" b="1" dirty="0"/>
              <a:t>Zákon o právu na digitální služby</a:t>
            </a:r>
            <a:br>
              <a:rPr lang="cs-CZ" sz="4000" b="1" dirty="0"/>
            </a:br>
            <a:r>
              <a:rPr lang="cs-CZ" sz="4000" b="1" dirty="0"/>
              <a:t>ETAPA V.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15842BD-64E8-E6D6-8222-0C2AA221E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1EA4F850-D813-65D2-B13B-CFBE1FC8D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Jan Petr</a:t>
            </a:r>
            <a:r>
              <a:rPr lang="cs-CZ" dirty="0">
                <a:solidFill>
                  <a:schemeClr val="accent1"/>
                </a:solidFill>
              </a:rPr>
              <a:t>_</a:t>
            </a:r>
          </a:p>
          <a:p>
            <a:endParaRPr lang="cs-CZ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79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C3783D-9B9A-AF39-74C1-DE81C5DEF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4A5E5E-7857-39A1-CF78-0CA7ABB4F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Pozměňovací návrh k Zákonu 12/2020 a aktuální stav</a:t>
            </a:r>
          </a:p>
          <a:p>
            <a:r>
              <a:rPr lang="cs-CZ" dirty="0"/>
              <a:t>ZoPDS ETAP V</a:t>
            </a:r>
          </a:p>
          <a:p>
            <a:r>
              <a:rPr lang="cs-CZ" dirty="0"/>
              <a:t>Digitální úkony způsobující nepřiměřenou zátěž</a:t>
            </a:r>
          </a:p>
          <a:p>
            <a:r>
              <a:rPr lang="cs-CZ" dirty="0"/>
              <a:t>Zjednodušené formuláře</a:t>
            </a:r>
          </a:p>
          <a:p>
            <a:r>
              <a:rPr lang="cs-CZ" dirty="0"/>
              <a:t>Právo na využívání údajů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E66EAD9-A2E5-3A52-D93E-15B141E0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C24C0D9-3099-AE3B-B792-00219A48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514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D1C9EB-D409-8D66-1B6A-CAD13509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Pozměňovací návrh ZoPDS</a:t>
            </a:r>
          </a:p>
        </p:txBody>
      </p:sp>
    </p:spTree>
    <p:extLst>
      <p:ext uri="{BB962C8B-B14F-4D97-AF65-F5344CB8AC3E}">
        <p14:creationId xmlns:p14="http://schemas.microsoft.com/office/powerpoint/2010/main" val="223432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82FC5B-73D8-5504-70F3-7F7EC4B4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Pozměňovací návrh k ZoPDS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515BF6-39BC-1BCC-2581-D2C964C6D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/>
              <a:t>§ 14 Přechodná a závěrečná ustanovení</a:t>
            </a:r>
          </a:p>
          <a:p>
            <a:r>
              <a:rPr lang="cs-CZ" dirty="0"/>
              <a:t>(4) Vláda stanoví do 12 měsíců ode dne účinnosti tohoto zákona harmonogram a technické způsoby provedení postupné </a:t>
            </a:r>
            <a:r>
              <a:rPr lang="cs-CZ" b="1" u="sng" dirty="0"/>
              <a:t>digitalizace úkonů obsažených v katalogu služeb</a:t>
            </a:r>
            <a:r>
              <a:rPr lang="cs-CZ" dirty="0"/>
              <a:t>, které dosud nejsou poskytovány jako digitální služby nebo prováděny jako digitální úkony a jejichž povaha to nevylučuje, pro období následujících 4 let. Ohlašovatelé agend zajistí digitalizaci těchto úkonů. Po uplynutí </a:t>
            </a:r>
            <a:r>
              <a:rPr lang="cs-CZ" strike="sngStrike" dirty="0"/>
              <a:t>tohoto období </a:t>
            </a:r>
            <a:r>
              <a:rPr lang="cs-CZ" b="1" u="sng" dirty="0"/>
              <a:t>7 let od účinnosti tohoto zákona</a:t>
            </a:r>
            <a:r>
              <a:rPr lang="cs-CZ" u="sng" dirty="0"/>
              <a:t> </a:t>
            </a:r>
            <a:r>
              <a:rPr lang="cs-CZ" dirty="0"/>
              <a:t>se všechny tyto úkony poskytují též jako digitální služby nebo se umožňují provádět jako digitální úkony.</a:t>
            </a:r>
          </a:p>
          <a:p>
            <a:r>
              <a:rPr lang="cs-CZ" dirty="0"/>
              <a:t>(5) Existuje-li úkon, který není obsažen v katalogu služeb a jehož povaha to nevylučuje, příslušný orgán veřejné moci jej po uplynutí </a:t>
            </a:r>
            <a:r>
              <a:rPr lang="cs-CZ" strike="sngStrike" dirty="0"/>
              <a:t>5</a:t>
            </a:r>
            <a:r>
              <a:rPr lang="cs-CZ" dirty="0"/>
              <a:t> </a:t>
            </a:r>
            <a:r>
              <a:rPr lang="cs-CZ" b="1" dirty="0"/>
              <a:t>7 </a:t>
            </a:r>
            <a:r>
              <a:rPr lang="cs-CZ" dirty="0"/>
              <a:t>let od účinnosti tohoto zákona poskytuje též jako digitální službu nebo jej umožňuje provádět též jako digitální úkon, nestanoví-li jiný zákon jinak. Příslušný orgán veřejné moci může poskytovat úkon podle věty první též jako digitální službu nebo jej může umožnit provádět též jako digitální úkon i před uplynutím </a:t>
            </a:r>
            <a:r>
              <a:rPr lang="cs-CZ" strike="sngStrike" dirty="0"/>
              <a:t>5</a:t>
            </a:r>
            <a:r>
              <a:rPr lang="cs-CZ" dirty="0"/>
              <a:t> </a:t>
            </a:r>
            <a:r>
              <a:rPr lang="cs-CZ" b="1" dirty="0"/>
              <a:t>7</a:t>
            </a:r>
            <a:r>
              <a:rPr lang="cs-CZ" dirty="0"/>
              <a:t> let od účinnosti tohoto zákona, nestanoví-li jiný zákon jinak.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6143631-0438-8C90-6971-66CAA55A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C0E26F8-23EF-3041-EBBA-A4E86D20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15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FE1CDB-DE61-9E42-0862-961926ED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Pozměňovací návrh ZoPDS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08303E-1D89-5D82-C0D3-43D5F9A3C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2273935" algn="l"/>
              </a:tabLst>
            </a:pP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§ 4 Právo činit digitální úkon</a:t>
            </a:r>
          </a:p>
          <a:p>
            <a:pPr indent="4445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(4) Orgán veřejné moci nemusí umožnit učinit digitální úkon podle odstavce 1 písm. d), pokud by mu to způsobilo </a:t>
            </a:r>
            <a:r>
              <a:rPr lang="cs-CZ" sz="1800" b="1" u="sng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nepřiměřenou zátěž</a:t>
            </a: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cs-CZ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45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(5) Orgán veřejné moci při posuzování míry nepřiměřené zátěže zohlední</a:t>
            </a:r>
            <a:endParaRPr lang="cs-CZ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a) svou velikost, povahu a své zdroje a</a:t>
            </a:r>
            <a:endParaRPr lang="cs-CZ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b) své odhadované náklady a přínosy ve vztahu k očekávanému přínosu pro uživatele služby.</a:t>
            </a:r>
            <a:endParaRPr lang="cs-CZ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45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(6) Orgán veřejné moci, který po posouzení podmínek podle odstavce 5 vyhodnotí, že poskytování digitálního úkonu podle odstavce 1 písm. d) mu způsobí nepřiměřenou zátěž, zašle Agentuře žádost o vyjádření. V případě kladného stanoviska Agentury vyznačí orgán veřejné moci tuto skutečnost v katalogu služeb. V případě nesouhlasného stanoviska Agentury rozhodne vláda, pokud orgán veřejné moci na svém stanovisku trvá.</a:t>
            </a:r>
            <a:endParaRPr lang="cs-CZ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31E2E75-C680-E62F-F661-401CE9F6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25AEE36-3D39-414C-29C6-2054E279A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7255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A1AE86-44D6-AE31-5132-96874BC6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Aktuální stav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60CF7F-A1DC-931A-629F-C4B3B5153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33385"/>
            <a:ext cx="11113200" cy="4537110"/>
          </a:xfrm>
        </p:spPr>
        <p:txBody>
          <a:bodyPr>
            <a:normAutofit/>
          </a:bodyPr>
          <a:lstStyle/>
          <a:p>
            <a:r>
              <a:rPr lang="cs-CZ" sz="2100" dirty="0"/>
              <a:t>Poslanecká sněmovna 2. čtení </a:t>
            </a:r>
          </a:p>
          <a:p>
            <a:pPr lvl="1"/>
            <a:r>
              <a:rPr lang="cs-CZ" dirty="0"/>
              <a:t>Návrh zákona prošel obecnou rozpravou 5. 12. 2024 na 120. na mimořádné schůzi poslanecké sněmovny.</a:t>
            </a:r>
          </a:p>
          <a:p>
            <a:pPr lvl="1"/>
            <a:r>
              <a:rPr lang="cs-CZ" dirty="0"/>
              <a:t>Návrh zákona prošel podrobnou rozpravou 5. 12. 2024 na 120. schůzi.</a:t>
            </a:r>
          </a:p>
          <a:p>
            <a:pPr lvl="1"/>
            <a:r>
              <a:rPr lang="cs-CZ" dirty="0"/>
              <a:t>Lhůta pro zahájení třetího čtení byla změněna na 7 dnů po doručení pozměňovacích, popřípadě jiných návrhů poslancům.</a:t>
            </a:r>
          </a:p>
          <a:p>
            <a:pPr lvl="1"/>
            <a:r>
              <a:rPr lang="cs-CZ" dirty="0"/>
              <a:t>Podané pozměňovací návrhy zpracovány jako tisk </a:t>
            </a:r>
            <a:r>
              <a:rPr lang="cs-CZ" b="1" i="0" u="sng" strike="noStrike" dirty="0">
                <a:solidFill>
                  <a:srgbClr val="3C3C3C"/>
                </a:solidFill>
                <a:effectLst/>
                <a:latin typeface="Arial" panose="020B0604020202020204" pitchFamily="34" charset="0"/>
                <a:hlinkClick r:id="rId3"/>
              </a:rPr>
              <a:t>774/3</a:t>
            </a:r>
            <a:r>
              <a:rPr lang="cs-CZ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cs-CZ" dirty="0"/>
              <a:t> který byl rozeslán 5. 12. 2024 v 13:25.</a:t>
            </a:r>
          </a:p>
          <a:p>
            <a:pPr lvl="1"/>
            <a:r>
              <a:rPr lang="cs-CZ" dirty="0"/>
              <a:t>Hlavní námitka – pozměňovací návrh musí pozměňovat předkládaný návrh zákona</a:t>
            </a:r>
          </a:p>
          <a:p>
            <a:pPr lvl="1"/>
            <a:r>
              <a:rPr lang="cs-CZ" dirty="0"/>
              <a:t>Projednávání tisku navrženo na pořad 123. schůze (od 17. </a:t>
            </a:r>
            <a:r>
              <a:rPr lang="cs-CZ"/>
              <a:t>prosince 2024)</a:t>
            </a:r>
          </a:p>
          <a:p>
            <a:pPr lvl="1"/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44ECEB6-87FF-E344-60C4-7BAEDF31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5080297-AC51-147C-301E-028E0EE0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23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8A5AEF-2C9C-F9FB-CD49-7F18D457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ZoPDS etapa V</a:t>
            </a:r>
          </a:p>
        </p:txBody>
      </p:sp>
    </p:spTree>
    <p:extLst>
      <p:ext uri="{BB962C8B-B14F-4D97-AF65-F5344CB8AC3E}">
        <p14:creationId xmlns:p14="http://schemas.microsoft.com/office/powerpoint/2010/main" val="2529766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760E8E-7F1E-B147-F2CC-CC3DC4D2E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etapy V.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B4E5D8-FB08-1320-B18D-4109C8FC7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2200" b="1" dirty="0"/>
              <a:t>ETAPA V </a:t>
            </a:r>
          </a:p>
          <a:p>
            <a:pPr marL="0" indent="0">
              <a:buNone/>
            </a:pPr>
            <a:r>
              <a:rPr lang="cs-CZ" sz="1700" dirty="0"/>
              <a:t>(1.1.2025-30.6.2025 po schválení pozměňovacího návrhu)</a:t>
            </a:r>
          </a:p>
          <a:p>
            <a:r>
              <a:rPr lang="cs-CZ" dirty="0"/>
              <a:t>Digitální úkony způsobující nepřiměřenou zátěž</a:t>
            </a:r>
          </a:p>
          <a:p>
            <a:pPr lvl="1"/>
            <a:r>
              <a:rPr lang="cs-CZ" dirty="0"/>
              <a:t>Metodika</a:t>
            </a:r>
          </a:p>
          <a:p>
            <a:pPr lvl="1"/>
            <a:r>
              <a:rPr lang="cs-CZ" dirty="0"/>
              <a:t>Výběr digitálních úkonů způsobujících nepřiměřenou zátěž do 30.6.2024</a:t>
            </a:r>
          </a:p>
          <a:p>
            <a:r>
              <a:rPr lang="cs-CZ" dirty="0"/>
              <a:t>Zjednodušené formuláře</a:t>
            </a:r>
          </a:p>
          <a:p>
            <a:pPr lvl="1"/>
            <a:r>
              <a:rPr lang="cs-CZ" dirty="0"/>
              <a:t>Jejich využití pro málo četné formuláře</a:t>
            </a:r>
          </a:p>
          <a:p>
            <a:r>
              <a:rPr lang="cs-CZ" dirty="0"/>
              <a:t>Právo na využití údajů a PPP</a:t>
            </a:r>
          </a:p>
          <a:p>
            <a:pPr lvl="1"/>
            <a:r>
              <a:rPr lang="cs-CZ" dirty="0"/>
              <a:t>Vytvoření vhodného KPI</a:t>
            </a:r>
          </a:p>
          <a:p>
            <a:pPr lvl="1"/>
            <a:r>
              <a:rPr lang="cs-CZ" dirty="0"/>
              <a:t>Doplnění KPI do </a:t>
            </a:r>
            <a:r>
              <a:rPr lang="cs-CZ" dirty="0" err="1"/>
              <a:t>www.zopds.dia.gov.cz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6179E0F-5E1B-E440-6679-06788467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97E7795-B03F-AD53-8D71-4B44AA0E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494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10A5FA-2E4C-5128-591D-3506A343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Digitální úkony způsobující nepřiměřenou zátěž</a:t>
            </a:r>
          </a:p>
        </p:txBody>
      </p:sp>
    </p:spTree>
    <p:extLst>
      <p:ext uri="{BB962C8B-B14F-4D97-AF65-F5344CB8AC3E}">
        <p14:creationId xmlns:p14="http://schemas.microsoft.com/office/powerpoint/2010/main" val="3760741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E6692C-D640-7E23-74DB-E26F7733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Příprava Metodiky</a:t>
            </a:r>
            <a:br>
              <a:rPr lang="cs-CZ" dirty="0"/>
            </a:br>
            <a:r>
              <a:rPr lang="cs-CZ" sz="2800" dirty="0"/>
              <a:t>Elektronické formuláře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48776D5F-338E-D80A-8A39-E08F74E8A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692510"/>
              </p:ext>
            </p:extLst>
          </p:nvPr>
        </p:nvGraphicFramePr>
        <p:xfrm>
          <a:off x="539750" y="1825625"/>
          <a:ext cx="4544314" cy="4144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4D85FF89-4AEC-73D9-198B-3E0A523CBC42}"/>
              </a:ext>
            </a:extLst>
          </p:cNvPr>
          <p:cNvSpPr txBox="1">
            <a:spLocks/>
          </p:cNvSpPr>
          <p:nvPr/>
        </p:nvSpPr>
        <p:spPr>
          <a:xfrm>
            <a:off x="5596128" y="1377696"/>
            <a:ext cx="6057072" cy="4913375"/>
          </a:xfrm>
          <a:prstGeom prst="rect">
            <a:avLst/>
          </a:prstGeom>
        </p:spPr>
        <p:txBody>
          <a:bodyPr vert="horz" lIns="0" tIns="0" rIns="0" bIns="0" rtlCol="0" anchor="t" anchorCtr="0">
            <a:normAutofit lnSpcReduction="10000"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Vícečetné (1000 a více za rok)</a:t>
            </a:r>
          </a:p>
          <a:p>
            <a:pPr lvl="1"/>
            <a:r>
              <a:rPr lang="cs-CZ" dirty="0"/>
              <a:t>Jednoduché</a:t>
            </a:r>
          </a:p>
          <a:p>
            <a:pPr lvl="2"/>
            <a:r>
              <a:rPr lang="cs-CZ" dirty="0"/>
              <a:t>realizace pomocí samoobslužných portálů</a:t>
            </a:r>
          </a:p>
          <a:p>
            <a:pPr lvl="1"/>
            <a:r>
              <a:rPr lang="cs-CZ" dirty="0"/>
              <a:t>Složité</a:t>
            </a:r>
          </a:p>
          <a:p>
            <a:pPr lvl="2"/>
            <a:r>
              <a:rPr lang="cs-CZ" dirty="0"/>
              <a:t>realizace pomocí AIS (Moje daně)</a:t>
            </a:r>
          </a:p>
          <a:p>
            <a:r>
              <a:rPr lang="cs-CZ" dirty="0" err="1"/>
              <a:t>Máločetné</a:t>
            </a:r>
            <a:r>
              <a:rPr lang="cs-CZ" dirty="0"/>
              <a:t> (10 a méně za rok)</a:t>
            </a:r>
          </a:p>
          <a:p>
            <a:pPr lvl="1"/>
            <a:r>
              <a:rPr lang="cs-CZ" dirty="0"/>
              <a:t>Jednoduché</a:t>
            </a:r>
          </a:p>
          <a:p>
            <a:pPr lvl="2"/>
            <a:r>
              <a:rPr lang="cs-CZ" dirty="0"/>
              <a:t>realizace pomocí </a:t>
            </a:r>
            <a:r>
              <a:rPr lang="cs-CZ" dirty="0" err="1"/>
              <a:t>EasyForms</a:t>
            </a:r>
            <a:r>
              <a:rPr lang="cs-CZ" dirty="0"/>
              <a:t> </a:t>
            </a:r>
          </a:p>
          <a:p>
            <a:pPr lvl="1"/>
            <a:r>
              <a:rPr lang="cs-CZ" dirty="0"/>
              <a:t>Složité</a:t>
            </a:r>
          </a:p>
          <a:p>
            <a:pPr lvl="2"/>
            <a:r>
              <a:rPr lang="cs-CZ" dirty="0"/>
              <a:t>nemusí umožnit učinit digitální úkon (například žádost o založení banky)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7B3EA85-BD1D-F5FC-9BFB-F7D5A7DAE3DB}"/>
              </a:ext>
            </a:extLst>
          </p:cNvPr>
          <p:cNvSpPr txBox="1"/>
          <p:nvPr/>
        </p:nvSpPr>
        <p:spPr>
          <a:xfrm>
            <a:off x="2354707" y="5792304"/>
            <a:ext cx="914400" cy="320483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92500" lnSpcReduction="10000"/>
          </a:bodyPr>
          <a:lstStyle/>
          <a:p>
            <a:pPr algn="l"/>
            <a:r>
              <a:rPr lang="cs-CZ" sz="2400" b="1" dirty="0">
                <a:solidFill>
                  <a:srgbClr val="2E2D2C"/>
                </a:solidFill>
              </a:rPr>
              <a:t>Četnost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02A8BC04-1E6C-7897-D7BB-1A2A0FE8245D}"/>
              </a:ext>
            </a:extLst>
          </p:cNvPr>
          <p:cNvSpPr txBox="1"/>
          <p:nvPr/>
        </p:nvSpPr>
        <p:spPr>
          <a:xfrm rot="16200000">
            <a:off x="273861" y="3674141"/>
            <a:ext cx="914400" cy="320483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92500" lnSpcReduction="10000"/>
          </a:bodyPr>
          <a:lstStyle/>
          <a:p>
            <a:pPr algn="l"/>
            <a:r>
              <a:rPr lang="cs-CZ" sz="2400" b="1" dirty="0">
                <a:solidFill>
                  <a:srgbClr val="2E2D2C"/>
                </a:solidFill>
              </a:rPr>
              <a:t>Složitost</a:t>
            </a:r>
          </a:p>
        </p:txBody>
      </p:sp>
      <p:cxnSp>
        <p:nvCxnSpPr>
          <p:cNvPr id="9" name="Přímá spojovací šipka 8">
            <a:extLst>
              <a:ext uri="{FF2B5EF4-FFF2-40B4-BE49-F238E27FC236}">
                <a16:creationId xmlns:a16="http://schemas.microsoft.com/office/drawing/2014/main" id="{8945F2BA-3EEE-B00B-BEBD-1408F3F49DAC}"/>
              </a:ext>
            </a:extLst>
          </p:cNvPr>
          <p:cNvCxnSpPr/>
          <p:nvPr/>
        </p:nvCxnSpPr>
        <p:spPr>
          <a:xfrm>
            <a:off x="891303" y="1825625"/>
            <a:ext cx="0" cy="3966679"/>
          </a:xfrm>
          <a:prstGeom prst="straightConnector1">
            <a:avLst/>
          </a:prstGeom>
          <a:ln w="444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římá spojovací šipka 9">
            <a:extLst>
              <a:ext uri="{FF2B5EF4-FFF2-40B4-BE49-F238E27FC236}">
                <a16:creationId xmlns:a16="http://schemas.microsoft.com/office/drawing/2014/main" id="{CCFC0095-AF22-81AC-1A80-45E88AB7E4C0}"/>
              </a:ext>
            </a:extLst>
          </p:cNvPr>
          <p:cNvCxnSpPr>
            <a:cxnSpLocks/>
          </p:cNvCxnSpPr>
          <p:nvPr/>
        </p:nvCxnSpPr>
        <p:spPr>
          <a:xfrm flipH="1">
            <a:off x="731061" y="5686794"/>
            <a:ext cx="4001449" cy="0"/>
          </a:xfrm>
          <a:prstGeom prst="straightConnector1">
            <a:avLst/>
          </a:prstGeom>
          <a:ln w="444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98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6D8449-32AA-CC2A-A7DB-3C14F876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Zjednodušené formuláře</a:t>
            </a:r>
          </a:p>
        </p:txBody>
      </p:sp>
    </p:spTree>
    <p:extLst>
      <p:ext uri="{BB962C8B-B14F-4D97-AF65-F5344CB8AC3E}">
        <p14:creationId xmlns:p14="http://schemas.microsoft.com/office/powerpoint/2010/main" val="3503674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E9BAA8-162E-36DF-90F7-BDF4FDA2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Zjednodušené formuláře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3E09B1-DF68-AA7B-16C1-A26C535D4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cs-CZ" dirty="0"/>
              <a:t>V AIS katalogu vyberete Katalog zjednodušených formulářů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 Vyplníte základní údaje k formuláři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Název formuláře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Popis formuláře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Vyberete pomocí vyhledávání existující službu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Vyberete pomocí vyhledávání OVM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Vyplníte nepovinné položky Sekce a Odbor OVM pro možnost třídění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Datová schránka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Vlastní obsah formuláře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827DD78-4D2A-0963-7EA1-B67C8C44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78551CF-1D2B-57E6-A32F-006C3B548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724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B1F0BD-8021-A0DC-1389-072C606C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obsah formuláře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09B87F-F660-A39A-6CB5-628EAA3A7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Pět proměnných libovolně poskládaných</a:t>
            </a:r>
          </a:p>
          <a:p>
            <a:pPr lvl="1"/>
            <a:r>
              <a:rPr lang="cs-CZ" dirty="0"/>
              <a:t>Krátký text</a:t>
            </a:r>
          </a:p>
          <a:p>
            <a:pPr lvl="1"/>
            <a:r>
              <a:rPr lang="cs-CZ" dirty="0"/>
              <a:t>Dlouhý text</a:t>
            </a:r>
          </a:p>
          <a:p>
            <a:pPr lvl="1"/>
            <a:r>
              <a:rPr lang="cs-CZ" dirty="0"/>
              <a:t>Datum</a:t>
            </a:r>
          </a:p>
          <a:p>
            <a:pPr lvl="1"/>
            <a:r>
              <a:rPr lang="cs-CZ" dirty="0"/>
              <a:t>Číslo</a:t>
            </a:r>
          </a:p>
          <a:p>
            <a:pPr lvl="1"/>
            <a:r>
              <a:rPr lang="cs-CZ" dirty="0"/>
              <a:t>Logická hodnota</a:t>
            </a:r>
          </a:p>
          <a:p>
            <a:r>
              <a:rPr lang="cs-CZ" dirty="0"/>
              <a:t>Názvy až tří příloh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254A4EA-9ADB-0C08-EFBB-E05D2549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7C68C3D-E6B4-50D3-24CE-25F5024D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1389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24ED526-F226-04BD-FD5C-45E190C6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38792E5-8D16-734C-03F6-263764D4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14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07830C10-AD41-E5F3-38BB-71ECF4DE0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4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10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9FC245B-5AB5-FD81-CA7A-8F5CE054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BBE0CE1-B79E-FC2D-4D19-BC451E7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15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FC9324D-A424-76DB-3C27-65E440022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4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35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93695A8-5085-F255-0347-D23798868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F0273D1-8328-50B2-1284-1EF9FD54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16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D5C259D-B976-CA59-844C-3435CA240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4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0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číslo&#10;&#10;Popis byl vytvořen automaticky">
            <a:extLst>
              <a:ext uri="{FF2B5EF4-FFF2-40B4-BE49-F238E27FC236}">
                <a16:creationId xmlns:a16="http://schemas.microsoft.com/office/drawing/2014/main" id="{81D63B0C-838D-BF18-EEEE-876EE0DAC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708" y="1418917"/>
            <a:ext cx="2374660" cy="5139008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9E9EB93-B99A-5A6D-D23A-11735FC8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formulářE</a:t>
            </a:r>
            <a:r>
              <a:rPr lang="cs-CZ" dirty="0"/>
              <a:t> se generují automaticky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44C261-9BA1-5B46-47B3-A419449BC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7896864" cy="4144869"/>
          </a:xfrm>
        </p:spPr>
        <p:txBody>
          <a:bodyPr>
            <a:normAutofit lnSpcReduction="10000"/>
          </a:bodyPr>
          <a:lstStyle/>
          <a:p>
            <a:r>
              <a:rPr lang="cs-CZ" dirty="0"/>
              <a:t>Na </a:t>
            </a:r>
            <a:r>
              <a:rPr lang="cs-CZ" dirty="0" err="1"/>
              <a:t>preview</a:t>
            </a:r>
            <a:r>
              <a:rPr lang="cs-CZ" dirty="0"/>
              <a:t> se lze dostat odkazem:</a:t>
            </a:r>
          </a:p>
          <a:p>
            <a:pPr lvl="1"/>
            <a:r>
              <a:rPr lang="cs-CZ" sz="1800" dirty="0">
                <a:solidFill>
                  <a:srgbClr val="35398E"/>
                </a:solidFill>
                <a:hlinkClick r:id="rId3"/>
              </a:rPr>
              <a:t>Povolení ke vstupu do Antarktidy</a:t>
            </a:r>
            <a:endParaRPr lang="cs-CZ" dirty="0"/>
          </a:p>
          <a:p>
            <a:r>
              <a:rPr lang="cs-CZ" dirty="0"/>
              <a:t>Elektronický formulář podporuje všechny digitální služby dle ZoPDS</a:t>
            </a:r>
          </a:p>
          <a:p>
            <a:pPr lvl="1"/>
            <a:r>
              <a:rPr lang="cs-CZ" dirty="0"/>
              <a:t>Přihlášení NIA</a:t>
            </a:r>
          </a:p>
          <a:p>
            <a:pPr lvl="1"/>
            <a:r>
              <a:rPr lang="cs-CZ" dirty="0"/>
              <a:t>Výběr zastupování pomocí </a:t>
            </a:r>
            <a:r>
              <a:rPr lang="cs-CZ" dirty="0" err="1"/>
              <a:t>ReZA</a:t>
            </a:r>
            <a:endParaRPr lang="cs-CZ" dirty="0"/>
          </a:p>
          <a:p>
            <a:pPr lvl="1"/>
            <a:r>
              <a:rPr lang="cs-CZ" dirty="0"/>
              <a:t>Předvyplnění dat ze základních registrů</a:t>
            </a:r>
          </a:p>
          <a:p>
            <a:pPr lvl="1"/>
            <a:r>
              <a:rPr lang="cs-CZ" dirty="0"/>
              <a:t>Autorizaci</a:t>
            </a:r>
          </a:p>
          <a:p>
            <a:pPr lvl="1"/>
            <a:r>
              <a:rPr lang="cs-CZ" dirty="0"/>
              <a:t>Osvědčení o digitálním úkonu</a:t>
            </a:r>
          </a:p>
          <a:p>
            <a:pPr lvl="1"/>
            <a:r>
              <a:rPr lang="cs-CZ" dirty="0"/>
              <a:t>Odeslání pomocí datové schránky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3C4E2D0-DE0F-E493-7AA1-61231DB9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AE6BCAE-DF9B-F517-D326-D73E35B3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17</a:t>
            </a:fld>
            <a:endParaRPr lang="cs-CZ"/>
          </a:p>
        </p:txBody>
      </p:sp>
      <p:pic>
        <p:nvPicPr>
          <p:cNvPr id="6" name="Symbol zastępczy obrazu 38" descr="Obraz zawierający monitor, siedzi, czarny, lustro&#10;&#10;Opis wygenerowany automatycznie">
            <a:extLst>
              <a:ext uri="{FF2B5EF4-FFF2-40B4-BE49-F238E27FC236}">
                <a16:creationId xmlns:a16="http://schemas.microsoft.com/office/drawing/2014/main" id="{EA079B9D-D48C-DF2B-237D-E1556C787B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31936" y="575596"/>
            <a:ext cx="3020064" cy="6610621"/>
          </a:xfrm>
          <a:prstGeom prst="rect">
            <a:avLst/>
          </a:prstGeom>
          <a:effectLst>
            <a:outerShdw blurRad="161408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1246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C1AD620-0AB0-2EEB-8786-BEEDF3A0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7D9EF05-F183-3D40-683E-10A2A78D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18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F3DA1C6-F425-8B8B-0701-348AA0FB1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144"/>
            <a:ext cx="12192000" cy="618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57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8007AE-1DCB-8E11-D65F-A58B3B05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AB3CD30-04CF-E081-495A-9CAEE3C3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19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1924567B-E92B-E4B8-4171-3AE5C8FF2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95077"/>
            <a:ext cx="12174623" cy="617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9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660907EE-03F2-EF27-4550-8A5E0C82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F6D8263-23D8-0A3A-7A58-89ED67B6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20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8B61666-8C40-AF04-1366-D2BFF8B1A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46309"/>
            <a:ext cx="12198665" cy="618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92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B54B6D65-59A2-BD1B-2EEA-270301DB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47AD8B8-79A5-99A4-2E3B-22EAA9B3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21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1B8448B-6658-7A10-2148-0BA99D894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58501"/>
            <a:ext cx="12174623" cy="617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76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2C0D44DC-8863-C5E8-248D-9D037AF6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5E84E8F-9A08-A2CC-8CCB-7CC26B2E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22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A2FE598-DD8C-CD5E-6204-691B4B085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0693"/>
            <a:ext cx="12192001" cy="618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47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043E16-5DB7-AB84-A2CF-D3286159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Právo na využívání údajů</a:t>
            </a:r>
          </a:p>
        </p:txBody>
      </p:sp>
    </p:spTree>
    <p:extLst>
      <p:ext uri="{BB962C8B-B14F-4D97-AF65-F5344CB8AC3E}">
        <p14:creationId xmlns:p14="http://schemas.microsoft.com/office/powerpoint/2010/main" val="563213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53BF-2251-9923-DA03-DECB9C6B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BEFA67-83B9-064F-9326-118815F6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ZoPDS § 7 Právo na využívání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9E3B6B-46C2-74DB-46C0-ED05B0A04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(1) Orgán veřejné moci nevyžaduje údaje vedené v základním registru nebo agendovém informačním systému, které jsou mu </a:t>
            </a:r>
          </a:p>
          <a:p>
            <a:endParaRPr lang="cs-CZ" dirty="0"/>
          </a:p>
          <a:p>
            <a:r>
              <a:rPr lang="cs-CZ" sz="2400" b="1" dirty="0"/>
              <a:t>zpřístupněné pro výkon agendy </a:t>
            </a:r>
          </a:p>
          <a:p>
            <a:pPr marL="0" indent="0">
              <a:buNone/>
            </a:pPr>
            <a:r>
              <a:rPr lang="cs-CZ" dirty="0"/>
              <a:t>		nebo </a:t>
            </a:r>
          </a:p>
          <a:p>
            <a:r>
              <a:rPr lang="cs-CZ" sz="2400" b="1" dirty="0"/>
              <a:t>na základě souhlasu uživatele služby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B3D2D9E-8DE9-A309-1861-3F70BFD9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954383C-E7FC-D767-89D8-5B716B1D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2077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BDA409-488F-5A63-AF77-BFDE6CB4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Zpřístupnění údaje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599CFA-8DC2-F621-E909-B53BA74C6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§ 51a zákona č. 111/2009 Sb., o základních registrech</a:t>
            </a:r>
          </a:p>
          <a:p>
            <a:r>
              <a:rPr lang="cs-CZ" i="1" dirty="0"/>
              <a:t>(1) Správce agendového informačního systému může určit, že údaj, který není veřejnosti přístupný, vedený v agendovém informačním systému je údajem, který lze zpřístupnit pro výkon jiné agendy, než pro kterou je agendový informační systém spravován.</a:t>
            </a:r>
          </a:p>
          <a:p>
            <a:pPr marL="0" indent="0">
              <a:buNone/>
            </a:pPr>
            <a:r>
              <a:rPr lang="cs-CZ" dirty="0"/>
              <a:t>Zpřístupněním se rozumí </a:t>
            </a:r>
            <a:r>
              <a:rPr lang="cs-CZ" b="1" dirty="0"/>
              <a:t>zpřístupnění přes Referenční rozhraní </a:t>
            </a:r>
            <a:r>
              <a:rPr lang="cs-CZ" dirty="0"/>
              <a:t>na základě registrace v RPP.</a:t>
            </a:r>
          </a:p>
          <a:p>
            <a:pPr marL="0" indent="0">
              <a:buNone/>
            </a:pPr>
            <a:r>
              <a:rPr lang="cs-CZ" dirty="0"/>
              <a:t>Každá agenda má mít v RPP uvedeno, jaké údaje jsou v ní vedeny, a zda je sdílí přes referenční rozhraní a komu.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FBF81C4-806F-21DE-4B5E-4F6F3354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C481073-7963-A163-2480-2071F6BD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7222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BDA409-488F-5A63-AF77-BFDE6CB4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Využívání Zpřístupněného údaje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599CFA-8DC2-F621-E909-B53BA74C6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/>
              <a:t>§ 54 odst. 1 písm. d) zákona č. 111/2009 Sb., o základních registrech</a:t>
            </a:r>
          </a:p>
          <a:p>
            <a:r>
              <a:rPr lang="cs-CZ" i="1" dirty="0"/>
              <a:t>d) výčet údajů vedených v základních registrech nebo v jiných agendových informačních systémech, které nejsou přístupné veřejnosti a které ohlašovatel agendy požaduje zpřístupnit pro výkon agendy, a rozsah oprávnění k využívání těchto údajů, který ohlašovatel požaduje, nebo výčet údajů vedených v základních registrech anebo v jiných agendových informačních systémech, které nejsou přístupné veřejnosti, zpřístupněných pro výkon agendy a rozsah oprávnění k využívání těchto údajů stanovené zvláštním právním předpisem</a:t>
            </a:r>
          </a:p>
          <a:p>
            <a:pPr marL="0" indent="0">
              <a:buNone/>
            </a:pPr>
            <a:r>
              <a:rPr lang="cs-CZ" dirty="0"/>
              <a:t>V rámci ohlášení agendy má ohlašovatel vyhodnotit, které údaje a ze kterých informačních systémů veřejné správy bude potřebovat pro výkon ohlašované agendy. Ten kdo má poskytnout „datovou subdodávku“ - </a:t>
            </a:r>
            <a:r>
              <a:rPr lang="cs-CZ" b="1" dirty="0"/>
              <a:t>Správce základního registru </a:t>
            </a:r>
            <a:r>
              <a:rPr lang="cs-CZ" dirty="0"/>
              <a:t>nebo agendového informačního systému </a:t>
            </a:r>
            <a:r>
              <a:rPr lang="cs-CZ" b="1" dirty="0"/>
              <a:t>následně posoudí oprávněnost požadavku na zpřístupnění navrhovaných údajů </a:t>
            </a:r>
            <a:r>
              <a:rPr lang="cs-CZ" dirty="0"/>
              <a:t>a v případě nutnosti navrhne redukci či může i rozšíření. V případě rozporu rozhoduje v první instanci DIA a ve druhé vláda ČR.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FBF81C4-806F-21DE-4B5E-4F6F3354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C481073-7963-A163-2480-2071F6BD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1567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BDA409-488F-5A63-AF77-BFDE6CB4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 VYUŽITÍ ÚDAJE není NUTNÉ ZMOCNĚNÍ V AGENDOVÉM ZÁKONĚ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599CFA-8DC2-F621-E909-B53BA74C6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S ohledem na to, že od 1. 2. 2022 </a:t>
            </a:r>
            <a:r>
              <a:rPr lang="cs-CZ" i="1" dirty="0"/>
              <a:t>(DEPO - Zákon č. 261/2021 Sb., kterým se mění některé zákony v souvislosti s další elektronizací postupů orgánů veřejné moci) </a:t>
            </a:r>
            <a:r>
              <a:rPr lang="cs-CZ" dirty="0"/>
              <a:t>byla ve většině právních předpisů </a:t>
            </a:r>
            <a:r>
              <a:rPr lang="cs-CZ" b="1" u="sng" dirty="0"/>
              <a:t>zrušena tzv. položková skladba,</a:t>
            </a:r>
            <a:r>
              <a:rPr lang="cs-CZ" dirty="0"/>
              <a:t> která stanovovala přímo v agendovém zákoně, jaké údaje se v agendě smějí využívat z jiných agend, je v současné době přístup k údajům řešen v rámci ohlášení agendy v registru práv a povinností. Je tam řešeno </a:t>
            </a:r>
            <a:r>
              <a:rPr lang="cs-CZ" dirty="0" err="1"/>
              <a:t>workflow</a:t>
            </a:r>
            <a:r>
              <a:rPr lang="cs-CZ" dirty="0"/>
              <a:t> podle toho zda agendový správce data chce vydat či právo žádající agendy neuznává atd.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FBF81C4-806F-21DE-4B5E-4F6F3354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C481073-7963-A163-2480-2071F6BD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0634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95BE62-2FC6-A486-B610-5943AA82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Souhlas s využitím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1B2EBA-0DE0-37CA-15C7-4F98C6223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ZoPDS § 7 odst. (2) </a:t>
            </a:r>
            <a:r>
              <a:rPr lang="cs-CZ" i="1" dirty="0"/>
              <a:t>Uživatel služby má právo udělit souhlas s využíváním údajů o sobě, o svých právech a povinnostech nebo právních skutečnostech, které se ho týkají, vedených v základním registru nebo agendovém informačním systému; orgán veřejné moci je povinen tyto údaje využívat,</a:t>
            </a:r>
          </a:p>
          <a:p>
            <a:pPr lvl="1"/>
            <a:r>
              <a:rPr lang="cs-CZ" dirty="0"/>
              <a:t>Tedy i v případě, že data nejsou zpřístupněná přes Referenční rozhraní, může uživatel (občan) dát souhlas k jejich zpřístupnění (myšleno, že si je má agendový správce opatřit náhradním způsobem),</a:t>
            </a:r>
          </a:p>
          <a:p>
            <a:pPr lvl="1"/>
            <a:r>
              <a:rPr lang="cs-CZ" dirty="0"/>
              <a:t>Pokud agendový správce nepostavil portálové řešení dle §4 (1) d) </a:t>
            </a:r>
            <a:r>
              <a:rPr lang="cs-CZ" dirty="0" err="1"/>
              <a:t>ZoPDS</a:t>
            </a:r>
            <a:r>
              <a:rPr lang="cs-CZ" dirty="0"/>
              <a:t>, tak podání může uživatel podat ještě také písemně fyzicky, pomocí datové schránky či pomocí emailu se svým zaručeným elektronickým podpisem,</a:t>
            </a:r>
          </a:p>
          <a:p>
            <a:pPr lvl="1"/>
            <a:r>
              <a:rPr lang="cs-CZ" dirty="0"/>
              <a:t>A při zpracování takového podání si pak příslušný agendový správce musí údaje o uživateli, jeho právech a povinnostech nebo právních skutečnostech zjistit u správce ZR či další agendy sám, například dotazem pomocí datové schránky či jiným způsobem.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55F6E9C-A4AE-98E7-2CA0-EA9E0F69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9FAE8F1-E895-EF16-2AE1-24963015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3392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2044-1465-E226-990A-904DEAB3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2EA563-F550-E13D-7F9D-1FBA12D59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Trvalý Souhlas s využitím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C84262-BACC-901A-2958-C323FAB3C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ZoPDS § 7 Právo na využívání údajů</a:t>
            </a:r>
          </a:p>
          <a:p>
            <a:r>
              <a:rPr lang="cs-CZ" dirty="0"/>
              <a:t>(2) </a:t>
            </a:r>
            <a:r>
              <a:rPr lang="cs-CZ" i="1" dirty="0"/>
              <a:t>Uživatel služby má právo udělit souhlas s využíváním údajů o sobě, o svých právech a povinnostech nebo právních skutečnostech, které se ho týkají, vedených v základním registru nebo agendovém informačním systému; orgán veřejné moci je povinen tyto údaje využívat.</a:t>
            </a:r>
          </a:p>
          <a:p>
            <a:r>
              <a:rPr lang="cs-CZ" dirty="0"/>
              <a:t>(3) </a:t>
            </a:r>
            <a:r>
              <a:rPr lang="cs-CZ" i="1" dirty="0"/>
              <a:t>Uživatel služby může udělit </a:t>
            </a:r>
            <a:r>
              <a:rPr lang="cs-CZ" b="1" i="1" u="sng" dirty="0"/>
              <a:t>souhlas k využívání údajů v rozsahu a trvání podle své volby </a:t>
            </a:r>
            <a:r>
              <a:rPr lang="cs-CZ" i="1" dirty="0"/>
              <a:t>na základě vlastního rozhodnutí nebo na základě žádosti orgánu veřejné moci. V rozsahu uděleného souhlasu se neuplatní povinnost mlčenlivosti orgánu veřejné moci. Uživatel služby je oprávněn souhlas kdykoliv odvolat.</a:t>
            </a:r>
          </a:p>
          <a:p>
            <a:r>
              <a:rPr lang="cs-CZ" dirty="0"/>
              <a:t>(4) </a:t>
            </a:r>
            <a:r>
              <a:rPr lang="cs-CZ" i="1" dirty="0"/>
              <a:t>Souhlas uživatele služby k využívání údajů se podává Agentuře. Agentura zveřejní elektronický formulář k udělení a odvolání souhlasu na portálu veřejné správy.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E79BAF6-52DF-B349-D5FB-E197F22F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4CB999E-3ECC-CEF6-1B45-3722617A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3443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DěkujEME</a:t>
            </a:r>
            <a:r>
              <a:rPr lang="cs-CZ" dirty="0"/>
              <a:t> za pozornost_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Prostor pro vaše dotazy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 dirty="0"/>
              <a:t>Jan Petr</a:t>
            </a:r>
          </a:p>
          <a:p>
            <a:r>
              <a:rPr lang="cs-CZ" dirty="0">
                <a:hlinkClick r:id="rId3"/>
              </a:rPr>
              <a:t>jan.petr@dia.gov.cz</a:t>
            </a:r>
            <a:r>
              <a:rPr lang="cs-CZ" dirty="0"/>
              <a:t>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FC4A16-FB80-4302-ABCF-BFA1C75DBE66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60eff747-50e2-4621-8df6-458c8151a505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purl.org/dc/terms/"/>
    <ds:schemaRef ds:uri="0f7720ff-53f2-424f-bdbf-9f2258d7a7d5"/>
  </ds:schemaRefs>
</ds:datastoreItem>
</file>

<file path=customXml/itemProps2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ED3E18-79E6-4166-931A-BBF03E1E3A06}"/>
</file>

<file path=docProps/app.xml><?xml version="1.0" encoding="utf-8"?>
<Properties xmlns="http://schemas.openxmlformats.org/officeDocument/2006/extended-properties" xmlns:vt="http://schemas.openxmlformats.org/officeDocument/2006/docPropsVTypes">
  <Template>DIA_ nadpis a text s odrážkami</Template>
  <TotalTime>1295</TotalTime>
  <Words>1593</Words>
  <Application>Microsoft Macintosh PowerPoint</Application>
  <PresentationFormat>Širokoúhlá obrazovka</PresentationFormat>
  <Paragraphs>178</Paragraphs>
  <Slides>30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5" baseType="lpstr">
      <vt:lpstr>Arial</vt:lpstr>
      <vt:lpstr>Azeret Mono</vt:lpstr>
      <vt:lpstr>Azeret Mono Medium</vt:lpstr>
      <vt:lpstr>Wingdings</vt:lpstr>
      <vt:lpstr>DIA_ nadpis a text s odrážkami</vt:lpstr>
      <vt:lpstr>Zákon o právu na digitální služby ETAPA V.</vt:lpstr>
      <vt:lpstr>Agenda</vt:lpstr>
      <vt:lpstr>Pozměňovací návrh ZoPDS</vt:lpstr>
      <vt:lpstr>Pozměňovací návrh k ZoPDS</vt:lpstr>
      <vt:lpstr>Pozměňovací návrh ZoPDS </vt:lpstr>
      <vt:lpstr>Aktuální stav</vt:lpstr>
      <vt:lpstr>ZoPDS etapa V</vt:lpstr>
      <vt:lpstr>Cíle etapy V.</vt:lpstr>
      <vt:lpstr>Digitální úkony způsobující nepřiměřenou zátěž</vt:lpstr>
      <vt:lpstr>Příprava Metodiky Elektronické formuláře</vt:lpstr>
      <vt:lpstr>Zjednodušené formuláře</vt:lpstr>
      <vt:lpstr>Zjednodušené formuláře</vt:lpstr>
      <vt:lpstr>Vlastní obsah formuláře</vt:lpstr>
      <vt:lpstr>Prezentace aplikace PowerPoint</vt:lpstr>
      <vt:lpstr>Prezentace aplikace PowerPoint</vt:lpstr>
      <vt:lpstr>Prezentace aplikace PowerPoint</vt:lpstr>
      <vt:lpstr>formulářE se generují automaticky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Právo na využívání údajů</vt:lpstr>
      <vt:lpstr>ZoPDS § 7 Právo na využívání údajů</vt:lpstr>
      <vt:lpstr>Zpřístupnění údaje</vt:lpstr>
      <vt:lpstr>Využívání Zpřístupněného údaje</vt:lpstr>
      <vt:lpstr>PRO VYUŽITÍ ÚDAJE není NUTNÉ ZMOCNĚNÍ V AGENDOVÉM ZÁKONĚ</vt:lpstr>
      <vt:lpstr>Souhlas s využitím údajů</vt:lpstr>
      <vt:lpstr>Trvalý Souhlas s využitím údajů</vt:lpstr>
      <vt:lpstr>DěkujEME za pozornost_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Petr Jan</dc:creator>
  <cp:keywords>PPT prezentace šablona DIA PowerPoint</cp:keywords>
  <dc:description/>
  <cp:lastModifiedBy>Petr Jan</cp:lastModifiedBy>
  <cp:revision>21</cp:revision>
  <dcterms:created xsi:type="dcterms:W3CDTF">2024-11-17T07:01:41Z</dcterms:created>
  <dcterms:modified xsi:type="dcterms:W3CDTF">2024-12-09T12:12:35Z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2024-05-30T05:59:10Z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a2d8e465-2e67-489c-bf05-fd17198c7476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ediaServiceImageTags">
    <vt:lpwstr/>
  </property>
</Properties>
</file>
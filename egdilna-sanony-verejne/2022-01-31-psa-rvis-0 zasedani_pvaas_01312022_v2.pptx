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0" r:id="rId6"/>
    <p:sldId id="261" r:id="rId7"/>
    <p:sldId id="259" r:id="rId8"/>
    <p:sldId id="265" r:id="rId9"/>
    <p:sldId id="285" r:id="rId10"/>
    <p:sldId id="274" r:id="rId11"/>
    <p:sldId id="276" r:id="rId12"/>
    <p:sldId id="275" r:id="rId13"/>
    <p:sldId id="277" r:id="rId14"/>
    <p:sldId id="284" r:id="rId15"/>
    <p:sldId id="279" r:id="rId16"/>
    <p:sldId id="269" r:id="rId17"/>
    <p:sldId id="282" r:id="rId18"/>
    <p:sldId id="272" r:id="rId19"/>
    <p:sldId id="270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28.01.2022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28.01.2022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28.01.2022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nap:egovernment_cloud" TargetMode="External"/><Relationship Id="rId3" Type="http://schemas.openxmlformats.org/officeDocument/2006/relationships/hyperlink" Target="https://archi.gov.cz/nap:portaly_verejne_spravy_a_soukromopravnich_uzivatelu_udaju" TargetMode="External"/><Relationship Id="rId7" Type="http://schemas.openxmlformats.org/officeDocument/2006/relationships/hyperlink" Target="https://archi.gov.cz/nap:nia" TargetMode="External"/><Relationship Id="rId2" Type="http://schemas.openxmlformats.org/officeDocument/2006/relationships/hyperlink" Target="https://archi.gov.cz/vyhledavani:changelo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benchmarkverejnespravy" TargetMode="External"/><Relationship Id="rId5" Type="http://schemas.openxmlformats.org/officeDocument/2006/relationships/hyperlink" Target="https://archi.gov.cz/uvod_schvalovani" TargetMode="External"/><Relationship Id="rId4" Type="http://schemas.openxmlformats.org/officeDocument/2006/relationships/hyperlink" Target="https://archi.gov.cz/znalostni_baze:strucna_metodika_modelovani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31.1.2022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Úvod do nového roku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Petr Kuchař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 Národní architektuře eGovernmentu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Příklady dobré praxe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Ministerstvo spravedlnosti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údaje v ZR obyvatel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Tiller</a:t>
            </a: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ZoPDS Osvědčení a El. podpisy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Tiller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Nová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verze formulářů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OHA + IROP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Úvod do nového roku 2022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Změny v Národní architektuře eGovernmentu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5096021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dirty="0"/>
              <a:t>Viz také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archi.gov.cz/vyhledavani:changelog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/>
              <a:t>Portály veřejné správy a soukromoprávních uživatelů </a:t>
            </a:r>
            <a:r>
              <a:rPr lang="cs-CZ" dirty="0" smtClean="0"/>
              <a:t>údajů </a:t>
            </a:r>
            <a:r>
              <a:rPr lang="cs-CZ" dirty="0">
                <a:hlinkClick r:id="rId3"/>
              </a:rPr>
              <a:t>https://</a:t>
            </a:r>
            <a:r>
              <a:rPr lang="cs-CZ" dirty="0" smtClean="0">
                <a:hlinkClick r:id="rId3"/>
              </a:rPr>
              <a:t>archi.gov.cz/nap:portaly_verejne_spravy_a_soukromopravnich_uzivatelu_udaju</a:t>
            </a:r>
            <a:r>
              <a:rPr lang="cs-CZ" dirty="0" smtClean="0"/>
              <a:t> </a:t>
            </a:r>
          </a:p>
          <a:p>
            <a:pPr lvl="1">
              <a:lnSpc>
                <a:spcPct val="170000"/>
              </a:lnSpc>
            </a:pPr>
            <a:r>
              <a:rPr lang="cs-CZ" dirty="0" smtClean="0"/>
              <a:t>Nová pravidla pro jednotlivé druhy portálů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Stručná metodika </a:t>
            </a:r>
            <a:r>
              <a:rPr lang="cs-CZ" dirty="0"/>
              <a:t>efektivního modelování </a:t>
            </a:r>
            <a:r>
              <a:rPr lang="cs-CZ" dirty="0">
                <a:hlinkClick r:id="rId4"/>
              </a:rPr>
              <a:t>https://</a:t>
            </a:r>
            <a:r>
              <a:rPr lang="cs-CZ" dirty="0" smtClean="0">
                <a:hlinkClick r:id="rId4"/>
              </a:rPr>
              <a:t>archi.gov.cz/znalostni_baze:strucna_metodika_modelovani</a:t>
            </a:r>
            <a:r>
              <a:rPr lang="cs-CZ" dirty="0" smtClean="0"/>
              <a:t> </a:t>
            </a:r>
            <a:r>
              <a:rPr lang="cs-CZ" dirty="0" smtClean="0"/>
              <a:t> </a:t>
            </a:r>
            <a:endParaRPr lang="cs-CZ" dirty="0"/>
          </a:p>
          <a:p>
            <a:pPr>
              <a:lnSpc>
                <a:spcPct val="170000"/>
              </a:lnSpc>
            </a:pPr>
            <a:r>
              <a:rPr lang="cs-CZ" dirty="0" smtClean="0"/>
              <a:t>Nové </a:t>
            </a:r>
            <a:r>
              <a:rPr lang="cs-CZ" dirty="0"/>
              <a:t>verze formulářů </a:t>
            </a:r>
            <a:r>
              <a:rPr lang="cs-CZ" dirty="0">
                <a:hlinkClick r:id="rId5"/>
              </a:rPr>
              <a:t>https://</a:t>
            </a:r>
            <a:r>
              <a:rPr lang="cs-CZ" dirty="0" smtClean="0">
                <a:hlinkClick r:id="rId5"/>
              </a:rPr>
              <a:t>archi.gov.cz/uvod_schvalovani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err="1" smtClean="0"/>
              <a:t>Benchmark</a:t>
            </a:r>
            <a:r>
              <a:rPr lang="cs-CZ" dirty="0" smtClean="0"/>
              <a:t> </a:t>
            </a:r>
            <a:r>
              <a:rPr lang="cs-CZ" dirty="0"/>
              <a:t>veřejné správy </a:t>
            </a:r>
            <a:r>
              <a:rPr lang="cs-CZ" dirty="0">
                <a:hlinkClick r:id="rId6"/>
              </a:rPr>
              <a:t>https://</a:t>
            </a:r>
            <a:r>
              <a:rPr lang="cs-CZ" dirty="0" smtClean="0">
                <a:hlinkClick r:id="rId6"/>
              </a:rPr>
              <a:t>archi.gov.cz/znalostni_baze:benchmarkverejnespravy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Národní </a:t>
            </a:r>
            <a:r>
              <a:rPr lang="cs-CZ" dirty="0"/>
              <a:t>identitní autorita </a:t>
            </a:r>
            <a:r>
              <a:rPr lang="cs-CZ" dirty="0">
                <a:hlinkClick r:id="rId7"/>
              </a:rPr>
              <a:t>https://</a:t>
            </a:r>
            <a:r>
              <a:rPr lang="cs-CZ" dirty="0" smtClean="0">
                <a:hlinkClick r:id="rId7"/>
              </a:rPr>
              <a:t>archi.gov.cz/nap:nia</a:t>
            </a:r>
            <a:r>
              <a:rPr lang="cs-CZ" dirty="0" smtClean="0"/>
              <a:t> </a:t>
            </a:r>
          </a:p>
          <a:p>
            <a:pPr lvl="1">
              <a:lnSpc>
                <a:spcPct val="170000"/>
              </a:lnSpc>
            </a:pPr>
            <a:r>
              <a:rPr lang="cs-CZ" dirty="0" smtClean="0"/>
              <a:t>Nový </a:t>
            </a:r>
            <a:r>
              <a:rPr lang="cs-CZ" dirty="0" err="1" smtClean="0"/>
              <a:t>IdP</a:t>
            </a:r>
            <a:r>
              <a:rPr lang="cs-CZ" dirty="0" smtClean="0"/>
              <a:t> z řad </a:t>
            </a:r>
            <a:r>
              <a:rPr lang="cs-CZ" dirty="0" err="1" smtClean="0"/>
              <a:t>BankID</a:t>
            </a:r>
            <a:r>
              <a:rPr lang="cs-CZ" dirty="0" smtClean="0"/>
              <a:t>; pravidla pro určování </a:t>
            </a:r>
            <a:r>
              <a:rPr lang="cs-CZ" dirty="0" err="1" smtClean="0"/>
              <a:t>LoA</a:t>
            </a:r>
            <a:endParaRPr lang="cs-CZ" dirty="0"/>
          </a:p>
          <a:p>
            <a:pPr>
              <a:lnSpc>
                <a:spcPct val="170000"/>
              </a:lnSpc>
            </a:pPr>
            <a:r>
              <a:rPr lang="cs-CZ" dirty="0"/>
              <a:t>eGovernment Cloud </a:t>
            </a:r>
            <a:r>
              <a:rPr lang="cs-CZ" dirty="0">
                <a:hlinkClick r:id="rId8"/>
              </a:rPr>
              <a:t>https://</a:t>
            </a:r>
            <a:r>
              <a:rPr lang="cs-CZ" dirty="0" smtClean="0">
                <a:hlinkClick r:id="rId8"/>
              </a:rPr>
              <a:t>archi.gov.cz/nap:egovernment_cloud</a:t>
            </a:r>
            <a:r>
              <a:rPr lang="cs-CZ" dirty="0" smtClean="0"/>
              <a:t> </a:t>
            </a:r>
          </a:p>
          <a:p>
            <a:pPr lvl="1"/>
            <a:r>
              <a:rPr lang="cs-CZ" dirty="0"/>
              <a:t>Vztah </a:t>
            </a:r>
            <a:r>
              <a:rPr lang="cs-CZ" dirty="0" err="1"/>
              <a:t>eGC</a:t>
            </a:r>
            <a:r>
              <a:rPr lang="cs-CZ" dirty="0"/>
              <a:t> k publikaci služeb v </a:t>
            </a:r>
            <a:r>
              <a:rPr lang="cs-CZ" dirty="0" smtClean="0"/>
              <a:t>CMS/KIVS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Diskutuje s námi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Pravidla diskuze na konci každé stránky:</a:t>
            </a:r>
          </a:p>
          <a:p>
            <a:pPr lvl="1"/>
            <a:r>
              <a:rPr lang="cs-CZ" dirty="0" smtClean="0"/>
              <a:t>Dotazy </a:t>
            </a:r>
            <a:r>
              <a:rPr lang="cs-CZ" dirty="0"/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dirty="0">
                <a:hlinkClick r:id="rId2"/>
              </a:rPr>
              <a:t> https://archi.gov.cz/diskuze</a:t>
            </a:r>
            <a:r>
              <a:rPr lang="cs-CZ" dirty="0" smtClean="0"/>
              <a:t>.</a:t>
            </a:r>
            <a:endParaRPr lang="cs-CZ" dirty="0"/>
          </a:p>
          <a:p>
            <a:r>
              <a:rPr lang="cs-CZ" dirty="0" smtClean="0"/>
              <a:t>Pravidla </a:t>
            </a:r>
            <a:r>
              <a:rPr lang="cs-CZ" dirty="0"/>
              <a:t>diskuze ve speciální části </a:t>
            </a:r>
            <a:r>
              <a:rPr lang="cs-CZ" dirty="0" smtClean="0"/>
              <a:t>webu</a:t>
            </a:r>
            <a:r>
              <a:rPr lang="cs-CZ" dirty="0"/>
              <a:t>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archi.gov.cz/diskuze</a:t>
            </a:r>
            <a:r>
              <a:rPr lang="cs-CZ" dirty="0" smtClean="0"/>
              <a:t> </a:t>
            </a:r>
            <a:endParaRPr lang="cs-CZ" dirty="0"/>
          </a:p>
          <a:p>
            <a:pPr lvl="1"/>
            <a:r>
              <a:rPr lang="cs-CZ" dirty="0" smtClean="0"/>
              <a:t>Diskutujte </a:t>
            </a:r>
            <a:r>
              <a:rPr lang="cs-CZ" dirty="0"/>
              <a:t>v rámci založené diskuze. Pokud Váš příspěvek s vláknem nesouvisí, založte prosím nové diskuzní vlákno.</a:t>
            </a:r>
          </a:p>
          <a:p>
            <a:pPr lvl="1"/>
            <a:r>
              <a:rPr lang="cs-CZ" dirty="0"/>
              <a:t>Pokud zakládáte nové vlákno, nezapomeňte ho pojmenovat. Název by měl souviset s Vaším dotazem.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Poslední seznam </a:t>
            </a:r>
            <a:r>
              <a:rPr lang="cs-CZ" dirty="0"/>
              <a:t>změn jednomyslně schválen </a:t>
            </a:r>
            <a:r>
              <a:rPr lang="cs-CZ" dirty="0" smtClean="0"/>
              <a:t>usnesením RVIS </a:t>
            </a:r>
            <a:r>
              <a:rPr lang="cs-CZ" dirty="0" smtClean="0"/>
              <a:t>2022/1/21/U6</a:t>
            </a:r>
            <a:endParaRPr lang="cs-CZ" dirty="0" smtClean="0"/>
          </a:p>
          <a:p>
            <a:r>
              <a:rPr lang="cs-CZ" dirty="0" smtClean="0"/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Plenární zasedání RVIS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Příklady dobré praxe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Nové údaje v ZR ROB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88063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ZoPDS – Osvědčení a El. podpis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78293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Nová verze formulářů OHA + IROP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Nová verze formulářů OHA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 smtClean="0"/>
              <a:t>NÚKIB součástí organizací, které se podílejí na schvalování</a:t>
            </a:r>
          </a:p>
          <a:p>
            <a:pPr marL="0" indent="0">
              <a:buNone/>
            </a:pPr>
            <a:endParaRPr lang="cs-CZ" dirty="0">
              <a:sym typeface="Wingdings" panose="05000000000000000000" pitchFamily="2" charset="2"/>
            </a:endParaRPr>
          </a:p>
          <a:p>
            <a:r>
              <a:rPr lang="cs-CZ" dirty="0">
                <a:sym typeface="Wingdings" panose="05000000000000000000" pitchFamily="2" charset="2"/>
              </a:rPr>
              <a:t>Nové otázky na nakládání a zpracování osobních </a:t>
            </a:r>
            <a:r>
              <a:rPr lang="cs-CZ" dirty="0" smtClean="0">
                <a:sym typeface="Wingdings" panose="05000000000000000000" pitchFamily="2" charset="2"/>
              </a:rPr>
              <a:t>údajů</a:t>
            </a:r>
            <a:endParaRPr lang="cs-CZ" dirty="0">
              <a:sym typeface="Wingdings" panose="05000000000000000000" pitchFamily="2" charset="2"/>
            </a:endParaRPr>
          </a:p>
          <a:p>
            <a:r>
              <a:rPr lang="cs-CZ" dirty="0" smtClean="0">
                <a:sym typeface="Wingdings" panose="05000000000000000000" pitchFamily="2" charset="2"/>
              </a:rPr>
              <a:t>Nové </a:t>
            </a:r>
            <a:r>
              <a:rPr lang="cs-CZ" dirty="0">
                <a:sym typeface="Wingdings" panose="05000000000000000000" pitchFamily="2" charset="2"/>
              </a:rPr>
              <a:t>otázky na </a:t>
            </a:r>
            <a:r>
              <a:rPr lang="cs-CZ" dirty="0"/>
              <a:t>Dopady narušení bezpečnosti informací v </a:t>
            </a:r>
            <a:r>
              <a:rPr lang="cs-CZ" dirty="0" smtClean="0"/>
              <a:t>systému</a:t>
            </a:r>
            <a:endParaRPr lang="cs-CZ" dirty="0"/>
          </a:p>
          <a:p>
            <a:r>
              <a:rPr lang="cs-CZ" dirty="0" smtClean="0"/>
              <a:t>Nové </a:t>
            </a:r>
            <a:r>
              <a:rPr lang="cs-CZ" dirty="0"/>
              <a:t>otázky na Minimální bezpečnostní </a:t>
            </a:r>
            <a:r>
              <a:rPr lang="cs-CZ" dirty="0" smtClean="0"/>
              <a:t>standard</a:t>
            </a:r>
            <a:endParaRPr lang="cs-CZ" dirty="0"/>
          </a:p>
          <a:p>
            <a:r>
              <a:rPr lang="cs-CZ" dirty="0" smtClean="0"/>
              <a:t>Přidání </a:t>
            </a:r>
            <a:r>
              <a:rPr lang="cs-CZ" dirty="0" smtClean="0"/>
              <a:t>otázky na posouzení ekonomické výhodnosti provozu ISVS</a:t>
            </a:r>
          </a:p>
          <a:p>
            <a:r>
              <a:rPr lang="cs-CZ" dirty="0" smtClean="0"/>
              <a:t>Přidání otázky na bezpečnostní úroveň ISVS</a:t>
            </a:r>
          </a:p>
          <a:p>
            <a:r>
              <a:rPr lang="cs-CZ" dirty="0" smtClean="0"/>
              <a:t>Větší detail na identifikaci subjektů v datovém kmeni</a:t>
            </a:r>
          </a:p>
          <a:p>
            <a:r>
              <a:rPr lang="cs-CZ" dirty="0" smtClean="0"/>
              <a:t>Rozšíření bezpečnostní architektury</a:t>
            </a:r>
          </a:p>
          <a:p>
            <a:r>
              <a:rPr lang="cs-CZ" dirty="0" smtClean="0"/>
              <a:t>Přidání otázek na cloud </a:t>
            </a:r>
            <a:r>
              <a:rPr lang="cs-CZ" dirty="0" smtClean="0"/>
              <a:t>computing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335372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A63B1A-DC42-412A-B6C0-4848B9305309}"/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425</Words>
  <Application>Microsoft Office PowerPoint</Application>
  <PresentationFormat>Širokoúhlá obrazovka</PresentationFormat>
  <Paragraphs>63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0" baseType="lpstr">
      <vt:lpstr>Arial</vt:lpstr>
      <vt:lpstr>Calibri</vt:lpstr>
      <vt:lpstr>Wingdings</vt:lpstr>
      <vt:lpstr>MV_sablona1_2007</vt:lpstr>
      <vt:lpstr>Prezentace aplikace PowerPoint</vt:lpstr>
      <vt:lpstr>Technický úvod, pravidla videokonference </vt:lpstr>
      <vt:lpstr>Kontext naší PS v rámci RVIS</vt:lpstr>
      <vt:lpstr> </vt:lpstr>
      <vt:lpstr>Úvod do nového roku 2022</vt:lpstr>
      <vt:lpstr>Změny v Národní architektuře eGovernmentu</vt:lpstr>
      <vt:lpstr>Změny v Národní architektuře eGovernmentu</vt:lpstr>
      <vt:lpstr>Diskutuje s námi</vt:lpstr>
      <vt:lpstr>Změny v Národní architektuře eGovernmentu</vt:lpstr>
      <vt:lpstr>Příklady dobré praxe</vt:lpstr>
      <vt:lpstr>Nové údaje v ZR ROB</vt:lpstr>
      <vt:lpstr>ZoPDS – Osvědčení a El. podpis</vt:lpstr>
      <vt:lpstr>Nová verze formulářů OHA + IROP</vt:lpstr>
      <vt:lpstr>Nová verze formulářů OHA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39</cp:revision>
  <dcterms:created xsi:type="dcterms:W3CDTF">2021-01-27T09:19:54Z</dcterms:created>
  <dcterms:modified xsi:type="dcterms:W3CDTF">2022-01-28T14:09:09Z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
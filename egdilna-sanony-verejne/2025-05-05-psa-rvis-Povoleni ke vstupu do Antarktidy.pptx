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5104" r:id="rId5"/>
    <p:sldId id="5117" r:id="rId6"/>
    <p:sldId id="5119" r:id="rId7"/>
    <p:sldId id="4810" r:id="rId8"/>
    <p:sldId id="5120" r:id="rId9"/>
    <p:sldId id="5116" r:id="rId10"/>
    <p:sldId id="5106" r:id="rId11"/>
    <p:sldId id="5121" r:id="rId12"/>
    <p:sldId id="5115" r:id="rId13"/>
    <p:sldId id="5105" r:id="rId14"/>
    <p:sldId id="290" r:id="rId15"/>
    <p:sldId id="267" r:id="rId16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F44054-D4E4-05D1-AE65-5390805DC6B3}" name="Trusina Šimon" initials="TŠ" userId="S::simon.trusina@dia.gov.cz::ad935c6b-ed6c-4293-bc4c-891c765e3afb" providerId="AD"/>
  <p188:author id="{983F1577-5826-E159-DAAE-F3D69E538BC9}" name="Sedláčková Petra" initials="SP" userId="S::petra.sedlackova@dia.gov.cz::e0c1d440-80cb-4d98-8c0d-2305ba2592f5" providerId="AD"/>
  <p188:author id="{CEE89E82-393C-2DF8-411F-EF016A5EA3D4}" name="Petr Jan" initials="" userId="S::jan.petr@dia.gov.cz::619497a3-6dda-48a9-9783-3fc51734f31c" providerId="AD"/>
  <p188:author id="{85F7C290-CC9A-3416-9FCF-9021063FCFCE}" name="Vaculík Daniel" initials="VD" userId="S::daniel.vaculik@dia.gov.cz::78d8267c-318c-4462-b326-6975024256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DE8"/>
    <a:srgbClr val="46AD48"/>
    <a:srgbClr val="2E2D2C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7AE932-CDD5-4A56-A758-552AA7761250}" v="1" dt="2025-05-07T06:36:00.1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9"/>
    <p:restoredTop sz="93469"/>
  </p:normalViewPr>
  <p:slideViewPr>
    <p:cSldViewPr snapToGrid="0">
      <p:cViewPr varScale="1">
        <p:scale>
          <a:sx n="95" d="100"/>
          <a:sy n="95" d="100"/>
        </p:scale>
        <p:origin x="13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edivec Tomáš" userId="5859117d-4fed-45af-939e-a078bb4ea44f" providerId="ADAL" clId="{267AE932-CDD5-4A56-A758-552AA7761250}"/>
    <pc:docChg chg="custSel modSld">
      <pc:chgData name="Šedivec Tomáš" userId="5859117d-4fed-45af-939e-a078bb4ea44f" providerId="ADAL" clId="{267AE932-CDD5-4A56-A758-552AA7761250}" dt="2025-05-07T06:36:00.133" v="1"/>
      <pc:docMkLst>
        <pc:docMk/>
      </pc:docMkLst>
      <pc:sldChg chg="addSp delSp modSp mod delAnim modAnim">
        <pc:chgData name="Šedivec Tomáš" userId="5859117d-4fed-45af-939e-a078bb4ea44f" providerId="ADAL" clId="{267AE932-CDD5-4A56-A758-552AA7761250}" dt="2025-05-07T06:36:00.133" v="1"/>
        <pc:sldMkLst>
          <pc:docMk/>
          <pc:sldMk cId="4060398086" sldId="5106"/>
        </pc:sldMkLst>
        <pc:picChg chg="add mod">
          <ac:chgData name="Šedivec Tomáš" userId="5859117d-4fed-45af-939e-a078bb4ea44f" providerId="ADAL" clId="{267AE932-CDD5-4A56-A758-552AA7761250}" dt="2025-05-07T06:36:00.133" v="1"/>
          <ac:picMkLst>
            <pc:docMk/>
            <pc:sldMk cId="4060398086" sldId="5106"/>
            <ac:picMk id="5" creationId="{8B8E21EC-1BAD-854B-2E61-3CC676E6A220}"/>
          </ac:picMkLst>
        </pc:picChg>
        <pc:picChg chg="del">
          <ac:chgData name="Šedivec Tomáš" userId="5859117d-4fed-45af-939e-a078bb4ea44f" providerId="ADAL" clId="{267AE932-CDD5-4A56-A758-552AA7761250}" dt="2025-05-07T06:35:41.997" v="0" actId="478"/>
          <ac:picMkLst>
            <pc:docMk/>
            <pc:sldMk cId="4060398086" sldId="5106"/>
            <ac:picMk id="6" creationId="{153FF513-503F-EF48-55DC-E320780464F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07.05.2025</a:t>
            </a:fld>
            <a:endParaRPr lang="cs-CZ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07.05.2025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CB8D-AB87-BFC3-2E25-77687324F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37B572B7-AF0A-15B7-A4EA-C4809FE75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E001E1F-6C14-AD00-2208-437D5A97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Životní události, AI</a:t>
            </a:r>
          </a:p>
          <a:p>
            <a:endParaRPr lang="cs-CZ"/>
          </a:p>
          <a:p>
            <a:r>
              <a:rPr lang="cs-CZ"/>
              <a:t>Cílem je aby státní správa nabízela všechny svoje služby stejně jako to dělají </a:t>
            </a:r>
            <a:r>
              <a:rPr lang="cs-CZ" err="1"/>
              <a:t>eShopy</a:t>
            </a:r>
            <a:r>
              <a:rPr lang="cs-CZ"/>
              <a:t> nebo banky. </a:t>
            </a:r>
          </a:p>
          <a:p>
            <a:r>
              <a:rPr lang="cs-CZ"/>
              <a:t>S maximálním důrazem na jednoduchost a účelnost.</a:t>
            </a:r>
          </a:p>
          <a:p>
            <a:r>
              <a:rPr lang="cs-CZ"/>
              <a:t>Základem je tlačítko VYŔÍDIT!!! Bez čekání, bez zbytečného vyplňování, standardně, ….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497A00D-A10A-6FF5-54AF-BA082DB28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9404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5018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>
                <a:solidFill>
                  <a:schemeClr val="bg1"/>
                </a:solidFill>
              </a:rPr>
              <a:t>DIA.</a:t>
            </a:r>
            <a:r>
              <a:rPr lang="cs-CZ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F9B9EF-180B-639A-19E9-8217533CE2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cs-CZ" dirty="0"/>
              <a:t>Povolení ke vstupu do Antarktidy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A32C00A-AB13-04FE-0CAD-B4705EB925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cs-CZ" sz="1900" dirty="0"/>
              <a:t>Jan Petr</a:t>
            </a:r>
          </a:p>
        </p:txBody>
      </p:sp>
    </p:spTree>
    <p:extLst>
      <p:ext uri="{BB962C8B-B14F-4D97-AF65-F5344CB8AC3E}">
        <p14:creationId xmlns:p14="http://schemas.microsoft.com/office/powerpoint/2010/main" val="162752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1960E8-D5A3-AAC3-AD24-E3D60EB1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Povolení ke vstupu do Antarktidy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D50936-8A77-9908-240C-D57410D0B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Služba S1869 Povolení ke vstupu do </a:t>
            </a:r>
            <a:r>
              <a:rPr lang="cs-CZ" dirty="0" err="1"/>
              <a:t>Antaktidy</a:t>
            </a:r>
            <a:endParaRPr lang="cs-CZ" dirty="0"/>
          </a:p>
          <a:p>
            <a:r>
              <a:rPr lang="cs-CZ" dirty="0"/>
              <a:t>Její použití není příliš časté</a:t>
            </a:r>
          </a:p>
          <a:p>
            <a:r>
              <a:rPr lang="cs-CZ" dirty="0"/>
              <a:t>Velmi často se tato služba dávala jako ukázka zbytečné digitální služby</a:t>
            </a:r>
          </a:p>
          <a:p>
            <a:r>
              <a:rPr lang="cs-CZ" dirty="0"/>
              <a:t>Věnovala se tomu spousta hodin</a:t>
            </a:r>
          </a:p>
          <a:p>
            <a:r>
              <a:rPr lang="cs-CZ" b="1" u="sng" dirty="0"/>
              <a:t>Mělo smysl o tom mluvit pokud by realizace trvala jen 10 minut?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A34CB1D-F4D6-6341-AE44-14D72AFE4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50A1F22-225B-C34F-7B6B-41896ECC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712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DE3479-55DF-E28D-AD98-87C7327C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Postup vytváření a implementace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516018-49D1-6B21-C078-884DB4EF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cs-CZ" dirty="0"/>
              <a:t>Vytvoření dat pro formulář (max 5 proměnných, 5 příloh, 1 volný text, zastupování, GDPR, prohlášení)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Kontrola formuláře pomocí </a:t>
            </a:r>
            <a:r>
              <a:rPr lang="cs-CZ" dirty="0" err="1"/>
              <a:t>preview</a:t>
            </a:r>
            <a:endParaRPr lang="cs-CZ" dirty="0"/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Zkopírování odkazu, kde bude formulář dostupný (</a:t>
            </a:r>
            <a:r>
              <a:rPr lang="cs-CZ" dirty="0" err="1"/>
              <a:t>copy&amp;paste</a:t>
            </a:r>
            <a:r>
              <a:rPr lang="cs-CZ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Schválení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Integrace (plně automatická)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Zveřejnění pomocí odkazu (URL)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12BA939-6765-AC3B-5FAF-2225942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46A694F-EF74-6DA1-2188-A415EDB2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2620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692B37-F185-5F87-E473-48C2136B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Příklad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ABAB7A-A550-A2E4-0F2D-8D3C6C133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33056"/>
            <a:ext cx="2036945" cy="4737014"/>
          </a:xfrm>
        </p:spPr>
        <p:txBody>
          <a:bodyPr/>
          <a:lstStyle/>
          <a:p>
            <a:r>
              <a:rPr lang="cs-CZ"/>
              <a:t>Například  dotazník na MZE požaduje vyplnění méně než 5 údajů a 3 příloh.</a:t>
            </a:r>
          </a:p>
          <a:p>
            <a:r>
              <a:rPr lang="cs-CZ"/>
              <a:t>Vyplňovat data dostupná v základních registrech vede ke  kolizím v rámci AIS (data se rozchází se ZR) 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8F0249A-2EE9-4F5F-9F2F-6124D992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A4E28BC-A365-4EC8-CA4E-1E855150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BB146DD-9767-741A-D0CD-8A6356BBF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672" y="0"/>
            <a:ext cx="4903587" cy="685800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C4998A71-6985-903B-08FD-A33F962D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374" y="0"/>
            <a:ext cx="4561114" cy="6858000"/>
          </a:xfrm>
          <a:prstGeom prst="rect">
            <a:avLst/>
          </a:prstGeom>
        </p:spPr>
      </p:pic>
      <p:sp>
        <p:nvSpPr>
          <p:cNvPr id="9" name="Oválný bublinový popisek 8">
            <a:extLst>
              <a:ext uri="{FF2B5EF4-FFF2-40B4-BE49-F238E27FC236}">
                <a16:creationId xmlns:a16="http://schemas.microsoft.com/office/drawing/2014/main" id="{0FEE7A3D-52B7-7FF6-D646-EAB02379C27F}"/>
              </a:ext>
            </a:extLst>
          </p:cNvPr>
          <p:cNvSpPr/>
          <p:nvPr/>
        </p:nvSpPr>
        <p:spPr>
          <a:xfrm>
            <a:off x="4800617" y="1939636"/>
            <a:ext cx="2623030" cy="10668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Vyplněno po přihlášení NIA ze ZR</a:t>
            </a:r>
          </a:p>
        </p:txBody>
      </p:sp>
      <p:sp>
        <p:nvSpPr>
          <p:cNvPr id="10" name="Oválný bublinový popisek 9">
            <a:extLst>
              <a:ext uri="{FF2B5EF4-FFF2-40B4-BE49-F238E27FC236}">
                <a16:creationId xmlns:a16="http://schemas.microsoft.com/office/drawing/2014/main" id="{7F5EE902-F1D4-6B88-7B5F-A1ED05707C4F}"/>
              </a:ext>
            </a:extLst>
          </p:cNvPr>
          <p:cNvSpPr/>
          <p:nvPr/>
        </p:nvSpPr>
        <p:spPr>
          <a:xfrm>
            <a:off x="4883727" y="3599095"/>
            <a:ext cx="2424545" cy="10668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Vyplněno na základě </a:t>
            </a:r>
            <a:r>
              <a:rPr lang="cs-CZ" err="1"/>
              <a:t>ReZa</a:t>
            </a:r>
            <a:endParaRPr lang="cs-CZ"/>
          </a:p>
        </p:txBody>
      </p:sp>
      <p:sp>
        <p:nvSpPr>
          <p:cNvPr id="11" name="Oválný bublinový popisek 10">
            <a:extLst>
              <a:ext uri="{FF2B5EF4-FFF2-40B4-BE49-F238E27FC236}">
                <a16:creationId xmlns:a16="http://schemas.microsoft.com/office/drawing/2014/main" id="{A16CE0AE-4EEC-591A-342E-0946208DDAC5}"/>
              </a:ext>
            </a:extLst>
          </p:cNvPr>
          <p:cNvSpPr/>
          <p:nvPr/>
        </p:nvSpPr>
        <p:spPr>
          <a:xfrm>
            <a:off x="4864888" y="5554408"/>
            <a:ext cx="2424545" cy="10668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Základní registry</a:t>
            </a:r>
          </a:p>
        </p:txBody>
      </p:sp>
      <p:sp>
        <p:nvSpPr>
          <p:cNvPr id="12" name="Oválný bublinový popisek 11">
            <a:extLst>
              <a:ext uri="{FF2B5EF4-FFF2-40B4-BE49-F238E27FC236}">
                <a16:creationId xmlns:a16="http://schemas.microsoft.com/office/drawing/2014/main" id="{BC0E6D09-B759-0E36-F251-59380B515DD7}"/>
              </a:ext>
            </a:extLst>
          </p:cNvPr>
          <p:cNvSpPr/>
          <p:nvPr/>
        </p:nvSpPr>
        <p:spPr>
          <a:xfrm>
            <a:off x="9530758" y="432000"/>
            <a:ext cx="2443384" cy="10668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Základní registry, datová schránka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E388AE01-E5B1-58D9-5AC1-CFAE48AF909E}"/>
              </a:ext>
            </a:extLst>
          </p:cNvPr>
          <p:cNvSpPr/>
          <p:nvPr/>
        </p:nvSpPr>
        <p:spPr>
          <a:xfrm>
            <a:off x="9460592" y="1930800"/>
            <a:ext cx="2582825" cy="4205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Jediný potřebný údaj!!!</a:t>
            </a:r>
          </a:p>
        </p:txBody>
      </p:sp>
      <p:sp>
        <p:nvSpPr>
          <p:cNvPr id="14" name="Oválný bublinový popisek 13">
            <a:extLst>
              <a:ext uri="{FF2B5EF4-FFF2-40B4-BE49-F238E27FC236}">
                <a16:creationId xmlns:a16="http://schemas.microsoft.com/office/drawing/2014/main" id="{F0351E7F-4BC7-5D2F-F144-F277BE3A3F82}"/>
              </a:ext>
            </a:extLst>
          </p:cNvPr>
          <p:cNvSpPr/>
          <p:nvPr/>
        </p:nvSpPr>
        <p:spPr>
          <a:xfrm>
            <a:off x="8786446" y="3226200"/>
            <a:ext cx="2424545" cy="1066800"/>
          </a:xfrm>
          <a:prstGeom prst="wedgeEllipse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Informační pole v rámci parametrů</a:t>
            </a:r>
          </a:p>
        </p:txBody>
      </p:sp>
      <p:sp>
        <p:nvSpPr>
          <p:cNvPr id="15" name="Oválný bublinový popisek 14">
            <a:extLst>
              <a:ext uri="{FF2B5EF4-FFF2-40B4-BE49-F238E27FC236}">
                <a16:creationId xmlns:a16="http://schemas.microsoft.com/office/drawing/2014/main" id="{26E7B083-926B-E568-E7B9-9DF462966505}"/>
              </a:ext>
            </a:extLst>
          </p:cNvPr>
          <p:cNvSpPr/>
          <p:nvPr/>
        </p:nvSpPr>
        <p:spPr>
          <a:xfrm>
            <a:off x="9730957" y="5060797"/>
            <a:ext cx="1921043" cy="651139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Autorizace</a:t>
            </a:r>
          </a:p>
        </p:txBody>
      </p:sp>
    </p:spTree>
    <p:extLst>
      <p:ext uri="{BB962C8B-B14F-4D97-AF65-F5344CB8AC3E}">
        <p14:creationId xmlns:p14="http://schemas.microsoft.com/office/powerpoint/2010/main" val="3341571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644ABF-47B2-EB93-0CEB-DC9507ADC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1. Vytvoření formuláře </a:t>
            </a:r>
            <a:br>
              <a:rPr lang="cs-CZ" dirty="0"/>
            </a:br>
            <a:r>
              <a:rPr lang="cs-CZ" dirty="0"/>
              <a:t>za 10 minut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996B59-360F-0389-CD20-EEA526974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Registr práv a povinností</a:t>
            </a:r>
          </a:p>
          <a:p>
            <a:r>
              <a:rPr lang="cs-CZ" dirty="0"/>
              <a:t>Agendový informační systém Správa katalogů</a:t>
            </a:r>
          </a:p>
          <a:p>
            <a:r>
              <a:rPr lang="cs-CZ" dirty="0"/>
              <a:t>Katalog zjednodušených formulářů</a:t>
            </a:r>
          </a:p>
        </p:txBody>
      </p:sp>
    </p:spTree>
    <p:extLst>
      <p:ext uri="{BB962C8B-B14F-4D97-AF65-F5344CB8AC3E}">
        <p14:creationId xmlns:p14="http://schemas.microsoft.com/office/powerpoint/2010/main" val="1614997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EB96-99F9-D66A-74D8-A1596704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D9D801-56AA-5959-18B3-7C0C30FF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62838"/>
            <a:ext cx="11113200" cy="539527"/>
          </a:xfrm>
        </p:spPr>
        <p:txBody>
          <a:bodyPr>
            <a:normAutofit fontScale="90000"/>
          </a:bodyPr>
          <a:lstStyle/>
          <a:p>
            <a:r>
              <a:rPr lang="cs-CZ" dirty="0"/>
              <a:t>zadání dat do KATALOGU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8B27EB-70A4-8460-3A7B-B2BFAD8AC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957" y="969474"/>
            <a:ext cx="4297043" cy="1680602"/>
          </a:xfrm>
        </p:spPr>
        <p:txBody>
          <a:bodyPr>
            <a:normAutofit/>
          </a:bodyPr>
          <a:lstStyle/>
          <a:p>
            <a:r>
              <a:rPr lang="cs-CZ" b="1" dirty="0"/>
              <a:t>Vyplní se datová vrstva</a:t>
            </a:r>
          </a:p>
          <a:p>
            <a:r>
              <a:rPr lang="cs-CZ" b="1" dirty="0"/>
              <a:t>Data se tvoří v AIS katalogů, který zná a používá 350 garantů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2444F64-DD36-A415-0977-15DE4166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E59F05A-4586-3CFD-00DE-DB77C9B85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E240F73-5CE1-37C0-B974-5D7DD57A9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12" y="702365"/>
            <a:ext cx="7132982" cy="26141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BC1703E8-B7CF-3BCB-439B-27D039FFC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173" y="2598460"/>
            <a:ext cx="7132983" cy="26194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4734D15B-AED3-B6E9-29FE-C1150AA71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562" y="4939572"/>
            <a:ext cx="5380893" cy="13857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CCC83C9B-6CD5-A1CC-0ED6-CD84ECDFE237}"/>
              </a:ext>
            </a:extLst>
          </p:cNvPr>
          <p:cNvSpPr txBox="1">
            <a:spLocks/>
          </p:cNvSpPr>
          <p:nvPr/>
        </p:nvSpPr>
        <p:spPr>
          <a:xfrm>
            <a:off x="2074677" y="5353960"/>
            <a:ext cx="4432140" cy="133651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/>
              <a:t>Výstupem je URL adresa na které bude formulář po schválení dostupný a která slouží pro jeho zveřejnění</a:t>
            </a:r>
          </a:p>
        </p:txBody>
      </p:sp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01A703FA-0F20-433C-31D9-F1CEE7B266B6}"/>
              </a:ext>
            </a:extLst>
          </p:cNvPr>
          <p:cNvSpPr txBox="1">
            <a:spLocks/>
          </p:cNvSpPr>
          <p:nvPr/>
        </p:nvSpPr>
        <p:spPr>
          <a:xfrm>
            <a:off x="192156" y="3794517"/>
            <a:ext cx="2773017" cy="945405"/>
          </a:xfrm>
          <a:prstGeom prst="rect">
            <a:avLst/>
          </a:prstGeom>
        </p:spPr>
        <p:txBody>
          <a:bodyPr vert="horz" lIns="0" tIns="0" rIns="0" bIns="0" rtlCol="0" anchor="t" anchorCtr="0">
            <a:normAutofit lnSpcReduction="10000"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/>
              <a:t>Data v prezentační vrstvě jsou dostupná jako </a:t>
            </a:r>
            <a:r>
              <a:rPr lang="cs-CZ" b="1" dirty="0" err="1"/>
              <a:t>preview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029594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A8199F1-2BB9-B2CF-9279-35897ACA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D3DADC-1023-9111-7833-D69FF61AA9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7913" y="431800"/>
            <a:ext cx="11114087" cy="1847850"/>
          </a:xfrm>
        </p:spPr>
        <p:txBody>
          <a:bodyPr/>
          <a:lstStyle/>
          <a:p>
            <a:r>
              <a:rPr lang="cs-CZ" dirty="0"/>
              <a:t>Povolení ke vstupu do Antarktidy</a:t>
            </a:r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07273913-6614-ED72-5BB5-05B82E5E4C0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077913" y="3265488"/>
            <a:ext cx="11114087" cy="1173162"/>
          </a:xfrm>
        </p:spPr>
        <p:txBody>
          <a:bodyPr/>
          <a:lstStyle/>
          <a:p>
            <a:endParaRPr lang="cs-CZ" dirty="0"/>
          </a:p>
        </p:txBody>
      </p:sp>
      <p:pic>
        <p:nvPicPr>
          <p:cNvPr id="5" name="Multimédia1">
            <a:hlinkClick r:id="" action="ppaction://media"/>
            <a:extLst>
              <a:ext uri="{FF2B5EF4-FFF2-40B4-BE49-F238E27FC236}">
                <a16:creationId xmlns:a16="http://schemas.microsoft.com/office/drawing/2014/main" id="{8B8E21EC-1BAD-854B-2E61-3CC676E6A2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9150" y="0"/>
            <a:ext cx="10553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39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12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5132C7-DFA6-30FF-E16C-B88FA1E3B9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2. Implementace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1B260AE-E238-07CE-7B6F-F3E06D95B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Integrace formuláře do Portálu občana (</a:t>
            </a:r>
            <a:r>
              <a:rPr lang="cs-CZ" dirty="0" err="1"/>
              <a:t>deployment</a:t>
            </a:r>
            <a:r>
              <a:rPr lang="cs-CZ" dirty="0"/>
              <a:t>, </a:t>
            </a:r>
            <a:r>
              <a:rPr lang="cs-CZ" dirty="0" err="1"/>
              <a:t>release</a:t>
            </a:r>
            <a:r>
              <a:rPr lang="cs-CZ" dirty="0"/>
              <a:t>, </a:t>
            </a:r>
            <a:r>
              <a:rPr lang="cs-CZ" dirty="0" err="1"/>
              <a:t>rollout</a:t>
            </a:r>
            <a:r>
              <a:rPr lang="cs-CZ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8910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3DA668-2932-D42E-C995-A48E8263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Implementace v PORTÁLU OBČANA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0B4851-A61A-305C-1340-075C35D4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6"/>
            <a:ext cx="11113200" cy="1595452"/>
          </a:xfrm>
        </p:spPr>
        <p:txBody>
          <a:bodyPr>
            <a:normAutofit/>
          </a:bodyPr>
          <a:lstStyle/>
          <a:p>
            <a:r>
              <a:rPr lang="cs-CZ" dirty="0"/>
              <a:t>Formulář se tvoří automaticky na základě metadat z AIS Katalogu, vlastní UX je testované samostatně na maximální velikost položek. Nevyplněné položky se nezobrazují.</a:t>
            </a:r>
          </a:p>
          <a:p>
            <a:r>
              <a:rPr lang="cs-CZ" dirty="0"/>
              <a:t>Portál občana zajistí NIA, </a:t>
            </a:r>
            <a:r>
              <a:rPr lang="cs-CZ" dirty="0" err="1"/>
              <a:t>ReZa</a:t>
            </a:r>
            <a:r>
              <a:rPr lang="cs-CZ" dirty="0"/>
              <a:t>, prezentaci formuláře, předvyplnění, kontrolu, formát PDF/XML, autorizaci, osvědčení s pečetí a časovým razítkem, průvodku a odeslání dle údajů ve formuláři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C6CAFC0-4EDB-1FA3-324D-8D9C5518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6CE50E8-38BE-2B19-1DD6-B99BE514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9</a:t>
            </a:fld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46EB275D-691B-1D40-07DD-D461078DBE1E}"/>
              </a:ext>
            </a:extLst>
          </p:cNvPr>
          <p:cNvSpPr/>
          <p:nvPr/>
        </p:nvSpPr>
        <p:spPr>
          <a:xfrm>
            <a:off x="373562" y="3468716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NIA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8F1BC809-397F-8D54-A599-9EB46C41E465}"/>
              </a:ext>
            </a:extLst>
          </p:cNvPr>
          <p:cNvSpPr/>
          <p:nvPr/>
        </p:nvSpPr>
        <p:spPr>
          <a:xfrm>
            <a:off x="1551874" y="3468716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REZA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4A0D20C-F081-CB71-3FB2-BE4D181EAC34}"/>
              </a:ext>
            </a:extLst>
          </p:cNvPr>
          <p:cNvSpPr/>
          <p:nvPr/>
        </p:nvSpPr>
        <p:spPr>
          <a:xfrm>
            <a:off x="8996444" y="3468716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AUTORIZACE</a:t>
            </a: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DF615F49-ED3F-F04E-455C-846F8EFB8B86}"/>
              </a:ext>
            </a:extLst>
          </p:cNvPr>
          <p:cNvSpPr/>
          <p:nvPr/>
        </p:nvSpPr>
        <p:spPr>
          <a:xfrm>
            <a:off x="10084433" y="3474660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Osvědčení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281E4F7C-DF90-975E-E710-DED36397F65F}"/>
              </a:ext>
            </a:extLst>
          </p:cNvPr>
          <p:cNvSpPr/>
          <p:nvPr/>
        </p:nvSpPr>
        <p:spPr>
          <a:xfrm>
            <a:off x="11138206" y="3464758"/>
            <a:ext cx="825190" cy="1314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Odeslání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1B4575A9-C1C8-E27A-5D69-ECC6133960E5}"/>
              </a:ext>
            </a:extLst>
          </p:cNvPr>
          <p:cNvSpPr/>
          <p:nvPr/>
        </p:nvSpPr>
        <p:spPr>
          <a:xfrm>
            <a:off x="2730186" y="3468716"/>
            <a:ext cx="4958947" cy="131026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err="1"/>
              <a:t>EasyForms</a:t>
            </a:r>
            <a:r>
              <a:rPr lang="cs-CZ" dirty="0"/>
              <a:t> napojené na AIS Katalogů</a:t>
            </a:r>
          </a:p>
        </p:txBody>
      </p:sp>
      <p:cxnSp>
        <p:nvCxnSpPr>
          <p:cNvPr id="12" name="Přímá spojovací šipka 11">
            <a:extLst>
              <a:ext uri="{FF2B5EF4-FFF2-40B4-BE49-F238E27FC236}">
                <a16:creationId xmlns:a16="http://schemas.microsoft.com/office/drawing/2014/main" id="{4A352912-92D7-B4EA-B65C-639CAD9A788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9821634" y="4123850"/>
            <a:ext cx="262799" cy="5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Přímá spojovací šipka 12">
            <a:extLst>
              <a:ext uri="{FF2B5EF4-FFF2-40B4-BE49-F238E27FC236}">
                <a16:creationId xmlns:a16="http://schemas.microsoft.com/office/drawing/2014/main" id="{15217797-EF6B-CC21-2A93-C55234523C4A}"/>
              </a:ext>
            </a:extLst>
          </p:cNvPr>
          <p:cNvCxnSpPr>
            <a:cxnSpLocks/>
          </p:cNvCxnSpPr>
          <p:nvPr/>
        </p:nvCxnSpPr>
        <p:spPr>
          <a:xfrm>
            <a:off x="2377064" y="4200236"/>
            <a:ext cx="353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šipka 13">
            <a:extLst>
              <a:ext uri="{FF2B5EF4-FFF2-40B4-BE49-F238E27FC236}">
                <a16:creationId xmlns:a16="http://schemas.microsoft.com/office/drawing/2014/main" id="{FF1BD2D1-3117-6369-D04D-3298F5C30BCA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7689133" y="4123850"/>
            <a:ext cx="2285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římá spojovací šipka 14">
            <a:extLst>
              <a:ext uri="{FF2B5EF4-FFF2-40B4-BE49-F238E27FC236}">
                <a16:creationId xmlns:a16="http://schemas.microsoft.com/office/drawing/2014/main" id="{F82B1028-0C5E-2F37-860A-389A96861DE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0909623" y="4121871"/>
            <a:ext cx="228583" cy="7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ovací šipka 15">
            <a:extLst>
              <a:ext uri="{FF2B5EF4-FFF2-40B4-BE49-F238E27FC236}">
                <a16:creationId xmlns:a16="http://schemas.microsoft.com/office/drawing/2014/main" id="{9255EF9C-9855-1EFA-D938-B2A388B23AB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198752" y="4123850"/>
            <a:ext cx="353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bdélník 16">
            <a:extLst>
              <a:ext uri="{FF2B5EF4-FFF2-40B4-BE49-F238E27FC236}">
                <a16:creationId xmlns:a16="http://schemas.microsoft.com/office/drawing/2014/main" id="{BED435C7-5851-BDD4-C54A-C3B39CEC0B0F}"/>
              </a:ext>
            </a:extLst>
          </p:cNvPr>
          <p:cNvSpPr/>
          <p:nvPr/>
        </p:nvSpPr>
        <p:spPr>
          <a:xfrm>
            <a:off x="7917716" y="3468716"/>
            <a:ext cx="825190" cy="131026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PDF/XML</a:t>
            </a:r>
          </a:p>
        </p:txBody>
      </p:sp>
      <p:cxnSp>
        <p:nvCxnSpPr>
          <p:cNvPr id="18" name="Přímá spojovací šipka 17">
            <a:extLst>
              <a:ext uri="{FF2B5EF4-FFF2-40B4-BE49-F238E27FC236}">
                <a16:creationId xmlns:a16="http://schemas.microsoft.com/office/drawing/2014/main" id="{00177CC9-FA08-6BF5-700B-67C2EEA7E34E}"/>
              </a:ext>
            </a:extLst>
          </p:cNvPr>
          <p:cNvCxnSpPr>
            <a:cxnSpLocks/>
            <a:stCxn id="17" idx="3"/>
            <a:endCxn id="8" idx="1"/>
          </p:cNvCxnSpPr>
          <p:nvPr/>
        </p:nvCxnSpPr>
        <p:spPr>
          <a:xfrm>
            <a:off x="8742906" y="4123850"/>
            <a:ext cx="2535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délník 18">
            <a:extLst>
              <a:ext uri="{FF2B5EF4-FFF2-40B4-BE49-F238E27FC236}">
                <a16:creationId xmlns:a16="http://schemas.microsoft.com/office/drawing/2014/main" id="{F18AA2BA-D903-48BD-8784-2C13BE0C268C}"/>
              </a:ext>
            </a:extLst>
          </p:cNvPr>
          <p:cNvSpPr/>
          <p:nvPr/>
        </p:nvSpPr>
        <p:spPr>
          <a:xfrm>
            <a:off x="1452290" y="3378626"/>
            <a:ext cx="6363222" cy="149910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8B2D795-F822-DB21-1E34-7357782A3379}"/>
              </a:ext>
            </a:extLst>
          </p:cNvPr>
          <p:cNvSpPr/>
          <p:nvPr/>
        </p:nvSpPr>
        <p:spPr>
          <a:xfrm>
            <a:off x="2730186" y="5197648"/>
            <a:ext cx="1921042" cy="13102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RPP - AIS  K</a:t>
            </a:r>
          </a:p>
          <a:p>
            <a:pPr algn="ctr"/>
            <a:r>
              <a:rPr lang="cs-CZ" dirty="0"/>
              <a:t>Katalog zjednodušených formulářů</a:t>
            </a:r>
          </a:p>
        </p:txBody>
      </p:sp>
      <p:cxnSp>
        <p:nvCxnSpPr>
          <p:cNvPr id="22" name="Přímá spojovací šipka 21">
            <a:extLst>
              <a:ext uri="{FF2B5EF4-FFF2-40B4-BE49-F238E27FC236}">
                <a16:creationId xmlns:a16="http://schemas.microsoft.com/office/drawing/2014/main" id="{63780E75-57E7-22CE-4035-75A08B2BC0CC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3690707" y="4778984"/>
            <a:ext cx="0" cy="41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94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22CF56-11B7-42CB-BAAA-DD69F25953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3. Zveřejnění digitální služby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0C03143-B484-E8BC-F38A-40B82CC6B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Navigační rámec na Portálu veřejné správy</a:t>
            </a:r>
          </a:p>
        </p:txBody>
      </p:sp>
    </p:spTree>
    <p:extLst>
      <p:ext uri="{BB962C8B-B14F-4D97-AF65-F5344CB8AC3E}">
        <p14:creationId xmlns:p14="http://schemas.microsoft.com/office/powerpoint/2010/main" val="2363547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19D2-E195-2261-E963-60A0361D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8B1396-8187-6B88-268D-F788CCB8F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cap="none"/>
              <a:t>ZVEŘEJNĚNÍ </a:t>
            </a:r>
            <a:r>
              <a:rPr lang="cs-CZ" cap="none" dirty="0"/>
              <a:t>NA PVS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133343E-2A94-0DCB-4759-CAA263BFF57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24600"/>
            <a:ext cx="5381625" cy="365125"/>
          </a:xfrm>
        </p:spPr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CB9E768-8DE7-81EF-E5E2-3C8773B138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71125" y="6369050"/>
            <a:ext cx="1920875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11</a:t>
            </a:fld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D6A9117D-FC3E-EAC3-4F8C-EE1ED04C0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99" y="1008166"/>
            <a:ext cx="7207831" cy="5849834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CBE1D06C-2F74-8081-3305-3ADDA38F2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451" y="1461152"/>
            <a:ext cx="2205594" cy="4883815"/>
          </a:xfrm>
          <a:prstGeom prst="rect">
            <a:avLst/>
          </a:prstGeom>
        </p:spPr>
      </p:pic>
      <p:pic>
        <p:nvPicPr>
          <p:cNvPr id="8" name="Symbol zastępczy obrazu 38" descr="Obraz zawierający monitor, siedzi, czarny, lustro&#10;&#10;Opis wygenerowany automatycznie">
            <a:extLst>
              <a:ext uri="{FF2B5EF4-FFF2-40B4-BE49-F238E27FC236}">
                <a16:creationId xmlns:a16="http://schemas.microsoft.com/office/drawing/2014/main" id="{00A8DFF5-19E1-9E8A-5A47-54AF5C9F597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00959" y="849085"/>
            <a:ext cx="2769533" cy="6062234"/>
          </a:xfrm>
          <a:prstGeom prst="rect">
            <a:avLst/>
          </a:prstGeom>
          <a:effectLst>
            <a:outerShdw blurRad="161408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FE12D433-CFEF-26D5-CF50-55D7913CF3E5}"/>
              </a:ext>
            </a:extLst>
          </p:cNvPr>
          <p:cNvSpPr txBox="1"/>
          <p:nvPr/>
        </p:nvSpPr>
        <p:spPr>
          <a:xfrm>
            <a:off x="8305800" y="653142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5F000865-5168-1EAA-5318-AAAF310315E8}"/>
              </a:ext>
            </a:extLst>
          </p:cNvPr>
          <p:cNvSpPr txBox="1"/>
          <p:nvPr/>
        </p:nvSpPr>
        <p:spPr>
          <a:xfrm>
            <a:off x="11963400" y="50999"/>
            <a:ext cx="228600" cy="381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cs-CZ" sz="1200">
                <a:solidFill>
                  <a:schemeClr val="accent1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953733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Šťastnou cestu na Antarktidu_</a:t>
            </a:r>
            <a:br>
              <a:rPr lang="cs-CZ" dirty="0"/>
            </a:br>
            <a:endParaRPr lang="cs-CZ" dirty="0"/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400" y="2055164"/>
            <a:ext cx="11113200" cy="842836"/>
          </a:xfrm>
        </p:spPr>
        <p:txBody>
          <a:bodyPr/>
          <a:lstStyle/>
          <a:p>
            <a:r>
              <a:rPr lang="cs-CZ" dirty="0"/>
              <a:t>Pozdravujte tučňáky!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 dirty="0"/>
              <a:t>Jan Petr</a:t>
            </a:r>
          </a:p>
          <a:p>
            <a:r>
              <a:rPr lang="cs-CZ" dirty="0" err="1"/>
              <a:t>jan.petr@dia.gov.cz</a:t>
            </a:r>
            <a:endParaRPr lang="cs-CZ" dirty="0"/>
          </a:p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7F123B2-819A-8EC2-0173-D85740C39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168" y="3130096"/>
            <a:ext cx="3100832" cy="310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Props1.xml><?xml version="1.0" encoding="utf-8"?>
<ds:datastoreItem xmlns:ds="http://schemas.openxmlformats.org/officeDocument/2006/customXml" ds:itemID="{0C3ACEAD-B151-49B5-943A-EF1FCFD89C36}"/>
</file>

<file path=customXml/itemProps2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FC4A16-FB80-4302-ABCF-BFA1C75DBE66}">
  <ds:schemaRefs>
    <ds:schemaRef ds:uri="http://schemas.microsoft.com/office/2006/metadata/properties"/>
    <ds:schemaRef ds:uri="http://purl.org/dc/terms/"/>
    <ds:schemaRef ds:uri="http://purl.org/dc/dcmitype/"/>
    <ds:schemaRef ds:uri="http://www.w3.org/XML/1998/namespace"/>
    <ds:schemaRef ds:uri="0f7720ff-53f2-424f-bdbf-9f2258d7a7d5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60eff747-50e2-4621-8df6-458c8151a505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DIA_ nadpis a text s odrážkami</Template>
  <TotalTime>1089</TotalTime>
  <Words>461</Words>
  <Application>Microsoft Office PowerPoint</Application>
  <PresentationFormat>Širokoúhlá obrazovka</PresentationFormat>
  <Paragraphs>77</Paragraphs>
  <Slides>12</Slides>
  <Notes>2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7" baseType="lpstr">
      <vt:lpstr>Arial</vt:lpstr>
      <vt:lpstr>Azeret Mono</vt:lpstr>
      <vt:lpstr>Azeret Mono Medium</vt:lpstr>
      <vt:lpstr>Wingdings</vt:lpstr>
      <vt:lpstr>DIA_ nadpis a text s odrážkami</vt:lpstr>
      <vt:lpstr>Povolení ke vstupu do Antarktidy</vt:lpstr>
      <vt:lpstr>Povolení ke vstupu do Antarktidy</vt:lpstr>
      <vt:lpstr>Postup vytváření a implementace</vt:lpstr>
      <vt:lpstr>Příklad</vt:lpstr>
      <vt:lpstr>1. Vytvoření formuláře  za 10 minut</vt:lpstr>
      <vt:lpstr>zadání dat do KATALOGU</vt:lpstr>
      <vt:lpstr>Povolení ke vstupu do Antarktidy</vt:lpstr>
      <vt:lpstr>2. Implementace </vt:lpstr>
      <vt:lpstr>Implementace v PORTÁLU OBČANA</vt:lpstr>
      <vt:lpstr>3. Zveřejnění digitální služby</vt:lpstr>
      <vt:lpstr>ZVEŘEJNĚNÍ NA PVS</vt:lpstr>
      <vt:lpstr>Šťastnou cestu na Antarktidu_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Petr Jan</dc:creator>
  <cp:keywords>PPT prezentace šablona DIA PowerPoint</cp:keywords>
  <dc:description/>
  <cp:lastModifiedBy>Šedivec Tomáš</cp:lastModifiedBy>
  <cp:revision>5</cp:revision>
  <dcterms:created xsi:type="dcterms:W3CDTF">2024-11-22T06:29:38Z</dcterms:created>
  <dcterms:modified xsi:type="dcterms:W3CDTF">2025-05-07T06:36:07Z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ediaServiceImageTags">
    <vt:lpwstr/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2025-04-10T12:20:10Z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a2d8e465-2e67-489c-bf05-fd17198c7476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10, 3, 0, 2</vt:lpwstr>
  </property>
</Properties>
</file>
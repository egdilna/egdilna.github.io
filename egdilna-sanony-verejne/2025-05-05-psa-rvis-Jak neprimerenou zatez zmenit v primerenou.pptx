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8"/>
  </p:notesMasterIdLst>
  <p:handoutMasterIdLst>
    <p:handoutMasterId r:id="rId39"/>
  </p:handoutMasterIdLst>
  <p:sldIdLst>
    <p:sldId id="5069" r:id="rId5"/>
    <p:sldId id="5101" r:id="rId6"/>
    <p:sldId id="5034" r:id="rId7"/>
    <p:sldId id="5102" r:id="rId8"/>
    <p:sldId id="4810" r:id="rId9"/>
    <p:sldId id="5110" r:id="rId10"/>
    <p:sldId id="5103" r:id="rId11"/>
    <p:sldId id="5111" r:id="rId12"/>
    <p:sldId id="5117" r:id="rId13"/>
    <p:sldId id="5077" r:id="rId14"/>
    <p:sldId id="283" r:id="rId15"/>
    <p:sldId id="5091" r:id="rId16"/>
    <p:sldId id="5073" r:id="rId17"/>
    <p:sldId id="5074" r:id="rId18"/>
    <p:sldId id="5078" r:id="rId19"/>
    <p:sldId id="5075" r:id="rId20"/>
    <p:sldId id="5085" r:id="rId21"/>
    <p:sldId id="5084" r:id="rId22"/>
    <p:sldId id="5086" r:id="rId23"/>
    <p:sldId id="5098" r:id="rId24"/>
    <p:sldId id="5097" r:id="rId25"/>
    <p:sldId id="5094" r:id="rId26"/>
    <p:sldId id="5095" r:id="rId27"/>
    <p:sldId id="5087" r:id="rId28"/>
    <p:sldId id="5088" r:id="rId29"/>
    <p:sldId id="5081" r:id="rId30"/>
    <p:sldId id="5082" r:id="rId31"/>
    <p:sldId id="5083" r:id="rId32"/>
    <p:sldId id="5100" r:id="rId33"/>
    <p:sldId id="5089" r:id="rId34"/>
    <p:sldId id="5090" r:id="rId35"/>
    <p:sldId id="5099" r:id="rId36"/>
    <p:sldId id="267" r:id="rId37"/>
  </p:sldIdLst>
  <p:sldSz cx="12192000" cy="6858000"/>
  <p:notesSz cx="9144000" cy="6858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F44054-D4E4-05D1-AE65-5390805DC6B3}" name="Trusina Šimon" initials="TŠ" userId="S::simon.trusina@dia.gov.cz::ad935c6b-ed6c-4293-bc4c-891c765e3afb" providerId="AD"/>
  <p188:author id="{983F1577-5826-E159-DAAE-F3D69E538BC9}" name="Sedláčková Petra" initials="SP" userId="S::petra.sedlackova@dia.gov.cz::e0c1d440-80cb-4d98-8c0d-2305ba2592f5" providerId="AD"/>
  <p188:author id="{CEE89E82-393C-2DF8-411F-EF016A5EA3D4}" name="Petr Jan" initials="" userId="S::jan.petr@dia.gov.cz::619497a3-6dda-48a9-9783-3fc51734f31c" providerId="AD"/>
  <p188:author id="{85F7C290-CC9A-3416-9FCF-9021063FCFCE}" name="Vaculík Daniel" initials="VD" userId="S::daniel.vaculik@dia.gov.cz::78d8267c-318c-4462-b326-6975024256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DE8"/>
    <a:srgbClr val="46AD48"/>
    <a:srgbClr val="2E2D2C"/>
    <a:srgbClr val="35398E"/>
    <a:srgbClr val="76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195F6E-FBF6-9948-8DFA-A849840FF697}" v="4" dt="2025-05-05T06:21:55.9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7"/>
    <p:restoredTop sz="94638"/>
  </p:normalViewPr>
  <p:slideViewPr>
    <p:cSldViewPr snapToGrid="0">
      <p:cViewPr varScale="1">
        <p:scale>
          <a:sx n="99" d="100"/>
          <a:sy n="99" d="100"/>
        </p:scale>
        <p:origin x="116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6" Type="http://schemas.microsoft.com/office/2018/10/relationships/authors" Target="authors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usina Šimon" userId="S::simon.trusina@dia.gov.cz::ad935c6b-ed6c-4293-bc4c-891c765e3afb" providerId="AD" clId="Web-{492099C9-58FC-D2AA-76B9-3620E11AFB90}"/>
    <pc:docChg chg="modSld">
      <pc:chgData name="Trusina Šimon" userId="S::simon.trusina@dia.gov.cz::ad935c6b-ed6c-4293-bc4c-891c765e3afb" providerId="AD" clId="Web-{492099C9-58FC-D2AA-76B9-3620E11AFB90}" dt="2025-04-30T10:01:41.440" v="14" actId="20577"/>
      <pc:docMkLst>
        <pc:docMk/>
      </pc:docMkLst>
      <pc:sldChg chg="modSp">
        <pc:chgData name="Trusina Šimon" userId="S::simon.trusina@dia.gov.cz::ad935c6b-ed6c-4293-bc4c-891c765e3afb" providerId="AD" clId="Web-{492099C9-58FC-D2AA-76B9-3620E11AFB90}" dt="2025-04-30T10:00:49.251" v="10" actId="20577"/>
        <pc:sldMkLst>
          <pc:docMk/>
          <pc:sldMk cId="137296830" sldId="5073"/>
        </pc:sldMkLst>
        <pc:spChg chg="mod">
          <ac:chgData name="Trusina Šimon" userId="S::simon.trusina@dia.gov.cz::ad935c6b-ed6c-4293-bc4c-891c765e3afb" providerId="AD" clId="Web-{492099C9-58FC-D2AA-76B9-3620E11AFB90}" dt="2025-04-30T10:00:49.251" v="10" actId="20577"/>
          <ac:spMkLst>
            <pc:docMk/>
            <pc:sldMk cId="137296830" sldId="5073"/>
            <ac:spMk id="3" creationId="{9A16ED73-661C-D6DF-309D-DE987C430558}"/>
          </ac:spMkLst>
        </pc:spChg>
      </pc:sldChg>
      <pc:sldChg chg="modSp">
        <pc:chgData name="Trusina Šimon" userId="S::simon.trusina@dia.gov.cz::ad935c6b-ed6c-4293-bc4c-891c765e3afb" providerId="AD" clId="Web-{492099C9-58FC-D2AA-76B9-3620E11AFB90}" dt="2025-04-30T10:01:41.440" v="14" actId="20577"/>
        <pc:sldMkLst>
          <pc:docMk/>
          <pc:sldMk cId="2202815609" sldId="5074"/>
        </pc:sldMkLst>
        <pc:spChg chg="mod">
          <ac:chgData name="Trusina Šimon" userId="S::simon.trusina@dia.gov.cz::ad935c6b-ed6c-4293-bc4c-891c765e3afb" providerId="AD" clId="Web-{492099C9-58FC-D2AA-76B9-3620E11AFB90}" dt="2025-04-30T10:01:41.440" v="14" actId="20577"/>
          <ac:spMkLst>
            <pc:docMk/>
            <pc:sldMk cId="2202815609" sldId="5074"/>
            <ac:spMk id="3" creationId="{925B43EA-C469-3E8A-B48A-BF924A8937B7}"/>
          </ac:spMkLst>
        </pc:spChg>
      </pc:sldChg>
      <pc:sldChg chg="modSp">
        <pc:chgData name="Trusina Šimon" userId="S::simon.trusina@dia.gov.cz::ad935c6b-ed6c-4293-bc4c-891c765e3afb" providerId="AD" clId="Web-{492099C9-58FC-D2AA-76B9-3620E11AFB90}" dt="2025-04-30T10:01:32.783" v="12" actId="20577"/>
        <pc:sldMkLst>
          <pc:docMk/>
          <pc:sldMk cId="4017613271" sldId="5078"/>
        </pc:sldMkLst>
        <pc:spChg chg="mod">
          <ac:chgData name="Trusina Šimon" userId="S::simon.trusina@dia.gov.cz::ad935c6b-ed6c-4293-bc4c-891c765e3afb" providerId="AD" clId="Web-{492099C9-58FC-D2AA-76B9-3620E11AFB90}" dt="2025-04-30T10:01:32.783" v="12" actId="20577"/>
          <ac:spMkLst>
            <pc:docMk/>
            <pc:sldMk cId="4017613271" sldId="5078"/>
            <ac:spMk id="3" creationId="{179CC4D5-C07C-A07C-EB2D-9AC3D75CDBDA}"/>
          </ac:spMkLst>
        </pc:spChg>
      </pc:sldChg>
      <pc:sldChg chg="modSp">
        <pc:chgData name="Trusina Šimon" userId="S::simon.trusina@dia.gov.cz::ad935c6b-ed6c-4293-bc4c-891c765e3afb" providerId="AD" clId="Web-{492099C9-58FC-D2AA-76B9-3620E11AFB90}" dt="2025-04-30T09:58:55.872" v="1" actId="20577"/>
        <pc:sldMkLst>
          <pc:docMk/>
          <pc:sldMk cId="1718392594" sldId="5082"/>
        </pc:sldMkLst>
        <pc:spChg chg="mod">
          <ac:chgData name="Trusina Šimon" userId="S::simon.trusina@dia.gov.cz::ad935c6b-ed6c-4293-bc4c-891c765e3afb" providerId="AD" clId="Web-{492099C9-58FC-D2AA-76B9-3620E11AFB90}" dt="2025-04-30T09:58:55.872" v="1" actId="20577"/>
          <ac:spMkLst>
            <pc:docMk/>
            <pc:sldMk cId="1718392594" sldId="5082"/>
            <ac:spMk id="3" creationId="{EBEBAB63-BE6A-FD29-8249-843231E551D7}"/>
          </ac:spMkLst>
        </pc:spChg>
      </pc:sldChg>
    </pc:docChg>
  </pc:docChgLst>
  <pc:docChgLst>
    <pc:chgData name="Petr Jan" userId="619497a3-6dda-48a9-9783-3fc51734f31c" providerId="ADAL" clId="{98195F6E-FBF6-9948-8DFA-A849840FF697}"/>
    <pc:docChg chg="custSel addSld delSld modSld sldOrd">
      <pc:chgData name="Petr Jan" userId="619497a3-6dda-48a9-9783-3fc51734f31c" providerId="ADAL" clId="{98195F6E-FBF6-9948-8DFA-A849840FF697}" dt="2025-05-05T06:23:16.012" v="281" actId="20577"/>
      <pc:docMkLst>
        <pc:docMk/>
      </pc:docMkLst>
      <pc:sldChg chg="add">
        <pc:chgData name="Petr Jan" userId="619497a3-6dda-48a9-9783-3fc51734f31c" providerId="ADAL" clId="{98195F6E-FBF6-9948-8DFA-A849840FF697}" dt="2025-05-04T14:54:55.522" v="135"/>
        <pc:sldMkLst>
          <pc:docMk/>
          <pc:sldMk cId="303769944" sldId="283"/>
        </pc:sldMkLst>
      </pc:sldChg>
      <pc:sldChg chg="del mod modShow">
        <pc:chgData name="Petr Jan" userId="619497a3-6dda-48a9-9783-3fc51734f31c" providerId="ADAL" clId="{98195F6E-FBF6-9948-8DFA-A849840FF697}" dt="2025-05-04T14:55:52.074" v="141" actId="2696"/>
        <pc:sldMkLst>
          <pc:docMk/>
          <pc:sldMk cId="2953733350" sldId="290"/>
        </pc:sldMkLst>
      </pc:sldChg>
      <pc:sldChg chg="add del">
        <pc:chgData name="Petr Jan" userId="619497a3-6dda-48a9-9783-3fc51734f31c" providerId="ADAL" clId="{98195F6E-FBF6-9948-8DFA-A849840FF697}" dt="2025-05-04T14:55:16.857" v="136" actId="2696"/>
        <pc:sldMkLst>
          <pc:docMk/>
          <pc:sldMk cId="452380713" sldId="308"/>
        </pc:sldMkLst>
      </pc:sldChg>
      <pc:sldChg chg="modSp mod">
        <pc:chgData name="Petr Jan" userId="619497a3-6dda-48a9-9783-3fc51734f31c" providerId="ADAL" clId="{98195F6E-FBF6-9948-8DFA-A849840FF697}" dt="2025-05-05T06:20:48.620" v="263" actId="20577"/>
        <pc:sldMkLst>
          <pc:docMk/>
          <pc:sldMk cId="3341571411" sldId="4810"/>
        </pc:sldMkLst>
        <pc:spChg chg="mod">
          <ac:chgData name="Petr Jan" userId="619497a3-6dda-48a9-9783-3fc51734f31c" providerId="ADAL" clId="{98195F6E-FBF6-9948-8DFA-A849840FF697}" dt="2025-05-05T06:20:48.620" v="263" actId="20577"/>
          <ac:spMkLst>
            <pc:docMk/>
            <pc:sldMk cId="3341571411" sldId="4810"/>
            <ac:spMk id="3" creationId="{76ABAB7A-A550-A2E4-0F2D-8D3C6C133864}"/>
          </ac:spMkLst>
        </pc:spChg>
      </pc:sldChg>
      <pc:sldChg chg="del">
        <pc:chgData name="Petr Jan" userId="619497a3-6dda-48a9-9783-3fc51734f31c" providerId="ADAL" clId="{98195F6E-FBF6-9948-8DFA-A849840FF697}" dt="2025-05-04T14:55:52.078" v="142" actId="2696"/>
        <pc:sldMkLst>
          <pc:docMk/>
          <pc:sldMk cId="3039890243" sldId="4993"/>
        </pc:sldMkLst>
      </pc:sldChg>
      <pc:sldChg chg="modSp add mod">
        <pc:chgData name="Petr Jan" userId="619497a3-6dda-48a9-9783-3fc51734f31c" providerId="ADAL" clId="{98195F6E-FBF6-9948-8DFA-A849840FF697}" dt="2025-05-05T06:22:10.739" v="267" actId="20577"/>
        <pc:sldMkLst>
          <pc:docMk/>
          <pc:sldMk cId="2034469011" sldId="5034"/>
        </pc:sldMkLst>
        <pc:spChg chg="mod">
          <ac:chgData name="Petr Jan" userId="619497a3-6dda-48a9-9783-3fc51734f31c" providerId="ADAL" clId="{98195F6E-FBF6-9948-8DFA-A849840FF697}" dt="2025-05-05T06:22:10.739" v="267" actId="20577"/>
          <ac:spMkLst>
            <pc:docMk/>
            <pc:sldMk cId="2034469011" sldId="5034"/>
            <ac:spMk id="2" creationId="{089C886C-9A9D-D8B0-7ABB-DAB41E0EBC50}"/>
          </ac:spMkLst>
        </pc:spChg>
        <pc:spChg chg="mod">
          <ac:chgData name="Petr Jan" userId="619497a3-6dda-48a9-9783-3fc51734f31c" providerId="ADAL" clId="{98195F6E-FBF6-9948-8DFA-A849840FF697}" dt="2025-05-05T06:22:01.790" v="266" actId="27636"/>
          <ac:spMkLst>
            <pc:docMk/>
            <pc:sldMk cId="2034469011" sldId="5034"/>
            <ac:spMk id="3" creationId="{87C0AA86-8E3C-561A-165C-B9D117D64345}"/>
          </ac:spMkLst>
        </pc:spChg>
      </pc:sldChg>
      <pc:sldChg chg="del mod modShow">
        <pc:chgData name="Petr Jan" userId="619497a3-6dda-48a9-9783-3fc51734f31c" providerId="ADAL" clId="{98195F6E-FBF6-9948-8DFA-A849840FF697}" dt="2025-05-04T14:56:18.254" v="144" actId="2696"/>
        <pc:sldMkLst>
          <pc:docMk/>
          <pc:sldMk cId="1278510161" sldId="5071"/>
        </pc:sldMkLst>
      </pc:sldChg>
      <pc:sldChg chg="del mod modShow">
        <pc:chgData name="Petr Jan" userId="619497a3-6dda-48a9-9783-3fc51734f31c" providerId="ADAL" clId="{98195F6E-FBF6-9948-8DFA-A849840FF697}" dt="2025-05-04T14:56:17.741" v="143" actId="2696"/>
        <pc:sldMkLst>
          <pc:docMk/>
          <pc:sldMk cId="3106118859" sldId="5072"/>
        </pc:sldMkLst>
      </pc:sldChg>
      <pc:sldChg chg="modSp mod">
        <pc:chgData name="Petr Jan" userId="619497a3-6dda-48a9-9783-3fc51734f31c" providerId="ADAL" clId="{98195F6E-FBF6-9948-8DFA-A849840FF697}" dt="2025-04-30T08:20:45.849" v="73" actId="20577"/>
        <pc:sldMkLst>
          <pc:docMk/>
          <pc:sldMk cId="1578006760" sldId="5087"/>
        </pc:sldMkLst>
        <pc:spChg chg="mod">
          <ac:chgData name="Petr Jan" userId="619497a3-6dda-48a9-9783-3fc51734f31c" providerId="ADAL" clId="{98195F6E-FBF6-9948-8DFA-A849840FF697}" dt="2025-04-30T08:20:45.849" v="73" actId="20577"/>
          <ac:spMkLst>
            <pc:docMk/>
            <pc:sldMk cId="1578006760" sldId="5087"/>
            <ac:spMk id="3" creationId="{5CA5349D-F138-56FF-F42B-5DFB5A64CB38}"/>
          </ac:spMkLst>
        </pc:spChg>
      </pc:sldChg>
      <pc:sldChg chg="modNotesTx">
        <pc:chgData name="Petr Jan" userId="619497a3-6dda-48a9-9783-3fc51734f31c" providerId="ADAL" clId="{98195F6E-FBF6-9948-8DFA-A849840FF697}" dt="2025-05-03T06:34:45.512" v="134"/>
        <pc:sldMkLst>
          <pc:docMk/>
          <pc:sldMk cId="2804287814" sldId="5090"/>
        </pc:sldMkLst>
      </pc:sldChg>
      <pc:sldChg chg="modSp mod ord">
        <pc:chgData name="Petr Jan" userId="619497a3-6dda-48a9-9783-3fc51734f31c" providerId="ADAL" clId="{98195F6E-FBF6-9948-8DFA-A849840FF697}" dt="2025-05-04T14:57:05.300" v="145" actId="20578"/>
        <pc:sldMkLst>
          <pc:docMk/>
          <pc:sldMk cId="1410407959" sldId="5091"/>
        </pc:sldMkLst>
        <pc:spChg chg="mod">
          <ac:chgData name="Petr Jan" userId="619497a3-6dda-48a9-9783-3fc51734f31c" providerId="ADAL" clId="{98195F6E-FBF6-9948-8DFA-A849840FF697}" dt="2025-05-03T06:33:09.561" v="133" actId="20577"/>
          <ac:spMkLst>
            <pc:docMk/>
            <pc:sldMk cId="1410407959" sldId="5091"/>
            <ac:spMk id="3" creationId="{CC6E69B5-E660-3ED7-B4D0-6609365A91A9}"/>
          </ac:spMkLst>
        </pc:spChg>
      </pc:sldChg>
      <pc:sldChg chg="modSp mod">
        <pc:chgData name="Petr Jan" userId="619497a3-6dda-48a9-9783-3fc51734f31c" providerId="ADAL" clId="{98195F6E-FBF6-9948-8DFA-A849840FF697}" dt="2025-04-30T07:26:53.522" v="20" actId="20577"/>
        <pc:sldMkLst>
          <pc:docMk/>
          <pc:sldMk cId="2337772376" sldId="5101"/>
        </pc:sldMkLst>
        <pc:spChg chg="mod">
          <ac:chgData name="Petr Jan" userId="619497a3-6dda-48a9-9783-3fc51734f31c" providerId="ADAL" clId="{98195F6E-FBF6-9948-8DFA-A849840FF697}" dt="2025-04-30T07:26:53.522" v="20" actId="20577"/>
          <ac:spMkLst>
            <pc:docMk/>
            <pc:sldMk cId="2337772376" sldId="5101"/>
            <ac:spMk id="3" creationId="{13469149-0084-9DB9-3296-0B527E3B1EE6}"/>
          </ac:spMkLst>
        </pc:spChg>
      </pc:sldChg>
      <pc:sldChg chg="modSp mod">
        <pc:chgData name="Petr Jan" userId="619497a3-6dda-48a9-9783-3fc51734f31c" providerId="ADAL" clId="{98195F6E-FBF6-9948-8DFA-A849840FF697}" dt="2025-04-30T07:27:56.470" v="23" actId="20577"/>
        <pc:sldMkLst>
          <pc:docMk/>
          <pc:sldMk cId="2040887017" sldId="5103"/>
        </pc:sldMkLst>
        <pc:spChg chg="mod">
          <ac:chgData name="Petr Jan" userId="619497a3-6dda-48a9-9783-3fc51734f31c" providerId="ADAL" clId="{98195F6E-FBF6-9948-8DFA-A849840FF697}" dt="2025-04-30T07:27:56.470" v="23" actId="20577"/>
          <ac:spMkLst>
            <pc:docMk/>
            <pc:sldMk cId="2040887017" sldId="5103"/>
            <ac:spMk id="3" creationId="{A8275614-7AB3-7B5E-F4ED-03326FF69F00}"/>
          </ac:spMkLst>
        </pc:spChg>
      </pc:sldChg>
      <pc:sldChg chg="del mod modShow">
        <pc:chgData name="Petr Jan" userId="619497a3-6dda-48a9-9783-3fc51734f31c" providerId="ADAL" clId="{98195F6E-FBF6-9948-8DFA-A849840FF697}" dt="2025-05-04T14:55:52.031" v="137" actId="2696"/>
        <pc:sldMkLst>
          <pc:docMk/>
          <pc:sldMk cId="162752071" sldId="5104"/>
        </pc:sldMkLst>
      </pc:sldChg>
      <pc:sldChg chg="modSp mod">
        <pc:chgData name="Petr Jan" userId="619497a3-6dda-48a9-9783-3fc51734f31c" providerId="ADAL" clId="{98195F6E-FBF6-9948-8DFA-A849840FF697}" dt="2025-04-30T07:27:39.850" v="21" actId="20577"/>
        <pc:sldMkLst>
          <pc:docMk/>
          <pc:sldMk cId="2425206548" sldId="5110"/>
        </pc:sldMkLst>
        <pc:spChg chg="mod">
          <ac:chgData name="Petr Jan" userId="619497a3-6dda-48a9-9783-3fc51734f31c" providerId="ADAL" clId="{98195F6E-FBF6-9948-8DFA-A849840FF697}" dt="2025-04-30T07:27:39.850" v="21" actId="20577"/>
          <ac:spMkLst>
            <pc:docMk/>
            <pc:sldMk cId="2425206548" sldId="5110"/>
            <ac:spMk id="2" creationId="{D73D2E07-8EB6-E3A8-9C5E-F325354B8412}"/>
          </ac:spMkLst>
        </pc:spChg>
      </pc:sldChg>
      <pc:sldChg chg="modSp mod">
        <pc:chgData name="Petr Jan" userId="619497a3-6dda-48a9-9783-3fc51734f31c" providerId="ADAL" clId="{98195F6E-FBF6-9948-8DFA-A849840FF697}" dt="2025-05-05T06:23:16.012" v="281" actId="20577"/>
        <pc:sldMkLst>
          <pc:docMk/>
          <pc:sldMk cId="52351574" sldId="5111"/>
        </pc:sldMkLst>
        <pc:spChg chg="mod">
          <ac:chgData name="Petr Jan" userId="619497a3-6dda-48a9-9783-3fc51734f31c" providerId="ADAL" clId="{98195F6E-FBF6-9948-8DFA-A849840FF697}" dt="2025-05-05T06:23:16.012" v="281" actId="20577"/>
          <ac:spMkLst>
            <pc:docMk/>
            <pc:sldMk cId="52351574" sldId="5111"/>
            <ac:spMk id="3" creationId="{509E7A93-8BF6-7AA3-F467-9EAD3B1F963D}"/>
          </ac:spMkLst>
        </pc:spChg>
      </pc:sldChg>
      <pc:sldChg chg="del mod modShow">
        <pc:chgData name="Petr Jan" userId="619497a3-6dda-48a9-9783-3fc51734f31c" providerId="ADAL" clId="{98195F6E-FBF6-9948-8DFA-A849840FF697}" dt="2025-05-04T14:55:52.057" v="139" actId="2696"/>
        <pc:sldMkLst>
          <pc:docMk/>
          <pc:sldMk cId="2029594269" sldId="5116"/>
        </pc:sldMkLst>
      </pc:sldChg>
      <pc:sldChg chg="del mod modShow">
        <pc:chgData name="Petr Jan" userId="619497a3-6dda-48a9-9783-3fc51734f31c" providerId="ADAL" clId="{98195F6E-FBF6-9948-8DFA-A849840FF697}" dt="2025-05-04T14:55:52.065" v="140" actId="2696"/>
        <pc:sldMkLst>
          <pc:docMk/>
          <pc:sldMk cId="1922221701" sldId="5118"/>
        </pc:sldMkLst>
      </pc:sldChg>
      <pc:sldChg chg="del mod modShow">
        <pc:chgData name="Petr Jan" userId="619497a3-6dda-48a9-9783-3fc51734f31c" providerId="ADAL" clId="{98195F6E-FBF6-9948-8DFA-A849840FF697}" dt="2025-05-04T14:55:52.045" v="138" actId="2696"/>
        <pc:sldMkLst>
          <pc:docMk/>
          <pc:sldMk cId="3312620501" sldId="511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677F3180-6454-D06F-2DEF-49EE0BEB5E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>
              <a:latin typeface="Arial" panose="020B0604020202020204" pitchFamily="34" charset="0"/>
            </a:endParaRP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D88EF6F-01B2-0033-AE8F-10410DC68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30CE7-49B6-2348-A198-C8ECA96104F1}" type="datetimeFigureOut">
              <a:rPr lang="cs-CZ" smtClean="0">
                <a:latin typeface="Arial" panose="020B0604020202020204" pitchFamily="34" charset="0"/>
              </a:rPr>
              <a:t>05.05.2025</a:t>
            </a:fld>
            <a:endParaRPr lang="cs-CZ">
              <a:latin typeface="Arial" panose="020B0604020202020204" pitchFamily="34" charset="0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E608C9-DF7C-4B64-E76C-79893263F7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>
              <a:latin typeface="Arial" panose="020B0604020202020204" pitchFamily="34" charset="0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E4A1CC3-B6D7-20BE-943D-6320EEDC3E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16F0C-904B-8247-A83D-0A9BE4737B82}" type="slidenum">
              <a:rPr lang="cs-CZ" smtClean="0">
                <a:latin typeface="Arial" panose="020B0604020202020204" pitchFamily="34" charset="0"/>
              </a:rPr>
              <a:t>‹#›</a:t>
            </a:fld>
            <a:endParaRPr 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267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78294C76-7D04-154A-AFCD-C18C5C95436B}" type="datetimeFigureOut">
              <a:rPr lang="cs-CZ" smtClean="0"/>
              <a:pPr/>
              <a:t>05.05.2025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13298459-D76B-9E41-AFDF-7399883A9B6A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088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Jaká je korelace mezi státy úspěšnými v digitalizaci a počtem státních zaměstnanců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491025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b="1" i="0" u="none" strike="noStrike" dirty="0">
                <a:solidFill>
                  <a:srgbClr val="000000"/>
                </a:solidFill>
                <a:effectLst/>
              </a:rPr>
              <a:t>OWASP (Open </a:t>
            </a:r>
            <a:r>
              <a:rPr lang="cs-CZ" b="1" i="0" u="none" strike="noStrike" dirty="0" err="1">
                <a:solidFill>
                  <a:srgbClr val="000000"/>
                </a:solidFill>
                <a:effectLst/>
              </a:rPr>
              <a:t>Worldwide</a:t>
            </a:r>
            <a:r>
              <a:rPr lang="cs-CZ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cs-CZ" b="1" i="0" u="none" strike="noStrike" dirty="0" err="1">
                <a:solidFill>
                  <a:srgbClr val="000000"/>
                </a:solidFill>
                <a:effectLst/>
              </a:rPr>
              <a:t>Application</a:t>
            </a:r>
            <a:r>
              <a:rPr lang="cs-CZ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cs-CZ" b="1" i="0" u="none" strike="noStrike" dirty="0" err="1">
                <a:solidFill>
                  <a:srgbClr val="000000"/>
                </a:solidFill>
                <a:effectLst/>
              </a:rPr>
              <a:t>Security</a:t>
            </a:r>
            <a:r>
              <a:rPr lang="cs-CZ" b="1" i="0" u="none" strike="noStrike" dirty="0">
                <a:solidFill>
                  <a:srgbClr val="000000"/>
                </a:solidFill>
                <a:effectLst/>
              </a:rPr>
              <a:t> Project)</a:t>
            </a:r>
            <a:r>
              <a:rPr lang="cs-CZ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je </a:t>
            </a:r>
            <a:r>
              <a:rPr lang="cs-CZ" b="1" i="0" u="none" strike="noStrike" dirty="0">
                <a:solidFill>
                  <a:srgbClr val="000000"/>
                </a:solidFill>
                <a:effectLst/>
              </a:rPr>
              <a:t>nezávislá nezisková organizace</a:t>
            </a:r>
            <a:r>
              <a:rPr lang="cs-CZ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, která se věnuje </a:t>
            </a:r>
            <a:r>
              <a:rPr lang="cs-CZ" b="1" i="0" u="none" strike="noStrike" dirty="0">
                <a:solidFill>
                  <a:srgbClr val="000000"/>
                </a:solidFill>
                <a:effectLst/>
              </a:rPr>
              <a:t>zvyšování bezpečnosti softwaru</a:t>
            </a:r>
            <a:r>
              <a:rPr lang="cs-CZ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31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2336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9C03E269-9E23-3850-18B9-BFED7015B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848268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265199"/>
            <a:ext cx="11113200" cy="1173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3200" cap="all" baseline="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3F45B2B3-EA87-06E1-C21A-D472874DC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5841718"/>
            <a:ext cx="1738990" cy="77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01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bez odráž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2000"/>
            <a:ext cx="11113200" cy="129600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200"/>
            <a:ext cx="11113200" cy="414486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/>
            </a:lvl1pPr>
            <a:lvl2pPr marL="288000" indent="0">
              <a:lnSpc>
                <a:spcPct val="120000"/>
              </a:lnSpc>
              <a:buNone/>
              <a:defRPr/>
            </a:lvl2pPr>
            <a:lvl3pPr marL="576000" indent="0">
              <a:lnSpc>
                <a:spcPct val="120000"/>
              </a:lnSpc>
              <a:buNone/>
              <a:defRPr/>
            </a:lvl3pPr>
            <a:lvl4pPr marL="576000" indent="0">
              <a:lnSpc>
                <a:spcPct val="120000"/>
              </a:lnSpc>
              <a:buNone/>
              <a:defRPr/>
            </a:lvl4pPr>
            <a:lvl5pPr marL="576000" indent="0">
              <a:lnSpc>
                <a:spcPct val="120000"/>
              </a:lnSpc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525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s odráž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129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1068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, podtitulek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57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4" name="Podnadpis">
            <a:extLst>
              <a:ext uri="{FF2B5EF4-FFF2-40B4-BE49-F238E27FC236}">
                <a16:creationId xmlns:a16="http://schemas.microsoft.com/office/drawing/2014/main" id="{84F93504-89B1-112D-FF63-11139C2036DE}"/>
              </a:ext>
            </a:extLst>
          </p:cNvPr>
          <p:cNvSpPr txBox="1">
            <a:spLocks/>
          </p:cNvSpPr>
          <p:nvPr userDrawn="1"/>
        </p:nvSpPr>
        <p:spPr>
          <a:xfrm>
            <a:off x="540000" y="1282799"/>
            <a:ext cx="11113200" cy="45151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i="0" kern="1200" cap="all" baseline="0">
                <a:solidFill>
                  <a:schemeClr val="accent1"/>
                </a:solidFill>
                <a:latin typeface="Azeret Mono Medium" pitchFamily="2" charset="0"/>
                <a:ea typeface="+mj-ea"/>
                <a:cs typeface="+mj-cs"/>
              </a:defRPr>
            </a:lvl1pPr>
          </a:lstStyle>
          <a:p>
            <a:endParaRPr lang="cs-CZ" sz="1800">
              <a:solidFill>
                <a:srgbClr val="2E2D2C"/>
              </a:solidFill>
            </a:endParaRPr>
          </a:p>
        </p:txBody>
      </p:sp>
      <p:sp>
        <p:nvSpPr>
          <p:cNvPr id="8" name="Obsah">
            <a:extLst>
              <a:ext uri="{FF2B5EF4-FFF2-40B4-BE49-F238E27FC236}">
                <a16:creationId xmlns:a16="http://schemas.microsoft.com/office/drawing/2014/main" id="{2A58A94E-2737-0B65-DC6C-F1223EB65FE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38800" y="1080000"/>
            <a:ext cx="11113200" cy="440837"/>
          </a:xfrm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1pPr>
            <a:lvl2pPr marL="216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2pPr>
            <a:lvl3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3pPr>
            <a:lvl4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4pPr>
            <a:lvl5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PODTITULEK</a:t>
            </a:r>
          </a:p>
        </p:txBody>
      </p:sp>
    </p:spTree>
    <p:extLst>
      <p:ext uri="{BB962C8B-B14F-4D97-AF65-F5344CB8AC3E}">
        <p14:creationId xmlns:p14="http://schemas.microsoft.com/office/powerpoint/2010/main" val="4047809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ředělov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60BC63B7-C438-CDCA-2E62-A019E80EF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2EFDAF7-49CF-94EF-AE6B-E3C8DF53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95600"/>
            <a:ext cx="11113200" cy="2358000"/>
          </a:xfrm>
        </p:spPr>
        <p:txBody>
          <a:bodyPr lIns="0" tIns="0" rIns="0" bIns="0" anchor="b">
            <a:normAutofit/>
          </a:bodyPr>
          <a:lstStyle>
            <a:lvl1pPr>
              <a:lnSpc>
                <a:spcPct val="100000"/>
              </a:lnSpc>
              <a:defRPr sz="4800" cap="all" baseline="0">
                <a:solidFill>
                  <a:schemeClr val="accent3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491657B4-57AA-E6DE-504E-12F9C6477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4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800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80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9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686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686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aseline="0">
                <a:solidFill>
                  <a:srgbClr val="2E2D2C"/>
                </a:solidFill>
                <a:latin typeface="Arial" panose="020B0604020202020204" pitchFamily="34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3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Závěřeč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793909D7-0D07-E27F-07C9-DD6B9CEF6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84DC879B-3803-3314-33B3-F397843C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275" y="6022973"/>
            <a:ext cx="1335205" cy="59585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842836"/>
          </a:xfrm>
        </p:spPr>
        <p:txBody>
          <a:bodyPr lIns="0" tIns="0" rIns="0" bIns="0" anchor="t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cs-CZ">
                <a:solidFill>
                  <a:schemeClr val="bg1"/>
                </a:solidFill>
              </a:rPr>
              <a:t>DIA.</a:t>
            </a:r>
            <a:r>
              <a:rPr lang="cs-CZ">
                <a:solidFill>
                  <a:srgbClr val="46AD48"/>
                </a:solidFill>
              </a:rPr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1331718"/>
            <a:ext cx="11113200" cy="842836"/>
          </a:xfrm>
        </p:spPr>
        <p:txBody>
          <a:bodyPr lIns="0" tIns="0" rIns="0" bIns="0"/>
          <a:lstStyle>
            <a:lvl1pPr marL="0" indent="0" algn="l">
              <a:lnSpc>
                <a:spcPct val="90000"/>
              </a:lnSpc>
              <a:buNone/>
              <a:defRPr sz="2400" cap="all" baseline="0">
                <a:solidFill>
                  <a:srgbClr val="46AD48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9ADB2BA1-71A5-16B6-971F-2496046E6D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3960000"/>
            <a:ext cx="11113200" cy="186421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32067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2pPr>
            <a:lvl3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699888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A_ 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F529A9-D500-1273-5E49-F07E5664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431387"/>
            <a:ext cx="11113200" cy="612000"/>
          </a:xfrm>
        </p:spPr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cs-CZ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48576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_ Prázd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6496385-261F-8D4B-E9CF-F0148C10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F9D07E3-ACC6-DFAC-43E1-F355DCF86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78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Dva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825626"/>
            <a:ext cx="5400000" cy="40465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825626"/>
            <a:ext cx="5400000" cy="40464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5555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759462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620000"/>
            <a:ext cx="5400000" cy="4046538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400000" cy="4046400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6991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1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32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92471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3518765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38647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7" name="Zástupný obsah 5">
            <a:extLst>
              <a:ext uri="{FF2B5EF4-FFF2-40B4-BE49-F238E27FC236}">
                <a16:creationId xmlns:a16="http://schemas.microsoft.com/office/drawing/2014/main" id="{334DA0B0-CD8C-3E60-D93E-FA6C86C902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6000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1708882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DIA_ Text s odrážkami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AD486-026F-F07F-0719-E63DC5038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A5B587-08F7-9284-D67E-2309FAF1A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800"/>
            </a:lvl4pPr>
            <a:lvl5pPr>
              <a:lnSpc>
                <a:spcPct val="12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E501A4A-DA79-C8F2-E5C5-28A03D7EE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D1631ED-DEF3-6A6D-32E8-2DCF679D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3461A86-1EBD-9C84-718F-87D77A97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7587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2">
            <a:extLst>
              <a:ext uri="{FF2B5EF4-FFF2-40B4-BE49-F238E27FC236}">
                <a16:creationId xmlns:a16="http://schemas.microsoft.com/office/drawing/2014/main" id="{475E19F0-E25C-3988-D787-829F824E6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" name="Zástupný symbol pro zápatí 5">
            <a:extLst>
              <a:ext uri="{FF2B5EF4-FFF2-40B4-BE49-F238E27FC236}">
                <a16:creationId xmlns:a16="http://schemas.microsoft.com/office/drawing/2014/main" id="{9F9E4587-C623-2EB1-6917-B73C5E40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5554" y="6325354"/>
            <a:ext cx="5380892" cy="365125"/>
          </a:xfrm>
        </p:spPr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4" name="Zástupný symbol pro číslo snímku 6">
            <a:extLst>
              <a:ext uri="{FF2B5EF4-FFF2-40B4-BE49-F238E27FC236}">
                <a16:creationId xmlns:a16="http://schemas.microsoft.com/office/drawing/2014/main" id="{44794EE0-21BB-601D-18A0-78895EC0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1571" y="6325354"/>
            <a:ext cx="1921042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9DB918A1-F9FA-ACE4-A10C-71B17E0A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10" name="Zástupný text 3">
            <a:extLst>
              <a:ext uri="{FF2B5EF4-FFF2-40B4-BE49-F238E27FC236}">
                <a16:creationId xmlns:a16="http://schemas.microsoft.com/office/drawing/2014/main" id="{C07424CD-CCAE-AD61-7550-8BE6149DD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369518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volný pros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5D165B9-8657-8AF6-AFCC-CB497BE6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441E40B-5C8A-83AA-5A88-1D8DCF5A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8" name="Nadpis 1">
            <a:extLst>
              <a:ext uri="{FF2B5EF4-FFF2-40B4-BE49-F238E27FC236}">
                <a16:creationId xmlns:a16="http://schemas.microsoft.com/office/drawing/2014/main" id="{857591AE-875D-DB42-8535-2A7829FA1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1999"/>
            <a:ext cx="11113200" cy="6120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9" name="Zástupný text 3">
            <a:extLst>
              <a:ext uri="{FF2B5EF4-FFF2-40B4-BE49-F238E27FC236}">
                <a16:creationId xmlns:a16="http://schemas.microsoft.com/office/drawing/2014/main" id="{AC6D30CE-5961-C3DF-5F10-695BBF584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1285462"/>
            <a:ext cx="3115556" cy="458352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3559159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42293A-552E-86EF-639C-8B6F2380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3812289-740C-E50E-D6AE-E0D6DC97B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F8881F-3F3A-6A05-6BFD-6C25A9B2E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8E6E924-A96C-FB97-913A-EED48426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09750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BF89947-13F9-1BB0-576B-8A3B91EDF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3713" y="432000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BDFA057-2E82-D72A-31C2-4EC80D7B3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387" y="432000"/>
            <a:ext cx="8531926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7E361D0-B494-0E13-7236-DAACD149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CF3F1E6-DE6A-3590-85F9-AC6DCD4A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464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DB8E4877-94CD-06BF-64E7-44B6ABB79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23469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cs-CZ"/>
              <a:t>Nadpis_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95866B9-FF4B-FA8F-43D9-233B746C8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825625"/>
            <a:ext cx="11113200" cy="414486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patí dia.gov.cz">
            <a:extLst>
              <a:ext uri="{FF2B5EF4-FFF2-40B4-BE49-F238E27FC236}">
                <a16:creationId xmlns:a16="http://schemas.microsoft.com/office/drawing/2014/main" id="{824AA539-D3C0-6E93-E74F-681DDD08A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5554" y="6325354"/>
            <a:ext cx="538089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Číslo snímku">
            <a:extLst>
              <a:ext uri="{FF2B5EF4-FFF2-40B4-BE49-F238E27FC236}">
                <a16:creationId xmlns:a16="http://schemas.microsoft.com/office/drawing/2014/main" id="{6F5FBFCB-C39A-B440-936C-FA3E617E0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31571" y="6325354"/>
            <a:ext cx="192104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fld id="{F21F385E-1634-DB44-B85F-E63591247372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10" name="Logo Digitální a Informační agentura">
            <a:extLst>
              <a:ext uri="{FF2B5EF4-FFF2-40B4-BE49-F238E27FC236}">
                <a16:creationId xmlns:a16="http://schemas.microsoft.com/office/drawing/2014/main" id="{1391B34F-7EA5-7A87-B33E-6D1F2140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43299" y="6021421"/>
            <a:ext cx="1336305" cy="59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0" r:id="rId3"/>
    <p:sldLayoutId id="2147483671" r:id="rId4"/>
    <p:sldLayoutId id="2147483651" r:id="rId5"/>
    <p:sldLayoutId id="2147483649" r:id="rId6"/>
    <p:sldLayoutId id="2147483670" r:id="rId7"/>
    <p:sldLayoutId id="2147483663" r:id="rId8"/>
    <p:sldLayoutId id="2147483668" r:id="rId9"/>
    <p:sldLayoutId id="2147483655" r:id="rId10"/>
    <p:sldLayoutId id="2147483652" r:id="rId11"/>
    <p:sldLayoutId id="2147483669" r:id="rId12"/>
    <p:sldLayoutId id="2147483653" r:id="rId13"/>
    <p:sldLayoutId id="2147483664" r:id="rId14"/>
    <p:sldLayoutId id="2147483656" r:id="rId15"/>
    <p:sldLayoutId id="2147483667" r:id="rId16"/>
    <p:sldLayoutId id="2147483666" r:id="rId17"/>
    <p:sldLayoutId id="2147483658" r:id="rId18"/>
    <p:sldLayoutId id="2147483659" r:id="rId1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all" baseline="0">
          <a:solidFill>
            <a:schemeClr val="accent1"/>
          </a:solidFill>
          <a:latin typeface="Azeret Mono Medium" pitchFamily="2" charset="0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76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A0F3D4-A11D-E1DF-1571-A5E995569D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/>
              <a:t>Jak nepřiměřenou zátěž změnit v přiměřenou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6437E17-288E-DF05-C28D-B0252322F0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0407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C54DD95-89C2-4086-FF18-3E0FE5512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Nepřiměřená zátěž Digitální služby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469149-0084-9DB9-3296-0B527E3B1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/>
              <a:t>Co je nepřiměřená zátěž?</a:t>
            </a:r>
          </a:p>
          <a:p>
            <a:pPr lvl="1"/>
            <a:r>
              <a:rPr lang="cs-CZ"/>
              <a:t>Orgán veřejné moci nemusí naplnit právo občana na digitální úkon dle Zákona o právu na digitální služby, pokud by mu to způsobilo nepřiměřenou zátěž.</a:t>
            </a:r>
          </a:p>
          <a:p>
            <a:r>
              <a:rPr lang="cs-CZ" b="1"/>
              <a:t>Co je digitální služba?</a:t>
            </a:r>
          </a:p>
          <a:p>
            <a:pPr lvl="1"/>
            <a:r>
              <a:rPr lang="cs-CZ"/>
              <a:t>Uživatel má právo na digitální službu kterou v rámci agendy poskytuje OVM. Služba umožňuje po ztotožnění předvyplnění a kontrolu dat, autorizaci, osvědčení o provedení služby a odeslání</a:t>
            </a:r>
          </a:p>
          <a:p>
            <a:r>
              <a:rPr lang="cs-CZ" b="1"/>
              <a:t>Co dělá službu nepřiměřeně zatěžující?</a:t>
            </a:r>
          </a:p>
          <a:p>
            <a:pPr lvl="1"/>
            <a:r>
              <a:rPr lang="cs-CZ"/>
              <a:t>Implementace řešení, nedostupnost dat, neexistence agendových informačních systémů, nedostatek lidí, nedostatek financí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3D07835-A5AE-3F09-77BB-6D85120F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0B81C90-C5A4-571E-A009-3A5B4CA6E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3777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89C886C-9A9D-D8B0-7ABB-DAB41E0EB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Digitální služba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7C0AA86-8E3C-561A-165C-B9D117D64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cs-CZ" sz="2000" b="1" dirty="0"/>
              <a:t>Digitální služba</a:t>
            </a:r>
          </a:p>
          <a:p>
            <a:pPr marL="287655" indent="-287655"/>
            <a:r>
              <a:rPr lang="cs-CZ" dirty="0"/>
              <a:t>je úkon OVM, který pomocí elektronického formuláře umožní uživateli po autentizaci učinit digitální úkon jehož výsledkem je elektronický dokument. (ZoPDS, § 2 odstavec (2): „</a:t>
            </a:r>
            <a:r>
              <a:rPr lang="cs-CZ" b="1" u="sng" dirty="0"/>
              <a:t>Digitální službou je úkon vykonávaný orgánem veřejné moci vůči uživateli služby v rámci agendy </a:t>
            </a:r>
            <a:r>
              <a:rPr lang="cs-CZ" dirty="0"/>
              <a:t>a vedený v katalogu služeb jako úkon v elektronické podobě; za digitální službu se považuje i úkon vykonávaný vůči uživateli služby kontaktním místem veřejné správy v rámci agendy.“).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9A08893-E6FF-524A-7A8D-A30C55FB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CF9666A-8A13-FF3F-7624-B3FBF226F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34469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3FFF1D-3660-CB04-9BE0-EBD9EC085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Jak nepřiměřenou zátěž změnit v přiměřenou?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FCAB598-7188-9F28-67C2-ED11299E3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b="1"/>
              <a:t>Postavíme modulární řešení</a:t>
            </a:r>
          </a:p>
          <a:p>
            <a:pPr lvl="1"/>
            <a:r>
              <a:rPr lang="cs-CZ"/>
              <a:t>Moduly můžeme opakovaně používat</a:t>
            </a:r>
          </a:p>
          <a:p>
            <a:r>
              <a:rPr lang="cs-CZ" b="1"/>
              <a:t>Oddělíme data od prezentační vrstvy </a:t>
            </a:r>
          </a:p>
          <a:p>
            <a:pPr lvl="1"/>
            <a:r>
              <a:rPr lang="cs-CZ"/>
              <a:t>Testujeme zvlášť data odbornými garanty a prezentační vrstvu specialisty na UX</a:t>
            </a:r>
          </a:p>
          <a:p>
            <a:r>
              <a:rPr lang="cs-CZ" b="1"/>
              <a:t>Využijeme stávající systémy</a:t>
            </a:r>
          </a:p>
          <a:p>
            <a:pPr lvl="1"/>
            <a:r>
              <a:rPr lang="cs-CZ"/>
              <a:t>V rámci Katalogu služeb máme podle AIS Katalogů vyškolených úředníků min. 350 úředníků</a:t>
            </a:r>
          </a:p>
          <a:p>
            <a:pPr lvl="1"/>
            <a:r>
              <a:rPr lang="cs-CZ"/>
              <a:t>V rámci Portálu občana máme proces na Digitální službu</a:t>
            </a:r>
          </a:p>
          <a:p>
            <a:r>
              <a:rPr lang="cs-CZ" b="1"/>
              <a:t>Definujeme omezení</a:t>
            </a:r>
          </a:p>
          <a:p>
            <a:pPr lvl="1"/>
            <a:r>
              <a:rPr lang="cs-CZ"/>
              <a:t>80 % úkonů požaduje pouze omezený počet proměnných  </a:t>
            </a:r>
          </a:p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9E1249E-A908-FE09-B91F-14E826462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6006C59-0622-24F6-B80B-67536ACE3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6535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7692B37-F185-5F87-E473-48C2136BF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Příklad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6ABAB7A-A550-A2E4-0F2D-8D3C6C133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233056"/>
            <a:ext cx="2036945" cy="4737014"/>
          </a:xfrm>
        </p:spPr>
        <p:txBody>
          <a:bodyPr/>
          <a:lstStyle/>
          <a:p>
            <a:r>
              <a:rPr lang="cs-CZ" dirty="0"/>
              <a:t>Například  dotazník na MZE požaduje vyplnění 21 údajů ale pouze jeden nelze předvyplnit. </a:t>
            </a:r>
          </a:p>
          <a:p>
            <a:r>
              <a:rPr lang="cs-CZ" dirty="0"/>
              <a:t>Vyplňovat data dostupná v základních registrech vede ke  kolizím v rámci AIS (data se rozchází se ZR) 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8F0249A-2EE9-4F5F-9F2F-6124D992F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A4E28BC-A365-4EC8-CA4E-1E8551506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5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3BB146DD-9767-741A-D0CD-8A6356BBF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672" y="0"/>
            <a:ext cx="4903587" cy="6858000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C4998A71-6985-903B-08FD-A33F962DB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374" y="0"/>
            <a:ext cx="4561114" cy="6858000"/>
          </a:xfrm>
          <a:prstGeom prst="rect">
            <a:avLst/>
          </a:prstGeom>
        </p:spPr>
      </p:pic>
      <p:sp>
        <p:nvSpPr>
          <p:cNvPr id="9" name="Oválný bublinový popisek 8">
            <a:extLst>
              <a:ext uri="{FF2B5EF4-FFF2-40B4-BE49-F238E27FC236}">
                <a16:creationId xmlns:a16="http://schemas.microsoft.com/office/drawing/2014/main" id="{0FEE7A3D-52B7-7FF6-D646-EAB02379C27F}"/>
              </a:ext>
            </a:extLst>
          </p:cNvPr>
          <p:cNvSpPr/>
          <p:nvPr/>
        </p:nvSpPr>
        <p:spPr>
          <a:xfrm>
            <a:off x="4800617" y="1939636"/>
            <a:ext cx="2623030" cy="1066800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Vyplněno po přihlášení NIA ze ZR</a:t>
            </a:r>
          </a:p>
        </p:txBody>
      </p:sp>
      <p:sp>
        <p:nvSpPr>
          <p:cNvPr id="10" name="Oválný bublinový popisek 9">
            <a:extLst>
              <a:ext uri="{FF2B5EF4-FFF2-40B4-BE49-F238E27FC236}">
                <a16:creationId xmlns:a16="http://schemas.microsoft.com/office/drawing/2014/main" id="{7F5EE902-F1D4-6B88-7B5F-A1ED05707C4F}"/>
              </a:ext>
            </a:extLst>
          </p:cNvPr>
          <p:cNvSpPr/>
          <p:nvPr/>
        </p:nvSpPr>
        <p:spPr>
          <a:xfrm>
            <a:off x="4883727" y="3599095"/>
            <a:ext cx="2424545" cy="1066800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Vyplněno na základě </a:t>
            </a:r>
            <a:r>
              <a:rPr lang="cs-CZ" err="1"/>
              <a:t>ReZa</a:t>
            </a:r>
            <a:endParaRPr lang="cs-CZ"/>
          </a:p>
        </p:txBody>
      </p:sp>
      <p:sp>
        <p:nvSpPr>
          <p:cNvPr id="11" name="Oválný bublinový popisek 10">
            <a:extLst>
              <a:ext uri="{FF2B5EF4-FFF2-40B4-BE49-F238E27FC236}">
                <a16:creationId xmlns:a16="http://schemas.microsoft.com/office/drawing/2014/main" id="{A16CE0AE-4EEC-591A-342E-0946208DDAC5}"/>
              </a:ext>
            </a:extLst>
          </p:cNvPr>
          <p:cNvSpPr/>
          <p:nvPr/>
        </p:nvSpPr>
        <p:spPr>
          <a:xfrm>
            <a:off x="4864888" y="5554408"/>
            <a:ext cx="2424545" cy="1066800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Základní registry</a:t>
            </a:r>
          </a:p>
        </p:txBody>
      </p:sp>
      <p:sp>
        <p:nvSpPr>
          <p:cNvPr id="12" name="Oválný bublinový popisek 11">
            <a:extLst>
              <a:ext uri="{FF2B5EF4-FFF2-40B4-BE49-F238E27FC236}">
                <a16:creationId xmlns:a16="http://schemas.microsoft.com/office/drawing/2014/main" id="{BC0E6D09-B759-0E36-F251-59380B515DD7}"/>
              </a:ext>
            </a:extLst>
          </p:cNvPr>
          <p:cNvSpPr/>
          <p:nvPr/>
        </p:nvSpPr>
        <p:spPr>
          <a:xfrm>
            <a:off x="9530758" y="432000"/>
            <a:ext cx="2443384" cy="1066800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Základní registry, datová schránka</a:t>
            </a:r>
          </a:p>
        </p:txBody>
      </p:sp>
      <p:sp>
        <p:nvSpPr>
          <p:cNvPr id="13" name="Obdélník 12">
            <a:extLst>
              <a:ext uri="{FF2B5EF4-FFF2-40B4-BE49-F238E27FC236}">
                <a16:creationId xmlns:a16="http://schemas.microsoft.com/office/drawing/2014/main" id="{E388AE01-E5B1-58D9-5AC1-CFAE48AF909E}"/>
              </a:ext>
            </a:extLst>
          </p:cNvPr>
          <p:cNvSpPr/>
          <p:nvPr/>
        </p:nvSpPr>
        <p:spPr>
          <a:xfrm>
            <a:off x="9460592" y="1930800"/>
            <a:ext cx="2582825" cy="42054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Jediný potřebný údaj!!!</a:t>
            </a:r>
          </a:p>
        </p:txBody>
      </p:sp>
      <p:sp>
        <p:nvSpPr>
          <p:cNvPr id="14" name="Oválný bublinový popisek 13">
            <a:extLst>
              <a:ext uri="{FF2B5EF4-FFF2-40B4-BE49-F238E27FC236}">
                <a16:creationId xmlns:a16="http://schemas.microsoft.com/office/drawing/2014/main" id="{F0351E7F-4BC7-5D2F-F144-F277BE3A3F82}"/>
              </a:ext>
            </a:extLst>
          </p:cNvPr>
          <p:cNvSpPr/>
          <p:nvPr/>
        </p:nvSpPr>
        <p:spPr>
          <a:xfrm>
            <a:off x="8786446" y="3226200"/>
            <a:ext cx="2424545" cy="1066800"/>
          </a:xfrm>
          <a:prstGeom prst="wedgeEllipseCallou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Informační pole v rámci parametrů</a:t>
            </a:r>
          </a:p>
        </p:txBody>
      </p:sp>
      <p:sp>
        <p:nvSpPr>
          <p:cNvPr id="15" name="Oválný bublinový popisek 14">
            <a:extLst>
              <a:ext uri="{FF2B5EF4-FFF2-40B4-BE49-F238E27FC236}">
                <a16:creationId xmlns:a16="http://schemas.microsoft.com/office/drawing/2014/main" id="{26E7B083-926B-E568-E7B9-9DF462966505}"/>
              </a:ext>
            </a:extLst>
          </p:cNvPr>
          <p:cNvSpPr/>
          <p:nvPr/>
        </p:nvSpPr>
        <p:spPr>
          <a:xfrm>
            <a:off x="9730957" y="5060797"/>
            <a:ext cx="1921043" cy="651139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Autorizace</a:t>
            </a:r>
          </a:p>
        </p:txBody>
      </p:sp>
    </p:spTree>
    <p:extLst>
      <p:ext uri="{BB962C8B-B14F-4D97-AF65-F5344CB8AC3E}">
        <p14:creationId xmlns:p14="http://schemas.microsoft.com/office/powerpoint/2010/main" val="3341571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3D2E07-8EB6-E3A8-9C5E-F325354B8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Definovaná Omezení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282518C-E077-346E-7E2E-A84BAF7EC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/>
              <a:t>Příjemce FO, Uživatel/zastupující FO, Zastupovaný PO, PFO, FO</a:t>
            </a:r>
          </a:p>
          <a:p>
            <a:r>
              <a:rPr lang="cs-CZ"/>
              <a:t>Název služby</a:t>
            </a:r>
          </a:p>
          <a:p>
            <a:r>
              <a:rPr lang="cs-CZ"/>
              <a:t>Název formuláře</a:t>
            </a:r>
          </a:p>
          <a:p>
            <a:r>
              <a:rPr lang="cs-CZ"/>
              <a:t>Pět proměnných (Text, dlouhý text, číslo, datum, logická hodnota)</a:t>
            </a:r>
          </a:p>
          <a:p>
            <a:r>
              <a:rPr lang="cs-CZ"/>
              <a:t>Volný text</a:t>
            </a:r>
          </a:p>
          <a:p>
            <a:r>
              <a:rPr lang="cs-CZ"/>
              <a:t>Pět příloh</a:t>
            </a:r>
          </a:p>
          <a:p>
            <a:r>
              <a:rPr lang="cs-CZ"/>
              <a:t>GDPR</a:t>
            </a:r>
          </a:p>
          <a:p>
            <a:r>
              <a:rPr lang="cs-CZ"/>
              <a:t>Prohlášení</a:t>
            </a:r>
          </a:p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E9541D5-09C0-CA98-4D99-4387EF607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01D1C84-D8A4-3DF0-32BF-9E37BFA1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25206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01089F-D4B9-877E-1C42-986F55E81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Vytvoření formuláře a implementace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8275614-7AB3-7B5E-F4ED-03326FF69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/>
              <a:t>Vytvoření formuláře</a:t>
            </a:r>
          </a:p>
          <a:p>
            <a:pPr lvl="1"/>
            <a:r>
              <a:rPr lang="cs-CZ"/>
              <a:t>Odborní garanti respektive gestoři agendy pracují ve známém prostředí, kde vytvářeli popisy 9000 služeb. Bylo vyškoleno 350 úředníků na práci v Katalogu služeb</a:t>
            </a:r>
          </a:p>
          <a:p>
            <a:pPr lvl="1"/>
            <a:r>
              <a:rPr lang="cs-CZ"/>
              <a:t>Během editace je dostupné </a:t>
            </a:r>
            <a:r>
              <a:rPr lang="cs-CZ" err="1"/>
              <a:t>Preview</a:t>
            </a:r>
            <a:endParaRPr lang="cs-CZ"/>
          </a:p>
          <a:p>
            <a:r>
              <a:rPr lang="cs-CZ"/>
              <a:t>Implementace nového formuláře</a:t>
            </a:r>
          </a:p>
          <a:p>
            <a:pPr lvl="1"/>
            <a:r>
              <a:rPr lang="cs-CZ"/>
              <a:t>Provádí se po schválení automaticky</a:t>
            </a:r>
          </a:p>
          <a:p>
            <a:pPr lvl="1"/>
            <a:r>
              <a:rPr lang="cs-CZ"/>
              <a:t>Formulář je dostupný ihned na URL dostupném v Katalogu zjednodušených formulářů</a:t>
            </a:r>
          </a:p>
          <a:p>
            <a:pPr lvl="1"/>
            <a:r>
              <a:rPr lang="cs-CZ"/>
              <a:t>Jakmile se toto URL zavede do Katalogu služeb, je formulář zveřejněn v souladu se ZoPDS 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3C4AA92-6912-EA23-7CA9-9AB7FD698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70AE478-9D20-FB47-EB08-DF2BEAB60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40887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55F61F-7874-DA7C-973E-02217F45F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Recept jak změnit nepřiměřenou zátěž v přiměřenou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09E7A93-8BF6-7AA3-F467-9EAD3B1F9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Definujeme co musí splňovat digitální služba</a:t>
            </a:r>
          </a:p>
          <a:p>
            <a:pPr lvl="1"/>
            <a:r>
              <a:rPr lang="cs-CZ" dirty="0"/>
              <a:t>Nesnažíme se v </a:t>
            </a:r>
            <a:r>
              <a:rPr lang="cs-CZ"/>
              <a:t>rámci ZoPDS zachránit svět a budovat </a:t>
            </a:r>
            <a:r>
              <a:rPr lang="cs-CZ" dirty="0" err="1"/>
              <a:t>supersystém</a:t>
            </a:r>
            <a:endParaRPr lang="cs-CZ" dirty="0"/>
          </a:p>
          <a:p>
            <a:r>
              <a:rPr lang="cs-CZ" dirty="0"/>
              <a:t>Vydefinujeme požadavky, které vyřeší 80% digitálních služeb</a:t>
            </a:r>
          </a:p>
          <a:p>
            <a:pPr lvl="1"/>
            <a:r>
              <a:rPr lang="cs-CZ" dirty="0" err="1"/>
              <a:t>Parettův</a:t>
            </a:r>
            <a:r>
              <a:rPr lang="cs-CZ" dirty="0"/>
              <a:t> princip: 80 % efektu pochází z 20 % úsilí</a:t>
            </a:r>
          </a:p>
          <a:p>
            <a:r>
              <a:rPr lang="cs-CZ" dirty="0"/>
              <a:t>Vezmeme systém který používá 350 odborných garantů přes 32 ÚSÚ</a:t>
            </a:r>
          </a:p>
          <a:p>
            <a:pPr lvl="1"/>
            <a:r>
              <a:rPr lang="cs-CZ" dirty="0"/>
              <a:t>Katalog služeb v rámci RPP</a:t>
            </a:r>
          </a:p>
          <a:p>
            <a:r>
              <a:rPr lang="cs-CZ" dirty="0"/>
              <a:t>Oddělíme data, prezentační vrstvu a vlastní proces</a:t>
            </a:r>
          </a:p>
          <a:p>
            <a:pPr lvl="1"/>
            <a:r>
              <a:rPr lang="cs-CZ" dirty="0"/>
              <a:t>Odborní garanti vytvoří obsah, tedy metadata pro UI a to bude dále procesováno</a:t>
            </a:r>
          </a:p>
          <a:p>
            <a:r>
              <a:rPr lang="cs-CZ" dirty="0"/>
              <a:t>Vydefinuji vhodné formuláře a začnu vkládat data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64D30B1-7119-052D-577E-46AED8AA4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B935AB6-91EF-868C-E2AD-A23B7C17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351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E2B444-EC34-3A98-0629-BD88B44BD9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/>
              <a:t>Základní principy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0A5C1E1-6DDB-308A-0815-A1B04939FF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8787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FF111-9EC8-0D7C-C61D-64CDB8875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933323-8B4A-13A1-7238-DEB83982C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/>
              <a:t>Hlavní zásada: </a:t>
            </a:r>
            <a:r>
              <a:rPr lang="cs-CZ" err="1"/>
              <a:t>Znovupoužitelnost</a:t>
            </a:r>
            <a:r>
              <a:rPr lang="cs-CZ"/>
              <a:t> komponent a funkcionalit</a:t>
            </a:r>
            <a:br>
              <a:rPr lang="cs-CZ"/>
            </a:b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DC8D363-4C4D-F2CD-2311-0BC68507E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/>
              <a:t>Cíl: Při každém novém projektu nevytvářet znovu to, co již existuje.</a:t>
            </a:r>
          </a:p>
          <a:p>
            <a:r>
              <a:rPr lang="cs-CZ"/>
              <a:t>✅ Co to znamená prakticky:</a:t>
            </a:r>
          </a:p>
          <a:p>
            <a:pPr lvl="1"/>
            <a:r>
              <a:rPr lang="cs-CZ"/>
              <a:t>Sdílené moduly (např. ověření identity, notifikace, formulářové šablony) se využívají napříč projekty.</a:t>
            </a:r>
          </a:p>
          <a:p>
            <a:pPr lvl="1"/>
            <a:r>
              <a:rPr lang="cs-CZ"/>
              <a:t>Používají se centrální registry a služby (např. RPP, </a:t>
            </a:r>
            <a:r>
              <a:rPr lang="cs-CZ" err="1"/>
              <a:t>eID</a:t>
            </a:r>
            <a:r>
              <a:rPr lang="cs-CZ"/>
              <a:t>, datové schránky).</a:t>
            </a:r>
          </a:p>
          <a:p>
            <a:pPr lvl="1"/>
            <a:r>
              <a:rPr lang="cs-CZ"/>
              <a:t>Využívání API-</a:t>
            </a:r>
            <a:r>
              <a:rPr lang="cs-CZ" err="1"/>
              <a:t>first</a:t>
            </a:r>
            <a:r>
              <a:rPr lang="cs-CZ"/>
              <a:t> přístupu — funkce se nabízejí jako služby ostatním systémům.</a:t>
            </a:r>
          </a:p>
          <a:p>
            <a:pPr lvl="1"/>
            <a:r>
              <a:rPr lang="cs-CZ"/>
              <a:t>Re-use design systémů → stejný vizuální a funkční styl pro úřady (Design systém </a:t>
            </a:r>
            <a:r>
              <a:rPr lang="cs-CZ" err="1"/>
              <a:t>gov.cz</a:t>
            </a:r>
            <a:r>
              <a:rPr lang="cs-CZ"/>
              <a:t>).</a:t>
            </a:r>
          </a:p>
          <a:p>
            <a:pPr lvl="1"/>
            <a:r>
              <a:rPr lang="cs-CZ"/>
              <a:t>Otevřená architektura umožňující snadné rozšiřování a integraci.</a:t>
            </a:r>
          </a:p>
          <a:p>
            <a:pPr lvl="1"/>
            <a:r>
              <a:rPr lang="cs-CZ"/>
              <a:t>Sdílení kódu a </a:t>
            </a:r>
            <a:r>
              <a:rPr lang="cs-CZ" err="1"/>
              <a:t>repozitářů</a:t>
            </a:r>
            <a:r>
              <a:rPr lang="cs-CZ"/>
              <a:t> mezi projekty v rámci veřejné správy (např. na </a:t>
            </a:r>
            <a:r>
              <a:rPr lang="cs-CZ" err="1"/>
              <a:t>gov</a:t>
            </a:r>
            <a:r>
              <a:rPr lang="cs-CZ"/>
              <a:t> </a:t>
            </a:r>
            <a:r>
              <a:rPr lang="cs-CZ" err="1"/>
              <a:t>repo</a:t>
            </a:r>
            <a:r>
              <a:rPr lang="cs-CZ"/>
              <a:t>).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0BE26B0-65C3-81F6-6D28-77269F24F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A2B7F91-9CDE-7E3E-674D-32FC50EAA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55719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adpis 10">
            <a:extLst>
              <a:ext uri="{FF2B5EF4-FFF2-40B4-BE49-F238E27FC236}">
                <a16:creationId xmlns:a16="http://schemas.microsoft.com/office/drawing/2014/main" id="{05B83C2C-5870-917E-FF10-8668CA48F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ZoPDS proces – formulářová komponenta</a:t>
            </a:r>
          </a:p>
        </p:txBody>
      </p:sp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41974D00-4F66-BF11-6028-E01D5EB1223C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24600"/>
            <a:ext cx="5381625" cy="365125"/>
          </a:xfrm>
        </p:spPr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CD440EAD-EAE9-230B-D235-4E2AC3AEB96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042521" y="5514479"/>
            <a:ext cx="1920875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t>11</a:t>
            </a:fld>
            <a:endParaRPr lang="cs-CZ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332D5A64-EBE9-A59F-985D-C57E85E446FD}"/>
              </a:ext>
            </a:extLst>
          </p:cNvPr>
          <p:cNvSpPr/>
          <p:nvPr/>
        </p:nvSpPr>
        <p:spPr>
          <a:xfrm>
            <a:off x="373562" y="1308611"/>
            <a:ext cx="825190" cy="1310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NIA</a:t>
            </a: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55D870CD-1FA2-0E97-D290-242ECCCD46CF}"/>
              </a:ext>
            </a:extLst>
          </p:cNvPr>
          <p:cNvSpPr/>
          <p:nvPr/>
        </p:nvSpPr>
        <p:spPr>
          <a:xfrm>
            <a:off x="1551874" y="1308611"/>
            <a:ext cx="825190" cy="1310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REZA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96FA9343-4CD3-943B-CC0F-DFE95B836282}"/>
              </a:ext>
            </a:extLst>
          </p:cNvPr>
          <p:cNvSpPr/>
          <p:nvPr/>
        </p:nvSpPr>
        <p:spPr>
          <a:xfrm>
            <a:off x="8996444" y="1308611"/>
            <a:ext cx="825190" cy="1310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AUTORIZACE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9D5EFB80-66BE-95CB-9187-51E39886CDA5}"/>
              </a:ext>
            </a:extLst>
          </p:cNvPr>
          <p:cNvSpPr/>
          <p:nvPr/>
        </p:nvSpPr>
        <p:spPr>
          <a:xfrm>
            <a:off x="10069029" y="1308611"/>
            <a:ext cx="825190" cy="1310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Odeslání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6D655089-4DB8-CBD0-98C0-6EC76A4634BF}"/>
              </a:ext>
            </a:extLst>
          </p:cNvPr>
          <p:cNvSpPr/>
          <p:nvPr/>
        </p:nvSpPr>
        <p:spPr>
          <a:xfrm>
            <a:off x="11138206" y="1304653"/>
            <a:ext cx="825190" cy="1314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Osvědčení</a:t>
            </a:r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4826C30C-BB49-9C64-1C34-4C51BCB7F829}"/>
              </a:ext>
            </a:extLst>
          </p:cNvPr>
          <p:cNvSpPr/>
          <p:nvPr/>
        </p:nvSpPr>
        <p:spPr>
          <a:xfrm>
            <a:off x="2730186" y="1308611"/>
            <a:ext cx="4958947" cy="1310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Formulářový </a:t>
            </a:r>
            <a:r>
              <a:rPr lang="cs-CZ" err="1"/>
              <a:t>engine</a:t>
            </a:r>
            <a:r>
              <a:rPr lang="cs-CZ"/>
              <a:t> (FE)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FCA674B7-0682-62D6-E37E-0FE5281D7DFC}"/>
              </a:ext>
            </a:extLst>
          </p:cNvPr>
          <p:cNvSpPr txBox="1"/>
          <p:nvPr/>
        </p:nvSpPr>
        <p:spPr>
          <a:xfrm>
            <a:off x="2553625" y="2794013"/>
            <a:ext cx="5261887" cy="19697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cs-CZ" sz="1600">
                <a:solidFill>
                  <a:srgbClr val="2E2D2C"/>
                </a:solidFill>
              </a:rPr>
              <a:t>Formulářový </a:t>
            </a:r>
            <a:r>
              <a:rPr lang="cs-CZ" sz="1600" err="1">
                <a:solidFill>
                  <a:srgbClr val="2E2D2C"/>
                </a:solidFill>
              </a:rPr>
              <a:t>engine</a:t>
            </a:r>
            <a:r>
              <a:rPr lang="cs-CZ" sz="1600">
                <a:solidFill>
                  <a:srgbClr val="2E2D2C"/>
                </a:solidFill>
              </a:rPr>
              <a:t> (FE) je spuštěn po přihlášení NIA dle REZA. Alternativně lze volat </a:t>
            </a:r>
            <a:r>
              <a:rPr lang="cs-CZ" sz="1600" err="1">
                <a:solidFill>
                  <a:srgbClr val="2E2D2C"/>
                </a:solidFill>
              </a:rPr>
              <a:t>ReZa</a:t>
            </a:r>
            <a:r>
              <a:rPr lang="cs-CZ" sz="1600">
                <a:solidFill>
                  <a:srgbClr val="2E2D2C"/>
                </a:solidFill>
              </a:rPr>
              <a:t> přímo z formuláře.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1600">
                <a:solidFill>
                  <a:srgbClr val="2E2D2C"/>
                </a:solidFill>
              </a:rPr>
              <a:t>FE podle definovaného předpisu zobrazí UX pro vyplnění údajů, provede předvyplnění, ověření údajů, umožní vložit přílohy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cs-CZ" sz="1600">
                <a:solidFill>
                  <a:srgbClr val="2E2D2C"/>
                </a:solidFill>
              </a:rPr>
              <a:t>Výsledkem FE je dokument v XFORMS nebo jiném otevřeném formátu</a:t>
            </a:r>
          </a:p>
        </p:txBody>
      </p:sp>
      <p:cxnSp>
        <p:nvCxnSpPr>
          <p:cNvPr id="12" name="Přímá spojovací šipka 11">
            <a:extLst>
              <a:ext uri="{FF2B5EF4-FFF2-40B4-BE49-F238E27FC236}">
                <a16:creationId xmlns:a16="http://schemas.microsoft.com/office/drawing/2014/main" id="{730D46CD-CC31-8547-8E51-F982E1FE3AFA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9821634" y="1963745"/>
            <a:ext cx="2473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AC27E102-93F6-43EF-0CA2-0938E686DEF5}"/>
              </a:ext>
            </a:extLst>
          </p:cNvPr>
          <p:cNvSpPr txBox="1"/>
          <p:nvPr/>
        </p:nvSpPr>
        <p:spPr>
          <a:xfrm>
            <a:off x="1066796" y="4417199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25000" lnSpcReduction="20000"/>
          </a:bodyPr>
          <a:lstStyle/>
          <a:p>
            <a:pPr algn="l"/>
            <a:endParaRPr lang="cs-CZ" sz="1800">
              <a:solidFill>
                <a:srgbClr val="2E2D2C"/>
              </a:solidFill>
            </a:endParaRPr>
          </a:p>
        </p:txBody>
      </p:sp>
      <p:cxnSp>
        <p:nvCxnSpPr>
          <p:cNvPr id="14" name="Přímá spojovací šipka 13">
            <a:extLst>
              <a:ext uri="{FF2B5EF4-FFF2-40B4-BE49-F238E27FC236}">
                <a16:creationId xmlns:a16="http://schemas.microsoft.com/office/drawing/2014/main" id="{94B8C9DA-E651-650B-39FC-12730C2BB6EE}"/>
              </a:ext>
            </a:extLst>
          </p:cNvPr>
          <p:cNvCxnSpPr>
            <a:cxnSpLocks/>
          </p:cNvCxnSpPr>
          <p:nvPr/>
        </p:nvCxnSpPr>
        <p:spPr>
          <a:xfrm>
            <a:off x="2377064" y="2040131"/>
            <a:ext cx="3531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Přímá spojovací šipka 14">
            <a:extLst>
              <a:ext uri="{FF2B5EF4-FFF2-40B4-BE49-F238E27FC236}">
                <a16:creationId xmlns:a16="http://schemas.microsoft.com/office/drawing/2014/main" id="{C485C442-2581-A815-6178-EA81012468C2}"/>
              </a:ext>
            </a:extLst>
          </p:cNvPr>
          <p:cNvCxnSpPr>
            <a:cxnSpLocks/>
            <a:stCxn id="9" idx="3"/>
            <a:endCxn id="18" idx="1"/>
          </p:cNvCxnSpPr>
          <p:nvPr/>
        </p:nvCxnSpPr>
        <p:spPr>
          <a:xfrm>
            <a:off x="7689133" y="1963745"/>
            <a:ext cx="2285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Přímá spojovací šipka 15">
            <a:extLst>
              <a:ext uri="{FF2B5EF4-FFF2-40B4-BE49-F238E27FC236}">
                <a16:creationId xmlns:a16="http://schemas.microsoft.com/office/drawing/2014/main" id="{F16E728B-3097-9ED5-47E6-2F87A17D8067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10894219" y="1961766"/>
            <a:ext cx="243987" cy="1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Přímá spojovací šipka 16">
            <a:extLst>
              <a:ext uri="{FF2B5EF4-FFF2-40B4-BE49-F238E27FC236}">
                <a16:creationId xmlns:a16="http://schemas.microsoft.com/office/drawing/2014/main" id="{42B432EB-4D76-F828-F890-2E4743DD7180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198752" y="1963745"/>
            <a:ext cx="3531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ovéPole 20">
            <a:extLst>
              <a:ext uri="{FF2B5EF4-FFF2-40B4-BE49-F238E27FC236}">
                <a16:creationId xmlns:a16="http://schemas.microsoft.com/office/drawing/2014/main" id="{52D17FF4-3134-7DB8-CD3C-C2DDA8CBEEDD}"/>
              </a:ext>
            </a:extLst>
          </p:cNvPr>
          <p:cNvSpPr txBox="1"/>
          <p:nvPr/>
        </p:nvSpPr>
        <p:spPr>
          <a:xfrm>
            <a:off x="117083" y="2794013"/>
            <a:ext cx="2516459" cy="221599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cs-CZ" sz="1600">
                <a:solidFill>
                  <a:srgbClr val="2E2D2C"/>
                </a:solidFill>
              </a:rPr>
              <a:t>Uživatel se identifikuje pomocí NIA a v případě zastoupení pomocí </a:t>
            </a:r>
            <a:r>
              <a:rPr lang="cs-CZ" sz="1600" err="1">
                <a:solidFill>
                  <a:srgbClr val="2E2D2C"/>
                </a:solidFill>
              </a:rPr>
              <a:t>ReZa</a:t>
            </a:r>
            <a:r>
              <a:rPr lang="cs-CZ" sz="1600">
                <a:solidFill>
                  <a:srgbClr val="2E2D2C"/>
                </a:solidFill>
              </a:rPr>
              <a:t>. Předá formuláři údaje o přihlášeném.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cs-CZ" sz="1600">
                <a:solidFill>
                  <a:srgbClr val="2E2D2C"/>
                </a:solidFill>
              </a:rPr>
              <a:t>Pokud portál nemá implementovaný RABC systém lze </a:t>
            </a:r>
            <a:r>
              <a:rPr lang="cs-CZ" sz="1600" err="1">
                <a:solidFill>
                  <a:srgbClr val="2E2D2C"/>
                </a:solidFill>
              </a:rPr>
              <a:t>ReZA</a:t>
            </a:r>
            <a:r>
              <a:rPr lang="cs-CZ" sz="1600">
                <a:solidFill>
                  <a:srgbClr val="2E2D2C"/>
                </a:solidFill>
              </a:rPr>
              <a:t> volat přímo z formuláře</a:t>
            </a:r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99CA11BB-D796-1A28-2214-CD6ED2259496}"/>
              </a:ext>
            </a:extLst>
          </p:cNvPr>
          <p:cNvSpPr txBox="1"/>
          <p:nvPr/>
        </p:nvSpPr>
        <p:spPr>
          <a:xfrm>
            <a:off x="7815512" y="2794012"/>
            <a:ext cx="4147884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wrap="square" lIns="0" tIns="0" rIns="0" bIns="0" rtlCol="0" anchor="t" anchorCtr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cs-CZ" sz="1600">
                <a:solidFill>
                  <a:srgbClr val="2E2D2C"/>
                </a:solidFill>
              </a:rPr>
              <a:t>Formulář je převeden do lidsky i počítačově čitelného formátu (PDF/XML), je provedena autorizace, zpracování/odeslání a vystavení osvědčení o provedení úkonu.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cs-CZ" sz="1600">
              <a:solidFill>
                <a:srgbClr val="2E2D2C"/>
              </a:solidFill>
            </a:endParaRPr>
          </a:p>
        </p:txBody>
      </p:sp>
      <p:cxnSp>
        <p:nvCxnSpPr>
          <p:cNvPr id="24" name="Přímá spojovací šipka 23">
            <a:extLst>
              <a:ext uri="{FF2B5EF4-FFF2-40B4-BE49-F238E27FC236}">
                <a16:creationId xmlns:a16="http://schemas.microsoft.com/office/drawing/2014/main" id="{C2B4D1F8-6832-2F6C-3ECF-4FDB74F64C87}"/>
              </a:ext>
            </a:extLst>
          </p:cNvPr>
          <p:cNvCxnSpPr>
            <a:cxnSpLocks/>
          </p:cNvCxnSpPr>
          <p:nvPr/>
        </p:nvCxnSpPr>
        <p:spPr>
          <a:xfrm>
            <a:off x="453185" y="5029200"/>
            <a:ext cx="2100440" cy="0"/>
          </a:xfrm>
          <a:prstGeom prst="straightConnector1">
            <a:avLst/>
          </a:prstGeom>
          <a:ln w="47625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Přímá spojovací šipka 25">
            <a:extLst>
              <a:ext uri="{FF2B5EF4-FFF2-40B4-BE49-F238E27FC236}">
                <a16:creationId xmlns:a16="http://schemas.microsoft.com/office/drawing/2014/main" id="{D74E0213-855D-9DF8-8CD4-2E4002984EB4}"/>
              </a:ext>
            </a:extLst>
          </p:cNvPr>
          <p:cNvCxnSpPr>
            <a:cxnSpLocks/>
          </p:cNvCxnSpPr>
          <p:nvPr/>
        </p:nvCxnSpPr>
        <p:spPr>
          <a:xfrm>
            <a:off x="2795332" y="5021179"/>
            <a:ext cx="4893801" cy="8021"/>
          </a:xfrm>
          <a:prstGeom prst="straightConnector1">
            <a:avLst/>
          </a:prstGeom>
          <a:ln w="47625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Přímá spojovací šipka 27">
            <a:extLst>
              <a:ext uri="{FF2B5EF4-FFF2-40B4-BE49-F238E27FC236}">
                <a16:creationId xmlns:a16="http://schemas.microsoft.com/office/drawing/2014/main" id="{B127CAC4-14E1-8B27-8D87-7A56548DCB35}"/>
              </a:ext>
            </a:extLst>
          </p:cNvPr>
          <p:cNvCxnSpPr>
            <a:cxnSpLocks/>
          </p:cNvCxnSpPr>
          <p:nvPr/>
        </p:nvCxnSpPr>
        <p:spPr>
          <a:xfrm>
            <a:off x="8008801" y="5021179"/>
            <a:ext cx="3806210" cy="8021"/>
          </a:xfrm>
          <a:prstGeom prst="straightConnector1">
            <a:avLst/>
          </a:prstGeom>
          <a:ln w="47625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ovéPole 29">
            <a:extLst>
              <a:ext uri="{FF2B5EF4-FFF2-40B4-BE49-F238E27FC236}">
                <a16:creationId xmlns:a16="http://schemas.microsoft.com/office/drawing/2014/main" id="{AB729F1A-1A0F-202C-5E5D-0B61DE5ED645}"/>
              </a:ext>
            </a:extLst>
          </p:cNvPr>
          <p:cNvSpPr txBox="1"/>
          <p:nvPr/>
        </p:nvSpPr>
        <p:spPr>
          <a:xfrm>
            <a:off x="477835" y="5145491"/>
            <a:ext cx="2100440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l"/>
            <a:r>
              <a:rPr lang="cs-CZ" sz="1400">
                <a:solidFill>
                  <a:schemeClr val="accent1"/>
                </a:solidFill>
              </a:rPr>
              <a:t>Pro všechny formuláře na transakčních portálech</a:t>
            </a:r>
          </a:p>
        </p:txBody>
      </p:sp>
      <p:sp>
        <p:nvSpPr>
          <p:cNvPr id="31" name="TextovéPole 30">
            <a:extLst>
              <a:ext uri="{FF2B5EF4-FFF2-40B4-BE49-F238E27FC236}">
                <a16:creationId xmlns:a16="http://schemas.microsoft.com/office/drawing/2014/main" id="{79C8277C-DC52-79D9-462F-158B52E4A3B5}"/>
              </a:ext>
            </a:extLst>
          </p:cNvPr>
          <p:cNvSpPr txBox="1"/>
          <p:nvPr/>
        </p:nvSpPr>
        <p:spPr>
          <a:xfrm>
            <a:off x="8136893" y="5145491"/>
            <a:ext cx="2986814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l"/>
            <a:r>
              <a:rPr lang="cs-CZ" sz="1400">
                <a:solidFill>
                  <a:schemeClr val="accent1"/>
                </a:solidFill>
              </a:rPr>
              <a:t>Povinné dle ZoPDS pro všechny formuláře na transakčních portálech</a:t>
            </a:r>
          </a:p>
        </p:txBody>
      </p:sp>
      <p:sp>
        <p:nvSpPr>
          <p:cNvPr id="32" name="TextovéPole 31">
            <a:extLst>
              <a:ext uri="{FF2B5EF4-FFF2-40B4-BE49-F238E27FC236}">
                <a16:creationId xmlns:a16="http://schemas.microsoft.com/office/drawing/2014/main" id="{73450A59-1AA2-39CD-EB3E-124C035E92B8}"/>
              </a:ext>
            </a:extLst>
          </p:cNvPr>
          <p:cNvSpPr txBox="1"/>
          <p:nvPr/>
        </p:nvSpPr>
        <p:spPr>
          <a:xfrm>
            <a:off x="2795332" y="5145491"/>
            <a:ext cx="4893800" cy="43088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l"/>
            <a:r>
              <a:rPr lang="cs-CZ" sz="1400">
                <a:solidFill>
                  <a:schemeClr val="accent1"/>
                </a:solidFill>
              </a:rPr>
              <a:t>Může být řešeno vývojem na zakázku nebo vhodným formulářovým </a:t>
            </a:r>
            <a:r>
              <a:rPr lang="cs-CZ" sz="1400" err="1">
                <a:solidFill>
                  <a:schemeClr val="accent1"/>
                </a:solidFill>
              </a:rPr>
              <a:t>enginem</a:t>
            </a:r>
            <a:r>
              <a:rPr lang="cs-CZ" sz="14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18" name="Obdélník 17">
            <a:extLst>
              <a:ext uri="{FF2B5EF4-FFF2-40B4-BE49-F238E27FC236}">
                <a16:creationId xmlns:a16="http://schemas.microsoft.com/office/drawing/2014/main" id="{E17B9A85-633A-0879-A676-6135C3CC00C2}"/>
              </a:ext>
            </a:extLst>
          </p:cNvPr>
          <p:cNvSpPr/>
          <p:nvPr/>
        </p:nvSpPr>
        <p:spPr>
          <a:xfrm>
            <a:off x="7917716" y="1308611"/>
            <a:ext cx="825190" cy="1310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PDF/XML</a:t>
            </a:r>
          </a:p>
        </p:txBody>
      </p:sp>
      <p:cxnSp>
        <p:nvCxnSpPr>
          <p:cNvPr id="34" name="Přímá spojovací šipka 33">
            <a:extLst>
              <a:ext uri="{FF2B5EF4-FFF2-40B4-BE49-F238E27FC236}">
                <a16:creationId xmlns:a16="http://schemas.microsoft.com/office/drawing/2014/main" id="{5E48D6EC-FE0E-0159-DA11-DE64E22ED8CC}"/>
              </a:ext>
            </a:extLst>
          </p:cNvPr>
          <p:cNvCxnSpPr>
            <a:cxnSpLocks/>
            <a:stCxn id="18" idx="3"/>
            <a:endCxn id="6" idx="1"/>
          </p:cNvCxnSpPr>
          <p:nvPr/>
        </p:nvCxnSpPr>
        <p:spPr>
          <a:xfrm>
            <a:off x="8742906" y="1963745"/>
            <a:ext cx="2535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bdélník 43">
            <a:extLst>
              <a:ext uri="{FF2B5EF4-FFF2-40B4-BE49-F238E27FC236}">
                <a16:creationId xmlns:a16="http://schemas.microsoft.com/office/drawing/2014/main" id="{A2FA760E-9041-CA29-27AC-EDAA8A7B58E5}"/>
              </a:ext>
            </a:extLst>
          </p:cNvPr>
          <p:cNvSpPr/>
          <p:nvPr/>
        </p:nvSpPr>
        <p:spPr>
          <a:xfrm>
            <a:off x="1452290" y="1218521"/>
            <a:ext cx="6363222" cy="1499105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3769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337714-63F7-ED75-4A60-43E87AFF3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Digitální služba dle ZOPDS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C6E69B5-E660-3ED7-B4D0-6609365A9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Digitální služba obsahuje základní </a:t>
            </a:r>
            <a:r>
              <a:rPr lang="cs-CZ" dirty="0" err="1"/>
              <a:t>furnkce</a:t>
            </a:r>
            <a:endParaRPr lang="cs-CZ" dirty="0"/>
          </a:p>
          <a:p>
            <a:pPr marL="630900" lvl="1" indent="-342900">
              <a:buAutoNum type="arabicPeriod"/>
            </a:pPr>
            <a:r>
              <a:rPr lang="cs-CZ" dirty="0"/>
              <a:t>Ztotožnění pomocí NIA</a:t>
            </a:r>
          </a:p>
          <a:p>
            <a:pPr marL="630900" lvl="1" indent="-342900">
              <a:buAutoNum type="arabicPeriod"/>
            </a:pPr>
            <a:r>
              <a:rPr lang="cs-CZ" dirty="0"/>
              <a:t>Zastoupení pomocí </a:t>
            </a:r>
            <a:r>
              <a:rPr lang="cs-CZ" dirty="0" err="1"/>
              <a:t>ReZa</a:t>
            </a:r>
            <a:endParaRPr lang="cs-CZ" dirty="0"/>
          </a:p>
          <a:p>
            <a:pPr marL="630900" lvl="1" indent="-342900">
              <a:buAutoNum type="arabicPeriod"/>
            </a:pPr>
            <a:r>
              <a:rPr lang="cs-CZ" dirty="0"/>
              <a:t>Formulář s </a:t>
            </a:r>
            <a:r>
              <a:rPr lang="cs-CZ" dirty="0" err="1"/>
              <a:t>předvyplněním</a:t>
            </a:r>
            <a:r>
              <a:rPr lang="cs-CZ" dirty="0"/>
              <a:t> a kontrolou dat</a:t>
            </a:r>
          </a:p>
          <a:p>
            <a:pPr marL="630900" lvl="1" indent="-342900">
              <a:buAutoNum type="arabicPeriod"/>
            </a:pPr>
            <a:r>
              <a:rPr lang="cs-CZ" dirty="0"/>
              <a:t>Autorizaci</a:t>
            </a:r>
          </a:p>
          <a:p>
            <a:pPr marL="630900" lvl="1" indent="-342900">
              <a:buAutoNum type="arabicPeriod"/>
            </a:pPr>
            <a:r>
              <a:rPr lang="cs-CZ" dirty="0"/>
              <a:t>Osvědčení s pečetí a časovým razítkem</a:t>
            </a:r>
          </a:p>
          <a:p>
            <a:pPr marL="630900" lvl="1" indent="-342900">
              <a:buAutoNum type="arabicPeriod"/>
            </a:pPr>
            <a:r>
              <a:rPr lang="cs-CZ" dirty="0"/>
              <a:t>Evidenci dokladů</a:t>
            </a:r>
          </a:p>
          <a:p>
            <a:pPr marL="630900" lvl="1" indent="-342900">
              <a:buAutoNum type="arabicPeriod"/>
            </a:pPr>
            <a:r>
              <a:rPr lang="cs-CZ" dirty="0"/>
              <a:t>Odeslání</a:t>
            </a:r>
          </a:p>
          <a:p>
            <a:pPr marL="630900" lvl="1" indent="-342900">
              <a:buAutoNum type="arabicPeriod"/>
            </a:pPr>
            <a:endParaRPr lang="cs-CZ" dirty="0"/>
          </a:p>
          <a:p>
            <a:pPr marL="342900" indent="-342900">
              <a:buAutoNum type="arabicPeriod"/>
            </a:pP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DC39318-F0D5-9143-AE92-E5EB40E00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953A544-6484-E9DF-8D36-3132D76C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10407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A32BF97-1843-F6CA-E377-35A9A7EB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/>
              <a:t>Hlavní zásada: </a:t>
            </a:r>
            <a:r>
              <a:rPr lang="cs-CZ" err="1"/>
              <a:t>Znovupoužitelnost</a:t>
            </a:r>
            <a:r>
              <a:rPr lang="cs-CZ"/>
              <a:t> komponent a funkcionalit</a:t>
            </a:r>
            <a:br>
              <a:rPr lang="cs-CZ"/>
            </a:b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A16ED73-661C-D6DF-309D-DE987C430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7655" indent="-287655"/>
            <a:r>
              <a:rPr lang="cs-CZ">
                <a:latin typeface="Arial"/>
                <a:cs typeface="Arial"/>
              </a:rPr>
              <a:t>Cíl: Při každém novém projektu nevytvářet znovu to, co již existuje.</a:t>
            </a:r>
            <a:endParaRPr lang="en-US">
              <a:latin typeface="Arial"/>
              <a:cs typeface="Arial"/>
            </a:endParaRPr>
          </a:p>
          <a:p>
            <a:pPr marL="287655" indent="-287655"/>
            <a:r>
              <a:rPr lang="cs-CZ">
                <a:latin typeface="Arial"/>
                <a:cs typeface="Arial"/>
              </a:rPr>
              <a:t>🚫 Čemu chceme předejít:</a:t>
            </a:r>
          </a:p>
          <a:p>
            <a:pPr marL="575945" lvl="1" indent="-287655"/>
            <a:r>
              <a:rPr lang="cs-CZ">
                <a:latin typeface="Arial"/>
                <a:cs typeface="Arial"/>
              </a:rPr>
              <a:t>Duplicitní vývoj stejných formulářů, evidencí, </a:t>
            </a:r>
            <a:r>
              <a:rPr lang="cs-CZ" err="1">
                <a:latin typeface="Arial"/>
                <a:cs typeface="Arial"/>
              </a:rPr>
              <a:t>workflow</a:t>
            </a:r>
            <a:r>
              <a:rPr lang="cs-CZ">
                <a:latin typeface="Arial"/>
                <a:cs typeface="Arial"/>
              </a:rPr>
              <a:t>, exportů.</a:t>
            </a:r>
          </a:p>
          <a:p>
            <a:pPr marL="575945" lvl="1" indent="-287655"/>
            <a:r>
              <a:rPr lang="cs-CZ">
                <a:latin typeface="Arial"/>
                <a:cs typeface="Arial"/>
              </a:rPr>
              <a:t>Nesoulad v logice podobných agend → vyšší náklady a chaos pro uživatele.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EF31A02-40A5-6FEB-29C6-D9DB0E42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918AE91-EB2B-F9F9-8B8A-D7FF6CAB3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7296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7C5ADF1-2F2C-9810-5F4E-CC691E10D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/>
              <a:t>Výhody oddělení dat a prezentační vrstvy</a:t>
            </a:r>
            <a:br>
              <a:rPr lang="cs-CZ"/>
            </a:br>
            <a:br>
              <a:rPr lang="cs-CZ"/>
            </a:b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25B43EA-C469-3E8A-B48A-BF924A893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7655" indent="-287655" algn="l">
              <a:buFont typeface="+mj-lt"/>
              <a:buAutoNum type="arabicPeriod"/>
            </a:pPr>
            <a:r>
              <a:rPr lang="cs-CZ" b="1" i="0" u="none" strike="noStrike">
                <a:solidFill>
                  <a:srgbClr val="000000"/>
                </a:solidFill>
                <a:effectLst/>
              </a:rPr>
              <a:t>Snadná údržba a rozšiřitelnost</a:t>
            </a:r>
            <a:endParaRPr lang="cs-CZ" b="0" i="0" u="none" strike="noStrike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Wingdings" panose="020B0604020202020204"/>
              <a:buChar char="§"/>
            </a:pPr>
            <a:r>
              <a:rPr lang="cs-CZ" b="0" i="0" u="none" strike="noStrike">
                <a:solidFill>
                  <a:srgbClr val="000000"/>
                </a:solidFill>
                <a:effectLst/>
              </a:rPr>
              <a:t>Můžete měnit design bez zásahu do logiky a dat.</a:t>
            </a:r>
          </a:p>
          <a:p>
            <a:pPr marL="287655" indent="-287655" algn="l">
              <a:buFont typeface="+mj-lt"/>
              <a:buAutoNum type="arabicPeriod"/>
            </a:pPr>
            <a:r>
              <a:rPr lang="cs-CZ" b="1" i="0" u="none" strike="noStrike" err="1">
                <a:solidFill>
                  <a:srgbClr val="000000"/>
                </a:solidFill>
                <a:effectLst/>
              </a:rPr>
              <a:t>Znovupoužitelnost</a:t>
            </a:r>
            <a:endParaRPr lang="cs-CZ" b="0" i="0" u="none" strike="noStrike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Wingdings" panose="020B0604020202020204"/>
              <a:buChar char="§"/>
            </a:pPr>
            <a:r>
              <a:rPr lang="cs-CZ" b="0" i="0" u="none" strike="noStrike">
                <a:solidFill>
                  <a:srgbClr val="000000"/>
                </a:solidFill>
                <a:effectLst/>
                <a:latin typeface="Arial"/>
                <a:cs typeface="Arial"/>
              </a:rPr>
              <a:t>Stejná data slouží více aplikacím (web, mobilní </a:t>
            </a:r>
            <a:r>
              <a:rPr lang="cs-CZ" b="0" i="0" u="none" strike="noStrike" err="1">
                <a:solidFill>
                  <a:srgbClr val="000000"/>
                </a:solidFill>
                <a:effectLst/>
                <a:latin typeface="Arial"/>
                <a:cs typeface="Arial"/>
              </a:rPr>
              <a:t>appka</a:t>
            </a:r>
            <a:r>
              <a:rPr lang="cs-CZ" b="0" i="0" u="none" strike="noStrike">
                <a:solidFill>
                  <a:srgbClr val="000000"/>
                </a:solidFill>
                <a:effectLst/>
                <a:latin typeface="Arial"/>
                <a:cs typeface="Arial"/>
              </a:rPr>
              <a:t>, interní systémy).</a:t>
            </a:r>
          </a:p>
          <a:p>
            <a:pPr marL="287655" indent="-287655" algn="l">
              <a:buFont typeface="+mj-lt"/>
              <a:buAutoNum type="arabicPeriod"/>
            </a:pPr>
            <a:r>
              <a:rPr lang="cs-CZ" b="1" i="0" u="none" strike="noStrike">
                <a:solidFill>
                  <a:srgbClr val="000000"/>
                </a:solidFill>
                <a:effectLst/>
              </a:rPr>
              <a:t>Bezpečnost</a:t>
            </a:r>
            <a:endParaRPr lang="cs-CZ" b="0" i="0" u="none" strike="noStrike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Wingdings" panose="020B0604020202020204"/>
              <a:buChar char="§"/>
            </a:pPr>
            <a:r>
              <a:rPr lang="cs-CZ" b="0" i="0" u="none" strike="noStrike">
                <a:solidFill>
                  <a:srgbClr val="000000"/>
                </a:solidFill>
                <a:effectLst/>
              </a:rPr>
              <a:t>Data zůstávají na serveru, prezentace může být v bezpečné vrstvě.</a:t>
            </a:r>
          </a:p>
          <a:p>
            <a:pPr marL="287655" indent="-287655"/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81666EDE-9D6B-8323-C64D-D8DC20E45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5E5CFB1-CE63-730B-1F39-2BB12E6C5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02815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3EF7D-031A-C6EE-C3FD-74643961F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8F12D9-2B58-75C7-02A0-933971DD5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Výhody oddělení dat a prezentační </a:t>
            </a:r>
            <a:r>
              <a:rPr lang="cs-CZ" dirty="0" err="1"/>
              <a:t>vrstvY</a:t>
            </a:r>
            <a:br>
              <a:rPr lang="cs-CZ" dirty="0"/>
            </a:br>
            <a:br>
              <a:rPr lang="cs-CZ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79CC4D5-C07C-A07C-EB2D-9AC3D75CD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l">
              <a:buFont typeface="+mj-lt"/>
              <a:buAutoNum type="arabicPeriod" startAt="4"/>
            </a:pPr>
            <a:r>
              <a:rPr lang="cs-CZ" b="1" i="0" u="none" strike="noStrike">
                <a:solidFill>
                  <a:srgbClr val="000000"/>
                </a:solidFill>
                <a:effectLst/>
                <a:latin typeface="Arial"/>
                <a:cs typeface="Arial"/>
              </a:rPr>
              <a:t>Škálovatelnost</a:t>
            </a:r>
            <a:endParaRPr lang="cs-CZ" b="0" i="0" u="none" strike="noStrike">
              <a:solidFill>
                <a:srgbClr val="000000"/>
              </a:solidFill>
              <a:effectLst/>
              <a:latin typeface="Arial"/>
              <a:cs typeface="Arial"/>
            </a:endParaRPr>
          </a:p>
          <a:p>
            <a:pPr marL="800100" lvl="1" indent="-342900" algn="l">
              <a:buFont typeface="Wingdings" panose="020B0604020202020204"/>
              <a:buChar char="§"/>
            </a:pPr>
            <a:r>
              <a:rPr lang="cs-CZ" b="0" i="0" u="none" strike="noStrike" err="1">
                <a:solidFill>
                  <a:srgbClr val="000000"/>
                </a:solidFill>
                <a:effectLst/>
                <a:latin typeface="Arial"/>
                <a:cs typeface="Arial"/>
              </a:rPr>
              <a:t>Backend</a:t>
            </a:r>
            <a:r>
              <a:rPr lang="cs-CZ" b="0" i="0" u="none" strike="noStrike">
                <a:solidFill>
                  <a:srgbClr val="000000"/>
                </a:solidFill>
                <a:effectLst/>
                <a:latin typeface="Arial"/>
                <a:cs typeface="Arial"/>
              </a:rPr>
              <a:t> zvládá více požadavků, </a:t>
            </a:r>
            <a:r>
              <a:rPr lang="cs-CZ" b="0" i="0" u="none" strike="noStrike" err="1">
                <a:solidFill>
                  <a:srgbClr val="000000"/>
                </a:solidFill>
                <a:effectLst/>
                <a:latin typeface="Arial"/>
                <a:cs typeface="Arial"/>
              </a:rPr>
              <a:t>frontend</a:t>
            </a:r>
            <a:r>
              <a:rPr lang="cs-CZ" b="0" i="0" u="none" strike="noStrike">
                <a:solidFill>
                  <a:srgbClr val="000000"/>
                </a:solidFill>
                <a:effectLst/>
                <a:latin typeface="Arial"/>
                <a:cs typeface="Arial"/>
              </a:rPr>
              <a:t> se snadno rozšíří.</a:t>
            </a:r>
          </a:p>
          <a:p>
            <a:pPr marL="287655" indent="-287655" algn="l">
              <a:buFont typeface="+mj-lt"/>
              <a:buAutoNum type="arabicPeriod" startAt="4"/>
            </a:pPr>
            <a:r>
              <a:rPr lang="cs-CZ" b="1" i="0" u="none" strike="noStrike">
                <a:solidFill>
                  <a:srgbClr val="000000"/>
                </a:solidFill>
                <a:effectLst/>
                <a:latin typeface="Arial"/>
                <a:cs typeface="Arial"/>
              </a:rPr>
              <a:t>Lepší testovatelnost</a:t>
            </a:r>
            <a:endParaRPr lang="cs-CZ" b="0" i="0" u="none" strike="noStrike">
              <a:solidFill>
                <a:srgbClr val="000000"/>
              </a:solidFill>
              <a:effectLst/>
              <a:latin typeface="Arial"/>
              <a:cs typeface="Arial"/>
            </a:endParaRPr>
          </a:p>
          <a:p>
            <a:pPr marL="742950" lvl="1" indent="-285750" algn="l">
              <a:buFont typeface="Wingdings" panose="020B0604020202020204"/>
              <a:buChar char="§"/>
            </a:pPr>
            <a:r>
              <a:rPr lang="cs-CZ" b="0" i="0" u="none" strike="noStrike">
                <a:solidFill>
                  <a:srgbClr val="000000"/>
                </a:solidFill>
                <a:effectLst/>
              </a:rPr>
              <a:t>Každou část (data i prezentaci) testujete zvlášť.</a:t>
            </a:r>
          </a:p>
          <a:p>
            <a:pPr marL="287655" indent="-287655" algn="l">
              <a:buFont typeface="+mj-lt"/>
              <a:buAutoNum type="arabicPeriod" startAt="4"/>
            </a:pPr>
            <a:r>
              <a:rPr lang="cs-CZ" b="1" i="0" u="none" strike="noStrike">
                <a:solidFill>
                  <a:srgbClr val="000000"/>
                </a:solidFill>
                <a:effectLst/>
                <a:latin typeface="Arial"/>
                <a:cs typeface="Arial"/>
              </a:rPr>
              <a:t>Flexibilita v technologiích</a:t>
            </a:r>
            <a:endParaRPr lang="cs-CZ" b="0" i="0" u="none" strike="noStrike">
              <a:solidFill>
                <a:srgbClr val="000000"/>
              </a:solidFill>
              <a:effectLst/>
              <a:latin typeface="Arial"/>
              <a:cs typeface="Arial"/>
            </a:endParaRPr>
          </a:p>
          <a:p>
            <a:pPr marL="742950" lvl="1" indent="-285750" algn="l">
              <a:buFont typeface="Wingdings" panose="020B0604020202020204"/>
              <a:buChar char="§"/>
            </a:pPr>
            <a:r>
              <a:rPr lang="cs-CZ" b="0" i="0" u="none" strike="noStrike">
                <a:solidFill>
                  <a:srgbClr val="000000"/>
                </a:solidFill>
                <a:effectLst/>
                <a:latin typeface="Arial"/>
                <a:cs typeface="Arial"/>
              </a:rPr>
              <a:t>Můžete použít různé technologie pro </a:t>
            </a:r>
            <a:r>
              <a:rPr lang="cs-CZ" b="0" i="0" u="none" strike="noStrike" err="1">
                <a:solidFill>
                  <a:srgbClr val="000000"/>
                </a:solidFill>
                <a:effectLst/>
                <a:latin typeface="Arial"/>
                <a:cs typeface="Arial"/>
              </a:rPr>
              <a:t>frontend</a:t>
            </a:r>
            <a:r>
              <a:rPr lang="cs-CZ" b="0" i="0" u="none" strike="noStrike">
                <a:solidFill>
                  <a:srgbClr val="000000"/>
                </a:solidFill>
                <a:effectLst/>
                <a:latin typeface="Arial"/>
                <a:cs typeface="Arial"/>
              </a:rPr>
              <a:t> a </a:t>
            </a:r>
            <a:r>
              <a:rPr lang="cs-CZ" b="0" i="0" u="none" strike="noStrike" err="1">
                <a:solidFill>
                  <a:srgbClr val="000000"/>
                </a:solidFill>
                <a:effectLst/>
                <a:latin typeface="Arial"/>
                <a:cs typeface="Arial"/>
              </a:rPr>
              <a:t>backend</a:t>
            </a:r>
            <a:r>
              <a:rPr lang="cs-CZ" b="0" i="0" u="none" strike="noStrike">
                <a:solidFill>
                  <a:srgbClr val="000000"/>
                </a:solidFill>
                <a:effectLst/>
                <a:latin typeface="Arial"/>
                <a:cs typeface="Arial"/>
              </a:rPr>
              <a:t>.</a:t>
            </a:r>
          </a:p>
          <a:p>
            <a:pPr marL="287655" indent="-287655"/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6ED9C84-7A1B-2612-ABBA-6080A0A3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A686D72-4600-7C7B-123E-BD74DA129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17613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1EA44-44B3-25F8-6076-29BA0FEEC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224ABB-98B0-05AB-5BE8-E6352C754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/>
              <a:t>Nevýhody oddělení dat a prezentační vrstvy</a:t>
            </a:r>
            <a:br>
              <a:rPr lang="cs-CZ"/>
            </a:br>
            <a:br>
              <a:rPr lang="cs-CZ"/>
            </a:b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4A003A-C628-2F4C-DA75-3A770EDC6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cs-CZ" b="1" i="0" u="none" strike="noStrike">
                <a:solidFill>
                  <a:srgbClr val="000000"/>
                </a:solidFill>
                <a:effectLst/>
              </a:rPr>
              <a:t>Složitější vývoj</a:t>
            </a:r>
            <a:endParaRPr lang="cs-CZ" b="0" i="0" u="none" strike="noStrike">
              <a:solidFill>
                <a:srgbClr val="000000"/>
              </a:solidFill>
              <a:effectLst/>
            </a:endParaRPr>
          </a:p>
          <a:p>
            <a:pPr marL="742950" lvl="1" indent="-285750"/>
            <a:r>
              <a:rPr lang="cs-CZ" b="0" i="0" u="none" strike="noStrike">
                <a:solidFill>
                  <a:srgbClr val="000000"/>
                </a:solidFill>
                <a:effectLst/>
              </a:rPr>
              <a:t>Vyžaduje více koordinace mezi týmy.</a:t>
            </a:r>
          </a:p>
          <a:p>
            <a:pPr algn="l">
              <a:buFont typeface="+mj-lt"/>
              <a:buAutoNum type="arabicPeriod"/>
            </a:pPr>
            <a:r>
              <a:rPr lang="cs-CZ" b="1" i="0" u="none" strike="noStrike">
                <a:solidFill>
                  <a:srgbClr val="000000"/>
                </a:solidFill>
                <a:effectLst/>
              </a:rPr>
              <a:t>Vyšší nároky na integraci</a:t>
            </a:r>
            <a:endParaRPr lang="cs-CZ" b="0" i="0" u="none" strike="noStrike">
              <a:solidFill>
                <a:srgbClr val="000000"/>
              </a:solidFill>
              <a:effectLst/>
            </a:endParaRPr>
          </a:p>
          <a:p>
            <a:pPr marL="742950" lvl="1" indent="-285750"/>
            <a:r>
              <a:rPr lang="cs-CZ" b="0" i="0" u="none" strike="noStrike">
                <a:solidFill>
                  <a:srgbClr val="000000"/>
                </a:solidFill>
                <a:effectLst/>
              </a:rPr>
              <a:t>Nutnost API, verzování, zabezpečení přenosu dat.</a:t>
            </a:r>
          </a:p>
          <a:p>
            <a:pPr algn="l">
              <a:buFont typeface="+mj-lt"/>
              <a:buAutoNum type="arabicPeriod"/>
            </a:pPr>
            <a:r>
              <a:rPr lang="cs-CZ" b="1" i="0" u="none" strike="noStrike">
                <a:solidFill>
                  <a:srgbClr val="000000"/>
                </a:solidFill>
                <a:effectLst/>
              </a:rPr>
              <a:t>Potenciální zpoždění</a:t>
            </a:r>
            <a:endParaRPr lang="cs-CZ" b="0" i="0" u="none" strike="noStrike">
              <a:solidFill>
                <a:srgbClr val="000000"/>
              </a:solidFill>
              <a:effectLst/>
            </a:endParaRPr>
          </a:p>
          <a:p>
            <a:pPr marL="742950" lvl="1" indent="-285750"/>
            <a:r>
              <a:rPr lang="cs-CZ" b="0" i="0" u="none" strike="noStrike">
                <a:solidFill>
                  <a:srgbClr val="000000"/>
                </a:solidFill>
                <a:effectLst/>
              </a:rPr>
              <a:t>Více volání mezi vrstvami může zpomalit aplikaci.</a:t>
            </a:r>
          </a:p>
          <a:p>
            <a:pPr algn="l">
              <a:buFont typeface="+mj-lt"/>
              <a:buAutoNum type="arabicPeriod"/>
            </a:pPr>
            <a:r>
              <a:rPr lang="cs-CZ" b="1" i="0" u="none" strike="noStrike">
                <a:solidFill>
                  <a:srgbClr val="000000"/>
                </a:solidFill>
                <a:effectLst/>
              </a:rPr>
              <a:t>Náklady na správu</a:t>
            </a:r>
            <a:endParaRPr lang="cs-CZ" b="0" i="0" u="none" strike="noStrike">
              <a:solidFill>
                <a:srgbClr val="000000"/>
              </a:solidFill>
              <a:effectLst/>
            </a:endParaRPr>
          </a:p>
          <a:p>
            <a:pPr marL="742950" lvl="1" indent="-285750"/>
            <a:r>
              <a:rPr lang="cs-CZ" b="0" i="0" u="none" strike="noStrike">
                <a:solidFill>
                  <a:srgbClr val="000000"/>
                </a:solidFill>
                <a:effectLst/>
              </a:rPr>
              <a:t>Samostatné nasazení, monitoring a správa </a:t>
            </a:r>
            <a:r>
              <a:rPr lang="cs-CZ" b="0" i="0" u="none" strike="noStrike" err="1">
                <a:solidFill>
                  <a:srgbClr val="000000"/>
                </a:solidFill>
                <a:effectLst/>
              </a:rPr>
              <a:t>backendu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 a </a:t>
            </a:r>
            <a:r>
              <a:rPr lang="cs-CZ" b="0" i="0" u="none" strike="noStrike" err="1">
                <a:solidFill>
                  <a:srgbClr val="000000"/>
                </a:solidFill>
                <a:effectLst/>
              </a:rPr>
              <a:t>frontendu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None/>
            </a:pPr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2DD12E80-8A7E-BE52-0B84-91772E1D9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D41DDF6-CE6A-1CB5-0629-D56F6FF1F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08521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8AD04A0-5FCC-3BEC-A5EC-AC15058AD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/>
              <a:t>Zjednodušování vývoje aplikací ve veřejné správě</a:t>
            </a:r>
            <a:br>
              <a:rPr lang="cs-CZ"/>
            </a:br>
            <a:r>
              <a:rPr lang="cs-CZ" sz="3100"/>
              <a:t>Jak zjednodušení procesů šetří čas, peníze a zvyšuje důvěru občanů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434177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4DE757-2176-61D9-26E5-65302CB23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Proč zjednodušovat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0CD0F0F-828B-8CF7-B84E-49F6685EE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cs-CZ" b="1"/>
              <a:t>Úspora nákladů</a:t>
            </a:r>
            <a:r>
              <a:rPr lang="cs-CZ"/>
              <a:t>:</a:t>
            </a:r>
            <a:br>
              <a:rPr lang="cs-CZ"/>
            </a:br>
            <a:r>
              <a:rPr lang="cs-CZ"/>
              <a:t>Až </a:t>
            </a:r>
            <a:r>
              <a:rPr lang="cs-CZ" b="1"/>
              <a:t>60–80 %</a:t>
            </a:r>
            <a:r>
              <a:rPr lang="cs-CZ"/>
              <a:t> celkových nákladů na software tvoří údržba. (Gartner)</a:t>
            </a:r>
          </a:p>
          <a:p>
            <a:pPr>
              <a:buNone/>
            </a:pPr>
            <a:r>
              <a:rPr lang="cs-CZ" b="1"/>
              <a:t>Vyšší bezpečnost</a:t>
            </a:r>
            <a:r>
              <a:rPr lang="cs-CZ"/>
              <a:t>:</a:t>
            </a:r>
            <a:br>
              <a:rPr lang="cs-CZ"/>
            </a:br>
            <a:r>
              <a:rPr lang="cs-CZ"/>
              <a:t>„Komplexita je nepřítel bezpečnosti.“ (OWASP)</a:t>
            </a:r>
          </a:p>
          <a:p>
            <a:pPr>
              <a:buNone/>
            </a:pPr>
            <a:r>
              <a:rPr lang="cs-CZ" b="1"/>
              <a:t>Rychlejší nasazení</a:t>
            </a:r>
            <a:r>
              <a:rPr lang="cs-CZ"/>
              <a:t>:</a:t>
            </a:r>
            <a:br>
              <a:rPr lang="cs-CZ"/>
            </a:br>
            <a:r>
              <a:rPr lang="cs-CZ"/>
              <a:t>Agilní přístup zrychluje vývoj o </a:t>
            </a:r>
            <a:r>
              <a:rPr lang="cs-CZ" b="1"/>
              <a:t>30–50 %</a:t>
            </a:r>
            <a:r>
              <a:rPr lang="cs-CZ"/>
              <a:t>. (McKinsey Digital, 2022)</a:t>
            </a:r>
          </a:p>
          <a:p>
            <a:r>
              <a:rPr lang="cs-CZ" b="1"/>
              <a:t>Lepší spokojenost uživatelů</a:t>
            </a:r>
            <a:r>
              <a:rPr lang="cs-CZ"/>
              <a:t>:</a:t>
            </a:r>
            <a:br>
              <a:rPr lang="cs-CZ"/>
            </a:br>
            <a:r>
              <a:rPr lang="cs-CZ" b="1"/>
              <a:t>61 %</a:t>
            </a:r>
            <a:r>
              <a:rPr lang="cs-CZ"/>
              <a:t> uživatelů preferuje jednoduchá řešení. (</a:t>
            </a:r>
            <a:r>
              <a:rPr lang="cs-CZ" err="1"/>
              <a:t>Forrester</a:t>
            </a:r>
            <a:r>
              <a:rPr lang="cs-CZ"/>
              <a:t> </a:t>
            </a:r>
            <a:r>
              <a:rPr lang="cs-CZ" err="1"/>
              <a:t>Research</a:t>
            </a:r>
            <a:r>
              <a:rPr lang="cs-CZ"/>
              <a:t>)</a:t>
            </a:r>
          </a:p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90930DE-8C82-0DF7-744C-620B9B72A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17F6D6D-E655-3257-4F46-5BA9D8B02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460686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080627DF-107B-3A54-15B9-7BEACF52F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Příklady z Evropy</a:t>
            </a:r>
          </a:p>
        </p:txBody>
      </p:sp>
      <p:pic>
        <p:nvPicPr>
          <p:cNvPr id="8" name="Zástupný obsah 7">
            <a:extLst>
              <a:ext uri="{FF2B5EF4-FFF2-40B4-BE49-F238E27FC236}">
                <a16:creationId xmlns:a16="http://schemas.microsoft.com/office/drawing/2014/main" id="{79D62107-52B1-9B22-16FD-7C2CBD512C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6684" y="1495571"/>
            <a:ext cx="10600580" cy="294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313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B60A36-B3B9-0D53-7ACA-16964C863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>
                <a:solidFill>
                  <a:srgbClr val="000000"/>
                </a:solidFill>
              </a:rPr>
              <a:t>🇪🇪 </a:t>
            </a:r>
            <a:r>
              <a:rPr lang="cs-CZ" b="1"/>
              <a:t>Estonsko: e-</a:t>
            </a:r>
            <a:r>
              <a:rPr lang="cs-CZ" b="1" err="1"/>
              <a:t>Estonia</a:t>
            </a:r>
            <a:br>
              <a:rPr lang="cs-CZ" b="1">
                <a:solidFill>
                  <a:srgbClr val="000000"/>
                </a:solidFill>
              </a:rPr>
            </a:b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E8C590A-B6E2-816C-B052-840E5C7845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l">
              <a:buNone/>
            </a:pPr>
            <a:r>
              <a:rPr lang="cs-CZ" b="0" i="0" u="none" strike="noStrike">
                <a:solidFill>
                  <a:srgbClr val="000000"/>
                </a:solidFill>
                <a:effectLst/>
              </a:rPr>
              <a:t>Estonsko je považované za premianta v digitalizaci státní správy.</a:t>
            </a:r>
            <a:br>
              <a:rPr lang="cs-CZ" b="0" i="0" u="none" strike="noStrike">
                <a:solidFill>
                  <a:srgbClr val="000000"/>
                </a:solidFill>
                <a:effectLst/>
              </a:rPr>
            </a:br>
            <a:r>
              <a:rPr lang="cs-CZ" b="0" i="0" u="none" strike="noStrike">
                <a:solidFill>
                  <a:srgbClr val="000000"/>
                </a:solidFill>
                <a:effectLst/>
              </a:rPr>
              <a:t>Hlavní princip: </a:t>
            </a:r>
            <a:r>
              <a:rPr lang="cs-CZ" b="1" i="0" u="none" strike="noStrike">
                <a:solidFill>
                  <a:srgbClr val="000000"/>
                </a:solidFill>
                <a:effectLst/>
              </a:rPr>
              <a:t>"</a:t>
            </a:r>
            <a:r>
              <a:rPr lang="cs-CZ" b="1" i="0" u="none" strike="noStrike" err="1">
                <a:solidFill>
                  <a:srgbClr val="000000"/>
                </a:solidFill>
                <a:effectLst/>
              </a:rPr>
              <a:t>Once</a:t>
            </a:r>
            <a:r>
              <a:rPr lang="cs-CZ" b="1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cs-CZ" b="1" i="0" u="none" strike="noStrike" err="1">
                <a:solidFill>
                  <a:srgbClr val="000000"/>
                </a:solidFill>
                <a:effectLst/>
              </a:rPr>
              <a:t>only</a:t>
            </a:r>
            <a:r>
              <a:rPr lang="cs-CZ" b="1" i="0" u="none" strike="noStrike">
                <a:solidFill>
                  <a:srgbClr val="000000"/>
                </a:solidFill>
                <a:effectLst/>
              </a:rPr>
              <a:t>"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 — občan nebo firma musí poskytnout údaje státu pouze jednou.</a:t>
            </a:r>
          </a:p>
          <a:p>
            <a:pPr algn="l">
              <a:buNone/>
            </a:pPr>
            <a:r>
              <a:rPr lang="cs-CZ" b="1" i="0" u="none" strike="noStrike">
                <a:solidFill>
                  <a:srgbClr val="000000"/>
                </a:solidFill>
                <a:effectLst/>
              </a:rPr>
              <a:t>Výsledky: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b="1" i="0" u="none" strike="noStrike">
                <a:solidFill>
                  <a:srgbClr val="000000"/>
                </a:solidFill>
                <a:effectLst/>
              </a:rPr>
              <a:t>Roční úspora 844 let lidské práce.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 (zdroj: e-</a:t>
            </a:r>
            <a:r>
              <a:rPr lang="cs-CZ" b="0" i="0" u="none" strike="noStrike" err="1">
                <a:solidFill>
                  <a:srgbClr val="000000"/>
                </a:solidFill>
                <a:effectLst/>
              </a:rPr>
              <a:t>Estonia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b="0" i="0" u="none" strike="noStrike">
                <a:solidFill>
                  <a:srgbClr val="000000"/>
                </a:solidFill>
                <a:effectLst/>
              </a:rPr>
              <a:t>99 % veřejných služeb je dostupných online 24/7.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b="0" i="0" u="none" strike="noStrike">
                <a:solidFill>
                  <a:srgbClr val="000000"/>
                </a:solidFill>
                <a:effectLst/>
              </a:rPr>
              <a:t>Daňové přiznání zabere v průměru </a:t>
            </a:r>
            <a:r>
              <a:rPr lang="cs-CZ" b="1" i="0" u="none" strike="noStrike">
                <a:solidFill>
                  <a:srgbClr val="000000"/>
                </a:solidFill>
                <a:effectLst/>
              </a:rPr>
              <a:t>3–5 minut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b="0" i="0" u="none" strike="noStrike">
                <a:solidFill>
                  <a:srgbClr val="000000"/>
                </a:solidFill>
                <a:effectLst/>
              </a:rPr>
              <a:t>Estonsko zavedlo </a:t>
            </a:r>
            <a:r>
              <a:rPr lang="cs-CZ" b="1" i="0" u="none" strike="noStrike">
                <a:solidFill>
                  <a:srgbClr val="000000"/>
                </a:solidFill>
                <a:effectLst/>
              </a:rPr>
              <a:t>X-</a:t>
            </a:r>
            <a:r>
              <a:rPr lang="cs-CZ" b="1" i="0" u="none" strike="noStrike" err="1">
                <a:solidFill>
                  <a:srgbClr val="000000"/>
                </a:solidFill>
                <a:effectLst/>
              </a:rPr>
              <a:t>Road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, jednoduchý a bezpečný systém pro sdílení dat mezi úřady a aplikacemi.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b="0" i="0" u="none" strike="noStrike">
                <a:solidFill>
                  <a:srgbClr val="000000"/>
                </a:solidFill>
                <a:effectLst/>
              </a:rPr>
              <a:t>Úspora nákladů na správu údajů díky zjednodušení a automatizaci procesů: </a:t>
            </a:r>
            <a:r>
              <a:rPr lang="cs-CZ" b="1" i="0" u="none" strike="noStrike">
                <a:solidFill>
                  <a:srgbClr val="000000"/>
                </a:solidFill>
                <a:effectLst/>
              </a:rPr>
              <a:t>až 140 milionů € ročně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 (OECD 2022).</a:t>
            </a:r>
          </a:p>
          <a:p>
            <a:pPr algn="l">
              <a:buNone/>
            </a:pPr>
            <a:r>
              <a:rPr lang="cs-CZ" b="1" i="0" u="none" strike="noStrike">
                <a:solidFill>
                  <a:srgbClr val="000000"/>
                </a:solidFill>
                <a:effectLst/>
              </a:rPr>
              <a:t>Poučení:</a:t>
            </a:r>
          </a:p>
          <a:p>
            <a:pPr algn="l"/>
            <a:r>
              <a:rPr lang="cs-CZ" b="0" i="0" u="none" strike="noStrike">
                <a:solidFill>
                  <a:srgbClr val="000000"/>
                </a:solidFill>
                <a:effectLst/>
              </a:rPr>
              <a:t>➡️ Zjednodušení </a:t>
            </a:r>
            <a:r>
              <a:rPr lang="cs-CZ" b="1" i="0" u="none" strike="noStrike">
                <a:solidFill>
                  <a:srgbClr val="000000"/>
                </a:solidFill>
                <a:effectLst/>
              </a:rPr>
              <a:t>toků dat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 mezi úřady zrychluje procesy a snižuje chybovost.</a:t>
            </a:r>
            <a:br>
              <a:rPr lang="cs-CZ" b="0" i="0" u="none" strike="noStrike">
                <a:solidFill>
                  <a:srgbClr val="000000"/>
                </a:solidFill>
                <a:effectLst/>
              </a:rPr>
            </a:br>
            <a:r>
              <a:rPr lang="cs-CZ" b="0" i="0" u="none" strike="noStrike">
                <a:solidFill>
                  <a:srgbClr val="000000"/>
                </a:solidFill>
                <a:effectLst/>
              </a:rPr>
              <a:t>➡️ Minimalizace duplicitních kroků snižuje náklady a zvyšuje spokojenost uživatelů.</a:t>
            </a:r>
          </a:p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15F117A-23E1-38F0-6679-2DAF66B06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6D82FC9-EBD6-D1CF-5F8E-C6FB22B33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318950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3F08DC-6F03-B17D-C09B-00DFCF3D6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b="1">
                <a:solidFill>
                  <a:srgbClr val="000000"/>
                </a:solidFill>
              </a:rPr>
              <a:t>🇩🇰 </a:t>
            </a:r>
            <a:r>
              <a:rPr lang="cs-CZ" b="1"/>
              <a:t>Dánsko: Digitální strategie 2016–2020</a:t>
            </a:r>
            <a:br>
              <a:rPr lang="cs-CZ" b="1">
                <a:solidFill>
                  <a:srgbClr val="000000"/>
                </a:solidFill>
              </a:rPr>
            </a:b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1F02CDE-2B42-F531-7913-2B4351589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cs-CZ" b="0" i="0" u="none" strike="noStrike">
                <a:solidFill>
                  <a:srgbClr val="000000"/>
                </a:solidFill>
                <a:effectLst/>
              </a:rPr>
              <a:t>Dánsko zvolilo strategii </a:t>
            </a:r>
            <a:r>
              <a:rPr lang="cs-CZ" b="1" i="0" u="none" strike="noStrike">
                <a:solidFill>
                  <a:srgbClr val="000000"/>
                </a:solidFill>
                <a:effectLst/>
              </a:rPr>
              <a:t>maximální jednoduchosti pro občana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None/>
            </a:pPr>
            <a:r>
              <a:rPr lang="cs-CZ" b="1" i="0" u="none" strike="noStrike">
                <a:solidFill>
                  <a:srgbClr val="000000"/>
                </a:solidFill>
                <a:effectLst/>
              </a:rPr>
              <a:t>Výsledky: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b="0" i="0" u="none" strike="noStrike">
                <a:solidFill>
                  <a:srgbClr val="000000"/>
                </a:solidFill>
                <a:effectLst/>
              </a:rPr>
              <a:t>Elektronická komunikace s úřady je </a:t>
            </a:r>
            <a:r>
              <a:rPr lang="cs-CZ" b="1" i="0" u="none" strike="noStrike">
                <a:solidFill>
                  <a:srgbClr val="000000"/>
                </a:solidFill>
                <a:effectLst/>
              </a:rPr>
              <a:t>povinná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 (Digital Post).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b="0" i="0" u="none" strike="noStrike">
                <a:solidFill>
                  <a:srgbClr val="000000"/>
                </a:solidFill>
                <a:effectLst/>
              </a:rPr>
              <a:t>Průměrný čas na vyřízení základních služeb (např. změna adresy) se zkrátil o </a:t>
            </a:r>
            <a:r>
              <a:rPr lang="cs-CZ" b="1" i="0" u="none" strike="noStrike">
                <a:solidFill>
                  <a:srgbClr val="000000"/>
                </a:solidFill>
                <a:effectLst/>
              </a:rPr>
              <a:t>70 %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b="0" i="0" u="none" strike="noStrike">
                <a:solidFill>
                  <a:srgbClr val="000000"/>
                </a:solidFill>
                <a:effectLst/>
              </a:rPr>
              <a:t>Peněžní úspora: veřejný sektor ušetřil </a:t>
            </a:r>
            <a:r>
              <a:rPr lang="cs-CZ" b="1" i="0" u="none" strike="noStrike">
                <a:solidFill>
                  <a:srgbClr val="000000"/>
                </a:solidFill>
                <a:effectLst/>
              </a:rPr>
              <a:t>41 milionů EUR ročně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 díky digitálnímu zjednodušení administrativy. (zdroj: </a:t>
            </a:r>
            <a:r>
              <a:rPr lang="cs-CZ" b="0" i="0" u="none" strike="noStrike" err="1">
                <a:solidFill>
                  <a:srgbClr val="000000"/>
                </a:solidFill>
                <a:effectLst/>
              </a:rPr>
              <a:t>European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cs-CZ" b="0" i="0" u="none" strike="noStrike" err="1">
                <a:solidFill>
                  <a:srgbClr val="000000"/>
                </a:solidFill>
                <a:effectLst/>
              </a:rPr>
              <a:t>Commission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 eGovernment </a:t>
            </a:r>
            <a:r>
              <a:rPr lang="cs-CZ" b="0" i="0" u="none" strike="noStrike" err="1">
                <a:solidFill>
                  <a:srgbClr val="000000"/>
                </a:solidFill>
                <a:effectLst/>
              </a:rPr>
              <a:t>factsheets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)</a:t>
            </a:r>
          </a:p>
          <a:p>
            <a:pPr algn="l">
              <a:buNone/>
            </a:pPr>
            <a:r>
              <a:rPr lang="cs-CZ" b="1" i="0" u="none" strike="noStrike">
                <a:solidFill>
                  <a:srgbClr val="000000"/>
                </a:solidFill>
                <a:effectLst/>
              </a:rPr>
              <a:t>Poučení:</a:t>
            </a:r>
          </a:p>
          <a:p>
            <a:pPr algn="l"/>
            <a:r>
              <a:rPr lang="cs-CZ" b="0" i="0" u="none" strike="noStrike">
                <a:solidFill>
                  <a:srgbClr val="000000"/>
                </a:solidFill>
                <a:effectLst/>
              </a:rPr>
              <a:t>➡️ Zjednodušením procesů a digitalizací běžné administrativy Dánsko výrazně snížilo byrokratickou zátěž.</a:t>
            </a:r>
          </a:p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8A4FCC1-E152-8400-18D1-DDAB11EF9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6654673D-18D3-7132-FA4F-C028524C4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9700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5D74A42-C121-A164-FF2B-20ACFFDF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>
                <a:solidFill>
                  <a:srgbClr val="000000"/>
                </a:solidFill>
              </a:rPr>
              <a:t>🇫🇮 </a:t>
            </a:r>
            <a:r>
              <a:rPr lang="cs-CZ" b="1"/>
              <a:t>Finsko: </a:t>
            </a:r>
            <a:r>
              <a:rPr lang="cs-CZ" b="1" err="1"/>
              <a:t>MyData</a:t>
            </a:r>
            <a:br>
              <a:rPr lang="cs-CZ" b="1">
                <a:solidFill>
                  <a:srgbClr val="000000"/>
                </a:solidFill>
              </a:rPr>
            </a:b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8565D0B-43F1-A920-DE66-000834CEC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cs-CZ" b="0" i="0" u="none" strike="noStrike">
                <a:solidFill>
                  <a:srgbClr val="000000"/>
                </a:solidFill>
                <a:effectLst/>
              </a:rPr>
              <a:t>Finsko rozvíjí koncept </a:t>
            </a:r>
            <a:r>
              <a:rPr lang="cs-CZ" b="1" i="0" u="none" strike="noStrike" err="1">
                <a:solidFill>
                  <a:srgbClr val="000000"/>
                </a:solidFill>
                <a:effectLst/>
              </a:rPr>
              <a:t>MyData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, kde mají občané přehled o tom, jak stát využívá jejich data, a mohou je snadno sdílet.</a:t>
            </a:r>
          </a:p>
          <a:p>
            <a:pPr algn="l">
              <a:buNone/>
            </a:pPr>
            <a:r>
              <a:rPr lang="cs-CZ" b="1" i="0" u="none" strike="noStrike">
                <a:solidFill>
                  <a:srgbClr val="000000"/>
                </a:solidFill>
                <a:effectLst/>
              </a:rPr>
              <a:t>Výsledky: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b="0" i="0" u="none" strike="noStrike">
                <a:solidFill>
                  <a:srgbClr val="000000"/>
                </a:solidFill>
                <a:effectLst/>
              </a:rPr>
              <a:t>Zvýšení důvěry veřejnosti ve státní digitální služby o </a:t>
            </a:r>
            <a:r>
              <a:rPr lang="cs-CZ" b="1" i="0" u="none" strike="noStrike">
                <a:solidFill>
                  <a:srgbClr val="000000"/>
                </a:solidFill>
                <a:effectLst/>
              </a:rPr>
              <a:t>24 %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 (zdroj: </a:t>
            </a:r>
            <a:r>
              <a:rPr lang="cs-CZ" b="0" i="0" u="none" strike="noStrike" err="1">
                <a:solidFill>
                  <a:srgbClr val="000000"/>
                </a:solidFill>
                <a:effectLst/>
              </a:rPr>
              <a:t>MyData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cs-CZ" b="0" i="0" u="none" strike="noStrike" err="1">
                <a:solidFill>
                  <a:srgbClr val="000000"/>
                </a:solidFill>
                <a:effectLst/>
              </a:rPr>
              <a:t>Global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, 2023 report).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b="0" i="0" u="none" strike="noStrike">
                <a:solidFill>
                  <a:srgbClr val="000000"/>
                </a:solidFill>
                <a:effectLst/>
              </a:rPr>
              <a:t>Jednoduchost rozhraní a transparentnost snížila potřebu osobních návštěv úřadů o cca </a:t>
            </a:r>
            <a:r>
              <a:rPr lang="cs-CZ" b="1" i="0" u="none" strike="noStrike">
                <a:solidFill>
                  <a:srgbClr val="000000"/>
                </a:solidFill>
                <a:effectLst/>
              </a:rPr>
              <a:t>30 %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None/>
            </a:pPr>
            <a:r>
              <a:rPr lang="cs-CZ" b="1" i="0" u="none" strike="noStrike">
                <a:solidFill>
                  <a:srgbClr val="000000"/>
                </a:solidFill>
                <a:effectLst/>
              </a:rPr>
              <a:t>Poučení:</a:t>
            </a:r>
          </a:p>
          <a:p>
            <a:pPr algn="l"/>
            <a:r>
              <a:rPr lang="cs-CZ" b="0" i="0" u="none" strike="noStrike">
                <a:solidFill>
                  <a:srgbClr val="000000"/>
                </a:solidFill>
                <a:effectLst/>
              </a:rPr>
              <a:t>➡️ Zjednodušení přístupu k datům zvyšuje transparentnost a spokojenost uživatelů.</a:t>
            </a:r>
          </a:p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E9D14E7-5730-150E-E515-5B36EB49C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BD1E92C-3DCC-3401-3195-5C1819AA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806012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A664BB-2838-439B-4B9A-DC95F9F2C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b="1">
                <a:solidFill>
                  <a:srgbClr val="000000"/>
                </a:solidFill>
              </a:rPr>
              <a:t>🇳🇱 </a:t>
            </a:r>
            <a:r>
              <a:rPr lang="cs-CZ" b="1"/>
              <a:t>Nizozemsko: Digital </a:t>
            </a:r>
            <a:r>
              <a:rPr lang="cs-CZ" b="1" err="1"/>
              <a:t>Government</a:t>
            </a:r>
            <a:r>
              <a:rPr lang="cs-CZ" b="1"/>
              <a:t> Agenda</a:t>
            </a:r>
            <a:br>
              <a:rPr lang="cs-CZ" b="1"/>
            </a:b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6526396-082F-5AA9-319D-6A335EF61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cs-CZ" b="0" i="0" u="none" strike="noStrike">
                <a:solidFill>
                  <a:srgbClr val="000000"/>
                </a:solidFill>
                <a:effectLst/>
              </a:rPr>
              <a:t>Digitální agenda Nizozemska zdůrazňuje jednoduchost a uživatelskou přívětivost.</a:t>
            </a:r>
          </a:p>
          <a:p>
            <a:pPr algn="l">
              <a:buNone/>
            </a:pPr>
            <a:r>
              <a:rPr lang="cs-CZ" b="1" i="0" u="none" strike="noStrike">
                <a:solidFill>
                  <a:srgbClr val="000000"/>
                </a:solidFill>
                <a:effectLst/>
              </a:rPr>
              <a:t>Výsledky: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b="1" i="0" u="none" strike="noStrike">
                <a:solidFill>
                  <a:srgbClr val="000000"/>
                </a:solidFill>
                <a:effectLst/>
              </a:rPr>
              <a:t>100 %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 základních vládních služeb dostupných online.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b="0" i="0" u="none" strike="noStrike">
                <a:solidFill>
                  <a:srgbClr val="000000"/>
                </a:solidFill>
                <a:effectLst/>
              </a:rPr>
              <a:t>Elektronická identita </a:t>
            </a:r>
            <a:r>
              <a:rPr lang="cs-CZ" b="0" i="0" u="none" strike="noStrike" err="1">
                <a:solidFill>
                  <a:srgbClr val="000000"/>
                </a:solidFill>
                <a:effectLst/>
              </a:rPr>
              <a:t>DigiD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 využívá </a:t>
            </a:r>
            <a:r>
              <a:rPr lang="cs-CZ" b="1" i="0" u="none" strike="noStrike">
                <a:solidFill>
                  <a:srgbClr val="000000"/>
                </a:solidFill>
                <a:effectLst/>
              </a:rPr>
              <a:t>90 % populace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 pro přístup ke státním službám.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cs-CZ" b="0" i="0" u="none" strike="noStrike">
                <a:solidFill>
                  <a:srgbClr val="000000"/>
                </a:solidFill>
                <a:effectLst/>
              </a:rPr>
              <a:t>Zkrácení průměrné doby přihlášení k eGovernment službám z 5 minut na </a:t>
            </a:r>
            <a:r>
              <a:rPr lang="cs-CZ" b="1" i="0" u="none" strike="noStrike">
                <a:solidFill>
                  <a:srgbClr val="000000"/>
                </a:solidFill>
                <a:effectLst/>
              </a:rPr>
              <a:t>méně než 1 minutu</a:t>
            </a:r>
            <a:r>
              <a:rPr lang="cs-CZ" b="0" i="0" u="none" strike="noStrike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None/>
            </a:pPr>
            <a:r>
              <a:rPr lang="cs-CZ" b="1" i="0" u="none" strike="noStrike">
                <a:solidFill>
                  <a:srgbClr val="000000"/>
                </a:solidFill>
                <a:effectLst/>
              </a:rPr>
              <a:t>Poučení:</a:t>
            </a:r>
          </a:p>
          <a:p>
            <a:pPr algn="l"/>
            <a:r>
              <a:rPr lang="cs-CZ" b="0" i="0" u="none" strike="noStrike">
                <a:solidFill>
                  <a:srgbClr val="000000"/>
                </a:solidFill>
                <a:effectLst/>
              </a:rPr>
              <a:t>➡️ Jednoduché a jednotné přihlašování do státních systémů výrazně zvyšuje používání těchto služeb.</a:t>
            </a:r>
          </a:p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E8B383E-1F2C-4DC6-62C7-AEB05D8CB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FDC4482-5F9E-3F80-6815-85FEC4922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419145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B4EFC-0400-1A9F-E6FC-B93F5AEBF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5CA5349D-F138-56FF-F42B-5DFB5A64C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Argumenty PRO zjednodušování</a:t>
            </a:r>
            <a:br>
              <a:rPr lang="cs-CZ"/>
            </a:br>
            <a:endParaRPr lang="cs-CZ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7AC3950-DFA4-B9A9-ACDA-C32B627E4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✅ Nižší náklady a snadnější údržba</a:t>
            </a:r>
          </a:p>
          <a:p>
            <a:r>
              <a:rPr lang="cs-CZ"/>
              <a:t>✅ Vyšší bezpečnost a stabilita</a:t>
            </a:r>
          </a:p>
          <a:p>
            <a:r>
              <a:rPr lang="cs-CZ"/>
              <a:t>✅ Rychlejší implementace změn</a:t>
            </a:r>
          </a:p>
          <a:p>
            <a:r>
              <a:rPr lang="cs-CZ"/>
              <a:t>✅ Vyšší spokojenost občanů</a:t>
            </a:r>
          </a:p>
          <a:p>
            <a:r>
              <a:rPr lang="cs-CZ"/>
              <a:t>✅ Transparentnost procesů</a:t>
            </a:r>
          </a:p>
        </p:txBody>
      </p:sp>
    </p:spTree>
    <p:extLst>
      <p:ext uri="{BB962C8B-B14F-4D97-AF65-F5344CB8AC3E}">
        <p14:creationId xmlns:p14="http://schemas.microsoft.com/office/powerpoint/2010/main" val="15780067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6F206-51A1-F4E8-9E3F-2DB3971A4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850B7F2E-4BE7-C65C-0251-CFF23BDA4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Rizika a výzvy</a:t>
            </a:r>
            <a:br>
              <a:rPr lang="cs-CZ"/>
            </a:br>
            <a:endParaRPr lang="cs-CZ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8400697-7703-0528-D235-D3F2B658F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⚠️ Přílišné zjednodušení může snížit funkčnost</a:t>
            </a:r>
          </a:p>
          <a:p>
            <a:r>
              <a:rPr lang="cs-CZ"/>
              <a:t>⚠️ Závislost na externích integracích</a:t>
            </a:r>
          </a:p>
          <a:p>
            <a:r>
              <a:rPr lang="cs-CZ"/>
              <a:t>⚠️ Možnost podcenění dlouhodobých nákladů</a:t>
            </a:r>
          </a:p>
          <a:p>
            <a:r>
              <a:rPr lang="cs-CZ"/>
              <a:t>⚠️ Nutnost správného nastavení právních a regulatorních rámců</a:t>
            </a:r>
          </a:p>
        </p:txBody>
      </p:sp>
    </p:spTree>
    <p:extLst>
      <p:ext uri="{BB962C8B-B14F-4D97-AF65-F5344CB8AC3E}">
        <p14:creationId xmlns:p14="http://schemas.microsoft.com/office/powerpoint/2010/main" val="7670029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56B248-3DB7-E4C9-F934-6D1D6D951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Zjednodušené formuláře_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529D04E-059D-754A-542C-952A51DEE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Až 80% formulářů vyžaduje pouze základní údaje:</a:t>
            </a:r>
          </a:p>
          <a:p>
            <a:pPr marL="630900" lvl="1" indent="-342900">
              <a:buFont typeface="+mj-lt"/>
              <a:buAutoNum type="arabicPeriod"/>
            </a:pPr>
            <a:r>
              <a:rPr lang="cs-CZ"/>
              <a:t>Název služby</a:t>
            </a:r>
          </a:p>
          <a:p>
            <a:pPr marL="630900" lvl="1" indent="-342900">
              <a:buFont typeface="+mj-lt"/>
              <a:buAutoNum type="arabicPeriod"/>
            </a:pPr>
            <a:r>
              <a:rPr lang="cs-CZ"/>
              <a:t>Ztotožnění uživatele</a:t>
            </a:r>
          </a:p>
          <a:p>
            <a:pPr marL="630900" lvl="1" indent="-342900">
              <a:buFont typeface="+mj-lt"/>
              <a:buAutoNum type="arabicPeriod"/>
            </a:pPr>
            <a:r>
              <a:rPr lang="cs-CZ"/>
              <a:t>Zastupování</a:t>
            </a:r>
          </a:p>
          <a:p>
            <a:pPr marL="630900" lvl="1" indent="-342900">
              <a:buFont typeface="+mj-lt"/>
              <a:buAutoNum type="arabicPeriod"/>
            </a:pPr>
            <a:r>
              <a:rPr lang="cs-CZ"/>
              <a:t>Pět údajů</a:t>
            </a:r>
          </a:p>
          <a:p>
            <a:pPr marL="630900" lvl="1" indent="-342900">
              <a:buFont typeface="+mj-lt"/>
              <a:buAutoNum type="arabicPeriod"/>
            </a:pPr>
            <a:r>
              <a:rPr lang="cs-CZ"/>
              <a:t>Volný text</a:t>
            </a:r>
          </a:p>
          <a:p>
            <a:pPr marL="630900" lvl="1" indent="-342900">
              <a:buFont typeface="+mj-lt"/>
              <a:buAutoNum type="arabicPeriod"/>
            </a:pPr>
            <a:r>
              <a:rPr lang="cs-CZ"/>
              <a:t>Pět příloh</a:t>
            </a:r>
          </a:p>
          <a:p>
            <a:pPr marL="630900" lvl="1" indent="-342900">
              <a:buFont typeface="+mj-lt"/>
              <a:buAutoNum type="arabicPeriod"/>
            </a:pPr>
            <a:r>
              <a:rPr lang="cs-CZ"/>
              <a:t>GDPR a prohlášení</a:t>
            </a:r>
          </a:p>
          <a:p>
            <a:pPr marL="342900" indent="-342900">
              <a:buFont typeface="+mj-lt"/>
              <a:buAutoNum type="arabicPeriod"/>
            </a:pP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541206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A679E2-57F6-6F0C-08A7-C4C4C5C20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Zjednodušený Registr zastoupení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BEBAB63-BE6A-FD29-8249-843231E55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>
                <a:latin typeface="Arial"/>
                <a:cs typeface="Arial"/>
              </a:rPr>
              <a:t>Až 90% plných mocí je velmi jednoduchých, zástupce právnické osoby pověřuje zaměstnance k zastupování v rámci určité agendy</a:t>
            </a:r>
          </a:p>
          <a:p>
            <a:r>
              <a:rPr lang="cs-CZ">
                <a:latin typeface="Arial"/>
                <a:cs typeface="Arial"/>
              </a:rPr>
              <a:t>Stačí jeden </a:t>
            </a:r>
            <a:r>
              <a:rPr lang="cs-CZ" err="1">
                <a:latin typeface="Arial"/>
                <a:cs typeface="Arial"/>
              </a:rPr>
              <a:t>template</a:t>
            </a:r>
            <a:r>
              <a:rPr lang="cs-CZ">
                <a:latin typeface="Arial"/>
                <a:cs typeface="Arial"/>
              </a:rPr>
              <a:t> a základní údaje</a:t>
            </a:r>
          </a:p>
          <a:p>
            <a:pPr marL="630555" lvl="1" indent="-342900">
              <a:buAutoNum type="arabicPeriod"/>
            </a:pPr>
            <a:r>
              <a:rPr lang="cs-CZ">
                <a:latin typeface="Arial"/>
                <a:cs typeface="Arial"/>
              </a:rPr>
              <a:t>Agenda</a:t>
            </a:r>
          </a:p>
          <a:p>
            <a:pPr marL="630555" lvl="1" indent="-342900">
              <a:buAutoNum type="arabicPeriod"/>
            </a:pPr>
            <a:r>
              <a:rPr lang="cs-CZ">
                <a:latin typeface="Arial"/>
                <a:cs typeface="Arial"/>
              </a:rPr>
              <a:t>Služba</a:t>
            </a:r>
          </a:p>
          <a:p>
            <a:pPr marL="630555" lvl="1" indent="-342900">
              <a:buAutoNum type="arabicPeriod"/>
            </a:pPr>
            <a:r>
              <a:rPr lang="cs-CZ">
                <a:latin typeface="Arial"/>
                <a:cs typeface="Arial"/>
              </a:rPr>
              <a:t>OVM</a:t>
            </a:r>
          </a:p>
          <a:p>
            <a:pPr marL="630555" lvl="1" indent="-342900">
              <a:buAutoNum type="arabicPeriod"/>
            </a:pPr>
            <a:r>
              <a:rPr lang="cs-CZ">
                <a:latin typeface="Arial"/>
                <a:cs typeface="Arial"/>
              </a:rPr>
              <a:t>Od kdy do kdy	 	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03EE4A7-3724-32A3-F6FF-D23A9663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0BCAF1D-1E8C-A8E2-5FF1-183B60A4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183925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63CD43-2844-4540-23B9-2BC63F1B8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Zjednodušené zpřístupnění údajů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CDE2FF9-CD55-A5D8-FD8B-6309338E4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Základem všeho je číselník napojený na Informační systém sdílených souborů</a:t>
            </a:r>
          </a:p>
          <a:p>
            <a:r>
              <a:rPr lang="cs-CZ"/>
              <a:t>Stačí znáte strukturu dat a zajistit aktualizaci číselníku</a:t>
            </a:r>
          </a:p>
          <a:p>
            <a:r>
              <a:rPr lang="cs-CZ"/>
              <a:t>Číselník zajistí kontexty a zpřístupnění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0347059-7D37-02BB-289E-F627CAF72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CE5F7AA-93B0-B0F3-491F-2938C954D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50070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393D17-DB3F-D4D1-2678-6555E7960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Zjednodušené získávání dat pomocí AI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CBB9B7C-9B5E-8A8E-6A19-EA9C781D6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Základem komunikace OVM uživatel je sběr standardních strukturovaných dat – tedy vyplňování „Formulářů“</a:t>
            </a:r>
          </a:p>
          <a:p>
            <a:r>
              <a:rPr lang="cs-CZ"/>
              <a:t>Pokud AI má dostupné základní informace:</a:t>
            </a:r>
          </a:p>
          <a:p>
            <a:pPr lvl="1"/>
            <a:r>
              <a:rPr lang="cs-CZ"/>
              <a:t>Název položky</a:t>
            </a:r>
          </a:p>
          <a:p>
            <a:pPr lvl="1"/>
            <a:r>
              <a:rPr lang="cs-CZ"/>
              <a:t>Formát</a:t>
            </a:r>
          </a:p>
          <a:p>
            <a:pPr lvl="1"/>
            <a:r>
              <a:rPr lang="cs-CZ"/>
              <a:t>Povinnost</a:t>
            </a:r>
          </a:p>
          <a:p>
            <a:pPr lvl="1"/>
            <a:r>
              <a:rPr lang="cs-CZ"/>
              <a:t>Nápovědu</a:t>
            </a:r>
          </a:p>
          <a:p>
            <a:r>
              <a:rPr lang="cs-CZ"/>
              <a:t>Dokáže pomocí přirozené řeči získat standardní strukturovaná data například ve formátu JSON</a:t>
            </a:r>
          </a:p>
          <a:p>
            <a:r>
              <a:rPr lang="cs-CZ"/>
              <a:t>Viz. </a:t>
            </a:r>
            <a:r>
              <a:rPr lang="cs-CZ" err="1"/>
              <a:t>Proove</a:t>
            </a:r>
            <a:r>
              <a:rPr lang="cs-CZ"/>
              <a:t> </a:t>
            </a:r>
            <a:r>
              <a:rPr lang="cs-CZ" err="1"/>
              <a:t>of</a:t>
            </a:r>
            <a:r>
              <a:rPr lang="cs-CZ"/>
              <a:t> </a:t>
            </a:r>
            <a:r>
              <a:rPr lang="cs-CZ" err="1"/>
              <a:t>concept</a:t>
            </a:r>
            <a:r>
              <a:rPr lang="cs-CZ"/>
              <a:t> jehož výsledky jsou k dispozici pro všechny OVM 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11D2B77-7C33-6D98-73F5-0455B36CF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BF485C0-DE68-B658-D5EE-C68ED48C5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10022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B23A3-6980-D838-B012-3556169F2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CD034E9D-EA78-06E2-12FC-8FD97CB8E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Doporučení_</a:t>
            </a:r>
            <a:br>
              <a:rPr lang="cs-CZ"/>
            </a:br>
            <a:endParaRPr lang="cs-CZ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F931D2E-5F6B-1548-20AD-E62F9B65A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/>
              <a:t>Zjednodušovat s rozmyslem — modularita, ne zbytečné osekaní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/>
              <a:t>Používat MVP přístup — rychlé pilotní verze + zpětná vazba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/>
              <a:t>Inspirace z Evropy — X-</a:t>
            </a:r>
            <a:r>
              <a:rPr lang="cs-CZ" err="1"/>
              <a:t>Road</a:t>
            </a:r>
            <a:r>
              <a:rPr lang="cs-CZ"/>
              <a:t>, </a:t>
            </a:r>
            <a:r>
              <a:rPr lang="cs-CZ" err="1"/>
              <a:t>MyData</a:t>
            </a:r>
            <a:r>
              <a:rPr lang="cs-CZ"/>
              <a:t>, </a:t>
            </a:r>
            <a:r>
              <a:rPr lang="cs-CZ" err="1"/>
              <a:t>DigiD</a:t>
            </a:r>
            <a:endParaRPr lang="cs-CZ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/>
              <a:t>Spolupráce napříč institucemi — sdílení dat a systémů</a:t>
            </a:r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145466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DA2A0-F38E-8367-BDD3-79B873400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adpis 2">
            <a:extLst>
              <a:ext uri="{FF2B5EF4-FFF2-40B4-BE49-F238E27FC236}">
                <a16:creationId xmlns:a16="http://schemas.microsoft.com/office/drawing/2014/main" id="{62A55717-44DB-E6E7-A9CF-E74F667F2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Závěr</a:t>
            </a:r>
            <a:br>
              <a:rPr lang="cs-CZ"/>
            </a:br>
            <a:endParaRPr lang="cs-CZ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16EB9E8-B6D3-4156-194F-AAD97AE7E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➡️ Zjednodušení je klíčem k efektivitě, bezpečnosti a spokojenosti uživatelů.</a:t>
            </a:r>
          </a:p>
          <a:p>
            <a:r>
              <a:rPr lang="cs-CZ"/>
              <a:t>➡️ Úspěšné evropské příklady dokazují, že jde o realistickou cestu i pro Česko.</a:t>
            </a:r>
          </a:p>
          <a:p>
            <a:endParaRPr lang="cs-CZ"/>
          </a:p>
          <a:p>
            <a:endParaRPr lang="cs-CZ"/>
          </a:p>
          <a:p>
            <a:r>
              <a:rPr lang="cs-CZ" i="1"/>
              <a:t>"Komplexita je nepřítel bezpečnosti a efektivity." — OWASP</a:t>
            </a:r>
          </a:p>
        </p:txBody>
      </p:sp>
    </p:spTree>
    <p:extLst>
      <p:ext uri="{BB962C8B-B14F-4D97-AF65-F5344CB8AC3E}">
        <p14:creationId xmlns:p14="http://schemas.microsoft.com/office/powerpoint/2010/main" val="28042878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A34D1E-29A6-6EDF-4D07-974A55528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Zaměstnanci ve státní správě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B766FDC9-7296-6BBE-63FF-827E1B4CA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01" y="1043387"/>
            <a:ext cx="10651742" cy="5635515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0933997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38381D17-4ED9-E0DD-C6C8-5791AB6E8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Děkuji za pozornost_</a:t>
            </a:r>
          </a:p>
        </p:txBody>
      </p:sp>
      <p:sp>
        <p:nvSpPr>
          <p:cNvPr id="6" name="Podnadpis 5">
            <a:extLst>
              <a:ext uri="{FF2B5EF4-FFF2-40B4-BE49-F238E27FC236}">
                <a16:creationId xmlns:a16="http://schemas.microsoft.com/office/drawing/2014/main" id="{E39FB015-3C1B-978A-0D3B-EC9DF736DB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/>
              <a:t>Prostor pro vaše dotazy</a:t>
            </a: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6D200979-162A-B5B5-F758-5BF89E7F9E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cs-CZ"/>
              <a:t>Jan Petr</a:t>
            </a:r>
          </a:p>
          <a:p>
            <a:r>
              <a:rPr lang="cs-CZ" err="1"/>
              <a:t>jan.petr@dia.gov.cz</a:t>
            </a:r>
            <a:endParaRPr lang="cs-CZ"/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05156505"/>
      </p:ext>
    </p:extLst>
  </p:cSld>
  <p:clrMapOvr>
    <a:masterClrMapping/>
  </p:clrMapOvr>
</p:sld>
</file>

<file path=ppt/theme/theme1.xml><?xml version="1.0" encoding="utf-8"?>
<a:theme xmlns:a="http://schemas.openxmlformats.org/drawingml/2006/main" name="DIA_ nadpis a text s odrážkami">
  <a:themeElements>
    <a:clrScheme name="Vlastní 1">
      <a:dk1>
        <a:srgbClr val="000000"/>
      </a:dk1>
      <a:lt1>
        <a:srgbClr val="FFFFFF"/>
      </a:lt1>
      <a:dk2>
        <a:srgbClr val="2E2C2B"/>
      </a:dk2>
      <a:lt2>
        <a:srgbClr val="DCDCDC"/>
      </a:lt2>
      <a:accent1>
        <a:srgbClr val="368537"/>
      </a:accent1>
      <a:accent2>
        <a:srgbClr val="35398E"/>
      </a:accent2>
      <a:accent3>
        <a:srgbClr val="2E2C2B"/>
      </a:accent3>
      <a:accent4>
        <a:srgbClr val="BDBCBC"/>
      </a:accent4>
      <a:accent5>
        <a:srgbClr val="C52A3A"/>
      </a:accent5>
      <a:accent6>
        <a:srgbClr val="757575"/>
      </a:accent6>
      <a:hlink>
        <a:srgbClr val="45AC48"/>
      </a:hlink>
      <a:folHlink>
        <a:srgbClr val="35398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 anchor="t" anchorCtr="0">
        <a:normAutofit/>
      </a:bodyPr>
      <a:lstStyle>
        <a:defPPr algn="l">
          <a:defRPr sz="1800" dirty="0" smtClean="0">
            <a:solidFill>
              <a:srgbClr val="2E2D2C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zentace3" id="{BE708AF8-05F3-634E-9F7B-2588D644F313}" vid="{8AE40BDA-163F-A14A-B1A0-4A4B9572C5E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8dad52094ef21a7bcd360097e82d926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ede8f4a97788e86423fce8fc79d6cf0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a559f6-78cc-4fcb-80ce-aeceb24eab07">
      <Terms xmlns="http://schemas.microsoft.com/office/infopath/2007/PartnerControls"/>
    </lcf76f155ced4ddcb4097134ff3c332f>
    <TaxCatchAll xmlns="dedea830-d126-41b7-9f69-5dc598a679e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5B5B45-C85C-416E-8C5F-8F6E3C7EF1D5}"/>
</file>

<file path=customXml/itemProps2.xml><?xml version="1.0" encoding="utf-8"?>
<ds:datastoreItem xmlns:ds="http://schemas.openxmlformats.org/officeDocument/2006/customXml" ds:itemID="{BFFC4A16-FB80-4302-ABCF-BFA1C75DBE66}">
  <ds:schemaRefs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dcmitype/"/>
    <ds:schemaRef ds:uri="0f7720ff-53f2-424f-bdbf-9f2258d7a7d5"/>
    <ds:schemaRef ds:uri="60eff747-50e2-4621-8df6-458c8151a505"/>
  </ds:schemaRefs>
</ds:datastoreItem>
</file>

<file path=customXml/itemProps3.xml><?xml version="1.0" encoding="utf-8"?>
<ds:datastoreItem xmlns:ds="http://schemas.openxmlformats.org/officeDocument/2006/customXml" ds:itemID="{B923D26E-0541-4DA0-A477-5C8C6F0940A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DIA_ nadpis a text s odrážkami</Template>
  <TotalTime>9</TotalTime>
  <Words>1912</Words>
  <Application>Microsoft Macintosh PowerPoint</Application>
  <PresentationFormat>Širokoúhlá obrazovka</PresentationFormat>
  <Paragraphs>266</Paragraphs>
  <Slides>33</Slides>
  <Notes>2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33</vt:i4>
      </vt:variant>
    </vt:vector>
  </HeadingPairs>
  <TitlesOfParts>
    <vt:vector size="39" baseType="lpstr">
      <vt:lpstr>-webkit-standard</vt:lpstr>
      <vt:lpstr>Arial</vt:lpstr>
      <vt:lpstr>Azeret Mono</vt:lpstr>
      <vt:lpstr>Azeret Mono Medium</vt:lpstr>
      <vt:lpstr>Wingdings</vt:lpstr>
      <vt:lpstr>DIA_ nadpis a text s odrážkami</vt:lpstr>
      <vt:lpstr>Jak nepřiměřenou zátěž změnit v přiměřenou</vt:lpstr>
      <vt:lpstr>Nepřiměřená zátěž Digitální služby</vt:lpstr>
      <vt:lpstr>Digitální služba</vt:lpstr>
      <vt:lpstr>Jak nepřiměřenou zátěž změnit v přiměřenou?</vt:lpstr>
      <vt:lpstr>Příklad</vt:lpstr>
      <vt:lpstr>Definovaná Omezení</vt:lpstr>
      <vt:lpstr>Vytvoření formuláře a implementace</vt:lpstr>
      <vt:lpstr>Recept jak změnit nepřiměřenou zátěž v přiměřenou</vt:lpstr>
      <vt:lpstr>Základní principy</vt:lpstr>
      <vt:lpstr>Hlavní zásada: Znovupoužitelnost komponent a funkcionalit </vt:lpstr>
      <vt:lpstr>ZoPDS proces – formulářová komponenta</vt:lpstr>
      <vt:lpstr>Digitální služba dle ZOPDS</vt:lpstr>
      <vt:lpstr>Hlavní zásada: Znovupoužitelnost komponent a funkcionalit </vt:lpstr>
      <vt:lpstr>Výhody oddělení dat a prezentační vrstvy  </vt:lpstr>
      <vt:lpstr>Výhody oddělení dat a prezentační vrstvY  </vt:lpstr>
      <vt:lpstr>Nevýhody oddělení dat a prezentační vrstvy  </vt:lpstr>
      <vt:lpstr>Zjednodušování vývoje aplikací ve veřejné správě Jak zjednodušení procesů šetří čas, peníze a zvyšuje důvěru občanů</vt:lpstr>
      <vt:lpstr>Proč zjednodušovat</vt:lpstr>
      <vt:lpstr>Příklady z Evropy</vt:lpstr>
      <vt:lpstr>🇪🇪 Estonsko: e-Estonia </vt:lpstr>
      <vt:lpstr>🇩🇰 Dánsko: Digitální strategie 2016–2020 </vt:lpstr>
      <vt:lpstr>🇫🇮 Finsko: MyData </vt:lpstr>
      <vt:lpstr>🇳🇱 Nizozemsko: Digital Government Agenda </vt:lpstr>
      <vt:lpstr>Argumenty PRO zjednodušování </vt:lpstr>
      <vt:lpstr>Rizika a výzvy </vt:lpstr>
      <vt:lpstr>Zjednodušené formuláře_</vt:lpstr>
      <vt:lpstr>Zjednodušený Registr zastoupení</vt:lpstr>
      <vt:lpstr>Zjednodušené zpřístupnění údajů</vt:lpstr>
      <vt:lpstr>Zjednodušené získávání dat pomocí AI</vt:lpstr>
      <vt:lpstr>Doporučení_ </vt:lpstr>
      <vt:lpstr>Závěr </vt:lpstr>
      <vt:lpstr>Zaměstnanci ve státní správě</vt:lpstr>
      <vt:lpstr>Děkuji za pozornost_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Výchozí šablona pro prezentace</dc:subject>
  <dc:creator>Petr Jan</dc:creator>
  <cp:keywords>PPT prezentace šablona DIA PowerPoint</cp:keywords>
  <dc:description/>
  <cp:lastModifiedBy>Petr Jan</cp:lastModifiedBy>
  <cp:revision>1</cp:revision>
  <dcterms:created xsi:type="dcterms:W3CDTF">2024-11-22T06:29:38Z</dcterms:created>
  <dcterms:modified xsi:type="dcterms:W3CDTF">2025-05-05T06:23:23Z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  <property fmtid="{D5CDD505-2E9C-101B-9397-08002B2CF9AE}" pid="3" name="MediaServiceImageTags">
    <vt:lpwstr/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2025-04-10T12:20:10Z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5b6b85cd-44ef-4d66-86d4-603dd2160780</vt:lpwstr>
  </property>
  <property fmtid="{D5CDD505-2E9C-101B-9397-08002B2CF9AE}" pid="9" name="MSIP_Label_defa4170-0d19-0005-0004-bc88714345d2_ActionId">
    <vt:lpwstr>a2d8e465-2e67-489c-bf05-fd17198c7476</vt:lpwstr>
  </property>
  <property fmtid="{D5CDD505-2E9C-101B-9397-08002B2CF9AE}" pid="10" name="MSIP_Label_defa4170-0d19-0005-0004-bc88714345d2_ContentBits">
    <vt:lpwstr>0</vt:lpwstr>
  </property>
  <property fmtid="{D5CDD505-2E9C-101B-9397-08002B2CF9AE}" pid="11" name="MSIP_Label_defa4170-0d19-0005-0004-bc88714345d2_Tag">
    <vt:lpwstr>10, 3, 0, 2</vt:lpwstr>
  </property>
</Properties>
</file>
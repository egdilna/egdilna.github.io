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3854A-C3E1-43E0-B528-35198DFAA69B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D1E1E-FA81-4252-818A-EF90BE9E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0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CD1E1E-FA81-4252-818A-EF90BE9E28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40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D5B3-BA87-19FD-53A9-C08B34004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FE30B-F21E-5D21-5AFA-31B516D32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220DA-F375-62DA-446C-F0FC9A0E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DD8B-40D1-79F4-9F78-FD72A4FC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FCC8C-C805-8535-A65B-1D021B69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0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D0C3-12EF-61E9-F2D5-84102D9B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24C8-C716-A3E2-0010-C7F340501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1FF53-B8A8-FFBE-524C-89F5EA16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2182B-5099-8713-BB99-8C10AD3A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85A64-3DD1-AF72-EACF-0285AA75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9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AF56-B9C1-B8AD-FA51-D9C77E9D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2CA30-DB27-7D17-B184-945CBC062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7DF9A-D1B0-4E97-D088-0506BC2D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0692C-8B76-CF6A-ABFB-1D697510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663A8-101B-497C-8DCF-9D5F18B7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3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63D5-526A-F2E6-A551-59BD5180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572D-4B5F-1531-1501-A6BD6F037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23214-1177-F3EA-7EB0-C624ACA56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4349E-E987-BFB0-DEBD-E0736088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1E195-0C28-0B6A-733D-E2A61F83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A8F9C-D66E-4B6F-0A81-A3318C96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10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6719-C07D-48A5-C4B6-DE678A89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B7152-FD23-B1A8-1DC7-15A787063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3AD51-6D95-7FC7-DAD9-421F8A8C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E2655-5EC1-761E-93F3-36A559D29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DF2FB-6D47-D347-9B1C-D43734484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73C4E-B045-1DD1-8A36-A3534B15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8F56C-94C2-9110-9837-EB39A20F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AE211-163B-F715-23D2-146AC868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3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61B0-0F1F-B557-F538-471DE880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26398-15D5-D807-5868-712BFFED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5A783-7037-3A27-0F66-6940E0D7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7B936-2CD9-5D27-90B0-C41D987B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3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E7D32-8EB0-9B0E-1097-A4021058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23A43-B750-E04F-F1B1-E4FE48AA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0286A-D831-F730-080C-3579889A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FC6C-2ADE-E08A-DCA3-69809F52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E6965-6946-51F8-B488-4CAAC4F3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3B703-8324-CE69-A028-D1EF4D8A9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82B7A-AF2D-5DC5-090B-2CF750F6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06640-E6D1-5B1E-2EFD-56AE65FA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B00F1-227D-EC70-2B8E-4BDAF30B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7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052A-487C-D5A3-DFE5-5343607AE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34198-A007-1B65-BC85-C4BDF6BBE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FFBF2-4240-1846-2307-CF3796ABE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5856B-4B0C-5420-2FB5-32CA8B925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2E0C1-BD8A-6117-008A-BD52A771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6F333-3D2B-B55A-20DE-B0251296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7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6AF6-72E1-9AC2-7B87-60AC6C45B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3E534-2B25-7B92-F97C-755276EC9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7ABF-1CA1-2287-9017-F8022AD0E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33E7C-BB87-1AAF-3A67-3EFA58EB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CF21C-FF6C-3F88-8A25-FB232DD6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3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80413-4E81-C451-E196-C3209CCB1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1F7A2-4CE7-1E69-3AAC-86F024C43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11D2E-F922-9ED6-DBB9-3B25B4A0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B9BE5-16F9-850C-DCA7-387B4037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F7C8-83F8-E595-72C5-A6A3BC3E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97EDE-454E-0A02-114B-0AA7DB211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1C26A-7BC9-3F17-0446-DF6CC56CA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42739-FCFD-F1F1-5B30-C0E9F0524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AB6B7-AA24-4BF5-8A21-28DF5E035807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7EA9-F8E0-7ADC-37CC-474FD99E9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D2C6C-06E6-E7AB-5999-747EBB521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F7CF1-D1E8-4BA7-821C-D8440A52B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6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7E5B7-EE28-2DE3-EAEF-2702ED67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cs-CZ" sz="5400" dirty="0"/>
              <a:t>NIA</a:t>
            </a:r>
            <a:endParaRPr lang="en-US" sz="5400" dirty="0"/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EE08D-6FE6-35E4-5B38-B0385121A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cs-CZ" sz="2200" dirty="0"/>
              <a:t>Dvě datová centra</a:t>
            </a:r>
          </a:p>
          <a:p>
            <a:r>
              <a:rPr lang="cs-CZ" sz="2200" dirty="0"/>
              <a:t>Řízení provozu přes NLB</a:t>
            </a:r>
          </a:p>
          <a:p>
            <a:r>
              <a:rPr lang="cs-CZ" sz="2200" dirty="0"/>
              <a:t>Servery pro příjem vstupních požadavků</a:t>
            </a:r>
          </a:p>
          <a:p>
            <a:r>
              <a:rPr lang="cs-CZ" sz="2200" dirty="0"/>
              <a:t>V každém DC dva nezávislé klastry pro provoz mikro služeb</a:t>
            </a:r>
          </a:p>
          <a:p>
            <a:r>
              <a:rPr lang="cs-CZ" sz="2200" dirty="0"/>
              <a:t>Replikované databáze</a:t>
            </a:r>
            <a:endParaRPr lang="en-US" sz="2200" dirty="0"/>
          </a:p>
        </p:txBody>
      </p:sp>
      <p:pic>
        <p:nvPicPr>
          <p:cNvPr id="1026" name="Picture 21">
            <a:extLst>
              <a:ext uri="{FF2B5EF4-FFF2-40B4-BE49-F238E27FC236}">
                <a16:creationId xmlns:a16="http://schemas.microsoft.com/office/drawing/2014/main" id="{1A4218F0-6460-8FC5-426F-78F2D81D5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3225" y="640080"/>
            <a:ext cx="648586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584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A4984-033B-9D3A-A105-BF3988CA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000"/>
              <a:t>Vyhodnocování telemetrie</a:t>
            </a:r>
            <a:endParaRPr lang="en-US" sz="5000"/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27F4-CF3A-3664-6E18-2300DCD6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cs-CZ" sz="1800" dirty="0">
                <a:latin typeface="Aptos" panose="020B0004020202020204" pitchFamily="34" charset="0"/>
              </a:rPr>
              <a:t>Graf ukazuje porovnání běžného provozu na NIA a dva dny špiček při spuštění aplikace </a:t>
            </a:r>
            <a:r>
              <a:rPr lang="cs-CZ" sz="1800" dirty="0" err="1">
                <a:latin typeface="Aptos" panose="020B0004020202020204" pitchFamily="34" charset="0"/>
              </a:rPr>
              <a:t>eDoklady</a:t>
            </a:r>
            <a:endParaRPr lang="cs-CZ" sz="1800" dirty="0">
              <a:latin typeface="Aptos" panose="020B0004020202020204" pitchFamily="34" charset="0"/>
            </a:endParaRPr>
          </a:p>
          <a:p>
            <a:r>
              <a:rPr lang="cs-CZ" sz="1800" dirty="0">
                <a:latin typeface="Aptos" panose="020B0004020202020204" pitchFamily="34" charset="0"/>
              </a:rPr>
              <a:t>Tzv. bazální stav NIA </a:t>
            </a:r>
            <a:r>
              <a:rPr lang="cs-C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ve všední den je něco mezi  150 000 – 200 000 vstupních požadavků/ hodina na NIA. Neboli 55 požadavků/sekundu. </a:t>
            </a:r>
          </a:p>
          <a:p>
            <a:r>
              <a:rPr lang="cs-C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 kritických špičkách při spuštění </a:t>
            </a:r>
            <a:r>
              <a:rPr lang="cs-CZ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eDokladů</a:t>
            </a:r>
            <a:r>
              <a:rPr lang="cs-C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přicházelo na NIA až 650 000 požadavků/hodinu (180 požadavků/sekundu). </a:t>
            </a:r>
          </a:p>
          <a:p>
            <a:endParaRPr lang="en-US" sz="1100" dirty="0"/>
          </a:p>
          <a:p>
            <a:endParaRPr lang="en-US" sz="2200" dirty="0"/>
          </a:p>
        </p:txBody>
      </p:sp>
      <p:pic>
        <p:nvPicPr>
          <p:cNvPr id="2050" name="Picture 3" descr="A graph with blue lines&#10;&#10;Description automatically generated">
            <a:extLst>
              <a:ext uri="{FF2B5EF4-FFF2-40B4-BE49-F238E27FC236}">
                <a16:creationId xmlns:a16="http://schemas.microsoft.com/office/drawing/2014/main" id="{EDBB3AA7-2534-64AF-5CF6-59AE7A285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2071081"/>
            <a:ext cx="5458968" cy="271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36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42E50-C4CB-2112-BF60-885A04EE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cs-CZ" sz="5400" dirty="0"/>
              <a:t>Detailní pohled na NIA v době přetížení</a:t>
            </a:r>
            <a:endParaRPr lang="en-US" sz="5400" dirty="0"/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BDCBC-3199-74FB-11D4-55C29AF02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cs-CZ" sz="2200" dirty="0"/>
              <a:t>Vyhodnocení kritických volání</a:t>
            </a:r>
          </a:p>
          <a:p>
            <a:r>
              <a:rPr lang="cs-CZ" sz="2200" dirty="0"/>
              <a:t>Zjištěny extrémní latence při volání mezi jednotlivými komponentami</a:t>
            </a:r>
          </a:p>
          <a:p>
            <a:r>
              <a:rPr lang="cs-CZ" sz="2200" dirty="0"/>
              <a:t>Vlastní zpracování v komponentách bylo rychlé a bez chyb</a:t>
            </a:r>
          </a:p>
          <a:p>
            <a:r>
              <a:rPr lang="cs-CZ" sz="2200" dirty="0"/>
              <a:t>Latence jednotlivých volání je hlavní příčinou přetížení</a:t>
            </a:r>
            <a:endParaRPr lang="en-US" sz="2200" dirty="0"/>
          </a:p>
        </p:txBody>
      </p:sp>
      <p:pic>
        <p:nvPicPr>
          <p:cNvPr id="3074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FE8AA354-BF7A-5F0D-0AA2-C8D2117CC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" b="-3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32C3A2A-F33D-6488-1B1B-A1EF1440F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533" y="4356989"/>
            <a:ext cx="5092070" cy="238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113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CC050-AB6E-026E-28C3-38642063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Nápravná opatření 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E6B2-AD8F-30F3-9D92-C04C1F8FF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sz="2200" dirty="0"/>
              <a:t>Přidání více serverů pro běh mikro služeb</a:t>
            </a:r>
          </a:p>
          <a:p>
            <a:r>
              <a:rPr lang="cs-CZ" sz="2200" dirty="0"/>
              <a:t>Změna parametrů pro spouštění kontejnerů </a:t>
            </a:r>
          </a:p>
          <a:p>
            <a:r>
              <a:rPr lang="cs-CZ" sz="2200" dirty="0"/>
              <a:t>Hlavní příčinou latencí volání bylo opakované spouštění Just In Time (JIT) překladače pro zpracování (</a:t>
            </a:r>
            <a:r>
              <a:rPr lang="cs-CZ" sz="2200" dirty="0" err="1"/>
              <a:t>serializace</a:t>
            </a:r>
            <a:r>
              <a:rPr lang="cs-CZ" sz="2200" dirty="0"/>
              <a:t> a </a:t>
            </a:r>
            <a:r>
              <a:rPr lang="cs-CZ" sz="2200" dirty="0" err="1"/>
              <a:t>deserializece</a:t>
            </a:r>
            <a:r>
              <a:rPr lang="cs-CZ" sz="2200" dirty="0"/>
              <a:t>) JSON zpráv</a:t>
            </a:r>
          </a:p>
          <a:p>
            <a:r>
              <a:rPr lang="cs-CZ" sz="2200" dirty="0"/>
              <a:t>Byly proveden takové úpravy kódu, aby nebylo nutné opakovaně spouštět JIT</a:t>
            </a:r>
          </a:p>
          <a:p>
            <a:r>
              <a:rPr lang="cs-CZ" sz="2200" dirty="0"/>
              <a:t>Pro některé operace byl JSON nahrazen jinými typy zpráv, které jsou na zpracování mnohem rychlejší</a:t>
            </a:r>
          </a:p>
          <a:p>
            <a:pPr marL="0" indent="0">
              <a:buNone/>
            </a:pPr>
            <a:endParaRPr lang="cs-CZ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551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C7017-9763-7330-7CE4-F7FC4CC1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Porovnání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výkonnosti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původního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41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nového</a:t>
            </a:r>
            <a:r>
              <a:rPr lang="en-US" sz="4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kódu</a:t>
            </a:r>
            <a:endParaRPr lang="en-US" sz="41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84FEA-D396-D76B-41D0-9F3FB19E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Komunikace mezi vstupními webovými servery a mikro službami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3" descr="A screenshot of a graph&#10;&#10;Description automatically generated">
            <a:extLst>
              <a:ext uri="{FF2B5EF4-FFF2-40B4-BE49-F238E27FC236}">
                <a16:creationId xmlns:a16="http://schemas.microsoft.com/office/drawing/2014/main" id="{A8CC5D83-E810-25E8-4AA3-36BD5AC79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3236" y="2486652"/>
            <a:ext cx="10544782" cy="427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299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C7017-9763-7330-7CE4-F7FC4CC1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Porovnání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výkonnosti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původního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41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nového</a:t>
            </a:r>
            <a:r>
              <a:rPr lang="en-US" sz="4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kódu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84FEA-D396-D76B-41D0-9F3FB19E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Komunikace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mezi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mikro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službami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3D77D78-A0F4-1AEE-4CA3-2DABC99E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92" y="2594616"/>
            <a:ext cx="11191161" cy="381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710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e08fb0dd1033572d62b70ecc67e1c61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77c69e46c62157503f07a38e2ec41cc0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393CB8-42FE-4BB5-934B-7532D5BE3291}"/>
</file>

<file path=customXml/itemProps2.xml><?xml version="1.0" encoding="utf-8"?>
<ds:datastoreItem xmlns:ds="http://schemas.openxmlformats.org/officeDocument/2006/customXml" ds:itemID="{3BE174B4-41C7-454E-A890-6747FA40DA9C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216</Words>
  <Application>Microsoft Office PowerPoint</Application>
  <PresentationFormat>Widescreen</PresentationFormat>
  <Paragraphs>26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NIA</vt:lpstr>
      <vt:lpstr>Vyhodnocování telemetrie</vt:lpstr>
      <vt:lpstr>Detailní pohled na NIA v době přetížení</vt:lpstr>
      <vt:lpstr>Nápravná opatření </vt:lpstr>
      <vt:lpstr>Porovnání výkonnosti původního a nového kódu</vt:lpstr>
      <vt:lpstr>Porovnání výkonnosti původního a nového kódu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NIA</dc:title>
  <dc:creator>Robert Hernady</dc:creator>
  <cp:lastModifiedBy>Robert Hernady</cp:lastModifiedBy>
  <cp:revision>4</cp:revision>
  <dcterms:created xsi:type="dcterms:W3CDTF">2024-04-07T15:42:57Z</dcterms:created>
  <dcterms:modified xsi:type="dcterms:W3CDTF">2024-04-07T16:11:55Z</dcterms:modified>
</cp:coreProperties>
</file>
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294" r:id="rId6"/>
    <p:sldId id="295" r:id="rId7"/>
    <p:sldId id="297" r:id="rId8"/>
    <p:sldId id="298" r:id="rId9"/>
    <p:sldId id="296" r:id="rId10"/>
    <p:sldId id="299" r:id="rId11"/>
    <p:sldId id="300" r:id="rId12"/>
    <p:sldId id="301" r:id="rId13"/>
    <p:sldId id="302" r:id="rId14"/>
    <p:sldId id="303" r:id="rId15"/>
    <p:sldId id="304" r:id="rId16"/>
    <p:sldId id="291" r:id="rId1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ří Valášek" initials="JV" lastIdx="1" clrIdx="0"/>
  <p:cmAuthor id="2" name="PEKU" initials="P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0000"/>
    <a:srgbClr val="FFFFFF"/>
    <a:srgbClr val="FF9393"/>
    <a:srgbClr val="00A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24" autoAdjust="0"/>
    <p:restoredTop sz="50000" autoAdjust="0"/>
  </p:normalViewPr>
  <p:slideViewPr>
    <p:cSldViewPr>
      <p:cViewPr varScale="1">
        <p:scale>
          <a:sx n="77" d="100"/>
          <a:sy n="77" d="100"/>
        </p:scale>
        <p:origin x="708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16E4B-5671-403B-B91E-16698A050570}" type="datetimeFigureOut">
              <a:rPr lang="cs-CZ" smtClean="0"/>
              <a:t>29.08.2021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80BF2-CA21-4D5B-9E8A-0EF4925B073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303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0459" y="1428737"/>
            <a:ext cx="103632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0459" y="3857628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9045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29.08.2021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29.08.2021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4357695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285749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29.08.2021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29.08.2021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10" y="150335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85710" y="21431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85709" y="6324592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29.08.2021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29.08.2021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29.08.2021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10" y="1142984"/>
            <a:ext cx="4392087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85710" y="2500307"/>
            <a:ext cx="4334975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29.08.2021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29.08.2021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600201"/>
            <a:ext cx="1120144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29.08.2021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285861"/>
            <a:ext cx="825504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29.08.2021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12192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157161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85709" y="63579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29.08.2021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185910" y="1751745"/>
            <a:ext cx="8173572" cy="3126209"/>
          </a:xfrm>
        </p:spPr>
        <p:txBody>
          <a:bodyPr/>
          <a:lstStyle/>
          <a:p>
            <a:pPr algn="ctr"/>
            <a:r>
              <a:rPr lang="cs-CZ" sz="5400" dirty="0"/>
              <a:t>Osvědčení o digitálním úkonu</a:t>
            </a:r>
            <a:br>
              <a:rPr lang="cs-CZ" sz="5400" dirty="0"/>
            </a:br>
            <a:r>
              <a:rPr lang="cs-CZ" sz="4000" dirty="0"/>
              <a:t>Současný stav poznání</a:t>
            </a:r>
            <a:br>
              <a:rPr lang="cs-CZ" sz="3490" b="1" dirty="0"/>
            </a:br>
            <a:endParaRPr lang="cs-CZ" sz="2400" b="1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8328248" y="5836542"/>
            <a:ext cx="2016224" cy="432048"/>
          </a:xfrm>
        </p:spPr>
        <p:txBody>
          <a:bodyPr>
            <a:noAutofit/>
          </a:bodyPr>
          <a:lstStyle/>
          <a:p>
            <a:r>
              <a:rPr lang="cs-CZ" sz="1600" dirty="0">
                <a:solidFill>
                  <a:schemeClr val="tx1"/>
                </a:solidFill>
              </a:rPr>
              <a:t>28.8. 2021, Praha</a:t>
            </a:r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2063552" y="5301208"/>
            <a:ext cx="5472608" cy="12241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tx1"/>
                </a:solidFill>
              </a:rPr>
              <a:t>RNDr. Petr Tiller</a:t>
            </a:r>
          </a:p>
          <a:p>
            <a:r>
              <a:rPr lang="cs-CZ" sz="1600" dirty="0">
                <a:solidFill>
                  <a:schemeClr val="tx1"/>
                </a:solidFill>
              </a:rPr>
              <a:t>Odbor Hlavního Architekta</a:t>
            </a:r>
          </a:p>
          <a:p>
            <a:r>
              <a:rPr lang="cs-CZ" sz="1600" dirty="0">
                <a:solidFill>
                  <a:schemeClr val="tx1"/>
                </a:solidFill>
              </a:rPr>
              <a:t>Ministerstvo vnitra ČR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90A008-B6A4-4BD9-A7C9-9AB7691D4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776" y="274638"/>
            <a:ext cx="6131024" cy="1143000"/>
          </a:xfrm>
        </p:spPr>
        <p:txBody>
          <a:bodyPr/>
          <a:lstStyle/>
          <a:p>
            <a:r>
              <a:rPr lang="cs-CZ" dirty="0"/>
              <a:t>Právní základ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437697F-59DF-4E8A-AFEA-6AFDB882F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§ 5 zákona č. 12/2020 Sb. o právu na digitální služby a o změně některých zákonů (dále jen </a:t>
            </a:r>
            <a:r>
              <a:rPr lang="cs-CZ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ZoPDS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Právo na osvědčení digitálního úkonu</a:t>
            </a:r>
            <a:endParaRPr lang="cs-CZ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668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(1)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Uživatel služby </a:t>
            </a:r>
            <a:r>
              <a:rPr lang="cs-CZ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má právo 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 elektronické osvědčení digitálního úkonu.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668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(2)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Osvědčení o digitálním úkonu </a:t>
            </a:r>
            <a:r>
              <a:rPr lang="cs-CZ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obsahuje důvěryhodné zachycení obsahu digitálního úkonu nebo jinou identifikaci digitálního úkonu, určení osoby, která jej učinila, adresáta digitálního úkonu a způsob, datum a čas provedení digitálního úkonu. Osvědčení musí být opatřeno kvalifikovanou elektronickou pečetí a kvalifikovaným elektronickým časovým razítkem orgánu veřejné moci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668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cs-CZ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(3)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cs-CZ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Orgán veřejné moci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který je veřejnoprávním původcem (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§ 3 odst. 1 zákona č. 499/2004 Sb.)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je povinen </a:t>
            </a:r>
            <a:r>
              <a:rPr lang="cs-CZ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bezodkladně po učinění digitálního úkonu poskytnout uživateli služby osvědčení o digitálním úkonu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který vůči němu uživatel služby učinil.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(4)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Osvědčení o digitálním úkonu </a:t>
            </a:r>
            <a:r>
              <a:rPr lang="cs-CZ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poskytuje 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orgán veřejné moci </a:t>
            </a:r>
            <a:r>
              <a:rPr lang="cs-CZ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podle volby uživatele služby zasláním do datové schránky, na kontaktní místo veřejné správy nebo </a:t>
            </a:r>
            <a:r>
              <a:rPr lang="cs-CZ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zpřístupněním</a:t>
            </a:r>
            <a:r>
              <a:rPr lang="cs-CZ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prostřednictvím portálu veřejné správy.</a:t>
            </a:r>
            <a:r>
              <a:rPr lang="cs-CZ" dirty="0">
                <a:effectLst/>
              </a:rPr>
              <a:t> 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Dále jen osvědčení.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40416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46FB05-247C-42C2-992D-7DED6048C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Další relevantní předpisy, které jsme prozatím identifikovali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613AA6B-ECB9-4423-AEDC-C72B1EB77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8282" y="1600200"/>
            <a:ext cx="8472518" cy="4983162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§ 64 odst. 2 zákona č. 499/2004 Sb., o archivnictví a spisové službě: „</a:t>
            </a:r>
            <a:r>
              <a:rPr lang="cs-CZ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dokumenty vytvořené určeným původcem se ... opatří Jednoznačným identifikátorem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§ 567 zákona č. 89/2012 Sb., Občanský zákoník (nový): </a:t>
            </a:r>
            <a:r>
              <a:rPr lang="cs-CZ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„listina vydaná orgánem veřejné moci v mezích jeho pravomoci ... je Veřejná listina“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§ 65 odst. 1 zákona č. 499/2004 Sb., o archivnictví a spisové službě: „</a:t>
            </a:r>
            <a:r>
              <a:rPr lang="cs-CZ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 se všechny dokumenty ... téže věci spojí ve spis ... dokumenty v digitální podobě ... prostřednictvím metadat“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§ 9 zákona č 365/2000 Sb., o informačních systémech veřejné správy: Z informačních systémů veřejné správy … vydávají orgány veřejné správy… na požádání úplný nebo částečný výpis …  - </a:t>
            </a:r>
            <a:r>
              <a:rPr lang="cs-CZ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Výpis v listinné podobě, výstup z informačního systému veřejné správy a ověřený výstup … jsou veřejnými listinami.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8915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FDE473-EA8E-4B0F-8C55-53496D9A0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Enterprise</a:t>
            </a:r>
            <a:r>
              <a:rPr lang="cs-CZ" dirty="0"/>
              <a:t> architektura - Jak se s osvědčení popasovat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0714FD-DAAD-4C1E-9980-818311D43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cs-CZ" dirty="0"/>
              <a:t>Jak čteme zákon – okrajové podmínky</a:t>
            </a:r>
          </a:p>
          <a:p>
            <a:pPr lvl="1"/>
            <a:r>
              <a:rPr lang="cs-CZ" dirty="0"/>
              <a:t>Osvědčení se týká digitálního úkonu, který je definován § 2 písmeno c) </a:t>
            </a:r>
            <a:r>
              <a:rPr lang="cs-CZ" dirty="0" err="1"/>
              <a:t>ZoPDS</a:t>
            </a:r>
            <a:r>
              <a:rPr lang="cs-CZ" dirty="0"/>
              <a:t> =&gt; digitální úkon možné přesně specifikovat odkazem do katalogu služeb</a:t>
            </a:r>
          </a:p>
          <a:p>
            <a:pPr lvl="1"/>
            <a:r>
              <a:rPr lang="cs-CZ" dirty="0"/>
              <a:t>OVM poskytuje Osvědčení </a:t>
            </a:r>
            <a:r>
              <a:rPr lang="cs-CZ" b="1" dirty="0"/>
              <a:t>pouze</a:t>
            </a:r>
            <a:r>
              <a:rPr lang="cs-CZ" dirty="0"/>
              <a:t> vyjmenovanými kanály (ISDS, KMVS, prostřednictvím PVS)</a:t>
            </a:r>
          </a:p>
          <a:p>
            <a:pPr lvl="1"/>
            <a:r>
              <a:rPr lang="cs-CZ" dirty="0"/>
              <a:t>Uživatel služby nemusí o Osvědčení žádat, přesto je mu ho OVM povinen ze zákona poskytnou </a:t>
            </a:r>
            <a:r>
              <a:rPr lang="cs-CZ" b="1" dirty="0"/>
              <a:t>bezodkladně</a:t>
            </a:r>
            <a:r>
              <a:rPr lang="cs-CZ" dirty="0"/>
              <a:t> po provedení úkonu</a:t>
            </a:r>
          </a:p>
          <a:p>
            <a:pPr lvl="1"/>
            <a:r>
              <a:rPr lang="cs-CZ" dirty="0"/>
              <a:t>Osvědčení </a:t>
            </a:r>
            <a:r>
              <a:rPr lang="cs-CZ" b="1" dirty="0"/>
              <a:t>může</a:t>
            </a:r>
            <a:r>
              <a:rPr lang="cs-CZ" dirty="0"/>
              <a:t> být poskytnuto i později (vycházíme z komentářů a navíc to dává smysl. Zde jde však již o úkon na žádost</a:t>
            </a:r>
          </a:p>
          <a:p>
            <a:r>
              <a:rPr lang="cs-CZ" dirty="0"/>
              <a:t>Obsahem Osvědčení je pouze potvrzení o provedení  úkonu, nikoli o výsledcích či jiných procesních informacích. Osvědčení tedy nepotvrzuje správnost úkonu.</a:t>
            </a:r>
          </a:p>
          <a:p>
            <a:r>
              <a:rPr lang="cs-CZ" dirty="0"/>
              <a:t>Příjemcem osvědčení je </a:t>
            </a:r>
          </a:p>
          <a:p>
            <a:pPr lvl="1"/>
            <a:r>
              <a:rPr lang="cs-CZ" dirty="0"/>
              <a:t>Osoba, která úkon provádí</a:t>
            </a:r>
          </a:p>
          <a:p>
            <a:pPr lvl="1"/>
            <a:r>
              <a:rPr lang="cs-CZ" dirty="0"/>
              <a:t>Adresát digitálního úkonu</a:t>
            </a:r>
          </a:p>
        </p:txBody>
      </p:sp>
    </p:spTree>
    <p:extLst>
      <p:ext uri="{BB962C8B-B14F-4D97-AF65-F5344CB8AC3E}">
        <p14:creationId xmlns:p14="http://schemas.microsoft.com/office/powerpoint/2010/main" val="779687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E9411C-EE78-48FC-B6B6-89EB78A88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tedy „úřad“ musí určitě udělat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ECD3EF8-C4EA-4D31-B75F-F292D8E50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cs-CZ" dirty="0"/>
              <a:t>Pro splnění všech podmínek </a:t>
            </a:r>
            <a:r>
              <a:rPr lang="cs-CZ" b="1" dirty="0"/>
              <a:t>musí</a:t>
            </a:r>
            <a:r>
              <a:rPr lang="cs-CZ" dirty="0"/>
              <a:t> vést záznam o provedených digitálních úkonech (log)</a:t>
            </a:r>
          </a:p>
          <a:p>
            <a:pPr lvl="1"/>
            <a:r>
              <a:rPr lang="cs-CZ" dirty="0"/>
              <a:t>Obsahuje předepsané položky (příloha) o provedeném úkonu</a:t>
            </a:r>
          </a:p>
          <a:p>
            <a:pPr lvl="1"/>
            <a:r>
              <a:rPr lang="cs-CZ" dirty="0"/>
              <a:t>Obsahuje informaci o poskytnutí Osvědčení (komu, kdy , jakým kanálem)</a:t>
            </a:r>
          </a:p>
          <a:p>
            <a:r>
              <a:rPr lang="cs-CZ" dirty="0"/>
              <a:t>Úřad </a:t>
            </a:r>
            <a:r>
              <a:rPr lang="cs-CZ" b="1" dirty="0"/>
              <a:t>musí</a:t>
            </a:r>
            <a:r>
              <a:rPr lang="cs-CZ" dirty="0"/>
              <a:t> být schopen vytvořit </a:t>
            </a:r>
            <a:r>
              <a:rPr lang="cs-CZ" b="1" i="1" dirty="0"/>
              <a:t>vizualizovanou formu osvědčení</a:t>
            </a:r>
            <a:r>
              <a:rPr lang="cs-CZ" dirty="0"/>
              <a:t> (PDF/A) z výše uvedených dat opatřené kvalifikovanou elektronickou pečetí a kvalifikovaným elektronickým časovým razítkem</a:t>
            </a:r>
          </a:p>
          <a:p>
            <a:r>
              <a:rPr lang="cs-CZ" dirty="0"/>
              <a:t>Úřad </a:t>
            </a:r>
            <a:r>
              <a:rPr lang="cs-CZ" b="1" dirty="0"/>
              <a:t>musí</a:t>
            </a:r>
            <a:r>
              <a:rPr lang="cs-CZ" dirty="0"/>
              <a:t> zajistit bezodkladné poskytnutí PDF/A kanálem zvoleným uživatelem služby</a:t>
            </a:r>
          </a:p>
          <a:p>
            <a:r>
              <a:rPr lang="cs-CZ" dirty="0"/>
              <a:t>Úřad </a:t>
            </a:r>
            <a:r>
              <a:rPr lang="cs-CZ" b="1" dirty="0"/>
              <a:t>musí</a:t>
            </a:r>
            <a:r>
              <a:rPr lang="cs-CZ" dirty="0"/>
              <a:t> zajistit možnost získání potvrzení prostřednictvím PVS a </a:t>
            </a:r>
            <a:r>
              <a:rPr lang="cs-CZ" dirty="0" err="1"/>
              <a:t>CzechPoint</a:t>
            </a:r>
            <a:r>
              <a:rPr lang="cs-CZ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6817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9CCE0B-2AAB-4A79-B4D4-230D53CF8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Konkrétní případy – nutné splnění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54F2E4F-76F5-46DF-883B-1EC94A81E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8282" y="1600200"/>
            <a:ext cx="8472518" cy="4983162"/>
          </a:xfrm>
        </p:spPr>
        <p:txBody>
          <a:bodyPr>
            <a:normAutofit fontScale="77500" lnSpcReduction="20000"/>
          </a:bodyPr>
          <a:lstStyle/>
          <a:p>
            <a:r>
              <a:rPr lang="cs-CZ" dirty="0"/>
              <a:t>Služba poskytována portálem úřadu</a:t>
            </a:r>
          </a:p>
          <a:p>
            <a:pPr lvl="1"/>
            <a:r>
              <a:rPr lang="cs-CZ" dirty="0"/>
              <a:t>Po provedení digitálního úkonu je uživateli nabídnuta možnost stažení potvrzení či zaslání do DS (nabídnout DS uživatele služby s možností editace či přidání další DS)</a:t>
            </a:r>
          </a:p>
          <a:p>
            <a:pPr lvl="1"/>
            <a:r>
              <a:rPr lang="cs-CZ" dirty="0"/>
              <a:t>Je na uživateli zda tuto možnost využije – úkon je proveden i když nevyužije</a:t>
            </a:r>
          </a:p>
          <a:p>
            <a:pPr lvl="1"/>
            <a:endParaRPr lang="cs-CZ" dirty="0"/>
          </a:p>
          <a:p>
            <a:r>
              <a:rPr lang="cs-CZ" dirty="0"/>
              <a:t>Služba poskytována prostřednictvím DS – prostřednictvím DS činní uživatel úkon a vrací se mu výsledek</a:t>
            </a:r>
          </a:p>
          <a:p>
            <a:pPr lvl="1"/>
            <a:r>
              <a:rPr lang="cs-CZ" dirty="0"/>
              <a:t>PDF/A osvědčení je připojeno k výsledku či samostatná DS</a:t>
            </a:r>
          </a:p>
          <a:p>
            <a:pPr marL="457200" lvl="1" indent="0">
              <a:buNone/>
            </a:pPr>
            <a:endParaRPr lang="cs-CZ" dirty="0"/>
          </a:p>
          <a:p>
            <a:r>
              <a:rPr lang="cs-CZ" dirty="0"/>
              <a:t>Služba poskytována prostřednictvím </a:t>
            </a:r>
            <a:r>
              <a:rPr lang="cs-CZ" dirty="0" err="1"/>
              <a:t>CzechPoint</a:t>
            </a:r>
            <a:endParaRPr lang="cs-CZ" dirty="0"/>
          </a:p>
          <a:p>
            <a:pPr lvl="1"/>
            <a:r>
              <a:rPr lang="cs-CZ" dirty="0"/>
              <a:t>Součástí služby musí být předání PDF/A osvědčení, které </a:t>
            </a:r>
            <a:r>
              <a:rPr lang="cs-CZ" dirty="0" err="1"/>
              <a:t>CzechPoint</a:t>
            </a:r>
            <a:r>
              <a:rPr lang="cs-CZ" dirty="0"/>
              <a:t> standardně předá</a:t>
            </a:r>
          </a:p>
        </p:txBody>
      </p:sp>
    </p:spTree>
    <p:extLst>
      <p:ext uri="{BB962C8B-B14F-4D97-AF65-F5344CB8AC3E}">
        <p14:creationId xmlns:p14="http://schemas.microsoft.com/office/powerpoint/2010/main" val="1220441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0B1F5F-6755-457F-87D3-45A20E42F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předávat na </a:t>
            </a:r>
            <a:r>
              <a:rPr lang="cs-CZ" dirty="0" err="1"/>
              <a:t>CzechPoint</a:t>
            </a:r>
            <a:r>
              <a:rPr lang="cs-CZ" dirty="0"/>
              <a:t> a PVS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2BE1702-CC53-49EF-B386-9CBF4CCFF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spcBef>
                <a:spcPts val="0"/>
              </a:spcBef>
            </a:pPr>
            <a:r>
              <a:rPr lang="cs-CZ" dirty="0">
                <a:solidFill>
                  <a:srgbClr val="4D4D4D"/>
                </a:solidFill>
              </a:rPr>
              <a:t>Jednotný „jednoduchý“ kontext na ISSS (</a:t>
            </a:r>
            <a:r>
              <a:rPr lang="cs-CZ" dirty="0" err="1">
                <a:solidFill>
                  <a:srgbClr val="4D4D4D"/>
                </a:solidFill>
              </a:rPr>
              <a:t>eGSB</a:t>
            </a:r>
            <a:r>
              <a:rPr lang="cs-CZ" dirty="0">
                <a:solidFill>
                  <a:srgbClr val="4D4D4D"/>
                </a:solidFill>
              </a:rPr>
              <a:t>), který umožní</a:t>
            </a:r>
          </a:p>
          <a:p>
            <a:pPr lvl="1">
              <a:spcBef>
                <a:spcPts val="0"/>
              </a:spcBef>
            </a:pPr>
            <a:r>
              <a:rPr lang="cs-CZ" dirty="0">
                <a:solidFill>
                  <a:srgbClr val="4D4D4D"/>
                </a:solidFill>
              </a:rPr>
              <a:t>Pro identifikovanou osobu (AIFO/IČO) předat přehled dostupných Osvědčení ve zvolené době (obsahuje pouze popis úkonu a čas provedení – XML data)</a:t>
            </a:r>
          </a:p>
          <a:p>
            <a:pPr lvl="1">
              <a:spcBef>
                <a:spcPts val="0"/>
              </a:spcBef>
            </a:pPr>
            <a:r>
              <a:rPr lang="cs-CZ" dirty="0">
                <a:solidFill>
                  <a:srgbClr val="4D4D4D"/>
                </a:solidFill>
              </a:rPr>
              <a:t>Pro identifikovanou osobu (AIFO/IČO) předat konkrétní požadované Osvědčení v PDF/A formě</a:t>
            </a:r>
          </a:p>
          <a:p>
            <a:pPr lvl="1">
              <a:spcBef>
                <a:spcPts val="0"/>
              </a:spcBef>
            </a:pPr>
            <a:r>
              <a:rPr lang="cs-CZ" dirty="0">
                <a:solidFill>
                  <a:srgbClr val="4D4D4D"/>
                </a:solidFill>
              </a:rPr>
              <a:t>Každý úřad poskytující digitální službu </a:t>
            </a:r>
            <a:r>
              <a:rPr lang="cs-CZ" b="1" dirty="0">
                <a:solidFill>
                  <a:srgbClr val="4D4D4D"/>
                </a:solidFill>
              </a:rPr>
              <a:t>musí </a:t>
            </a:r>
            <a:r>
              <a:rPr lang="cs-CZ" dirty="0">
                <a:solidFill>
                  <a:srgbClr val="4D4D4D"/>
                </a:solidFill>
              </a:rPr>
              <a:t>publikovat</a:t>
            </a:r>
          </a:p>
          <a:p>
            <a:pPr lvl="1">
              <a:spcBef>
                <a:spcPts val="0"/>
              </a:spcBef>
            </a:pPr>
            <a:endParaRPr lang="cs-CZ" dirty="0">
              <a:solidFill>
                <a:srgbClr val="4D4D4D"/>
              </a:solidFill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cs-CZ" b="1" dirty="0">
                <a:solidFill>
                  <a:srgbClr val="4D4D4D"/>
                </a:solidFill>
              </a:rPr>
              <a:t>V rámci úřadu musí být jednoznačná identifikace úkonu (ID úkonu), která je uvedena na Osvědčení a slouží jako „link“ na Osvědčení</a:t>
            </a:r>
          </a:p>
          <a:p>
            <a:pPr marL="457200" lvl="1" indent="0">
              <a:spcBef>
                <a:spcPts val="0"/>
              </a:spcBef>
              <a:buNone/>
            </a:pPr>
            <a:endParaRPr lang="cs-CZ" b="1" dirty="0">
              <a:solidFill>
                <a:srgbClr val="4D4D4D"/>
              </a:solidFill>
            </a:endParaRPr>
          </a:p>
          <a:p>
            <a:pPr>
              <a:spcBef>
                <a:spcPts val="0"/>
              </a:spcBef>
            </a:pPr>
            <a:r>
              <a:rPr lang="cs-CZ" dirty="0">
                <a:solidFill>
                  <a:srgbClr val="4D4D4D"/>
                </a:solidFill>
              </a:rPr>
              <a:t>Na obrazovkách </a:t>
            </a:r>
            <a:r>
              <a:rPr lang="cs-CZ" dirty="0" err="1">
                <a:solidFill>
                  <a:srgbClr val="4D4D4D"/>
                </a:solidFill>
              </a:rPr>
              <a:t>CzechPoint</a:t>
            </a:r>
            <a:r>
              <a:rPr lang="cs-CZ" dirty="0">
                <a:solidFill>
                  <a:srgbClr val="4D4D4D"/>
                </a:solidFill>
              </a:rPr>
              <a:t> musí být u každého úkonu minimálně doplněn link na stažení Osvědčení prostřednictvím výše uvedeného kontextu. Obsluha vytiskne a předá – </a:t>
            </a:r>
            <a:r>
              <a:rPr lang="cs-CZ" b="1" i="1" dirty="0">
                <a:solidFill>
                  <a:srgbClr val="4D4D4D"/>
                </a:solidFill>
              </a:rPr>
              <a:t>není otázka volby</a:t>
            </a:r>
            <a:r>
              <a:rPr lang="cs-CZ" dirty="0">
                <a:solidFill>
                  <a:srgbClr val="4D4D4D"/>
                </a:solidFill>
              </a:rPr>
              <a:t>, když uživatel služby ihned vyhodí, jeho problém …</a:t>
            </a:r>
          </a:p>
          <a:p>
            <a:pPr lvl="1">
              <a:spcBef>
                <a:spcPts val="0"/>
              </a:spcBef>
            </a:pP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98041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6718A5-C7B5-4120-AD60-A7F7CA77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Další kroky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DF019AA-DF6E-469A-B37D-082065341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Implementace </a:t>
            </a:r>
            <a:r>
              <a:rPr lang="cs-CZ" b="1" dirty="0"/>
              <a:t>volby</a:t>
            </a:r>
            <a:r>
              <a:rPr lang="cs-CZ" dirty="0"/>
              <a:t> osvědčení do emailu (§4 </a:t>
            </a:r>
            <a:r>
              <a:rPr lang="cs-CZ" dirty="0" err="1"/>
              <a:t>odst</a:t>
            </a:r>
            <a:r>
              <a:rPr lang="cs-CZ" dirty="0"/>
              <a:t> 1) písmeno c) </a:t>
            </a:r>
            <a:r>
              <a:rPr lang="cs-CZ" dirty="0" err="1"/>
              <a:t>ZoPDS</a:t>
            </a:r>
            <a:r>
              <a:rPr lang="cs-CZ" dirty="0"/>
              <a:t>) a při „jiném“ </a:t>
            </a:r>
            <a:r>
              <a:rPr lang="cs-CZ" dirty="0" err="1"/>
              <a:t>způssobu</a:t>
            </a:r>
            <a:r>
              <a:rPr lang="cs-CZ" dirty="0"/>
              <a:t> – písmeno e) tamtéž – neexistuje centrální řešení, záležitost úřadu podle frekvence využití těchto kanálů</a:t>
            </a:r>
          </a:p>
          <a:p>
            <a:r>
              <a:rPr lang="cs-CZ" dirty="0"/>
              <a:t>Implementace </a:t>
            </a:r>
            <a:r>
              <a:rPr lang="cs-CZ" b="1" dirty="0"/>
              <a:t>pozdějšího</a:t>
            </a:r>
            <a:r>
              <a:rPr lang="cs-CZ" dirty="0"/>
              <a:t> vyžádání Osvědčení</a:t>
            </a:r>
          </a:p>
          <a:p>
            <a:pPr lvl="1"/>
            <a:r>
              <a:rPr lang="cs-CZ" dirty="0"/>
              <a:t>Poznámka: Záznamy v logu musí mít </a:t>
            </a:r>
            <a:r>
              <a:rPr lang="cs-CZ" b="1" dirty="0"/>
              <a:t>perzistenci</a:t>
            </a:r>
            <a:r>
              <a:rPr lang="cs-CZ" dirty="0"/>
              <a:t> odpovídající skartovací době dle příslušné agendy. Minimálně dle správního řádu</a:t>
            </a:r>
          </a:p>
          <a:p>
            <a:pPr lvl="1"/>
            <a:r>
              <a:rPr lang="cs-CZ" dirty="0"/>
              <a:t>K Osvědčení musí mít přístup osoba, která úkon provedla a příjemce služby (činnost v zastoupení). Ideálním je řešení v souladu se zákonem č. 250/2017 Sb. o elektronické identifikaci.</a:t>
            </a:r>
          </a:p>
        </p:txBody>
      </p:sp>
    </p:spTree>
    <p:extLst>
      <p:ext uri="{BB962C8B-B14F-4D97-AF65-F5344CB8AC3E}">
        <p14:creationId xmlns:p14="http://schemas.microsoft.com/office/powerpoint/2010/main" val="3970508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E42F61-4807-4DE7-B829-1446B802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Občan má právo na opis dokumentů, které poskytl úřadu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E79CEE2-0B45-4133-8A95-05BF0AF5B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Ano – součástí Osvědčení musí být odkaz na č.j. v </a:t>
            </a:r>
            <a:r>
              <a:rPr lang="cs-CZ" dirty="0" err="1"/>
              <a:t>espisové</a:t>
            </a:r>
            <a:r>
              <a:rPr lang="cs-CZ" dirty="0"/>
              <a:t> službě úřadu, pokud existuje</a:t>
            </a:r>
          </a:p>
          <a:p>
            <a:r>
              <a:rPr lang="cs-CZ" dirty="0"/>
              <a:t>Další řešení je klasický výpis ze spisové služby</a:t>
            </a:r>
          </a:p>
          <a:p>
            <a:r>
              <a:rPr lang="cs-CZ" dirty="0"/>
              <a:t>Podle současného přesvědčení OHA </a:t>
            </a:r>
            <a:r>
              <a:rPr lang="cs-CZ" b="1" dirty="0"/>
              <a:t>nemusí</a:t>
            </a:r>
            <a:r>
              <a:rPr lang="cs-CZ" dirty="0"/>
              <a:t> být opis podaných dokumentů součástí osvědčení</a:t>
            </a:r>
          </a:p>
          <a:p>
            <a:r>
              <a:rPr lang="cs-CZ" b="1" dirty="0"/>
              <a:t>Dobrou praxí (viz daňový portál)</a:t>
            </a:r>
            <a:r>
              <a:rPr lang="cs-CZ" dirty="0"/>
              <a:t> je možnost vedle osvědčení nabídnout i možnost stažení a uložení opisu toho co uživatel služby úřadu v rámci úkonu předal.</a:t>
            </a:r>
          </a:p>
          <a:p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228240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4CBFBC-D57E-4587-939D-E28D0198B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Otevřené otázky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7FB50E3-F1BF-4DDB-99AA-DEC0E4661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cs-CZ" dirty="0"/>
              <a:t>Otázka veřejné listiny</a:t>
            </a:r>
          </a:p>
          <a:p>
            <a:pPr lvl="1"/>
            <a:r>
              <a:rPr lang="cs-CZ" dirty="0"/>
              <a:t>OHA má právní názor, že osvědčení </a:t>
            </a:r>
            <a:r>
              <a:rPr lang="cs-CZ" b="1" dirty="0"/>
              <a:t>je</a:t>
            </a:r>
            <a:r>
              <a:rPr lang="cs-CZ" dirty="0"/>
              <a:t> veřejnou listinou</a:t>
            </a:r>
          </a:p>
          <a:p>
            <a:pPr lvl="1"/>
            <a:r>
              <a:rPr lang="cs-CZ" dirty="0"/>
              <a:t>Existují opačné právní názory </a:t>
            </a:r>
          </a:p>
          <a:p>
            <a:pPr lvl="1"/>
            <a:r>
              <a:rPr lang="cs-CZ" dirty="0"/>
              <a:t>??? </a:t>
            </a:r>
            <a:r>
              <a:rPr lang="cs-CZ" i="1" dirty="0"/>
              <a:t>Jaký je váš právní názor</a:t>
            </a:r>
          </a:p>
          <a:p>
            <a:r>
              <a:rPr lang="cs-CZ" dirty="0"/>
              <a:t>Možnost vytvoření centrálního úložiště metadat o osvědčení. Centrální úložiště </a:t>
            </a:r>
            <a:r>
              <a:rPr lang="cs-CZ"/>
              <a:t>by umožnilo </a:t>
            </a:r>
            <a:r>
              <a:rPr lang="cs-CZ" dirty="0"/>
              <a:t>vyhledání odpovídajících osvědčení bez nutnosti „vzdáleného prohledávání“ záznamů o  osvědčení. Osvědčení se ale vždy získává od „úřadu“, u kterého byl úkon proveden.</a:t>
            </a:r>
          </a:p>
          <a:p>
            <a:r>
              <a:rPr lang="cs-CZ" dirty="0"/>
              <a:t>Existují případy, kdy je po osobě vyžadováno osvědčení o provedení úkonu u jiné agendy/úřadu? Bude tedy kontext na </a:t>
            </a:r>
            <a:r>
              <a:rPr lang="cs-CZ" dirty="0" err="1"/>
              <a:t>eGSB</a:t>
            </a:r>
            <a:r>
              <a:rPr lang="cs-CZ" dirty="0"/>
              <a:t> využíván i jinými úřady?</a:t>
            </a:r>
          </a:p>
        </p:txBody>
      </p:sp>
    </p:spTree>
    <p:extLst>
      <p:ext uri="{BB962C8B-B14F-4D97-AF65-F5344CB8AC3E}">
        <p14:creationId xmlns:p14="http://schemas.microsoft.com/office/powerpoint/2010/main" val="351964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03B671-5EAA-46FB-92AE-0C475C3A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Přehled údajů v </a:t>
            </a:r>
            <a:r>
              <a:rPr lang="cs-CZ" dirty="0" err="1"/>
              <a:t>LOGu</a:t>
            </a:r>
            <a:endParaRPr lang="cs-CZ" dirty="0"/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728F617A-D8FB-4798-B11A-88DAA1B9E4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7320087"/>
              </p:ext>
            </p:extLst>
          </p:nvPr>
        </p:nvGraphicFramePr>
        <p:xfrm>
          <a:off x="911425" y="1268761"/>
          <a:ext cx="10585175" cy="38271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3004">
                  <a:extLst>
                    <a:ext uri="{9D8B030D-6E8A-4147-A177-3AD203B41FA5}">
                      <a16:colId xmlns:a16="http://schemas.microsoft.com/office/drawing/2014/main" val="778822270"/>
                    </a:ext>
                  </a:extLst>
                </a:gridCol>
                <a:gridCol w="4074019">
                  <a:extLst>
                    <a:ext uri="{9D8B030D-6E8A-4147-A177-3AD203B41FA5}">
                      <a16:colId xmlns:a16="http://schemas.microsoft.com/office/drawing/2014/main" val="1408847732"/>
                    </a:ext>
                  </a:extLst>
                </a:gridCol>
                <a:gridCol w="5638152">
                  <a:extLst>
                    <a:ext uri="{9D8B030D-6E8A-4147-A177-3AD203B41FA5}">
                      <a16:colId xmlns:a16="http://schemas.microsoft.com/office/drawing/2014/main" val="2889989165"/>
                    </a:ext>
                  </a:extLst>
                </a:gridCol>
              </a:tblGrid>
              <a:tr h="336754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ÚdajČíslo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Údaj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Popis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17080556"/>
                  </a:ext>
                </a:extLst>
              </a:tr>
              <a:tr h="336754">
                <a:tc>
                  <a:txBody>
                    <a:bodyPr/>
                    <a:lstStyle/>
                    <a:p>
                      <a:pPr algn="r" fontAlgn="b"/>
                      <a:r>
                        <a:rPr lang="cs-CZ" sz="1800" u="none" strike="noStrike">
                          <a:effectLst/>
                        </a:rPr>
                        <a:t>1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 dirty="0" err="1">
                          <a:effectLst/>
                        </a:rPr>
                        <a:t>podavajiciAIFO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kdo úkon činil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4725206"/>
                  </a:ext>
                </a:extLst>
              </a:tr>
              <a:tr h="336754">
                <a:tc>
                  <a:txBody>
                    <a:bodyPr/>
                    <a:lstStyle/>
                    <a:p>
                      <a:pPr algn="r" fontAlgn="b"/>
                      <a:r>
                        <a:rPr lang="cs-CZ" sz="1800" u="none" strike="noStrike">
                          <a:effectLst/>
                        </a:rPr>
                        <a:t>2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zadatelAIFO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pro  koho bylo činěno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28988250"/>
                  </a:ext>
                </a:extLst>
              </a:tr>
              <a:tr h="336754">
                <a:tc>
                  <a:txBody>
                    <a:bodyPr/>
                    <a:lstStyle/>
                    <a:p>
                      <a:pPr algn="r" fontAlgn="b"/>
                      <a:r>
                        <a:rPr lang="cs-CZ" sz="1800" u="none" strike="noStrike">
                          <a:effectLst/>
                        </a:rPr>
                        <a:t>3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datumCasUkonu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kdy byl úkon proveden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17465144"/>
                  </a:ext>
                </a:extLst>
              </a:tr>
              <a:tr h="336754">
                <a:tc>
                  <a:txBody>
                    <a:bodyPr/>
                    <a:lstStyle/>
                    <a:p>
                      <a:pPr algn="r" fontAlgn="b"/>
                      <a:r>
                        <a:rPr lang="cs-CZ" sz="1800" u="none" strike="noStrike">
                          <a:effectLst/>
                        </a:rPr>
                        <a:t>4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ukonID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1800" u="none" strike="noStrike">
                          <a:effectLst/>
                        </a:rPr>
                        <a:t>o jaký úkon se jednalo odkazem na číslo úkonu z katalogu služeb</a:t>
                      </a:r>
                      <a:endParaRPr lang="pl-P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4546517"/>
                  </a:ext>
                </a:extLst>
              </a:tr>
              <a:tr h="336754">
                <a:tc>
                  <a:txBody>
                    <a:bodyPr/>
                    <a:lstStyle/>
                    <a:p>
                      <a:pPr algn="r" fontAlgn="b"/>
                      <a:r>
                        <a:rPr lang="cs-CZ" sz="1800" u="none" strike="noStrike">
                          <a:effectLst/>
                        </a:rPr>
                        <a:t>5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popisUkonu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o co se jednalo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39757844"/>
                  </a:ext>
                </a:extLst>
              </a:tr>
              <a:tr h="673507">
                <a:tc>
                  <a:txBody>
                    <a:bodyPr/>
                    <a:lstStyle/>
                    <a:p>
                      <a:pPr algn="r" fontAlgn="b"/>
                      <a:r>
                        <a:rPr lang="cs-CZ" sz="1800" u="none" strike="noStrike">
                          <a:effectLst/>
                        </a:rPr>
                        <a:t>6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identifikaceZaznamuSystemuProvadejiciUkon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číslo transakce daného záznamu, primární/jednoznačný identifikátor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14731363"/>
                  </a:ext>
                </a:extLst>
              </a:tr>
              <a:tr h="336754">
                <a:tc>
                  <a:txBody>
                    <a:bodyPr/>
                    <a:lstStyle/>
                    <a:p>
                      <a:pPr algn="r" fontAlgn="b"/>
                      <a:r>
                        <a:rPr lang="cs-CZ" sz="1800" u="none" strike="noStrike">
                          <a:effectLst/>
                        </a:rPr>
                        <a:t>7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spisovaZnackaZadatale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1800" u="none" strike="noStrike" dirty="0">
                          <a:effectLst/>
                        </a:rPr>
                        <a:t>mozna spisova znacka zadatele o ukon</a:t>
                      </a:r>
                      <a:endParaRPr lang="pl-P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51563333"/>
                  </a:ext>
                </a:extLst>
              </a:tr>
              <a:tr h="353591">
                <a:tc>
                  <a:txBody>
                    <a:bodyPr/>
                    <a:lstStyle/>
                    <a:p>
                      <a:pPr algn="r" fontAlgn="b"/>
                      <a:r>
                        <a:rPr lang="cs-CZ" sz="1800" u="none" strike="noStrike">
                          <a:effectLst/>
                        </a:rPr>
                        <a:t>8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cisloJednaci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 dirty="0" err="1">
                          <a:effectLst/>
                        </a:rPr>
                        <a:t>cislo</a:t>
                      </a:r>
                      <a:r>
                        <a:rPr lang="cs-CZ" sz="1800" u="none" strike="noStrike" dirty="0">
                          <a:effectLst/>
                        </a:rPr>
                        <a:t> </a:t>
                      </a:r>
                      <a:r>
                        <a:rPr lang="cs-CZ" sz="1800" u="none" strike="noStrike" dirty="0" err="1">
                          <a:effectLst/>
                        </a:rPr>
                        <a:t>jednaci</a:t>
                      </a:r>
                      <a:r>
                        <a:rPr lang="cs-CZ" sz="1800" u="none" strike="noStrike" dirty="0">
                          <a:effectLst/>
                        </a:rPr>
                        <a:t> k úkonu </a:t>
                      </a:r>
                      <a:r>
                        <a:rPr lang="cs-CZ" sz="1800" u="none" strike="noStrike" dirty="0" err="1">
                          <a:effectLst/>
                        </a:rPr>
                        <a:t>podpořeneho</a:t>
                      </a:r>
                      <a:r>
                        <a:rPr lang="cs-CZ" sz="1800" u="none" strike="noStrike" dirty="0">
                          <a:effectLst/>
                        </a:rPr>
                        <a:t> IS a </a:t>
                      </a:r>
                      <a:r>
                        <a:rPr lang="cs-CZ" sz="1800" u="none" strike="noStrike" dirty="0" err="1">
                          <a:effectLst/>
                        </a:rPr>
                        <a:t>navazaneho</a:t>
                      </a:r>
                      <a:r>
                        <a:rPr lang="cs-CZ" sz="1800" u="none" strike="noStrike" dirty="0">
                          <a:effectLst/>
                        </a:rPr>
                        <a:t> na </a:t>
                      </a:r>
                      <a:r>
                        <a:rPr lang="cs-CZ" sz="1800" u="none" strike="noStrike" dirty="0" err="1">
                          <a:effectLst/>
                        </a:rPr>
                        <a:t>eSSL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73890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462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8061E4-D67B-4D04-864D-A82C7AF3B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Údaje na PDF/A vizualizaci osvědčení</a:t>
            </a:r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2A4F3699-FE5C-4DBF-94AA-75E6DEF2BA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4985045"/>
              </p:ext>
            </p:extLst>
          </p:nvPr>
        </p:nvGraphicFramePr>
        <p:xfrm>
          <a:off x="609600" y="1417638"/>
          <a:ext cx="10526960" cy="51657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15802">
                  <a:extLst>
                    <a:ext uri="{9D8B030D-6E8A-4147-A177-3AD203B41FA5}">
                      <a16:colId xmlns:a16="http://schemas.microsoft.com/office/drawing/2014/main" val="577908568"/>
                    </a:ext>
                  </a:extLst>
                </a:gridCol>
                <a:gridCol w="6111158">
                  <a:extLst>
                    <a:ext uri="{9D8B030D-6E8A-4147-A177-3AD203B41FA5}">
                      <a16:colId xmlns:a16="http://schemas.microsoft.com/office/drawing/2014/main" val="3601569926"/>
                    </a:ext>
                  </a:extLst>
                </a:gridCol>
              </a:tblGrid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b="1" u="none" strike="noStrike">
                          <a:effectLst/>
                        </a:rPr>
                        <a:t>Údaj</a:t>
                      </a:r>
                      <a:endParaRPr lang="cs-CZ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b="1" u="none" strike="noStrike" dirty="0">
                          <a:effectLst/>
                        </a:rPr>
                        <a:t>Popis</a:t>
                      </a:r>
                      <a:endParaRPr lang="cs-CZ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0641218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podavajiciJmeno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jméno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3572204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podavajiciPrijmeni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příjmení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96529866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podavajiciDatumNarozeni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datum narození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13382186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65467727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zadatelJmeno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jméno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24695042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zadatelPrijmeni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příjmení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92496882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zadatelDatumNarozeni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datum narození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31778684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3097690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datumCasUkonu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kdy byl úkon proveden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99753551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ukonID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1800" u="none" strike="noStrike">
                          <a:effectLst/>
                        </a:rPr>
                        <a:t>o jaký úkon se jednalo odkazem na číslo úkonu z katalogu služeb</a:t>
                      </a:r>
                      <a:endParaRPr lang="pl-PL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94909869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popisUkonu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o co se jednalo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98693602"/>
                  </a:ext>
                </a:extLst>
              </a:tr>
              <a:tr h="607733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identifikaceZaznamuSystemuProvadejiciUkon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číslo transakce daného záznamu, primární/jednoznačný identifikátor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80759768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spisovaZnackaZadatale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l-PL" sz="1800" u="none" strike="noStrike" dirty="0">
                          <a:effectLst/>
                        </a:rPr>
                        <a:t>mozna spisova znacka zadatele o ukon</a:t>
                      </a:r>
                      <a:endParaRPr lang="pl-P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69498734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cisloJednaci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cislo jednaci k úkonu podpořeneho IS a navazaneho na eSSL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11886016"/>
                  </a:ext>
                </a:extLst>
              </a:tr>
              <a:tr h="303866"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>
                          <a:effectLst/>
                        </a:rPr>
                        <a:t>datumVydaniOsvedceniUkonu</a:t>
                      </a:r>
                      <a:endParaRPr lang="cs-CZ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800" u="none" strike="noStrike" dirty="0">
                          <a:effectLst/>
                        </a:rPr>
                        <a:t>kdy bylo osvědčení vydáno</a:t>
                      </a:r>
                      <a:endParaRPr lang="cs-CZ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48679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797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>
            <a:extLst>
              <a:ext uri="{FF2B5EF4-FFF2-40B4-BE49-F238E27FC236}">
                <a16:creationId xmlns:a16="http://schemas.microsoft.com/office/drawing/2014/main" id="{01DE4A2D-4738-4983-9877-7FE75C02E7CF}"/>
              </a:ext>
            </a:extLst>
          </p:cNvPr>
          <p:cNvSpPr txBox="1"/>
          <p:nvPr/>
        </p:nvSpPr>
        <p:spPr>
          <a:xfrm>
            <a:off x="2999656" y="2708920"/>
            <a:ext cx="5976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5400" dirty="0"/>
              <a:t>Dotazy – odpovědi ?</a:t>
            </a:r>
          </a:p>
        </p:txBody>
      </p:sp>
    </p:spTree>
    <p:extLst>
      <p:ext uri="{BB962C8B-B14F-4D97-AF65-F5344CB8AC3E}">
        <p14:creationId xmlns:p14="http://schemas.microsoft.com/office/powerpoint/2010/main" val="2325368997"/>
      </p:ext>
    </p:extLst>
  </p:cSld>
  <p:clrMapOvr>
    <a:masterClrMapping/>
  </p:clrMapOvr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406C23-1FFC-49C7-8440-17D25DFC7C30}"/>
</file>

<file path=customXml/itemProps2.xml><?xml version="1.0" encoding="utf-8"?>
<ds:datastoreItem xmlns:ds="http://schemas.openxmlformats.org/officeDocument/2006/customXml" ds:itemID="{83F2CD8C-1F57-4021-ADA7-82EA95C20947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F4C5B2BF-E6B0-4F2D-9A6E-BA8D5EE8464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MV_sablona1_2007</Template>
  <TotalTime>6115</TotalTime>
  <Words>1225</Words>
  <Application>Microsoft Office PowerPoint</Application>
  <PresentationFormat>Širokoúhlá obrazovka</PresentationFormat>
  <Paragraphs>128</Paragraphs>
  <Slides>13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7" baseType="lpstr">
      <vt:lpstr>Arial</vt:lpstr>
      <vt:lpstr>Calibri</vt:lpstr>
      <vt:lpstr>Symbol</vt:lpstr>
      <vt:lpstr>MV_sablona1_2007</vt:lpstr>
      <vt:lpstr>Osvědčení o digitálním úkonu Současný stav poznání </vt:lpstr>
      <vt:lpstr>Právní základ</vt:lpstr>
      <vt:lpstr>Další relevantní předpisy, které jsme prozatím identifikovali</vt:lpstr>
      <vt:lpstr>Enterprise architektura - Jak se s osvědčení popasovat</vt:lpstr>
      <vt:lpstr>Co tedy „úřad“ musí určitě udělat</vt:lpstr>
      <vt:lpstr>Konkrétní případy – nutné splnění</vt:lpstr>
      <vt:lpstr>Jak předávat na CzechPoint a PVS</vt:lpstr>
      <vt:lpstr>Další kroky</vt:lpstr>
      <vt:lpstr>Občan má právo na opis dokumentů, které poskytl úřadu</vt:lpstr>
      <vt:lpstr>Otevřené otázky</vt:lpstr>
      <vt:lpstr>Přehled údajů v LOGu</vt:lpstr>
      <vt:lpstr>Údaje na PDF/A vizualizaci osvědčení</vt:lpstr>
      <vt:lpstr>Prezentace aplikace PowerPoint</vt:lpstr>
    </vt:vector>
  </TitlesOfParts>
  <Company>MV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Návaznost projektu na architekturu eGovernmentu z pohledu OHA</dc:title>
  <dc:creator>Tomáš Šedivec</dc:creator>
  <cp:lastModifiedBy>Petr Tiller</cp:lastModifiedBy>
  <cp:revision>257</cp:revision>
  <dcterms:created xsi:type="dcterms:W3CDTF">2016-11-24T12:36:26Z</dcterms:created>
  <dcterms:modified xsi:type="dcterms:W3CDTF">2021-08-29T20:39:34Z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0x010100F4E3A0E2EB86C94B99A5C16DDFBEB809</vt:lpwstr>
  </property>
</Properties>
</file>
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269" r:id="rId6"/>
    <p:sldId id="275" r:id="rId7"/>
    <p:sldId id="272" r:id="rId8"/>
    <p:sldId id="273" r:id="rId9"/>
    <p:sldId id="274" r:id="rId10"/>
    <p:sldId id="270" r:id="rId11"/>
    <p:sldId id="271" r:id="rId12"/>
    <p:sldId id="268" r:id="rId13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ří Valášek" initials="JV" lastIdx="1" clrIdx="0"/>
  <p:cmAuthor id="2" name="PEKU" initials="P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000000"/>
    <a:srgbClr val="FFFFFF"/>
    <a:srgbClr val="FF9393"/>
    <a:srgbClr val="00A9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50000" autoAdjust="0"/>
  </p:normalViewPr>
  <p:slideViewPr>
    <p:cSldViewPr>
      <p:cViewPr varScale="1">
        <p:scale>
          <a:sx n="86" d="100"/>
          <a:sy n="86" d="100"/>
        </p:scale>
        <p:origin x="93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416E4B-5671-403B-B91E-16698A050570}" type="datetimeFigureOut">
              <a:rPr lang="cs-CZ" smtClean="0"/>
              <a:t>01.02.2021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180BF2-CA21-4D5B-9E8A-0EF4925B073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3038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42844" y="1428736"/>
            <a:ext cx="7772400" cy="1470025"/>
          </a:xfrm>
        </p:spPr>
        <p:txBody>
          <a:bodyPr/>
          <a:lstStyle>
            <a:lvl1pPr algn="l">
              <a:defRPr>
                <a:solidFill>
                  <a:srgbClr val="00A9E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42844" y="3857628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42844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01.02.2021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4282" y="1600200"/>
            <a:ext cx="8472518" cy="4525963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01.02.2021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4282" y="4357694"/>
            <a:ext cx="7772400" cy="1362075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14282" y="2857496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01.02.2021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214282" y="157161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01.02.2021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14282" y="150335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214282" y="2143116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>
          <a:xfrm>
            <a:off x="214282" y="6324591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01.02.2021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01.02.2021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01.02.2021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4282" y="1142984"/>
            <a:ext cx="3294065" cy="1285884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28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14282" y="2500306"/>
            <a:ext cx="3251231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01.02.2021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01.02.2021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285720" y="1600200"/>
            <a:ext cx="8401080" cy="452596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01.02.2021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285720" y="1285860"/>
            <a:ext cx="6191280" cy="484030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01.02.2021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velkybubli_CJ_1502_1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1522"/>
            <a:ext cx="9144000" cy="6854956"/>
          </a:xfrm>
          <a:prstGeom prst="rect">
            <a:avLst/>
          </a:prstGeom>
        </p:spPr>
      </p:pic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14282" y="157161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214282" y="635795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01.02.2021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lang="cs-CZ" sz="3600" kern="1200" dirty="0">
          <a:solidFill>
            <a:srgbClr val="00A9E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61910" y="1751744"/>
            <a:ext cx="8173572" cy="3126209"/>
          </a:xfrm>
        </p:spPr>
        <p:txBody>
          <a:bodyPr/>
          <a:lstStyle/>
          <a:p>
            <a:pPr algn="ctr"/>
            <a:r>
              <a:rPr lang="cs-CZ" b="1" dirty="0"/>
              <a:t>DEPO</a:t>
            </a:r>
            <a:br>
              <a:rPr lang="cs-CZ" b="1" dirty="0"/>
            </a:br>
            <a:r>
              <a:rPr lang="cs-CZ" sz="2000" b="1" dirty="0"/>
              <a:t>vládní návrh zákona, kterým se mění některé zákony v souvislosti s Další Elektronizací Postupů Orgánů veřejné moci</a:t>
            </a:r>
            <a:r>
              <a:rPr lang="en-CZ" sz="2000" dirty="0"/>
              <a:t> </a:t>
            </a:r>
            <a:br>
              <a:rPr lang="cs-CZ" b="1" dirty="0"/>
            </a:br>
            <a:r>
              <a:rPr lang="cs-CZ" b="1" dirty="0"/>
              <a:t>ST 756/0 ve znění  ST 756/4</a:t>
            </a:r>
            <a:br>
              <a:rPr lang="cs-CZ" b="1" dirty="0"/>
            </a:br>
            <a:r>
              <a:rPr lang="cs-CZ" sz="2000" b="1" dirty="0"/>
              <a:t>a další pozměňovací návrhy</a:t>
            </a:r>
            <a:br>
              <a:rPr lang="cs-CZ" sz="2000" b="1" dirty="0"/>
            </a:br>
            <a:r>
              <a:rPr lang="cs-CZ" sz="2000" b="1" dirty="0"/>
              <a:t>2.čtení 11.2.2021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804248" y="5836542"/>
            <a:ext cx="2016224" cy="432048"/>
          </a:xfrm>
        </p:spPr>
        <p:txBody>
          <a:bodyPr>
            <a:noAutofit/>
          </a:bodyPr>
          <a:lstStyle/>
          <a:p>
            <a:r>
              <a:rPr lang="cs-CZ" sz="1600" dirty="0">
                <a:solidFill>
                  <a:schemeClr val="tx1"/>
                </a:solidFill>
              </a:rPr>
              <a:t>1. 2. 2021, Praha</a:t>
            </a:r>
          </a:p>
        </p:txBody>
      </p:sp>
      <p:sp>
        <p:nvSpPr>
          <p:cNvPr id="4" name="Podnadpis 2"/>
          <p:cNvSpPr txBox="1">
            <a:spLocks/>
          </p:cNvSpPr>
          <p:nvPr/>
        </p:nvSpPr>
        <p:spPr>
          <a:xfrm>
            <a:off x="539552" y="5301208"/>
            <a:ext cx="5472608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000" dirty="0">
                <a:solidFill>
                  <a:schemeClr val="tx1"/>
                </a:solidFill>
              </a:rPr>
              <a:t>Ing. Ondřej Felix </a:t>
            </a:r>
            <a:r>
              <a:rPr lang="cs-CZ" sz="2000" dirty="0" err="1">
                <a:solidFill>
                  <a:schemeClr val="tx1"/>
                </a:solidFill>
              </a:rPr>
              <a:t>CSc</a:t>
            </a:r>
            <a:endParaRPr lang="cs-CZ" sz="2000" dirty="0">
              <a:solidFill>
                <a:schemeClr val="tx1"/>
              </a:solidFill>
            </a:endParaRPr>
          </a:p>
          <a:p>
            <a:r>
              <a:rPr lang="cs-CZ" sz="1600" dirty="0">
                <a:solidFill>
                  <a:schemeClr val="tx1"/>
                </a:solidFill>
              </a:rPr>
              <a:t>Poradce náměstka MV pro ICT, Digitální šampion ČR</a:t>
            </a:r>
          </a:p>
          <a:p>
            <a:r>
              <a:rPr lang="cs-CZ" sz="1600" dirty="0">
                <a:solidFill>
                  <a:schemeClr val="tx1"/>
                </a:solidFill>
              </a:rPr>
              <a:t>Ministerstvo vnitra ČR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244408" y="116632"/>
            <a:ext cx="778408" cy="490066"/>
          </a:xfrm>
        </p:spPr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8244408" y="5733256"/>
            <a:ext cx="442392" cy="3929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267744" y="220680"/>
            <a:ext cx="5544616" cy="8640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2800" b="1" dirty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Původní oblasti navrhovaných úprav v 756/0</a:t>
            </a:r>
            <a:endParaRPr lang="en-US" sz="2800" b="1" dirty="0">
              <a:solidFill>
                <a:srgbClr val="00A9E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88985" y="1084776"/>
            <a:ext cx="8566030" cy="5584584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2400" dirty="0">
              <a:solidFill>
                <a:schemeClr val="accent1"/>
              </a:solidFill>
            </a:endParaRPr>
          </a:p>
          <a:p>
            <a:endParaRPr lang="cs-CZ" sz="2400" dirty="0">
              <a:solidFill>
                <a:schemeClr val="accent1"/>
              </a:solidFill>
            </a:endParaRPr>
          </a:p>
          <a:p>
            <a:endParaRPr lang="cs-CZ" sz="2400" dirty="0">
              <a:solidFill>
                <a:schemeClr val="accent1"/>
              </a:solidFill>
            </a:endParaRPr>
          </a:p>
          <a:p>
            <a:r>
              <a:rPr lang="cs-CZ" sz="2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Sdílení dat mezi orgány veřejné m</a:t>
            </a:r>
            <a:r>
              <a:rPr lang="en-CZ" sz="2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oci</a:t>
            </a:r>
          </a:p>
          <a:p>
            <a:pPr lvl="1"/>
            <a:r>
              <a:rPr lang="cs-CZ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stanovuje podmínky pro sdílení údajů mezi základními registry navzájem, základními registry a </a:t>
            </a:r>
            <a:r>
              <a:rPr lang="cs-CZ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agendovými</a:t>
            </a:r>
            <a:r>
              <a:rPr lang="cs-CZ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informačními systémy, základními registry a informačními systémy soukromoprávních uživatelů údajů umožňujícími využívání údajů ze základních registrů nebo </a:t>
            </a:r>
            <a:r>
              <a:rPr lang="cs-CZ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agendových</a:t>
            </a:r>
            <a:r>
              <a:rPr lang="cs-CZ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informačních systémů (dále jen „soukromoprávní systém pro využívání údajů“), </a:t>
            </a:r>
            <a:r>
              <a:rPr lang="cs-CZ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agendovými</a:t>
            </a:r>
            <a:r>
              <a:rPr lang="cs-CZ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informačními systémy navzájem a mezi </a:t>
            </a:r>
            <a:r>
              <a:rPr lang="cs-CZ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agendovými</a:t>
            </a:r>
            <a:r>
              <a:rPr lang="cs-CZ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informačními systémy a soukromoprávními systémy pro využívání údajů.“.</a:t>
            </a:r>
          </a:p>
          <a:p>
            <a:pPr lvl="1"/>
            <a:r>
              <a:rPr lang="cs-CZ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informačním systémem základních registrů informační systém veřejné správy, který je součástí referenčního, sdíleného a bezpečného rozhraní informačních systémů veřejné správy</a:t>
            </a:r>
            <a:r>
              <a:rPr lang="cs-CZ" baseline="30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54)</a:t>
            </a:r>
            <a:r>
              <a:rPr lang="cs-CZ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(dále jen „referenční rozhraní“) a jehož prostřednictvím je zajišťováno sdílení údajů mezi základními registry navzájem, základními registry a </a:t>
            </a:r>
            <a:r>
              <a:rPr lang="cs-CZ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agendovými</a:t>
            </a:r>
            <a:r>
              <a:rPr lang="cs-CZ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informačními systémy, základními registry a soukromoprávními systémy pro využívání údajů, </a:t>
            </a:r>
            <a:r>
              <a:rPr lang="cs-CZ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agendovými</a:t>
            </a:r>
            <a:r>
              <a:rPr lang="cs-CZ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informačními systémy, jejichž prostřednictvím se zapisují údaje do základních registrů, a jinými </a:t>
            </a:r>
            <a:r>
              <a:rPr lang="cs-CZ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agendovými</a:t>
            </a:r>
            <a:r>
              <a:rPr lang="cs-CZ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informačními systémy a mezi </a:t>
            </a:r>
            <a:r>
              <a:rPr lang="cs-CZ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agendovými</a:t>
            </a:r>
            <a:r>
              <a:rPr lang="cs-CZ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informačními systémy, jejichž prostřednictvím se zapisují údaje do základních registrů, a soukromoprávními systémy pro využívání údajů, správa oprávnění přístupu k údajům a další činnosti podle tohoto zákona,</a:t>
            </a:r>
            <a:endParaRPr lang="en-CZ" sz="21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cs-CZ"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informačním systémem sdílené služby informační systém veřejné správy, který je součástí referenčního rozhraní a jehož prostřednictvím je zajišťováno sdílení údajů mezi </a:t>
            </a:r>
            <a:r>
              <a:rPr lang="cs-CZ" sz="24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agendovými</a:t>
            </a:r>
            <a:r>
              <a:rPr lang="cs-CZ"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informačními systémy, jejichž prostřednictvím se nezapisují údaje do základních registrů, navzájem, a mezi </a:t>
            </a:r>
            <a:r>
              <a:rPr lang="cs-CZ" sz="24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agendovými</a:t>
            </a:r>
            <a:r>
              <a:rPr lang="cs-CZ"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informačními systémy, jejichž prostřednictvím se nezapisují údaje do základních registrů, a soukromoprávními systémy pro využívání údajů, správa oprávnění přístupu k údajům a další činnosti podle tohoto zákona,“.</a:t>
            </a:r>
            <a:endParaRPr lang="en-CZ" sz="24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CZ" sz="25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6975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244408" y="116632"/>
            <a:ext cx="778408" cy="490066"/>
          </a:xfrm>
        </p:spPr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8244408" y="5733256"/>
            <a:ext cx="442392" cy="3929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267744" y="220680"/>
            <a:ext cx="5544616" cy="8640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2800" b="1" dirty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Původní oblasti navrhovaných úprav v 756/0</a:t>
            </a:r>
            <a:endParaRPr lang="en-US" sz="2800" b="1" dirty="0">
              <a:solidFill>
                <a:srgbClr val="00A9E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88985" y="1268760"/>
            <a:ext cx="8566030" cy="5400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2400" dirty="0">
              <a:solidFill>
                <a:schemeClr val="accent1"/>
              </a:solidFill>
            </a:endParaRPr>
          </a:p>
          <a:p>
            <a:endParaRPr lang="cs-CZ" sz="2400" dirty="0">
              <a:solidFill>
                <a:schemeClr val="accent1"/>
              </a:solidFill>
            </a:endParaRPr>
          </a:p>
          <a:p>
            <a:endParaRPr lang="cs-CZ" sz="2400" dirty="0">
              <a:solidFill>
                <a:schemeClr val="accent1"/>
              </a:solidFill>
            </a:endParaRPr>
          </a:p>
          <a:p>
            <a:r>
              <a:rPr lang="cs-CZ" sz="2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Využívání </a:t>
            </a:r>
            <a:r>
              <a:rPr lang="cs-CZ" sz="29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</a:t>
            </a:r>
            <a:r>
              <a:rPr lang="cs-CZ" sz="2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9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computingu</a:t>
            </a:r>
            <a:r>
              <a:rPr lang="cs-CZ" sz="2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orgány veřejné správy </a:t>
            </a:r>
            <a:endParaRPr lang="en-CZ" sz="29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Formy realizace petičního práva</a:t>
            </a:r>
            <a:endParaRPr lang="en-CZ" sz="29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Dálkový přístup do centrálního registru zbraní</a:t>
            </a:r>
            <a:endParaRPr lang="en-CZ" sz="29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Využívání údajů v archivnictví a spisové službě </a:t>
            </a:r>
            <a:endParaRPr lang="en-CZ" sz="29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Soukromoprávní komunikace datovými schránkami</a:t>
            </a:r>
            <a:endParaRPr lang="en-CZ" sz="29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Soukromoprávní uživatelé údajů vedených v informačních systémech veřejné správy</a:t>
            </a:r>
          </a:p>
          <a:p>
            <a:pPr lvl="1"/>
            <a:r>
              <a:rPr lang="cs-CZ" sz="2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Soukromoprávní uživatel údajů zajišťuje realizaci vazby mezi soukromoprávním systémem pro využívání údajů a informačním systémem základních registrů za účelem využívání údajů.</a:t>
            </a:r>
            <a:r>
              <a:rPr lang="en-CZ" sz="2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cs-CZ" sz="29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cs-CZ" sz="2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cs-CZ" sz="4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Otevírá vice než 160 zákonů a mění a doplňuje legislativu </a:t>
            </a:r>
            <a:r>
              <a:rPr lang="cs-CZ" sz="4000" b="1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eGovernmentu</a:t>
            </a:r>
            <a:r>
              <a:rPr lang="cs-CZ" sz="4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zásadním způsobem</a:t>
            </a:r>
          </a:p>
          <a:p>
            <a:endParaRPr lang="cs-CZ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2357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244408" y="116632"/>
            <a:ext cx="778408" cy="490066"/>
          </a:xfrm>
        </p:spPr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8244408" y="5733256"/>
            <a:ext cx="442392" cy="3929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267744" y="220680"/>
            <a:ext cx="5544616" cy="8640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2800" b="1" dirty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Některé nově navržené oblasti navrhovaných úprav v 756/4</a:t>
            </a:r>
            <a:endParaRPr lang="en-US" sz="2800" b="1" dirty="0">
              <a:solidFill>
                <a:srgbClr val="00A9E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88985" y="1340768"/>
            <a:ext cx="8566030" cy="532859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2400" dirty="0">
              <a:solidFill>
                <a:schemeClr val="accent1"/>
              </a:solidFill>
            </a:endParaRPr>
          </a:p>
          <a:p>
            <a:endParaRPr lang="cs-CZ" sz="2400" dirty="0">
              <a:solidFill>
                <a:schemeClr val="accent1"/>
              </a:solidFill>
            </a:endParaRPr>
          </a:p>
          <a:p>
            <a:endParaRPr lang="cs-CZ" sz="2400" dirty="0">
              <a:solidFill>
                <a:schemeClr val="accent1"/>
              </a:solidFill>
            </a:endParaRPr>
          </a:p>
          <a:p>
            <a:r>
              <a:rPr lang="cs-CZ" sz="2400" dirty="0">
                <a:solidFill>
                  <a:schemeClr val="accent1"/>
                </a:solidFill>
              </a:rPr>
              <a:t>Účinky podpisu (fikce podpisu prostřednictvím ISVS)</a:t>
            </a:r>
          </a:p>
          <a:p>
            <a:pPr lvl="1"/>
            <a:r>
              <a:rPr lang="cs-CZ" sz="2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Úkon, jehož náležitostí má být podpis toho, kdo jej činí, učiněný prostřednictvím informačního systému veřejné správy se považuje za podepsaný, umožňuje-li informační systém veřejné správy prokázání totožnosti toho, kdo úkon činí, s využitím elektronické identifikace, autorizaci úkonu tím, kdo úkon činí, a zpětné prokázání projevu vůle toho, kdo úkon činí.“</a:t>
            </a:r>
            <a:r>
              <a:rPr lang="en-CZ" sz="2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cs-CZ"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Atestace elektronického systému spisové služby</a:t>
            </a:r>
          </a:p>
          <a:p>
            <a:pPr lvl="1"/>
            <a:r>
              <a:rPr lang="cs-CZ"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posouzení souladu elektronického systému spisové služby s požadavky tohoto zákona, vyhlášky podle § 70 odst. 1 a národního standardu pro elektronické systémy spisové služby (dále jen „národní standard“).“.</a:t>
            </a:r>
          </a:p>
          <a:p>
            <a:r>
              <a:rPr lang="cs-CZ" dirty="0">
                <a:solidFill>
                  <a:schemeClr val="accent1"/>
                </a:solidFill>
              </a:rPr>
              <a:t>Legalizací podpisu se ověřuje, že žadatel před ověřující osobou</a:t>
            </a:r>
            <a:endParaRPr lang="en-CZ" dirty="0">
              <a:solidFill>
                <a:schemeClr val="accent1"/>
              </a:solidFill>
            </a:endParaRPr>
          </a:p>
          <a:p>
            <a:pPr lvl="1"/>
            <a:r>
              <a:rPr lang="cs-CZ" sz="3200" dirty="0">
                <a:solidFill>
                  <a:schemeClr val="accent1"/>
                </a:solidFill>
              </a:rPr>
              <a:t>a) listinu vlastnoručně podepsal nebo podpis na listině uznal za vlastní, nebo</a:t>
            </a:r>
          </a:p>
          <a:p>
            <a:pPr lvl="1"/>
            <a:r>
              <a:rPr lang="cs-CZ" sz="3200" dirty="0">
                <a:solidFill>
                  <a:schemeClr val="accent1"/>
                </a:solidFill>
              </a:rPr>
              <a:t>b) elektronický podpis na dokumentu v elektronické podobě uznal za vlastní.“.</a:t>
            </a:r>
            <a:r>
              <a:rPr lang="cs-CZ" dirty="0">
                <a:solidFill>
                  <a:schemeClr val="accent1"/>
                </a:solidFill>
              </a:rPr>
              <a:t> </a:t>
            </a:r>
            <a:endParaRPr lang="en-CZ" dirty="0">
              <a:solidFill>
                <a:schemeClr val="accent1"/>
              </a:solidFill>
            </a:endParaRPr>
          </a:p>
          <a:p>
            <a:pPr lvl="1"/>
            <a:endParaRPr lang="cs-CZ" sz="24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123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244408" y="116632"/>
            <a:ext cx="778408" cy="490066"/>
          </a:xfrm>
        </p:spPr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8244408" y="5733256"/>
            <a:ext cx="442392" cy="3929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267744" y="220680"/>
            <a:ext cx="5544616" cy="8640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2800" b="1" dirty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Některé nově navržené oblasti navrhovaných úprav v 756/4</a:t>
            </a:r>
            <a:endParaRPr lang="en-US" sz="2800" b="1" dirty="0">
              <a:solidFill>
                <a:srgbClr val="00A9E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88985" y="1998934"/>
            <a:ext cx="8566030" cy="4670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2400" dirty="0">
              <a:solidFill>
                <a:schemeClr val="accent1"/>
              </a:solidFill>
            </a:endParaRPr>
          </a:p>
          <a:p>
            <a:endParaRPr lang="cs-CZ" sz="2400" dirty="0">
              <a:solidFill>
                <a:schemeClr val="accent1"/>
              </a:solidFill>
            </a:endParaRPr>
          </a:p>
          <a:p>
            <a:endParaRPr lang="cs-CZ" sz="2400" dirty="0">
              <a:solidFill>
                <a:schemeClr val="accent1"/>
              </a:solidFill>
            </a:endParaRPr>
          </a:p>
          <a:p>
            <a:r>
              <a:rPr lang="cs-CZ" sz="2000" dirty="0">
                <a:solidFill>
                  <a:schemeClr val="accent1"/>
                </a:solidFill>
              </a:rPr>
              <a:t>Upřesnění procesů v souvislosti s </a:t>
            </a:r>
            <a:r>
              <a:rPr lang="cs-CZ" sz="2000" dirty="0" err="1">
                <a:solidFill>
                  <a:schemeClr val="accent1"/>
                </a:solidFill>
              </a:rPr>
              <a:t>cloud</a:t>
            </a:r>
            <a:r>
              <a:rPr lang="cs-CZ" sz="2000" dirty="0">
                <a:solidFill>
                  <a:schemeClr val="accent1"/>
                </a:solidFill>
              </a:rPr>
              <a:t> </a:t>
            </a:r>
            <a:r>
              <a:rPr lang="cs-CZ" sz="2000" dirty="0" err="1">
                <a:solidFill>
                  <a:schemeClr val="accent1"/>
                </a:solidFill>
              </a:rPr>
              <a:t>computingem</a:t>
            </a:r>
            <a:r>
              <a:rPr lang="cs-CZ" sz="2000" dirty="0">
                <a:solidFill>
                  <a:schemeClr val="accent1"/>
                </a:solidFill>
              </a:rPr>
              <a:t> využívaným ve veřejné správě a definice </a:t>
            </a:r>
            <a:r>
              <a:rPr lang="cs-CZ" sz="2000" dirty="0" err="1">
                <a:solidFill>
                  <a:schemeClr val="accent1"/>
                </a:solidFill>
              </a:rPr>
              <a:t>cloud</a:t>
            </a:r>
            <a:r>
              <a:rPr lang="cs-CZ" sz="2000" dirty="0">
                <a:solidFill>
                  <a:schemeClr val="accent1"/>
                </a:solidFill>
              </a:rPr>
              <a:t> </a:t>
            </a:r>
            <a:r>
              <a:rPr lang="cs-CZ" sz="2000" dirty="0" err="1">
                <a:solidFill>
                  <a:schemeClr val="accent1"/>
                </a:solidFill>
              </a:rPr>
              <a:t>computingu</a:t>
            </a:r>
            <a:endParaRPr lang="cs-CZ" sz="2000" dirty="0">
              <a:solidFill>
                <a:schemeClr val="accent1"/>
              </a:solidFill>
            </a:endParaRPr>
          </a:p>
          <a:p>
            <a:r>
              <a:rPr lang="cs-CZ" sz="2000" dirty="0">
                <a:solidFill>
                  <a:schemeClr val="accent1"/>
                </a:solidFill>
              </a:rPr>
              <a:t>Úpravy povinností správců ISVS </a:t>
            </a:r>
          </a:p>
          <a:p>
            <a:endParaRPr lang="cs-CZ" sz="22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294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244408" y="116632"/>
            <a:ext cx="778408" cy="490066"/>
          </a:xfrm>
        </p:spPr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8244408" y="5733256"/>
            <a:ext cx="442392" cy="3929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267744" y="220680"/>
            <a:ext cx="5544616" cy="8640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2800" b="1" dirty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Některé nově navržené oblasti navrhovaných úprav v 756/4</a:t>
            </a:r>
            <a:endParaRPr lang="en-US" sz="2800" b="1" dirty="0">
              <a:solidFill>
                <a:srgbClr val="00A9E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88985" y="1998934"/>
            <a:ext cx="8566030" cy="4670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cs-CZ" sz="2400" dirty="0">
              <a:solidFill>
                <a:schemeClr val="accent1"/>
              </a:solidFill>
            </a:endParaRPr>
          </a:p>
          <a:p>
            <a:r>
              <a:rPr lang="cs-CZ" sz="2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Zřízení datové schránky </a:t>
            </a:r>
          </a:p>
          <a:p>
            <a:pPr lvl="1"/>
            <a:r>
              <a:rPr lang="cs-CZ" sz="1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Datovou schránku fyzické osoby zřídí ministerstvo bezplatně </a:t>
            </a:r>
            <a:r>
              <a:rPr lang="cs-CZ" sz="18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fyzické osobě, která je plně svéprávná, bezodkladně poté, co fyzická osoba poprvé použije prostředek pro elektronickou identifikaci vydaný v rámci kvalifikovaného systému elektronické identifikace (dále jen „kvalifikovaný prostředek“) vůči tomu, kdo umožňuje prokázání totožnosti podle zákona upravujícího elektronickou identifikaci</a:t>
            </a:r>
          </a:p>
          <a:p>
            <a:r>
              <a:rPr lang="cs-CZ" sz="2000" dirty="0">
                <a:solidFill>
                  <a:schemeClr val="accent1"/>
                </a:solidFill>
              </a:rPr>
              <a:t>Zřízení datových schránek ze zákona pro všechny PO zapsané v Registru osob</a:t>
            </a:r>
          </a:p>
          <a:p>
            <a:endParaRPr lang="cs-CZ" sz="22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cs-CZ" sz="18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sz="22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200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244408" y="116632"/>
            <a:ext cx="778408" cy="490066"/>
          </a:xfrm>
        </p:spPr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8244408" y="5733256"/>
            <a:ext cx="442392" cy="3929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267744" y="220680"/>
            <a:ext cx="5544616" cy="8640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2800" b="1" dirty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Některé nově navržené oblasti navrhovaných úprav v dalších PN</a:t>
            </a:r>
            <a:endParaRPr lang="en-US" sz="2800" b="1" dirty="0">
              <a:solidFill>
                <a:srgbClr val="00A9E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51520" y="1486568"/>
            <a:ext cx="8566030" cy="4670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cs-CZ" sz="2400" dirty="0">
              <a:solidFill>
                <a:schemeClr val="accent1"/>
              </a:solidFill>
            </a:endParaRPr>
          </a:p>
          <a:p>
            <a:r>
              <a:rPr lang="cs-CZ" sz="2400" dirty="0">
                <a:solidFill>
                  <a:schemeClr val="accent1"/>
                </a:solidFill>
              </a:rPr>
              <a:t>Elektronické doručování dokumentů v procesech podle zákoníku práce</a:t>
            </a:r>
          </a:p>
          <a:p>
            <a:r>
              <a:rPr lang="cs-CZ" sz="2400" dirty="0">
                <a:solidFill>
                  <a:schemeClr val="accent1"/>
                </a:solidFill>
              </a:rPr>
              <a:t>Prokazování oprávnění k řízení motorových vozidel elektronicky místo prokazování plastovou kartičkou</a:t>
            </a:r>
          </a:p>
          <a:p>
            <a:r>
              <a:rPr lang="cs-CZ" sz="2400" dirty="0">
                <a:solidFill>
                  <a:schemeClr val="accent1"/>
                </a:solidFill>
              </a:rPr>
              <a:t>Zřízení portálu podnikatele</a:t>
            </a:r>
          </a:p>
          <a:p>
            <a:endParaRPr lang="cs-CZ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52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244408" y="116632"/>
            <a:ext cx="778408" cy="490066"/>
          </a:xfrm>
        </p:spPr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8244408" y="5733256"/>
            <a:ext cx="442392" cy="3929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267744" y="220680"/>
            <a:ext cx="5544616" cy="8640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cs-CZ" sz="2800" b="1" dirty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Plná dokumentace na </a:t>
            </a:r>
            <a:r>
              <a:rPr lang="cs-CZ" sz="2800" b="1" dirty="0" err="1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psp.cz</a:t>
            </a:r>
            <a:endParaRPr lang="en-US" sz="2800" b="1" dirty="0">
              <a:solidFill>
                <a:srgbClr val="00A9E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88985" y="1998934"/>
            <a:ext cx="8566030" cy="4670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2400" dirty="0">
              <a:solidFill>
                <a:schemeClr val="accent1"/>
              </a:solidFill>
            </a:endParaRPr>
          </a:p>
          <a:p>
            <a:endParaRPr lang="cs-CZ" sz="2400" dirty="0">
              <a:solidFill>
                <a:schemeClr val="accent1"/>
              </a:solidFill>
            </a:endParaRPr>
          </a:p>
          <a:p>
            <a:endParaRPr lang="cs-CZ" sz="2400" dirty="0">
              <a:solidFill>
                <a:schemeClr val="accent1"/>
              </a:solidFill>
            </a:endParaRPr>
          </a:p>
          <a:p>
            <a:r>
              <a:rPr lang="cs-CZ" sz="2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cs-CZ" sz="29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www.psp.cz</a:t>
            </a:r>
            <a:r>
              <a:rPr lang="cs-CZ" sz="2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cs-CZ" sz="29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sqw</a:t>
            </a:r>
            <a:r>
              <a:rPr lang="cs-CZ" sz="2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cs-CZ" sz="29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historie.sqw?o</a:t>
            </a:r>
            <a:r>
              <a:rPr lang="cs-CZ" sz="2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=8&amp;T=756</a:t>
            </a:r>
            <a:endParaRPr lang="cs-CZ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887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1560" y="1772816"/>
            <a:ext cx="7886110" cy="41044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cs-CZ" sz="4600" dirty="0"/>
          </a:p>
          <a:p>
            <a:pPr marL="0" indent="0" algn="ctr">
              <a:buNone/>
            </a:pPr>
            <a:r>
              <a:rPr lang="cs-CZ" sz="4600" dirty="0">
                <a:solidFill>
                  <a:schemeClr val="accent1"/>
                </a:solidFill>
              </a:rPr>
              <a:t>Děkuji za pozornost</a:t>
            </a:r>
          </a:p>
          <a:p>
            <a:pPr marL="0" indent="0" algn="ctr">
              <a:buNone/>
            </a:pPr>
            <a:r>
              <a:rPr lang="cs-CZ" sz="4600" dirty="0" err="1">
                <a:solidFill>
                  <a:schemeClr val="accent1"/>
                </a:solidFill>
              </a:rPr>
              <a:t>ondrej.felix@mvcr.cz</a:t>
            </a:r>
            <a:endParaRPr lang="cs-CZ" sz="4600" dirty="0">
              <a:solidFill>
                <a:schemeClr val="accent1"/>
              </a:solidFill>
            </a:endParaRPr>
          </a:p>
          <a:p>
            <a:pPr marL="0" indent="0" algn="r">
              <a:buNone/>
            </a:pPr>
            <a:endParaRPr lang="cs-CZ" sz="4600" dirty="0"/>
          </a:p>
          <a:p>
            <a:pPr marL="0" indent="0" algn="ctr">
              <a:buNone/>
            </a:pPr>
            <a:endParaRPr lang="cs-CZ" dirty="0"/>
          </a:p>
          <a:p>
            <a:pPr marL="0" indent="0">
              <a:buNone/>
            </a:pPr>
            <a:endParaRPr lang="cs-CZ" sz="1300" b="1" dirty="0"/>
          </a:p>
          <a:p>
            <a:pPr marL="0" indent="0">
              <a:buNone/>
            </a:pPr>
            <a:endParaRPr lang="cs-CZ" sz="1300" b="1" dirty="0"/>
          </a:p>
          <a:p>
            <a:pPr marL="0" indent="0">
              <a:buNone/>
            </a:pPr>
            <a:endParaRPr lang="cs-CZ" sz="1300" b="1" dirty="0"/>
          </a:p>
          <a:p>
            <a:pPr marL="0" indent="0">
              <a:buNone/>
            </a:pPr>
            <a:endParaRPr lang="cs-CZ" sz="1300" b="1" dirty="0"/>
          </a:p>
          <a:p>
            <a:pPr marL="0" indent="0">
              <a:buNone/>
            </a:pPr>
            <a:endParaRPr lang="cs-CZ" sz="1300" b="1" dirty="0"/>
          </a:p>
          <a:p>
            <a:pPr marL="0" indent="0">
              <a:buNone/>
            </a:pPr>
            <a:endParaRPr lang="cs-CZ" sz="1300" b="1" dirty="0"/>
          </a:p>
        </p:txBody>
      </p:sp>
    </p:spTree>
    <p:extLst>
      <p:ext uri="{BB962C8B-B14F-4D97-AF65-F5344CB8AC3E}">
        <p14:creationId xmlns:p14="http://schemas.microsoft.com/office/powerpoint/2010/main" val="2291577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V_sablona1_2007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4C5B2BF-E6B0-4F2D-9A6E-BA8D5EE8464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F2CD8C-1F57-4021-ADA7-82EA95C20947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204453ED-B497-44B0-B4FC-7A543E987CE3}"/>
</file>

<file path=docProps/app.xml><?xml version="1.0" encoding="utf-8"?>
<Properties xmlns="http://schemas.openxmlformats.org/officeDocument/2006/extended-properties" xmlns:vt="http://schemas.openxmlformats.org/officeDocument/2006/docPropsVTypes">
  <Template>MV_sablona1_2007</Template>
  <TotalTime>2347</TotalTime>
  <Words>736</Words>
  <Application>Microsoft Office PowerPoint</Application>
  <PresentationFormat>Předvádění na obrazovce (4:3)</PresentationFormat>
  <Paragraphs>83</Paragraphs>
  <Slides>9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2" baseType="lpstr">
      <vt:lpstr>Arial</vt:lpstr>
      <vt:lpstr>Calibri</vt:lpstr>
      <vt:lpstr>MV_sablona1_2007</vt:lpstr>
      <vt:lpstr>DEPO vládní návrh zákona, kterým se mění některé zákony v souvislosti s Další Elektronizací Postupů Orgánů veřejné moci  ST 756/0 ve znění  ST 756/4 a další pozměňovací návrhy 2.čtení 11.2.2021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Company>MV ČR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Návaznost projektu na architekturu eGovernmentu z pohledu OHA</dc:title>
  <dc:creator>Tomáš Šedivec</dc:creator>
  <cp:lastModifiedBy>Radvan Nováček</cp:lastModifiedBy>
  <cp:revision>211</cp:revision>
  <dcterms:created xsi:type="dcterms:W3CDTF">2016-11-24T12:36:26Z</dcterms:created>
  <dcterms:modified xsi:type="dcterms:W3CDTF">2021-02-01T10:19:23Z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0x010100F4E3A0E2EB86C94B99A5C16DDFBEB809</vt:lpwstr>
  </property>
</Properties>
</file>
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7" r:id="rId5"/>
    <p:sldId id="260" r:id="rId6"/>
    <p:sldId id="261" r:id="rId7"/>
    <p:sldId id="259" r:id="rId8"/>
    <p:sldId id="285" r:id="rId9"/>
    <p:sldId id="274" r:id="rId10"/>
    <p:sldId id="275" r:id="rId11"/>
    <p:sldId id="276" r:id="rId12"/>
    <p:sldId id="311" r:id="rId13"/>
    <p:sldId id="269" r:id="rId14"/>
    <p:sldId id="312" r:id="rId15"/>
    <p:sldId id="317" r:id="rId16"/>
    <p:sldId id="315" r:id="rId17"/>
    <p:sldId id="318" r:id="rId18"/>
    <p:sldId id="309" r:id="rId19"/>
    <p:sldId id="272" r:id="rId20"/>
    <p:sldId id="270" r:id="rId2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36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smtClean="0"/>
              <a:t>Kliknutím můžete upravit styl předlohy.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20.03.2023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001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20.03.2023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153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20.03.2023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040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20.03.2023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645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20.03.2023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714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20.03.2023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981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20.03.2023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850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20.03.2023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973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20.03.2023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017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20.03.2023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90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20.03.2023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462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6EB83-090E-473B-B959-92A4B5275361}" type="datetimeFigureOut">
              <a:rPr lang="cs-CZ" smtClean="0"/>
              <a:pPr/>
              <a:t>20.03.2023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90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znalostni_baze:cms_pristup_po" TargetMode="External"/><Relationship Id="rId2" Type="http://schemas.openxmlformats.org/officeDocument/2006/relationships/hyperlink" Target="https://archi.gov.cz/znalostni_baze:utlum_rc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chi.gov.cz/playgroud:statni_po" TargetMode="External"/><Relationship Id="rId4" Type="http://schemas.openxmlformats.org/officeDocument/2006/relationships/hyperlink" Target="https://archi.gov.cz/playgroud:platebni_brany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diskuz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432857" y="5620012"/>
            <a:ext cx="8533612" cy="954107"/>
          </a:xfrm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odbor Hlavního architekta eGovernmentu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Ministerstvo vnitra ČR</a:t>
            </a:r>
          </a:p>
        </p:txBody>
      </p:sp>
      <p:sp>
        <p:nvSpPr>
          <p:cNvPr id="5" name="Obdélník 4"/>
          <p:cNvSpPr/>
          <p:nvPr/>
        </p:nvSpPr>
        <p:spPr>
          <a:xfrm>
            <a:off x="1122174" y="611598"/>
            <a:ext cx="9649072" cy="34163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/>
            </a:r>
            <a:b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54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cs-CZ" sz="5400" b="1" i="0" u="none" strike="noStrike" kern="1200" cap="none" spc="0" normalizeH="0" baseline="0" noProof="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Zasedání</a:t>
            </a:r>
            <a:r>
              <a:rPr kumimoji="0" lang="cs-CZ" sz="5400" b="1" i="0" u="none" strike="noStrike" kern="1200" cap="none" spc="0" normalizeH="0" noProof="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pracovní skupiny pro architekturu a řízení ICT</a:t>
            </a:r>
            <a: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/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/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32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lang="cs-CZ" sz="32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z</a:t>
            </a:r>
            <a:r>
              <a:rPr kumimoji="0" lang="cs-CZ" sz="3200" b="1" i="0" u="none" strike="noStrike" kern="1200" cap="none" spc="0" normalizeH="0" baseline="0" noProof="0" dirty="0" err="1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asedání</a:t>
            </a:r>
            <a:r>
              <a:rPr kumimoji="0" lang="cs-CZ" sz="3200" b="1" i="0" u="none" strike="noStrike" kern="1200" cap="none" spc="0" normalizeH="0" baseline="0" noProof="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20. 3. 2023</a:t>
            </a:r>
            <a:endParaRPr kumimoji="0" lang="cs-CZ" sz="3200" b="1" i="0" u="none" strike="noStrike" kern="1200" cap="none" spc="0" normalizeH="0" baseline="0" noProof="0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14458" y="1638431"/>
            <a:ext cx="8811491" cy="1754326"/>
          </a:xfr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54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04305" y="669805"/>
            <a:ext cx="3629545" cy="1938992"/>
          </a:xfr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Kontext naší PS v rámci RVIS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100" y="10047"/>
            <a:ext cx="7581900" cy="6851008"/>
          </a:xfrm>
          <a:prstGeom prst="rect">
            <a:avLst/>
          </a:prstGeom>
        </p:spPr>
      </p:pic>
      <p:sp>
        <p:nvSpPr>
          <p:cNvPr id="5" name="Obdélník 4"/>
          <p:cNvSpPr/>
          <p:nvPr/>
        </p:nvSpPr>
        <p:spPr>
          <a:xfrm>
            <a:off x="6451600" y="3911600"/>
            <a:ext cx="1257300" cy="4445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/>
          <p:cNvSpPr/>
          <p:nvPr/>
        </p:nvSpPr>
        <p:spPr>
          <a:xfrm>
            <a:off x="6369050" y="1194800"/>
            <a:ext cx="1257300" cy="95784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/>
          <p:cNvSpPr/>
          <p:nvPr/>
        </p:nvSpPr>
        <p:spPr>
          <a:xfrm>
            <a:off x="7626350" y="93074"/>
            <a:ext cx="1352550" cy="5292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>
            <a:normAutofit fontScale="90000"/>
          </a:bodyPr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43248" y="30612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Agenda</a:t>
            </a:r>
            <a:endParaRPr lang="en-US" sz="4000" b="1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255112" y="1228855"/>
            <a:ext cx="1152127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8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Technický úvod, pravidla videokonference </a:t>
            </a:r>
            <a:r>
              <a:rPr lang="cs-CZ" sz="28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8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Hlavní program</a:t>
            </a:r>
            <a:r>
              <a:rPr lang="cs-CZ" sz="28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Změny v Národní architektuře eGovernmentu </a:t>
            </a: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</a:t>
            </a:r>
            <a:r>
              <a:rPr lang="cs-CZ" sz="28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Šedivec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NIS2 a česká transpozice – NÚKIB </a:t>
            </a:r>
            <a:endParaRPr lang="cs-CZ" sz="280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Jednotná </a:t>
            </a:r>
            <a:r>
              <a:rPr lang="cs-CZ" sz="28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doména gov.cz </a:t>
            </a:r>
            <a:r>
              <a:rPr lang="cs-CZ" sz="2800" b="1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Michal Daněk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Výzkum </a:t>
            </a: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využití a uplatnění Enterprise architektury ve veřejné správě ČR a zahraničí </a:t>
            </a:r>
            <a:r>
              <a:rPr lang="cs-CZ" sz="28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</a:t>
            </a:r>
            <a:r>
              <a:rPr lang="cs-CZ" sz="28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ČZU </a:t>
            </a:r>
            <a:endParaRPr lang="cs-CZ" sz="2800" dirty="0">
              <a:ln>
                <a:solidFill>
                  <a:schemeClr val="bg1"/>
                </a:solidFill>
              </a:ln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Digitální a informační agentura </a:t>
            </a:r>
            <a:r>
              <a:rPr lang="cs-CZ" sz="28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MVČR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MVČR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Otázky </a:t>
            </a: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nejasnosti členů pracovní skupiny – </a:t>
            </a:r>
            <a:r>
              <a:rPr lang="cs-CZ" sz="28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Š</a:t>
            </a:r>
            <a:r>
              <a:rPr lang="cs-CZ" sz="28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edivec</a:t>
            </a:r>
            <a:endParaRPr lang="cs-CZ" sz="2800" dirty="0">
              <a:ln>
                <a:solidFill>
                  <a:schemeClr val="bg1"/>
                </a:solidFill>
              </a:ln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cs-CZ" sz="28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Závěr</a:t>
            </a:r>
            <a:r>
              <a:rPr lang="cs-CZ" sz="28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</a:t>
            </a:r>
          </a:p>
        </p:txBody>
      </p:sp>
    </p:spTree>
    <p:extLst>
      <p:ext uri="{BB962C8B-B14F-4D97-AF65-F5344CB8AC3E}">
        <p14:creationId xmlns:p14="http://schemas.microsoft.com/office/powerpoint/2010/main" val="3010951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4946" y="1889852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756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122529"/>
            <a:ext cx="11620151" cy="75454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86161" y="1087143"/>
            <a:ext cx="11296691" cy="5770857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Viz také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</a:t>
            </a:r>
            <a:r>
              <a:rPr lang="cs-CZ" b="1" u="sng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archi.gov.cz/vyhledavani:changelog </a:t>
            </a: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Fyzické prokazování totožnosti </a:t>
            </a:r>
            <a:r>
              <a:rPr lang="cs-CZ" sz="2900" b="1" u="sng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</a:t>
            </a:r>
            <a:r>
              <a:rPr lang="cs-CZ" sz="2900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://</a:t>
            </a:r>
            <a:r>
              <a:rPr lang="cs-CZ" sz="2900" b="1" u="sng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archi.gov.cz/playgroud:fyzicke_prokazani_totoznosti</a:t>
            </a:r>
          </a:p>
          <a:p>
            <a:pPr>
              <a:lnSpc>
                <a:spcPct val="120000"/>
              </a:lnSpc>
            </a:pPr>
            <a:r>
              <a:rPr lang="pl-PL" sz="2900" b="1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Utlumování rodných čísel </a:t>
            </a:r>
            <a:r>
              <a:rPr lang="cs-CZ" sz="2900" b="1" u="sng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https://</a:t>
            </a:r>
            <a:r>
              <a:rPr lang="cs-CZ" sz="2900" b="1" u="sng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archi.gov.cz/znalostni_baze:utlum_rc</a:t>
            </a:r>
            <a:r>
              <a:rPr lang="cs-CZ" sz="2900" b="1" u="sng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</a:t>
            </a: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 w="0">
                  <a:solidFill>
                    <a:schemeClr val="bg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Přístup do CMS pro podřízené/zřizované organizace 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3"/>
              </a:rPr>
              <a:t>https://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hlinkClick r:id="rId3"/>
              </a:rPr>
              <a:t>archi.gov.cz/znalostni_baze:cms_pristup_po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    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Technická specifikace platební 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brány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4"/>
              </a:rPr>
              <a:t>https://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hlinkClick r:id="rId4"/>
              </a:rPr>
              <a:t>archi.gov.cz/playgroud:platebni_brany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Státní právnická osoba 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hlinkClick r:id="rId5"/>
              </a:rPr>
              <a:t>https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5"/>
              </a:rPr>
              <a:t>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hlinkClick r:id="rId5"/>
              </a:rPr>
              <a:t>archi.gov.cz/playgroud:statni_po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3810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2118049"/>
            <a:ext cx="10515600" cy="4814596"/>
          </a:xfrm>
        </p:spPr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Poslední seznam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 jednomyslně schválen 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usnesením RVIS 2022/4/29/U5</a:t>
            </a:r>
          </a:p>
          <a:p>
            <a:pPr marL="0" indent="0">
              <a:buNone/>
            </a:pP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Nadále budou změny schvalovány v hierarchii RVIS: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Pracovní skupina pro architekturu a řízení ICT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Výbor pro Informační koncepci ČR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Plenární zasedání RVIS</a:t>
            </a:r>
            <a:endParaRPr lang="cs-CZ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28221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Diskutuje s námi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611021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Pravidla diskuze na konci každé stránky:</a:t>
            </a:r>
          </a:p>
          <a:p>
            <a:pPr lvl="1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Dotazy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se musí týkat dané stránky. Pokud Váš dotaz se stránkou nesouvisí a nenašli jste potřebné informace pomocí vyhledávání, založte prosím nové diskuzní vlákno ve speciální části webu 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hlinkClick r:id="rId2"/>
              </a:rPr>
              <a:t>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https://archi.gov.cz/diskuze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Pravidla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diskuze ve speciální části </a:t>
            </a: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webu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https://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archi.gov.cz/diskuze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  <a:endParaRPr lang="cs-CZ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lvl="1"/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Diskutujte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v rámci založené diskuze. Pokud Váš příspěvek s vláknem nesouvisí, založte prosím nové diskuzní vlákno.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Pokud zakládáte nové vlákno, nezapomeňte ho pojmenovat. Název by měl souviset s Vaším dotazem.</a:t>
            </a:r>
          </a:p>
          <a:p>
            <a:endParaRPr lang="cs-CZ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77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039140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NIS2 a česká transpozice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153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039140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Jednotná doména gov.cz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677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71022" y="1546771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Výzkum využití a uplatnění Enterprise architektury ve veřejné správě ČR a zahraničí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97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039140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Digitální a informační agentura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466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1325563"/>
          </a:xfrm>
        </p:spPr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Důležité informace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69557" y="1495690"/>
            <a:ext cx="11392929" cy="5086341"/>
          </a:xfrm>
        </p:spPr>
        <p:txBody>
          <a:bodyPr>
            <a:normAutofit/>
          </a:bodyPr>
          <a:lstStyle/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Ředitel DIA – Martin </a:t>
            </a:r>
            <a:r>
              <a:rPr lang="cs-CZ" sz="4000" b="1" dirty="0" err="1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Mesršmíd</a:t>
            </a:r>
            <a:endParaRPr lang="cs-CZ" sz="4000" b="1" dirty="0" smtClean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Zástupce ředitele – Petr Kuchař</a:t>
            </a:r>
          </a:p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Přechod odborů MV (OHA, </a:t>
            </a:r>
            <a:r>
              <a:rPr lang="cs-CZ" sz="4000" b="1" dirty="0" err="1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oeG</a:t>
            </a:r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) a SZR</a:t>
            </a:r>
          </a:p>
          <a:p>
            <a:r>
              <a:rPr lang="cs-CZ" sz="4000" b="1" dirty="0" smtClean="0">
                <a:ln>
                  <a:solidFill>
                    <a:schemeClr val="bg1"/>
                  </a:solidFill>
                </a:ln>
              </a:rPr>
              <a:t>Nová datová schránka: yukd8p7</a:t>
            </a:r>
          </a:p>
          <a:p>
            <a:r>
              <a:rPr lang="cs-CZ" sz="4000" b="1" dirty="0" smtClean="0">
                <a:ln>
                  <a:solidFill>
                    <a:schemeClr val="bg1"/>
                  </a:solidFill>
                </a:ln>
              </a:rPr>
              <a:t>Sídlo: </a:t>
            </a:r>
            <a:r>
              <a:rPr lang="cs-CZ" sz="4000" b="1" dirty="0">
                <a:ln>
                  <a:solidFill>
                    <a:schemeClr val="bg1"/>
                  </a:solidFill>
                </a:ln>
              </a:rPr>
              <a:t>Na vápence </a:t>
            </a:r>
            <a:r>
              <a:rPr lang="cs-CZ" sz="4000" b="1" dirty="0" smtClean="0">
                <a:ln>
                  <a:solidFill>
                    <a:schemeClr val="bg1"/>
                  </a:solidFill>
                </a:ln>
              </a:rPr>
              <a:t>915/14, Žižkov, 130 00 </a:t>
            </a:r>
            <a:r>
              <a:rPr lang="cs-CZ" sz="4000" b="1" dirty="0">
                <a:ln>
                  <a:solidFill>
                    <a:schemeClr val="bg1"/>
                  </a:solidFill>
                </a:ln>
              </a:rPr>
              <a:t>Praha </a:t>
            </a:r>
            <a:r>
              <a:rPr lang="cs-CZ" sz="4000" b="1" dirty="0" smtClean="0">
                <a:ln>
                  <a:solidFill>
                    <a:schemeClr val="bg1"/>
                  </a:solidFill>
                </a:ln>
              </a:rPr>
              <a:t>3</a:t>
            </a:r>
          </a:p>
          <a:p>
            <a:r>
              <a:rPr lang="cs-CZ" sz="4000" b="1" dirty="0">
                <a:ln>
                  <a:solidFill>
                    <a:schemeClr val="bg1"/>
                  </a:solidFill>
                </a:ln>
              </a:rPr>
              <a:t>IČO: 17651921</a:t>
            </a:r>
          </a:p>
        </p:txBody>
      </p:sp>
    </p:spTree>
    <p:extLst>
      <p:ext uri="{BB962C8B-B14F-4D97-AF65-F5344CB8AC3E}">
        <p14:creationId xmlns:p14="http://schemas.microsoft.com/office/powerpoint/2010/main" val="1339601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98174" y="0"/>
            <a:ext cx="11055626" cy="1325563"/>
          </a:xfrm>
        </p:spPr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Důležité informace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69557" y="1495690"/>
            <a:ext cx="11392929" cy="5086341"/>
          </a:xfrm>
        </p:spPr>
        <p:txBody>
          <a:bodyPr>
            <a:normAutofit/>
          </a:bodyPr>
          <a:lstStyle/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Sběrné emailové schránky zůstávají po určitou dobu funkční </a:t>
            </a:r>
          </a:p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Technické datové schránky se migrují</a:t>
            </a:r>
          </a:p>
          <a:p>
            <a:r>
              <a:rPr lang="cs-CZ" sz="4000" b="1" dirty="0" smtClean="0">
                <a:ln>
                  <a:solidFill>
                    <a:schemeClr val="bg1"/>
                  </a:solidFill>
                </a:ln>
              </a:rPr>
              <a:t>Emailové schránky zaměstnanců se migrují</a:t>
            </a:r>
          </a:p>
          <a:p>
            <a:r>
              <a:rPr lang="cs-CZ" sz="4000" b="1" dirty="0" smtClean="0">
                <a:ln>
                  <a:solidFill>
                    <a:schemeClr val="bg1"/>
                  </a:solidFill>
                </a:ln>
              </a:rPr>
              <a:t>Je snaha zachovat telefonní kontakty</a:t>
            </a:r>
          </a:p>
          <a:p>
            <a:r>
              <a:rPr lang="cs-CZ" sz="4000" b="1" dirty="0" smtClean="0">
                <a:ln>
                  <a:solidFill>
                    <a:schemeClr val="bg1"/>
                  </a:solidFill>
                </a:ln>
              </a:rPr>
              <a:t>Nejsou nyní žádné dopady na AIS</a:t>
            </a:r>
            <a:endParaRPr lang="cs-CZ" sz="40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085309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0" y="0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Výhled a priority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Zástupný symbol pro obsah 2"/>
          <p:cNvSpPr txBox="1">
            <a:spLocks/>
          </p:cNvSpPr>
          <p:nvPr/>
        </p:nvSpPr>
        <p:spPr>
          <a:xfrm>
            <a:off x="838200" y="1484601"/>
            <a:ext cx="10515600" cy="4821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4000" b="1" dirty="0" err="1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eDokladovka</a:t>
            </a:r>
            <a:endParaRPr lang="cs-CZ" sz="40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Mandátní registr</a:t>
            </a:r>
          </a:p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Rozvoj základních registrů</a:t>
            </a:r>
          </a:p>
          <a:p>
            <a:r>
              <a:rPr lang="cs-CZ" sz="4000" b="1" dirty="0" smtClean="0">
                <a:ln>
                  <a:solidFill>
                    <a:schemeClr val="bg1"/>
                  </a:solidFill>
                </a:ln>
              </a:rPr>
              <a:t>AIS </a:t>
            </a:r>
            <a:r>
              <a:rPr lang="cs-CZ" sz="4000" b="1" dirty="0" err="1" smtClean="0">
                <a:ln>
                  <a:solidFill>
                    <a:schemeClr val="bg1"/>
                  </a:solidFill>
                </a:ln>
              </a:rPr>
              <a:t>vyrozumívací</a:t>
            </a:r>
            <a:endParaRPr lang="cs-CZ" sz="4000" b="1" dirty="0" smtClean="0">
              <a:ln>
                <a:solidFill>
                  <a:schemeClr val="bg1"/>
                </a:solidFill>
              </a:ln>
            </a:endParaRPr>
          </a:p>
          <a:p>
            <a:r>
              <a:rPr lang="cs-CZ" sz="4000" b="1" dirty="0" smtClean="0">
                <a:ln>
                  <a:solidFill>
                    <a:schemeClr val="bg1"/>
                  </a:solidFill>
                </a:ln>
              </a:rPr>
              <a:t>CAAIS</a:t>
            </a:r>
          </a:p>
          <a:p>
            <a:r>
              <a:rPr lang="cs-CZ" sz="4000" b="1" dirty="0" smtClean="0">
                <a:ln>
                  <a:solidFill>
                    <a:schemeClr val="bg1"/>
                  </a:solidFill>
                </a:ln>
              </a:rPr>
              <a:t>Operativa – schvalování apod.</a:t>
            </a:r>
            <a:endParaRPr lang="cs-CZ" sz="40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886866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Otázky a nejasnosti členů pracovní skupiny</a:t>
            </a:r>
          </a:p>
        </p:txBody>
      </p:sp>
    </p:spTree>
    <p:extLst>
      <p:ext uri="{BB962C8B-B14F-4D97-AF65-F5344CB8AC3E}">
        <p14:creationId xmlns:p14="http://schemas.microsoft.com/office/powerpoint/2010/main" val="215951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66284" y="2001818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Závěr</a:t>
            </a:r>
          </a:p>
        </p:txBody>
      </p:sp>
    </p:spTree>
    <p:extLst>
      <p:ext uri="{BB962C8B-B14F-4D97-AF65-F5344CB8AC3E}">
        <p14:creationId xmlns:p14="http://schemas.microsoft.com/office/powerpoint/2010/main" val="323577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7A5577F-90D1-4D94-B1D8-31B5055FE4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9E98EC-8279-4842-B4EF-743633698D36}">
  <ds:schemaRefs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17ED79B3-EF85-489C-B69F-E889E27D33F8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1750</TotalTime>
  <Words>405</Words>
  <Application>Microsoft Office PowerPoint</Application>
  <PresentationFormat>Širokoúhlá obrazovka</PresentationFormat>
  <Paragraphs>65</Paragraphs>
  <Slides>17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17</vt:i4>
      </vt:variant>
    </vt:vector>
  </HeadingPairs>
  <TitlesOfParts>
    <vt:vector size="20" baseType="lpstr">
      <vt:lpstr>Arial</vt:lpstr>
      <vt:lpstr>Calibri</vt:lpstr>
      <vt:lpstr>Motiv Office</vt:lpstr>
      <vt:lpstr>Prezentace aplikace PowerPoint</vt:lpstr>
      <vt:lpstr>Technický úvod, pravidla videokonference </vt:lpstr>
      <vt:lpstr>Kontext naší PS v rámci RVIS</vt:lpstr>
      <vt:lpstr> </vt:lpstr>
      <vt:lpstr>Změny v Národní architektuře eGovernmentu</vt:lpstr>
      <vt:lpstr>Změny v Národní architektuře eGovernmentu</vt:lpstr>
      <vt:lpstr>Změny v Národní architektuře eGovernmentu</vt:lpstr>
      <vt:lpstr>Diskutuje s námi</vt:lpstr>
      <vt:lpstr>NIS2 a česká transpozice</vt:lpstr>
      <vt:lpstr>Jednotná doména gov.cz</vt:lpstr>
      <vt:lpstr>Výzkum využití a uplatnění Enterprise architektury ve veřejné správě ČR a zahraničí </vt:lpstr>
      <vt:lpstr>Digitální a informační agentura </vt:lpstr>
      <vt:lpstr>Důležité informace</vt:lpstr>
      <vt:lpstr>Důležité informace</vt:lpstr>
      <vt:lpstr>Výhled a priority</vt:lpstr>
      <vt:lpstr>Otázky a nejasnosti členů pracovní skupiny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Šedivec Tomáš</cp:lastModifiedBy>
  <cp:revision>111</cp:revision>
  <dcterms:created xsi:type="dcterms:W3CDTF">2021-01-27T09:19:54Z</dcterms:created>
  <dcterms:modified xsi:type="dcterms:W3CDTF">2023-03-20T11:43:44Z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0x01010090B00F75BED7484DA544575FBD77AFF7</vt:lpwstr>
  </property>
</Properties>
</file>
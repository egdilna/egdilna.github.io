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60" r:id="rId6"/>
    <p:sldId id="261" r:id="rId7"/>
    <p:sldId id="259" r:id="rId8"/>
    <p:sldId id="265" r:id="rId9"/>
    <p:sldId id="274" r:id="rId10"/>
    <p:sldId id="276" r:id="rId11"/>
    <p:sldId id="275" r:id="rId12"/>
    <p:sldId id="269" r:id="rId13"/>
    <p:sldId id="277" r:id="rId14"/>
    <p:sldId id="278" r:id="rId15"/>
    <p:sldId id="268" r:id="rId16"/>
    <p:sldId id="272" r:id="rId17"/>
    <p:sldId id="270" r:id="rId1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36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90459" y="1428737"/>
            <a:ext cx="103632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90459" y="3857628"/>
            <a:ext cx="85344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9045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04.10.2021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91851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85709" y="1600201"/>
            <a:ext cx="11296691" cy="45259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04.10.2021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59944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4357695"/>
            <a:ext cx="103632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2857496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04.10.2021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2323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85709" y="157161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04.10.2021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9882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10" y="150335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85710" y="21431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85709" y="6324592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04.10.2021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4341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04.10.2021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4896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04.10.2021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6692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10" y="1142984"/>
            <a:ext cx="4392087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85710" y="2500307"/>
            <a:ext cx="4334975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04.10.2021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58863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04.10.2021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49843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600201"/>
            <a:ext cx="11201440" cy="452596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04.10.2021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4046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285861"/>
            <a:ext cx="8255040" cy="484030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04.10.2021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25856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12192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157161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85709" y="63579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04.10.2021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65626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rchi.gov.cz/nap:nia_id" TargetMode="External"/><Relationship Id="rId13" Type="http://schemas.openxmlformats.org/officeDocument/2006/relationships/hyperlink" Target="https://archi.gov.cz/nap:pristupnost_informaci" TargetMode="External"/><Relationship Id="rId18" Type="http://schemas.openxmlformats.org/officeDocument/2006/relationships/hyperlink" Target="https://archi.gov.cz/znalostni_baze:benchmarkverejnespravy" TargetMode="External"/><Relationship Id="rId3" Type="http://schemas.openxmlformats.org/officeDocument/2006/relationships/hyperlink" Target="https://archi.gov.cz/nap:katalog_sluzeb" TargetMode="External"/><Relationship Id="rId7" Type="http://schemas.openxmlformats.org/officeDocument/2006/relationships/hyperlink" Target="https://archi.gov.cz/nap:mobilni_klic_egov" TargetMode="External"/><Relationship Id="rId12" Type="http://schemas.openxmlformats.org/officeDocument/2006/relationships/hyperlink" Target="https://archi.gov.cz/znalostni_baze:bezpecnost_identity" TargetMode="External"/><Relationship Id="rId17" Type="http://schemas.openxmlformats.org/officeDocument/2006/relationships/hyperlink" Target="https://archi.gov.cz/znalostni_baze:povinnosti_ovs" TargetMode="External"/><Relationship Id="rId2" Type="http://schemas.openxmlformats.org/officeDocument/2006/relationships/hyperlink" Target="https://archi.gov.cz/vyhledavani:changelog" TargetMode="External"/><Relationship Id="rId16" Type="http://schemas.openxmlformats.org/officeDocument/2006/relationships/hyperlink" Target="https://archi.gov.cz/nap:verejny_datovy_fond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chi.gov.cz/nap:nia_eop" TargetMode="External"/><Relationship Id="rId11" Type="http://schemas.openxmlformats.org/officeDocument/2006/relationships/hyperlink" Target="https://archi.gov.cz/nap:nia_bankid" TargetMode="External"/><Relationship Id="rId5" Type="http://schemas.openxmlformats.org/officeDocument/2006/relationships/hyperlink" Target="https://archi.gov.cz/nap:nia" TargetMode="External"/><Relationship Id="rId15" Type="http://schemas.openxmlformats.org/officeDocument/2006/relationships/hyperlink" Target="https://archi.gov.cz/nap:sdileni_udaju" TargetMode="External"/><Relationship Id="rId10" Type="http://schemas.openxmlformats.org/officeDocument/2006/relationships/hyperlink" Target="https://archi.gov.cz/nap:nia_mojeid" TargetMode="External"/><Relationship Id="rId4" Type="http://schemas.openxmlformats.org/officeDocument/2006/relationships/hyperlink" Target="https://archi.gov.cz/ikcr:seznam_digitalnich_zmocnencu" TargetMode="External"/><Relationship Id="rId9" Type="http://schemas.openxmlformats.org/officeDocument/2006/relationships/hyperlink" Target="https://archi.gov.cz/nap:nia_1ca" TargetMode="External"/><Relationship Id="rId14" Type="http://schemas.openxmlformats.org/officeDocument/2006/relationships/hyperlink" Target="https://archi.gov.cz/nap:otevrena_data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diskuze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91344" y="5517232"/>
            <a:ext cx="8533612" cy="11521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dirty="0" smtClean="0"/>
              <a:t>odbor </a:t>
            </a:r>
            <a:r>
              <a:rPr lang="CS-CZ" sz="2000" dirty="0"/>
              <a:t>Hlavního architekta eGovernmentu </a:t>
            </a:r>
          </a:p>
          <a:p>
            <a:r>
              <a:rPr lang="CS-CZ" sz="2000" dirty="0"/>
              <a:t>Ministerstvo v</a:t>
            </a:r>
            <a:r>
              <a:rPr lang="CS-CZ" sz="2000" dirty="0" smtClean="0"/>
              <a:t>nitra </a:t>
            </a:r>
            <a:r>
              <a:rPr lang="CS-CZ" sz="2000" dirty="0"/>
              <a:t>ČR</a:t>
            </a:r>
          </a:p>
        </p:txBody>
      </p:sp>
      <p:sp>
        <p:nvSpPr>
          <p:cNvPr id="5" name="Obdélník 4"/>
          <p:cNvSpPr/>
          <p:nvPr/>
        </p:nvSpPr>
        <p:spPr>
          <a:xfrm>
            <a:off x="1271464" y="1268760"/>
            <a:ext cx="9649072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40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/>
            </a:r>
            <a:br>
              <a:rPr kumimoji="0" lang="cs-CZ" sz="40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cs-CZ" sz="40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cs-CZ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Zasedání</a:t>
            </a:r>
            <a:r>
              <a:rPr kumimoji="0" lang="cs-CZ" sz="4000" b="0" i="0" u="none" strike="noStrike" kern="1200" cap="none" spc="0" normalizeH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pracovní skupiny pro architekturu a řízení ICT</a:t>
            </a:r>
            <a: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/>
            </a:r>
            <a:b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/>
            </a:r>
            <a:b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cs-CZ" sz="16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cs-CZ" sz="1600" b="1" dirty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kumimoji="0" lang="cs-CZ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asedání</a:t>
            </a:r>
            <a:r>
              <a:rPr kumimoji="0" lang="cs-CZ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4.10.2021</a:t>
            </a:r>
            <a:endParaRPr kumimoji="0" lang="cs-CZ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95796" y="2552324"/>
            <a:ext cx="8811491" cy="1421159"/>
          </a:xfrm>
        </p:spPr>
        <p:txBody>
          <a:bodyPr/>
          <a:lstStyle/>
          <a:p>
            <a:r>
              <a:rPr lang="cs-CZ" b="1" dirty="0"/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225339" y="316201"/>
            <a:ext cx="8587048" cy="681327"/>
          </a:xfrm>
        </p:spPr>
        <p:txBody>
          <a:bodyPr/>
          <a:lstStyle/>
          <a:p>
            <a:pPr algn="ctr"/>
            <a:r>
              <a:rPr lang="cs-CZ" b="1" dirty="0" smtClean="0"/>
              <a:t>Kontext naší PS v rámci RVIS</a:t>
            </a:r>
            <a:endParaRPr lang="cs-CZ" b="1" dirty="0"/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372" y="1084024"/>
            <a:ext cx="8814981" cy="577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44862" y="33388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Agenda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63352" y="1493876"/>
            <a:ext cx="1152127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cs-CZ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Změny v Národní architektuře eGovernmentu </a:t>
            </a:r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Šedivec</a:t>
            </a:r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Příklady dobré praxe –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CENDIS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eGovernment </a:t>
            </a:r>
            <a:r>
              <a:rPr lang="cs-CZ" sz="24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Cloud</a:t>
            </a: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Igor Čermák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Vyhláška o dlouhodobém řízení ISVS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Radvan Nováček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Osvědčení </a:t>
            </a:r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 digitálním </a:t>
            </a: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úkonu – </a:t>
            </a:r>
            <a:r>
              <a:rPr lang="cs-CZ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Petr Tiller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Otázky </a:t>
            </a:r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nejasnosti členů pracovní skupiny –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</a:t>
            </a:r>
            <a:r>
              <a:rPr lang="cs-CZ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Š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edivec</a:t>
            </a:r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/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Závěr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/>
              <a:t>Změny v Národní architektuře eGovernmentu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246438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Změny v Národní architektuře eGovernmentu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85709" y="1600201"/>
            <a:ext cx="11296691" cy="5096021"/>
          </a:xfr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dirty="0"/>
              <a:t>Viz také </a:t>
            </a:r>
            <a:r>
              <a:rPr lang="cs-CZ" dirty="0">
                <a:hlinkClick r:id="rId2"/>
              </a:rPr>
              <a:t>https://</a:t>
            </a:r>
            <a:r>
              <a:rPr lang="cs-CZ" dirty="0" smtClean="0">
                <a:hlinkClick r:id="rId2"/>
              </a:rPr>
              <a:t>archi.gov.cz/vyhledavani:changelog</a:t>
            </a:r>
            <a:r>
              <a:rPr lang="cs-CZ" dirty="0" smtClean="0"/>
              <a:t> </a:t>
            </a:r>
          </a:p>
          <a:p>
            <a:pPr>
              <a:lnSpc>
                <a:spcPct val="170000"/>
              </a:lnSpc>
            </a:pPr>
            <a:r>
              <a:rPr lang="cs-CZ" dirty="0" smtClean="0"/>
              <a:t>Přidáno </a:t>
            </a:r>
            <a:r>
              <a:rPr lang="cs-CZ" dirty="0"/>
              <a:t>BI procházení katalogu služeb </a:t>
            </a:r>
            <a:r>
              <a:rPr lang="cs-CZ" dirty="0">
                <a:hlinkClick r:id="rId3"/>
              </a:rPr>
              <a:t>https://</a:t>
            </a:r>
            <a:r>
              <a:rPr lang="cs-CZ" dirty="0" smtClean="0">
                <a:hlinkClick r:id="rId3"/>
              </a:rPr>
              <a:t>archi.gov.cz/nap:katalog_sluzeb</a:t>
            </a:r>
            <a:r>
              <a:rPr lang="cs-CZ" dirty="0" smtClean="0"/>
              <a:t>  </a:t>
            </a:r>
          </a:p>
          <a:p>
            <a:pPr>
              <a:lnSpc>
                <a:spcPct val="170000"/>
              </a:lnSpc>
            </a:pPr>
            <a:r>
              <a:rPr lang="cs-CZ" dirty="0" smtClean="0"/>
              <a:t>Seznam digi</a:t>
            </a:r>
            <a:r>
              <a:rPr lang="cs-CZ" dirty="0"/>
              <a:t>tálních zmocněnců </a:t>
            </a:r>
            <a:r>
              <a:rPr lang="cs-CZ" dirty="0">
                <a:hlinkClick r:id="rId4"/>
              </a:rPr>
              <a:t>https://</a:t>
            </a:r>
            <a:r>
              <a:rPr lang="cs-CZ" dirty="0" smtClean="0">
                <a:hlinkClick r:id="rId4"/>
              </a:rPr>
              <a:t>archi.gov.cz/ikcr:seznam_digitalnich_zmocnencu</a:t>
            </a:r>
            <a:r>
              <a:rPr lang="cs-CZ" dirty="0" smtClean="0"/>
              <a:t>  </a:t>
            </a:r>
          </a:p>
          <a:p>
            <a:pPr>
              <a:lnSpc>
                <a:spcPct val="170000"/>
              </a:lnSpc>
            </a:pPr>
            <a:r>
              <a:rPr lang="cs-CZ" dirty="0" smtClean="0"/>
              <a:t>Přidány popisy jednotlivých </a:t>
            </a:r>
            <a:r>
              <a:rPr lang="cs-CZ" dirty="0" err="1" smtClean="0"/>
              <a:t>IdP</a:t>
            </a:r>
            <a:r>
              <a:rPr lang="cs-CZ" dirty="0"/>
              <a:t> </a:t>
            </a:r>
            <a:r>
              <a:rPr lang="cs-CZ" dirty="0">
                <a:hlinkClick r:id="rId5"/>
              </a:rPr>
              <a:t>https://</a:t>
            </a:r>
            <a:r>
              <a:rPr lang="cs-CZ" dirty="0" smtClean="0">
                <a:hlinkClick r:id="rId5"/>
              </a:rPr>
              <a:t>archi.gov.cz/nap:nia</a:t>
            </a:r>
            <a:r>
              <a:rPr lang="cs-CZ" dirty="0" smtClean="0"/>
              <a:t> </a:t>
            </a:r>
          </a:p>
          <a:p>
            <a:pPr lvl="1">
              <a:lnSpc>
                <a:spcPct val="170000"/>
              </a:lnSpc>
            </a:pPr>
            <a:r>
              <a:rPr lang="cs-CZ" dirty="0">
                <a:hlinkClick r:id="rId6"/>
              </a:rPr>
              <a:t>https://</a:t>
            </a:r>
            <a:r>
              <a:rPr lang="cs-CZ" dirty="0" smtClean="0">
                <a:hlinkClick r:id="rId6"/>
              </a:rPr>
              <a:t>archi.gov.cz/</a:t>
            </a:r>
            <a:r>
              <a:rPr lang="cs-CZ" dirty="0" err="1" smtClean="0">
                <a:hlinkClick r:id="rId6"/>
              </a:rPr>
              <a:t>nap:nia_eop</a:t>
            </a:r>
            <a:r>
              <a:rPr lang="cs-CZ" dirty="0"/>
              <a:t>, </a:t>
            </a:r>
            <a:r>
              <a:rPr lang="cs-CZ" dirty="0">
                <a:hlinkClick r:id="rId7"/>
              </a:rPr>
              <a:t>https://</a:t>
            </a:r>
            <a:r>
              <a:rPr lang="cs-CZ" dirty="0" smtClean="0">
                <a:hlinkClick r:id="rId7"/>
              </a:rPr>
              <a:t>archi.gov.cz/</a:t>
            </a:r>
            <a:r>
              <a:rPr lang="cs-CZ" dirty="0" err="1" smtClean="0">
                <a:hlinkClick r:id="rId7"/>
              </a:rPr>
              <a:t>nap:mobilni_klic_egov</a:t>
            </a:r>
            <a:r>
              <a:rPr lang="cs-CZ" dirty="0"/>
              <a:t>, </a:t>
            </a:r>
            <a:r>
              <a:rPr lang="cs-CZ" dirty="0">
                <a:hlinkClick r:id="rId8"/>
              </a:rPr>
              <a:t>https://</a:t>
            </a:r>
            <a:r>
              <a:rPr lang="cs-CZ" dirty="0" smtClean="0">
                <a:hlinkClick r:id="rId8"/>
              </a:rPr>
              <a:t>archi.gov.cz/</a:t>
            </a:r>
            <a:r>
              <a:rPr lang="cs-CZ" dirty="0" err="1" smtClean="0">
                <a:hlinkClick r:id="rId8"/>
              </a:rPr>
              <a:t>nap:nia_id</a:t>
            </a:r>
            <a:r>
              <a:rPr lang="cs-CZ" dirty="0"/>
              <a:t>, </a:t>
            </a:r>
            <a:r>
              <a:rPr lang="cs-CZ" dirty="0">
                <a:hlinkClick r:id="rId9"/>
              </a:rPr>
              <a:t>https://</a:t>
            </a:r>
            <a:r>
              <a:rPr lang="cs-CZ" dirty="0" smtClean="0">
                <a:hlinkClick r:id="rId9"/>
              </a:rPr>
              <a:t>archi.gov.cz/nap:nia_1ca</a:t>
            </a:r>
            <a:r>
              <a:rPr lang="cs-CZ" dirty="0"/>
              <a:t>, </a:t>
            </a:r>
            <a:r>
              <a:rPr lang="cs-CZ" dirty="0">
                <a:hlinkClick r:id="rId10"/>
              </a:rPr>
              <a:t>https://</a:t>
            </a:r>
            <a:r>
              <a:rPr lang="cs-CZ" dirty="0" smtClean="0">
                <a:hlinkClick r:id="rId10"/>
              </a:rPr>
              <a:t>archi.gov.cz/</a:t>
            </a:r>
            <a:r>
              <a:rPr lang="cs-CZ" dirty="0" err="1" smtClean="0">
                <a:hlinkClick r:id="rId10"/>
              </a:rPr>
              <a:t>nap:nia_mojeid</a:t>
            </a:r>
            <a:r>
              <a:rPr lang="cs-CZ" dirty="0"/>
              <a:t>, </a:t>
            </a:r>
            <a:r>
              <a:rPr lang="cs-CZ" dirty="0">
                <a:hlinkClick r:id="rId11"/>
              </a:rPr>
              <a:t>https://</a:t>
            </a:r>
            <a:r>
              <a:rPr lang="cs-CZ" dirty="0" smtClean="0">
                <a:hlinkClick r:id="rId11"/>
              </a:rPr>
              <a:t>archi.gov.cz/nap:nia_bankid</a:t>
            </a:r>
            <a:r>
              <a:rPr lang="cs-CZ" dirty="0" smtClean="0"/>
              <a:t> </a:t>
            </a:r>
            <a:endParaRPr lang="cs-CZ" dirty="0"/>
          </a:p>
          <a:p>
            <a:pPr>
              <a:lnSpc>
                <a:spcPct val="170000"/>
              </a:lnSpc>
            </a:pPr>
            <a:r>
              <a:rPr lang="cs-CZ" dirty="0" smtClean="0"/>
              <a:t>Bezpečnost </a:t>
            </a:r>
            <a:r>
              <a:rPr lang="cs-CZ" dirty="0"/>
              <a:t>elektronické identity </a:t>
            </a:r>
            <a:r>
              <a:rPr lang="cs-CZ" dirty="0">
                <a:hlinkClick r:id="rId12"/>
              </a:rPr>
              <a:t>https://</a:t>
            </a:r>
            <a:r>
              <a:rPr lang="cs-CZ" dirty="0" smtClean="0">
                <a:hlinkClick r:id="rId12"/>
              </a:rPr>
              <a:t>archi.gov.cz/znalostni_baze:bezpecnost_identity</a:t>
            </a:r>
            <a:r>
              <a:rPr lang="cs-CZ" dirty="0" smtClean="0"/>
              <a:t>   </a:t>
            </a:r>
          </a:p>
          <a:p>
            <a:pPr>
              <a:lnSpc>
                <a:spcPct val="170000"/>
              </a:lnSpc>
            </a:pPr>
            <a:r>
              <a:rPr lang="cs-CZ" dirty="0" smtClean="0"/>
              <a:t>Odkazy v přístupnosti informací </a:t>
            </a:r>
            <a:r>
              <a:rPr lang="cs-CZ" dirty="0" smtClean="0">
                <a:hlinkClick r:id="rId13"/>
              </a:rPr>
              <a:t>https</a:t>
            </a:r>
            <a:r>
              <a:rPr lang="cs-CZ" dirty="0">
                <a:hlinkClick r:id="rId13"/>
              </a:rPr>
              <a:t>://</a:t>
            </a:r>
            <a:r>
              <a:rPr lang="cs-CZ" dirty="0" smtClean="0">
                <a:hlinkClick r:id="rId13"/>
              </a:rPr>
              <a:t>archi.gov.cz/nap:pristupnost_informaci</a:t>
            </a:r>
            <a:r>
              <a:rPr lang="cs-CZ" dirty="0" smtClean="0"/>
              <a:t> </a:t>
            </a:r>
          </a:p>
          <a:p>
            <a:pPr>
              <a:lnSpc>
                <a:spcPct val="170000"/>
              </a:lnSpc>
            </a:pPr>
            <a:r>
              <a:rPr lang="cs-CZ" dirty="0" smtClean="0"/>
              <a:t>Nová </a:t>
            </a:r>
            <a:r>
              <a:rPr lang="cs-CZ" dirty="0"/>
              <a:t>stránka otevřená data </a:t>
            </a:r>
            <a:r>
              <a:rPr lang="cs-CZ" dirty="0">
                <a:hlinkClick r:id="rId14"/>
              </a:rPr>
              <a:t>https://</a:t>
            </a:r>
            <a:r>
              <a:rPr lang="cs-CZ" dirty="0" smtClean="0">
                <a:hlinkClick r:id="rId14"/>
              </a:rPr>
              <a:t>archi.gov.cz/nap:otevrena_data</a:t>
            </a:r>
            <a:r>
              <a:rPr lang="cs-CZ" dirty="0" smtClean="0"/>
              <a:t> </a:t>
            </a:r>
          </a:p>
          <a:p>
            <a:pPr>
              <a:lnSpc>
                <a:spcPct val="170000"/>
              </a:lnSpc>
            </a:pPr>
            <a:r>
              <a:rPr lang="cs-CZ" dirty="0" smtClean="0"/>
              <a:t>Nová stránka </a:t>
            </a:r>
            <a:r>
              <a:rPr lang="cs-CZ" dirty="0"/>
              <a:t>pro sdílení údajů VS </a:t>
            </a:r>
            <a:r>
              <a:rPr lang="cs-CZ" dirty="0">
                <a:hlinkClick r:id="rId15"/>
              </a:rPr>
              <a:t>https://</a:t>
            </a:r>
            <a:r>
              <a:rPr lang="cs-CZ" dirty="0" smtClean="0">
                <a:hlinkClick r:id="rId15"/>
              </a:rPr>
              <a:t>archi.gov.cz/nap:sdileni_udaju</a:t>
            </a:r>
            <a:r>
              <a:rPr lang="cs-CZ" dirty="0" smtClean="0"/>
              <a:t> </a:t>
            </a:r>
          </a:p>
          <a:p>
            <a:pPr>
              <a:lnSpc>
                <a:spcPct val="170000"/>
              </a:lnSpc>
            </a:pPr>
            <a:r>
              <a:rPr lang="cs-CZ" smtClean="0"/>
              <a:t>Předělaný </a:t>
            </a:r>
            <a:r>
              <a:rPr lang="cs-CZ" dirty="0" smtClean="0"/>
              <a:t>veřejný datový </a:t>
            </a:r>
            <a:r>
              <a:rPr lang="cs-CZ" dirty="0"/>
              <a:t>fond </a:t>
            </a:r>
            <a:r>
              <a:rPr lang="cs-CZ" dirty="0">
                <a:hlinkClick r:id="rId16"/>
              </a:rPr>
              <a:t>https://</a:t>
            </a:r>
            <a:r>
              <a:rPr lang="cs-CZ" dirty="0" smtClean="0">
                <a:hlinkClick r:id="rId16"/>
              </a:rPr>
              <a:t>archi.gov.cz/nap:verejny_datovy_fond</a:t>
            </a:r>
            <a:r>
              <a:rPr lang="cs-CZ" dirty="0" smtClean="0"/>
              <a:t> </a:t>
            </a:r>
          </a:p>
          <a:p>
            <a:pPr>
              <a:lnSpc>
                <a:spcPct val="170000"/>
              </a:lnSpc>
            </a:pPr>
            <a:r>
              <a:rPr lang="cs-CZ" dirty="0" smtClean="0"/>
              <a:t>Povinnosti OVS dle </a:t>
            </a:r>
            <a:r>
              <a:rPr lang="cs-CZ" dirty="0" err="1" smtClean="0"/>
              <a:t>ZoISVS</a:t>
            </a:r>
            <a:r>
              <a:rPr lang="cs-CZ" dirty="0"/>
              <a:t> </a:t>
            </a:r>
            <a:r>
              <a:rPr lang="cs-CZ" dirty="0">
                <a:hlinkClick r:id="rId17"/>
              </a:rPr>
              <a:t>https://</a:t>
            </a:r>
            <a:r>
              <a:rPr lang="cs-CZ" dirty="0" smtClean="0">
                <a:hlinkClick r:id="rId17"/>
              </a:rPr>
              <a:t>archi.gov.cz/znalostni_baze:povinnosti_ovs</a:t>
            </a:r>
            <a:r>
              <a:rPr lang="cs-CZ" dirty="0" smtClean="0"/>
              <a:t> </a:t>
            </a:r>
          </a:p>
          <a:p>
            <a:pPr>
              <a:lnSpc>
                <a:spcPct val="170000"/>
              </a:lnSpc>
            </a:pPr>
            <a:r>
              <a:rPr lang="cs-CZ" dirty="0" smtClean="0"/>
              <a:t>ICT </a:t>
            </a:r>
            <a:r>
              <a:rPr lang="cs-CZ" dirty="0" err="1" smtClean="0"/>
              <a:t>benchmark</a:t>
            </a:r>
            <a:r>
              <a:rPr lang="cs-CZ" dirty="0"/>
              <a:t> VS </a:t>
            </a:r>
            <a:r>
              <a:rPr lang="cs-CZ" dirty="0">
                <a:hlinkClick r:id="rId18"/>
              </a:rPr>
              <a:t>https://</a:t>
            </a:r>
            <a:r>
              <a:rPr lang="cs-CZ" dirty="0" smtClean="0">
                <a:hlinkClick r:id="rId18"/>
              </a:rPr>
              <a:t>archi.gov.cz/znalostni_baze:benchmarkverejnespravy</a:t>
            </a:r>
            <a:r>
              <a:rPr lang="cs-CZ" dirty="0" smtClean="0"/>
              <a:t>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43810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Diskutuje s námi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cs-CZ" dirty="0"/>
              <a:t>Pravidla diskuze na konci každé stránky:</a:t>
            </a:r>
          </a:p>
          <a:p>
            <a:pPr lvl="1"/>
            <a:r>
              <a:rPr lang="cs-CZ" dirty="0" smtClean="0"/>
              <a:t>Dotazy </a:t>
            </a:r>
            <a:r>
              <a:rPr lang="cs-CZ" dirty="0"/>
              <a:t>se musí týkat dané stránky. Pokud Váš dotaz se stránkou nesouvisí a nenašli jste potřebné informace pomocí vyhledávání, založte prosím nové diskuzní vlákno ve speciální části webu </a:t>
            </a:r>
            <a:r>
              <a:rPr lang="cs-CZ" dirty="0">
                <a:hlinkClick r:id="rId2"/>
              </a:rPr>
              <a:t> https://archi.gov.cz/diskuze</a:t>
            </a:r>
            <a:r>
              <a:rPr lang="cs-CZ" dirty="0" smtClean="0"/>
              <a:t>.</a:t>
            </a:r>
            <a:endParaRPr lang="cs-CZ" dirty="0"/>
          </a:p>
          <a:p>
            <a:r>
              <a:rPr lang="cs-CZ" dirty="0" smtClean="0"/>
              <a:t>Pravidla </a:t>
            </a:r>
            <a:r>
              <a:rPr lang="cs-CZ" dirty="0"/>
              <a:t>diskuze ve speciální části </a:t>
            </a:r>
            <a:r>
              <a:rPr lang="cs-CZ" dirty="0" smtClean="0"/>
              <a:t>webu</a:t>
            </a:r>
            <a:r>
              <a:rPr lang="cs-CZ" dirty="0"/>
              <a:t> </a:t>
            </a:r>
            <a:r>
              <a:rPr lang="cs-CZ" dirty="0">
                <a:hlinkClick r:id="rId2"/>
              </a:rPr>
              <a:t>https://</a:t>
            </a:r>
            <a:r>
              <a:rPr lang="cs-CZ" dirty="0" smtClean="0">
                <a:hlinkClick r:id="rId2"/>
              </a:rPr>
              <a:t>archi.gov.cz/diskuze</a:t>
            </a:r>
            <a:r>
              <a:rPr lang="cs-CZ" dirty="0" smtClean="0"/>
              <a:t> </a:t>
            </a:r>
            <a:endParaRPr lang="cs-CZ" dirty="0"/>
          </a:p>
          <a:p>
            <a:pPr lvl="1"/>
            <a:r>
              <a:rPr lang="cs-CZ" dirty="0" smtClean="0"/>
              <a:t>Diskutujte </a:t>
            </a:r>
            <a:r>
              <a:rPr lang="cs-CZ" dirty="0"/>
              <a:t>v rámci založené diskuze. Pokud Váš příspěvek s vláknem nesouvisí, založte prosím nové diskuzní vlákno.</a:t>
            </a:r>
          </a:p>
          <a:p>
            <a:pPr lvl="1"/>
            <a:r>
              <a:rPr lang="cs-CZ" dirty="0"/>
              <a:t>Pokud zakládáte nové vlákno, nezapomeňte ho pojmenovat. Název by měl souviset s Vaším dotazem.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89770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Změny v Národní architektuře eGovernmentu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smtClean="0"/>
              <a:t>Poslední seznam </a:t>
            </a:r>
            <a:r>
              <a:rPr lang="cs-CZ" dirty="0"/>
              <a:t>změn jednomyslně schválen </a:t>
            </a:r>
            <a:r>
              <a:rPr lang="cs-CZ" dirty="0" smtClean="0"/>
              <a:t>usnesením RVIS 2021/10/01/U4</a:t>
            </a:r>
          </a:p>
          <a:p>
            <a:r>
              <a:rPr lang="cs-CZ" dirty="0" smtClean="0"/>
              <a:t>Nadále budou změny schvalovány v hierarchii RVIS: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dirty="0" smtClean="0"/>
              <a:t>Pracovní skupina pro architekturu a řízení ICT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dirty="0" smtClean="0"/>
              <a:t>Pracovní výbor pro efektivní a centrálně koordinované ICT veřejné správy 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dirty="0" smtClean="0"/>
              <a:t>Výkonný výbor Informační koncepce ČR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dirty="0" smtClean="0"/>
              <a:t>Plenární zasedání RVIS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82216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/>
              <a:t>Příklad dobré praxe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882677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/>
              <a:t>eGovernment </a:t>
            </a:r>
            <a:r>
              <a:rPr lang="cs-CZ" b="1" dirty="0" err="1" smtClean="0"/>
              <a:t>Cloud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1666262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/>
              <a:t>Vyhláška o dlouhodobém řízení ISVS</a:t>
            </a:r>
            <a:endParaRPr lang="es-ES" b="1" dirty="0"/>
          </a:p>
        </p:txBody>
      </p:sp>
    </p:spTree>
    <p:extLst>
      <p:ext uri="{BB962C8B-B14F-4D97-AF65-F5344CB8AC3E}">
        <p14:creationId xmlns:p14="http://schemas.microsoft.com/office/powerpoint/2010/main" val="3375927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/>
              <a:t>Osvědčení o digitálním úkonu </a:t>
            </a:r>
          </a:p>
        </p:txBody>
      </p:sp>
    </p:spTree>
    <p:extLst>
      <p:ext uri="{BB962C8B-B14F-4D97-AF65-F5344CB8AC3E}">
        <p14:creationId xmlns:p14="http://schemas.microsoft.com/office/powerpoint/2010/main" val="3954934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es-ES" b="1" dirty="0"/>
              <a:t>Otázky a nejasnosti členů pracovní skupiny</a:t>
            </a:r>
          </a:p>
        </p:txBody>
      </p:sp>
    </p:spTree>
    <p:extLst>
      <p:ext uri="{BB962C8B-B14F-4D97-AF65-F5344CB8AC3E}">
        <p14:creationId xmlns:p14="http://schemas.microsoft.com/office/powerpoint/2010/main" val="2159519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es-ES" b="1" dirty="0"/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</p:sld>
</file>

<file path=ppt/theme/theme1.xml><?xml version="1.0" encoding="utf-8"?>
<a:theme xmlns:a="http://schemas.openxmlformats.org/drawingml/2006/main" name="MV_sablona1_2007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46DFCA1-0C55-483C-95C2-674522C462CE}"/>
</file>

<file path=customXml/itemProps3.xml><?xml version="1.0" encoding="utf-8"?>
<ds:datastoreItem xmlns:ds="http://schemas.openxmlformats.org/officeDocument/2006/customXml" ds:itemID="{579E98EC-8279-4842-B4EF-743633698D36}">
  <ds:schemaRefs>
    <ds:schemaRef ds:uri="http://purl.org/dc/dcmitype/"/>
    <ds:schemaRef ds:uri="http://schemas.microsoft.com/office/infopath/2007/PartnerControls"/>
    <ds:schemaRef ds:uri="http://purl.org/dc/terms/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711</TotalTime>
  <Words>363</Words>
  <Application>Microsoft Office PowerPoint</Application>
  <PresentationFormat>Širokoúhlá obrazovka</PresentationFormat>
  <Paragraphs>52</Paragraphs>
  <Slides>14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17" baseType="lpstr">
      <vt:lpstr>Arial</vt:lpstr>
      <vt:lpstr>Calibri</vt:lpstr>
      <vt:lpstr>MV_sablona1_2007</vt:lpstr>
      <vt:lpstr>Prezentace aplikace PowerPoint</vt:lpstr>
      <vt:lpstr>Technický úvod, pravidla videokonference </vt:lpstr>
      <vt:lpstr>Kontext naší PS v rámci RVIS</vt:lpstr>
      <vt:lpstr> </vt:lpstr>
      <vt:lpstr>Změny v Národní architektuře eGovernmentu</vt:lpstr>
      <vt:lpstr>Změny v Národní architektuře eGovernmentu</vt:lpstr>
      <vt:lpstr>Diskutuje s námi</vt:lpstr>
      <vt:lpstr>Změny v Národní architektuře eGovernmentu</vt:lpstr>
      <vt:lpstr>Příklad dobré praxe</vt:lpstr>
      <vt:lpstr>eGovernment Cloud</vt:lpstr>
      <vt:lpstr>Vyhláška o dlouhodobém řízení ISVS</vt:lpstr>
      <vt:lpstr>Osvědčení o digitálním úkonu </vt:lpstr>
      <vt:lpstr>Otázky a nejasnosti členů pracovní skupiny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Šedivec Tomáš</cp:lastModifiedBy>
  <cp:revision>22</cp:revision>
  <dcterms:created xsi:type="dcterms:W3CDTF">2021-01-27T09:19:54Z</dcterms:created>
  <dcterms:modified xsi:type="dcterms:W3CDTF">2021-10-04T11:11:21Z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0x01010090B00F75BED7484DA544575FBD77AFF7</vt:lpwstr>
  </property>
</Properties>
</file>
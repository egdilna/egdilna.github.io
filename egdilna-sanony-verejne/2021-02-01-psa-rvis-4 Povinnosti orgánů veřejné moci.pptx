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57" d="100"/>
          <a:sy n="57" d="100"/>
        </p:scale>
        <p:origin x="3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467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015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710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946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694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67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042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074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28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6331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806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8572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vcr.cz/clanek/agenda-odboru-hlavniho-architekta-egovernmentu-agenda-odboru-hlavniho-architekta-egovernmentu.aspx?q=Y2hudW09NQ%3d%3d" TargetMode="External"/><Relationship Id="rId2" Type="http://schemas.openxmlformats.org/officeDocument/2006/relationships/hyperlink" Target="https://www.mvcr.cz/clanek/agenda-odboru-hlavniho-architekta-egovernmentu-agenda-odboru-hlavniho-architekta-egovernmentu.aspx?q=Y2hudW09NA%3d%3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52D18A9A-58EA-4AFF-B4BB-C452ED33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02" y="2040136"/>
            <a:ext cx="9361040" cy="2836664"/>
          </a:xfrm>
        </p:spPr>
        <p:txBody>
          <a:bodyPr>
            <a:normAutofit/>
          </a:bodyPr>
          <a:lstStyle/>
          <a:p>
            <a:pPr algn="ctr"/>
            <a:r>
              <a:rPr lang="cs-CZ" b="1" dirty="0"/>
              <a:t>Povinnosti orgánů veřejné </a:t>
            </a:r>
            <a:r>
              <a:rPr lang="cs-CZ" b="1" dirty="0" smtClean="0"/>
              <a:t>moci/správy, </a:t>
            </a:r>
            <a:r>
              <a:rPr lang="cs-CZ" b="1" dirty="0"/>
              <a:t>jejich zřizovaných organizací a organizací v působnosti ministerstva vůči Ministerstvu vnitra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83293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479376" y="1518724"/>
            <a:ext cx="1137726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Zákon 365/2000 Sb., k 1.8.2020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 dirty="0" smtClean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Orgány veřejné správy jsou povinny </a:t>
            </a:r>
            <a:endParaRPr kumimoji="0" lang="cs-CZ" sz="24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předložit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ministerstvu k vyjádření </a:t>
            </a:r>
            <a:r>
              <a:rPr kumimoji="0" lang="cs-CZ" sz="18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návrhy dokumentací </a:t>
            </a:r>
            <a:r>
              <a:rPr kumimoji="0" lang="cs-CZ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programů, investiční záměry akcí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obsahujících pořízení nebo technické zhodnocení a</a:t>
            </a:r>
            <a:r>
              <a:rPr kumimoji="0" lang="cs-CZ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projekty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určených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informačních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systémů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předložit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ministerstvu před zahájením poskytování služby </a:t>
            </a:r>
            <a:r>
              <a:rPr kumimoji="0" lang="cs-CZ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provozní </a:t>
            </a:r>
            <a:r>
              <a:rPr kumimoji="0" lang="cs-CZ" sz="18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dokumentaci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určeného informačního systému k posouzení, zda určený informační systém splňuje požadavky kladené na něj právními předpisy, informační koncepcí orgánu veřejné správy a provozní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dokumentací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Architektonická změna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Povinnost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se nevztahuje na technické zhodnocení určeného informačního systému spočívající jen ve změnách nemajících vliv na vnitřní vazby tohoto určeného informačního systému nebo na vazby na jiné informační systémy veřejné správy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cs-CZ" sz="1800" b="0" i="0" u="none" strike="noStrike" kern="1200" cap="none" spc="0" normalizeH="0" baseline="0" noProof="0" dirty="0" smtClean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367808" y="606698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Povinnosti žádat o stanovisko OHA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293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56985" y="2367998"/>
            <a:ext cx="8566030" cy="3714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cs-CZ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Povinnosti žádat o stanovisko OHA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479376" y="1518724"/>
            <a:ext cx="113772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Usnesení vlády č. 86/2020, k 1.2.2020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Ukládá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členům vlády a vedoucím ostatních ústředních správních úřadů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Informovat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vládu o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záměrech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učinit výdaj v oblasti digitalizace nebo informačních a komunikačních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technologií … </a:t>
            </a:r>
            <a:r>
              <a:rPr kumimoji="0" lang="cs-CZ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součástí </a:t>
            </a:r>
            <a:r>
              <a:rPr kumimoji="0" lang="cs-CZ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materiálu musí být stanovisko útvaru Hlavního architekta eGovernmentu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vydané postupem podle Základních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zásad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.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veškerých 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ostatních záměrech učinit výdaj v oblasti digitalizace nebo informačních a komunikačních technologií s předpokládanou hodnotou plnění přesahující 6 mil.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Kč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Informační povinnost se vztahuje i na výdaje organizací nebo právnických osob, k nimž jimi řízený ústřední správní úřad plní funkci zakladatele nebo zřizovatele nebo které spadají do jeho působnosti, a podřízených organizačních složek státu. Informační povinnost je nutné splnit před uzavřením smlouvy, resp. před dokončením zpracování zadávací dokumentace veřejné zakázky, je-li </a:t>
            </a:r>
            <a:r>
              <a:rPr kumimoji="0" lang="cs-CZ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zpracovávána</a:t>
            </a:r>
            <a:r>
              <a:rPr kumimoji="0" lang="cs-C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994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Povinnosti žádat o stanovisko OHA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335360" y="1657199"/>
            <a:ext cx="1144927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 vyjádření k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návrhům </a:t>
            </a: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dokumentací programů,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investičním záměrům </a:t>
            </a: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akcí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obsahujících pořízení nebo technické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zhodnocení se žádá pomocí formulářů definovaných Ministerstvem financí skrze datovou zprávu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cs-CZ" sz="2400" b="0" i="0" u="none" strike="noStrike" kern="1200" cap="none" spc="0" normalizeH="0" baseline="0" noProof="0" dirty="0" smtClean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vyjádření ministerstva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k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projektům/záměrům určených informačních systémů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se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žádá prostřednictvím žádosti o stanovisko Hlavního architekta eGovernmentu skrze datovou zprávu popsané pomocí zveřejněných formulářů 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CE" panose="020B0604020202020204" pitchFamily="34" charset="0"/>
                <a:ea typeface="+mn-ea"/>
                <a:cs typeface="Arial CE" panose="020B0604020202020204" pitchFamily="34" charset="0"/>
                <a:hlinkClick r:id="rId2"/>
              </a:rPr>
              <a:t>https</a:t>
            </a:r>
            <a:r>
              <a:rPr kumimoji="0" lang="cs-C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CE" panose="020B0604020202020204" pitchFamily="34" charset="0"/>
                <a:ea typeface="+mn-ea"/>
                <a:cs typeface="Arial CE" panose="020B0604020202020204" pitchFamily="34" charset="0"/>
                <a:hlinkClick r:id="rId2"/>
              </a:rPr>
              <a:t>://</a:t>
            </a:r>
            <a:r>
              <a:rPr kumimoji="0" lang="cs-CZ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CE" panose="020B0604020202020204" pitchFamily="34" charset="0"/>
                <a:ea typeface="+mn-ea"/>
                <a:cs typeface="Arial CE" panose="020B0604020202020204" pitchFamily="34" charset="0"/>
                <a:hlinkClick r:id="rId2"/>
              </a:rPr>
              <a:t>www.mvcr.cz/clanek/agenda-odboru-hlavniho-architekta-egovernmentu-agenda-odboru-hlavniho-architekta-egovernmentu.aspx?q=Y2hudW09NA%3d%3d</a:t>
            </a:r>
            <a:endParaRPr kumimoji="0" lang="cs-CZ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CE" panose="020B0604020202020204" pitchFamily="34" charset="0"/>
              <a:ea typeface="+mn-ea"/>
              <a:cs typeface="Arial CE" panose="020B0604020202020204" pitchFamily="34" charset="0"/>
            </a:endParaRP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cs-CZ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CE" panose="020B0604020202020204" pitchFamily="34" charset="0"/>
              <a:ea typeface="+mn-ea"/>
              <a:cs typeface="Arial CE" panose="020B0604020202020204" pitchFamily="34" charset="0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 vyjádření k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provozní </a:t>
            </a: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dokumentaci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určeného informačního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systému se žádá pomocí obálky a samotné provozní dokumentace včetně příloh skrze datovou zprávu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  <a:hlinkClick r:id="rId3"/>
              </a:rPr>
              <a:t>https://</a:t>
            </a:r>
            <a:r>
              <a:rPr kumimoji="0" lang="cs-CZ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  <a:hlinkClick r:id="rId3"/>
              </a:rPr>
              <a:t>www.mvcr.cz/clanek/agenda-odboru-hlavniho-architekta-egovernmentu-agenda-odboru-hlavniho-architekta-egovernmentu.aspx?q=Y2hudW09NQ%3d%3d</a:t>
            </a:r>
            <a:r>
              <a:rPr kumimoji="0" lang="cs-CZ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</a:t>
            </a:r>
            <a:endParaRPr kumimoji="0" lang="cs-CZ" sz="14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00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Povinnosti žádat o stanovisko OHA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335360" y="1657199"/>
            <a:ext cx="114492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OHA vydá stanovisko </a:t>
            </a: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 30 dnů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, v odůvodněných případech u zvlášť komplikovaných žádostí </a:t>
            </a: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 60 dnů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V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procesu posuzování OHA zohledňuje mimo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splnění architektonických principů, cílů a zásad českého eGovernmentu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, také potřebnost, účelnost, hospodárnost, realizovatelnost, připravenost, přínos, ekonomickou a personální náročnost, analýzu rizik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a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způsob řízení </a:t>
            </a:r>
            <a:r>
              <a:rPr kumimoji="0" lang="cs-CZ" sz="2400" b="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projektu. </a:t>
            </a:r>
            <a:endParaRPr kumimoji="0" lang="cs-CZ" sz="2400" b="0" i="0" u="none" strike="noStrike" kern="1200" cap="none" spc="0" normalizeH="0" baseline="0" noProof="0" dirty="0" smtClean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OHA může vejít v jednání s žadatelem v případě nekonzistence v některém z bodů výše. V takovém případě se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lhůta pro vydání pozastavuje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do doby vypořádání nekonzistence.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OHA pomáhá žadatelům konzultacemi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před oficiálním podáním žádosti pro maximální eliminaci následných pozastavení.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OHA neakreditoval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, ani jinak nepořádá, </a:t>
            </a:r>
            <a:r>
              <a:rPr kumimoji="0" lang="cs-C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školení či certifikace třetích stran </a:t>
            </a: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Arial CE"/>
                <a:ea typeface="+mn-ea"/>
                <a:cs typeface="+mn-cs"/>
              </a:rPr>
              <a:t>pro architekturu českého eGovernmentu či vyplňování žádostí. Veškeré společnosti, které toto nabízejí, tak činí bez souhlasu OHA.   </a:t>
            </a:r>
            <a:endParaRPr kumimoji="0" lang="cs-CZ" sz="2400" b="0" i="0" u="none" strike="noStrike" kern="1200" cap="none" spc="0" normalizeH="0" baseline="0" noProof="0" dirty="0">
              <a:ln>
                <a:noFill/>
              </a:ln>
              <a:solidFill>
                <a:srgbClr val="4F4F4F"/>
              </a:solidFill>
              <a:effectLst/>
              <a:uLnTx/>
              <a:uFillTx/>
              <a:latin typeface="Arial 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9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F6200F-BE06-4D41-A10D-96453A7B7322}"/>
</file>

<file path=customXml/itemProps2.xml><?xml version="1.0" encoding="utf-8"?>
<ds:datastoreItem xmlns:ds="http://schemas.openxmlformats.org/officeDocument/2006/customXml" ds:itemID="{9B7063DB-98CB-4F78-B23D-84D5AD69317E}"/>
</file>

<file path=customXml/itemProps3.xml><?xml version="1.0" encoding="utf-8"?>
<ds:datastoreItem xmlns:ds="http://schemas.openxmlformats.org/officeDocument/2006/customXml" ds:itemID="{77AE2404-0BA4-4BA4-B27D-1D8F37F8DB1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Širokoúhlá obrazovka</PresentationFormat>
  <Paragraphs>42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Arial</vt:lpstr>
      <vt:lpstr>Arial CE</vt:lpstr>
      <vt:lpstr>Calibri</vt:lpstr>
      <vt:lpstr>MV_sablona1_2007</vt:lpstr>
      <vt:lpstr>Povinnosti orgánů veřejné moci/správy, jejich zřizovaných organizací a organizací v působnosti ministerstva vůči Ministerstvu vnitra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Povinnosti orgánů veřejné moci/správy, jejich zřizovaných organizací a organizací v působnosti ministerstva vůči Ministerstvu vnitra</dc:title>
  <dc:creator>Tomáš Šedivec</dc:creator>
  <cp:lastModifiedBy>Tomáš Šedivec</cp:lastModifiedBy>
  <cp:revision>1</cp:revision>
  <dcterms:created xsi:type="dcterms:W3CDTF">2021-01-27T08:55:13Z</dcterms:created>
  <dcterms:modified xsi:type="dcterms:W3CDTF">2021-01-27T08:55:23Z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
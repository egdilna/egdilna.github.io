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3"/>
  </p:notesMasterIdLst>
  <p:handoutMasterIdLst>
    <p:handoutMasterId r:id="rId54"/>
  </p:handoutMasterIdLst>
  <p:sldIdLst>
    <p:sldId id="5231" r:id="rId5"/>
    <p:sldId id="5274" r:id="rId6"/>
    <p:sldId id="5204" r:id="rId7"/>
    <p:sldId id="5162" r:id="rId8"/>
    <p:sldId id="5273" r:id="rId9"/>
    <p:sldId id="5211" r:id="rId10"/>
    <p:sldId id="5213" r:id="rId11"/>
    <p:sldId id="5074" r:id="rId12"/>
    <p:sldId id="5195" r:id="rId13"/>
    <p:sldId id="274" r:id="rId14"/>
    <p:sldId id="5066" r:id="rId15"/>
    <p:sldId id="5069" r:id="rId16"/>
    <p:sldId id="5070" r:id="rId17"/>
    <p:sldId id="5072" r:id="rId18"/>
    <p:sldId id="5071" r:id="rId19"/>
    <p:sldId id="5073" r:id="rId20"/>
    <p:sldId id="5214" r:id="rId21"/>
    <p:sldId id="5187" r:id="rId22"/>
    <p:sldId id="5210" r:id="rId23"/>
    <p:sldId id="5147" r:id="rId24"/>
    <p:sldId id="5173" r:id="rId25"/>
    <p:sldId id="5174" r:id="rId26"/>
    <p:sldId id="5172" r:id="rId27"/>
    <p:sldId id="5196" r:id="rId28"/>
    <p:sldId id="5198" r:id="rId29"/>
    <p:sldId id="5272" r:id="rId30"/>
    <p:sldId id="5170" r:id="rId31"/>
    <p:sldId id="5158" r:id="rId32"/>
    <p:sldId id="5249" r:id="rId33"/>
    <p:sldId id="5275" r:id="rId34"/>
    <p:sldId id="5253" r:id="rId35"/>
    <p:sldId id="5248" r:id="rId36"/>
    <p:sldId id="5250" r:id="rId37"/>
    <p:sldId id="5251" r:id="rId38"/>
    <p:sldId id="5252" r:id="rId39"/>
    <p:sldId id="5255" r:id="rId40"/>
    <p:sldId id="5256" r:id="rId41"/>
    <p:sldId id="5258" r:id="rId42"/>
    <p:sldId id="5259" r:id="rId43"/>
    <p:sldId id="5254" r:id="rId44"/>
    <p:sldId id="5261" r:id="rId45"/>
    <p:sldId id="5260" r:id="rId46"/>
    <p:sldId id="5262" r:id="rId47"/>
    <p:sldId id="5269" r:id="rId48"/>
    <p:sldId id="5270" r:id="rId49"/>
    <p:sldId id="5271" r:id="rId50"/>
    <p:sldId id="5264" r:id="rId51"/>
    <p:sldId id="267" r:id="rId52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78A0A0F-6C18-5446-275C-27A4ADA641A5}" name="Murlová Kateřina" initials="KM" userId="S::katerina.murlova@dia.gov.cz::f0ab1bfc-bf4d-40da-9e00-0bf8a9d9f94a" providerId="AD"/>
  <p188:author id="{D6F44054-D4E4-05D1-AE65-5390805DC6B3}" name="Trusina Šimon" initials="TŠ" userId="S::simon.trusina@dia.gov.cz::ad935c6b-ed6c-4293-bc4c-891c765e3afb" providerId="AD"/>
  <p188:author id="{CEE89E82-393C-2DF8-411F-EF016A5EA3D4}" name="Petr Jan" initials="" userId="S::jan.petr@dia.gov.cz::619497a3-6dda-48a9-9783-3fc51734f3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2D2C"/>
    <a:srgbClr val="46AD48"/>
    <a:srgbClr val="E8EDE8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3C1DC4-6B15-2F47-993B-C812F966CA4E}" v="7" dt="2026-02-16T11:34:51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0"/>
    <p:restoredTop sz="96197"/>
  </p:normalViewPr>
  <p:slideViewPr>
    <p:cSldViewPr snapToGrid="0">
      <p:cViewPr varScale="1">
        <p:scale>
          <a:sx n="106" d="100"/>
          <a:sy n="106" d="100"/>
        </p:scale>
        <p:origin x="744" y="4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216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Jan" userId="619497a3-6dda-48a9-9783-3fc51734f31c" providerId="ADAL" clId="{E342A3C7-F018-5EDB-BB4A-14DCC16BF0F3}"/>
    <pc:docChg chg="undo redo custSel addSld delSld modSld">
      <pc:chgData name="Petr Jan" userId="619497a3-6dda-48a9-9783-3fc51734f31c" providerId="ADAL" clId="{E342A3C7-F018-5EDB-BB4A-14DCC16BF0F3}" dt="2026-02-16T11:35:08.420" v="399" actId="20577"/>
      <pc:docMkLst>
        <pc:docMk/>
      </pc:docMkLst>
      <pc:sldChg chg="modSp mod">
        <pc:chgData name="Petr Jan" userId="619497a3-6dda-48a9-9783-3fc51734f31c" providerId="ADAL" clId="{E342A3C7-F018-5EDB-BB4A-14DCC16BF0F3}" dt="2026-02-16T11:21:16.648" v="365" actId="20577"/>
        <pc:sldMkLst>
          <pc:docMk/>
          <pc:sldMk cId="3072192595" sldId="5204"/>
        </pc:sldMkLst>
        <pc:spChg chg="mod">
          <ac:chgData name="Petr Jan" userId="619497a3-6dda-48a9-9783-3fc51734f31c" providerId="ADAL" clId="{E342A3C7-F018-5EDB-BB4A-14DCC16BF0F3}" dt="2026-02-16T11:21:16.648" v="365" actId="20577"/>
          <ac:spMkLst>
            <pc:docMk/>
            <pc:sldMk cId="3072192595" sldId="5204"/>
            <ac:spMk id="3" creationId="{4B815F38-B567-826D-C655-DB93DFAD0F19}"/>
          </ac:spMkLst>
        </pc:spChg>
      </pc:sldChg>
      <pc:sldChg chg="modSp mod">
        <pc:chgData name="Petr Jan" userId="619497a3-6dda-48a9-9783-3fc51734f31c" providerId="ADAL" clId="{E342A3C7-F018-5EDB-BB4A-14DCC16BF0F3}" dt="2026-02-16T10:25:11.053" v="318" actId="14100"/>
        <pc:sldMkLst>
          <pc:docMk/>
          <pc:sldMk cId="1804549292" sldId="5231"/>
        </pc:sldMkLst>
        <pc:spChg chg="mod">
          <ac:chgData name="Petr Jan" userId="619497a3-6dda-48a9-9783-3fc51734f31c" providerId="ADAL" clId="{E342A3C7-F018-5EDB-BB4A-14DCC16BF0F3}" dt="2026-02-16T07:11:51.608" v="9" actId="20577"/>
          <ac:spMkLst>
            <pc:docMk/>
            <pc:sldMk cId="1804549292" sldId="5231"/>
            <ac:spMk id="2" creationId="{F36AB280-60B3-EFDB-FA7B-1152224C6208}"/>
          </ac:spMkLst>
        </pc:spChg>
        <pc:spChg chg="mod">
          <ac:chgData name="Petr Jan" userId="619497a3-6dda-48a9-9783-3fc51734f31c" providerId="ADAL" clId="{E342A3C7-F018-5EDB-BB4A-14DCC16BF0F3}" dt="2026-02-16T10:25:11.053" v="318" actId="14100"/>
          <ac:spMkLst>
            <pc:docMk/>
            <pc:sldMk cId="1804549292" sldId="5231"/>
            <ac:spMk id="3" creationId="{1A2F8B1F-08C8-74CB-0826-B9DBB8773B48}"/>
          </ac:spMkLst>
        </pc:spChg>
      </pc:sldChg>
      <pc:sldChg chg="del">
        <pc:chgData name="Petr Jan" userId="619497a3-6dda-48a9-9783-3fc51734f31c" providerId="ADAL" clId="{E342A3C7-F018-5EDB-BB4A-14DCC16BF0F3}" dt="2026-02-16T07:12:05.371" v="10" actId="2696"/>
        <pc:sldMkLst>
          <pc:docMk/>
          <pc:sldMk cId="2032993334" sldId="5247"/>
        </pc:sldMkLst>
      </pc:sldChg>
      <pc:sldChg chg="modSp mod">
        <pc:chgData name="Petr Jan" userId="619497a3-6dda-48a9-9783-3fc51734f31c" providerId="ADAL" clId="{E342A3C7-F018-5EDB-BB4A-14DCC16BF0F3}" dt="2026-02-16T07:18:21.479" v="139" actId="20577"/>
        <pc:sldMkLst>
          <pc:docMk/>
          <pc:sldMk cId="3010898350" sldId="5249"/>
        </pc:sldMkLst>
        <pc:spChg chg="mod">
          <ac:chgData name="Petr Jan" userId="619497a3-6dda-48a9-9783-3fc51734f31c" providerId="ADAL" clId="{E342A3C7-F018-5EDB-BB4A-14DCC16BF0F3}" dt="2026-02-16T07:17:47.771" v="53" actId="20577"/>
          <ac:spMkLst>
            <pc:docMk/>
            <pc:sldMk cId="3010898350" sldId="5249"/>
            <ac:spMk id="2" creationId="{383465B9-5B74-4627-A279-58C2C2395794}"/>
          </ac:spMkLst>
        </pc:spChg>
        <pc:spChg chg="mod">
          <ac:chgData name="Petr Jan" userId="619497a3-6dda-48a9-9783-3fc51734f31c" providerId="ADAL" clId="{E342A3C7-F018-5EDB-BB4A-14DCC16BF0F3}" dt="2026-02-16T07:18:21.479" v="139" actId="20577"/>
          <ac:spMkLst>
            <pc:docMk/>
            <pc:sldMk cId="3010898350" sldId="5249"/>
            <ac:spMk id="4" creationId="{DD37F6DC-5206-3F99-C6B7-526919885212}"/>
          </ac:spMkLst>
        </pc:spChg>
      </pc:sldChg>
      <pc:sldChg chg="addSp delSp modSp mod modClrScheme chgLayout">
        <pc:chgData name="Petr Jan" userId="619497a3-6dda-48a9-9783-3fc51734f31c" providerId="ADAL" clId="{E342A3C7-F018-5EDB-BB4A-14DCC16BF0F3}" dt="2026-02-16T07:17:27.885" v="40" actId="700"/>
        <pc:sldMkLst>
          <pc:docMk/>
          <pc:sldMk cId="1157577319" sldId="5254"/>
        </pc:sldMkLst>
        <pc:spChg chg="mod ord">
          <ac:chgData name="Petr Jan" userId="619497a3-6dda-48a9-9783-3fc51734f31c" providerId="ADAL" clId="{E342A3C7-F018-5EDB-BB4A-14DCC16BF0F3}" dt="2026-02-16T07:17:27.885" v="40" actId="700"/>
          <ac:spMkLst>
            <pc:docMk/>
            <pc:sldMk cId="1157577319" sldId="5254"/>
            <ac:spMk id="2" creationId="{3331188F-C15C-E858-9372-1416A12253F5}"/>
          </ac:spMkLst>
        </pc:spChg>
        <pc:spChg chg="add mod ord">
          <ac:chgData name="Petr Jan" userId="619497a3-6dda-48a9-9783-3fc51734f31c" providerId="ADAL" clId="{E342A3C7-F018-5EDB-BB4A-14DCC16BF0F3}" dt="2026-02-16T07:17:27.885" v="40" actId="700"/>
          <ac:spMkLst>
            <pc:docMk/>
            <pc:sldMk cId="1157577319" sldId="5254"/>
            <ac:spMk id="3" creationId="{DC033E1F-8F8C-641F-2DC6-73B321F057C5}"/>
          </ac:spMkLst>
        </pc:spChg>
        <pc:spChg chg="del mod ord">
          <ac:chgData name="Petr Jan" userId="619497a3-6dda-48a9-9783-3fc51734f31c" providerId="ADAL" clId="{E342A3C7-F018-5EDB-BB4A-14DCC16BF0F3}" dt="2026-02-16T07:17:27.885" v="40" actId="700"/>
          <ac:spMkLst>
            <pc:docMk/>
            <pc:sldMk cId="1157577319" sldId="5254"/>
            <ac:spMk id="4" creationId="{9455A6EA-E4BA-3FD5-CE78-69BB0104B198}"/>
          </ac:spMkLst>
        </pc:spChg>
      </pc:sldChg>
      <pc:sldChg chg="addSp delSp modSp mod modClrScheme chgLayout">
        <pc:chgData name="Petr Jan" userId="619497a3-6dda-48a9-9783-3fc51734f31c" providerId="ADAL" clId="{E342A3C7-F018-5EDB-BB4A-14DCC16BF0F3}" dt="2026-02-16T10:25:56.545" v="322" actId="207"/>
        <pc:sldMkLst>
          <pc:docMk/>
          <pc:sldMk cId="1435522283" sldId="5256"/>
        </pc:sldMkLst>
        <pc:spChg chg="mod ord">
          <ac:chgData name="Petr Jan" userId="619497a3-6dda-48a9-9783-3fc51734f31c" providerId="ADAL" clId="{E342A3C7-F018-5EDB-BB4A-14DCC16BF0F3}" dt="2026-02-16T07:17:16.028" v="38" actId="700"/>
          <ac:spMkLst>
            <pc:docMk/>
            <pc:sldMk cId="1435522283" sldId="5256"/>
            <ac:spMk id="2" creationId="{5F859763-1F4A-85FD-036E-F269B327772A}"/>
          </ac:spMkLst>
        </pc:spChg>
        <pc:spChg chg="add mod ord">
          <ac:chgData name="Petr Jan" userId="619497a3-6dda-48a9-9783-3fc51734f31c" providerId="ADAL" clId="{E342A3C7-F018-5EDB-BB4A-14DCC16BF0F3}" dt="2026-02-16T10:25:56.545" v="322" actId="207"/>
          <ac:spMkLst>
            <pc:docMk/>
            <pc:sldMk cId="1435522283" sldId="5256"/>
            <ac:spMk id="3" creationId="{6D213EA3-1124-EBE2-F544-A08787AFE6F3}"/>
          </ac:spMkLst>
        </pc:spChg>
        <pc:spChg chg="del mod ord">
          <ac:chgData name="Petr Jan" userId="619497a3-6dda-48a9-9783-3fc51734f31c" providerId="ADAL" clId="{E342A3C7-F018-5EDB-BB4A-14DCC16BF0F3}" dt="2026-02-16T07:17:16.028" v="38" actId="700"/>
          <ac:spMkLst>
            <pc:docMk/>
            <pc:sldMk cId="1435522283" sldId="5256"/>
            <ac:spMk id="5" creationId="{56F77FF9-FEA4-00B2-FEE5-3C808A23E369}"/>
          </ac:spMkLst>
        </pc:spChg>
      </pc:sldChg>
      <pc:sldChg chg="addSp modSp mod">
        <pc:chgData name="Petr Jan" userId="619497a3-6dda-48a9-9783-3fc51734f31c" providerId="ADAL" clId="{E342A3C7-F018-5EDB-BB4A-14DCC16BF0F3}" dt="2026-02-16T10:25:07.934" v="316"/>
        <pc:sldMkLst>
          <pc:docMk/>
          <pc:sldMk cId="2671708349" sldId="5259"/>
        </pc:sldMkLst>
        <pc:spChg chg="mod">
          <ac:chgData name="Petr Jan" userId="619497a3-6dda-48a9-9783-3fc51734f31c" providerId="ADAL" clId="{E342A3C7-F018-5EDB-BB4A-14DCC16BF0F3}" dt="2026-02-16T10:25:07.934" v="316"/>
          <ac:spMkLst>
            <pc:docMk/>
            <pc:sldMk cId="2671708349" sldId="5259"/>
            <ac:spMk id="2" creationId="{B1B09EEF-2130-625C-6B0A-FD75D640BDC7}"/>
          </ac:spMkLst>
        </pc:spChg>
        <pc:spChg chg="add">
          <ac:chgData name="Petr Jan" userId="619497a3-6dda-48a9-9783-3fc51734f31c" providerId="ADAL" clId="{E342A3C7-F018-5EDB-BB4A-14DCC16BF0F3}" dt="2026-02-16T10:24:45.057" v="307"/>
          <ac:spMkLst>
            <pc:docMk/>
            <pc:sldMk cId="2671708349" sldId="5259"/>
            <ac:spMk id="3" creationId="{342075BF-9779-ADFA-A21B-12C10EB0D593}"/>
          </ac:spMkLst>
        </pc:spChg>
        <pc:picChg chg="mod">
          <ac:chgData name="Petr Jan" userId="619497a3-6dda-48a9-9783-3fc51734f31c" providerId="ADAL" clId="{E342A3C7-F018-5EDB-BB4A-14DCC16BF0F3}" dt="2026-02-16T10:25:07.065" v="312" actId="1076"/>
          <ac:picMkLst>
            <pc:docMk/>
            <pc:sldMk cId="2671708349" sldId="5259"/>
            <ac:picMk id="6" creationId="{947538EE-0625-CCE8-FEA2-9D2BBC344559}"/>
          </ac:picMkLst>
        </pc:picChg>
      </pc:sldChg>
      <pc:sldChg chg="modSp mod">
        <pc:chgData name="Petr Jan" userId="619497a3-6dda-48a9-9783-3fc51734f31c" providerId="ADAL" clId="{E342A3C7-F018-5EDB-BB4A-14DCC16BF0F3}" dt="2026-02-16T07:20:43.295" v="304" actId="27636"/>
        <pc:sldMkLst>
          <pc:docMk/>
          <pc:sldMk cId="1391751411" sldId="5262"/>
        </pc:sldMkLst>
        <pc:spChg chg="mod">
          <ac:chgData name="Petr Jan" userId="619497a3-6dda-48a9-9783-3fc51734f31c" providerId="ADAL" clId="{E342A3C7-F018-5EDB-BB4A-14DCC16BF0F3}" dt="2026-02-16T07:19:37.742" v="223" actId="27636"/>
          <ac:spMkLst>
            <pc:docMk/>
            <pc:sldMk cId="1391751411" sldId="5262"/>
            <ac:spMk id="2" creationId="{92520748-6DBA-C51F-DBA3-B5C2076AF0EF}"/>
          </ac:spMkLst>
        </pc:spChg>
        <pc:spChg chg="mod">
          <ac:chgData name="Petr Jan" userId="619497a3-6dda-48a9-9783-3fc51734f31c" providerId="ADAL" clId="{E342A3C7-F018-5EDB-BB4A-14DCC16BF0F3}" dt="2026-02-16T07:20:43.295" v="304" actId="27636"/>
          <ac:spMkLst>
            <pc:docMk/>
            <pc:sldMk cId="1391751411" sldId="5262"/>
            <ac:spMk id="4" creationId="{78442D05-2667-232D-5555-9AC16B68FDA2}"/>
          </ac:spMkLst>
        </pc:spChg>
      </pc:sldChg>
      <pc:sldChg chg="modSp add del mod">
        <pc:chgData name="Petr Jan" userId="619497a3-6dda-48a9-9783-3fc51734f31c" providerId="ADAL" clId="{E342A3C7-F018-5EDB-BB4A-14DCC16BF0F3}" dt="2026-02-16T11:35:08.420" v="399" actId="20577"/>
        <pc:sldMkLst>
          <pc:docMk/>
          <pc:sldMk cId="2572907502" sldId="5264"/>
        </pc:sldMkLst>
        <pc:spChg chg="mod">
          <ac:chgData name="Petr Jan" userId="619497a3-6dda-48a9-9783-3fc51734f31c" providerId="ADAL" clId="{E342A3C7-F018-5EDB-BB4A-14DCC16BF0F3}" dt="2026-02-16T11:34:59.600" v="386" actId="20577"/>
          <ac:spMkLst>
            <pc:docMk/>
            <pc:sldMk cId="2572907502" sldId="5264"/>
            <ac:spMk id="2" creationId="{EA0C489F-817F-B25E-ED96-67EE61A7316F}"/>
          </ac:spMkLst>
        </pc:spChg>
        <pc:spChg chg="mod">
          <ac:chgData name="Petr Jan" userId="619497a3-6dda-48a9-9783-3fc51734f31c" providerId="ADAL" clId="{E342A3C7-F018-5EDB-BB4A-14DCC16BF0F3}" dt="2026-02-16T11:35:08.420" v="399" actId="20577"/>
          <ac:spMkLst>
            <pc:docMk/>
            <pc:sldMk cId="2572907502" sldId="5264"/>
            <ac:spMk id="9" creationId="{1AC6FF36-5EDF-B350-0B30-866F535FEC85}"/>
          </ac:spMkLst>
        </pc:spChg>
      </pc:sldChg>
      <pc:sldChg chg="modSp new mod">
        <pc:chgData name="Petr Jan" userId="619497a3-6dda-48a9-9783-3fc51734f31c" providerId="ADAL" clId="{E342A3C7-F018-5EDB-BB4A-14DCC16BF0F3}" dt="2026-02-16T07:17:05.661" v="37" actId="20577"/>
        <pc:sldMkLst>
          <pc:docMk/>
          <pc:sldMk cId="3024555736" sldId="5275"/>
        </pc:sldMkLst>
        <pc:spChg chg="mod">
          <ac:chgData name="Petr Jan" userId="619497a3-6dda-48a9-9783-3fc51734f31c" providerId="ADAL" clId="{E342A3C7-F018-5EDB-BB4A-14DCC16BF0F3}" dt="2026-02-16T07:17:05.661" v="37" actId="20577"/>
          <ac:spMkLst>
            <pc:docMk/>
            <pc:sldMk cId="3024555736" sldId="5275"/>
            <ac:spMk id="2" creationId="{9B02086C-55B5-4E63-C5A0-DA83B8061C27}"/>
          </ac:spMkLst>
        </pc:spChg>
      </pc:sldChg>
      <pc:sldChg chg="new del">
        <pc:chgData name="Petr Jan" userId="619497a3-6dda-48a9-9783-3fc51734f31c" providerId="ADAL" clId="{E342A3C7-F018-5EDB-BB4A-14DCC16BF0F3}" dt="2026-02-16T07:17:29.676" v="41" actId="2696"/>
        <pc:sldMkLst>
          <pc:docMk/>
          <pc:sldMk cId="1128093408" sldId="527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16.02.2026</a:t>
            </a:fld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16.02.2026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 dirty="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DIA.</a:t>
            </a:r>
            <a:r>
              <a:rPr lang="cs-CZ" dirty="0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 dirty="0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www.identita.gov.cz/Autorizace/OvereniUkonu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-dev.gov.cz/katalogy/api/ovm/hledat-datovou-schranku-uradu" TargetMode="External"/><Relationship Id="rId2" Type="http://schemas.openxmlformats.org/officeDocument/2006/relationships/hyperlink" Target="https://portal.gov.cz/katalogy/api/ovm/hledat-datovou-schranku-uradu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_media/dokumenty:pruvodka_predani_prenesena_pusobnost_zopds.docx" TargetMode="External"/><Relationship Id="rId2" Type="http://schemas.openxmlformats.org/officeDocument/2006/relationships/hyperlink" Target="https://archi.gov.cz/_media/dokumenty:metodicky_pokyn_prenesena_pusobnost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fn.gov.cz/dokumenty-z-formul&#225;&#345;&#367;-ZoPDS/2024-10-04/#konceptu&#225;ln&#237;-vlastnost-jednozna&#269;n&#253;https://ofn.gov.cz/dokumenty-z-formul%E1&#345;&#367;-ZoPDS/2024-10-04/identifik&#225;tor-&#345;et&#283;zcov&#225;-podoba-jednozna&#269;n&#233;ho-identifik&#225;toru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ission.europa.eu/resources/etranslation_en" TargetMode="Externa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6AB280-60B3-EFDB-FA7B-1152224C6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Zjednodušené formuláře</a:t>
            </a:r>
            <a:br>
              <a:rPr lang="cs-CZ" dirty="0"/>
            </a:br>
            <a:r>
              <a:rPr lang="cs-CZ" sz="3600" dirty="0"/>
              <a:t>- Přenesená působnost</a:t>
            </a:r>
            <a:br>
              <a:rPr lang="cs-CZ" sz="3600" dirty="0"/>
            </a:br>
            <a:r>
              <a:rPr lang="cs-CZ" sz="3600" dirty="0"/>
              <a:t>- Novinky EASYFORMS</a:t>
            </a:r>
            <a:br>
              <a:rPr lang="cs-CZ" sz="3600" dirty="0"/>
            </a:br>
            <a:r>
              <a:rPr lang="cs-CZ" sz="3600" dirty="0"/>
              <a:t>- Služby obcím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A2F8B1F-08C8-74CB-0826-B9DBB8773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4114800"/>
            <a:ext cx="11113200" cy="1670400"/>
          </a:xfrm>
        </p:spPr>
        <p:txBody>
          <a:bodyPr/>
          <a:lstStyle/>
          <a:p>
            <a:r>
              <a:rPr lang="cs-CZ" dirty="0"/>
              <a:t>Jan Petr</a:t>
            </a:r>
          </a:p>
        </p:txBody>
      </p:sp>
    </p:spTree>
    <p:extLst>
      <p:ext uri="{BB962C8B-B14F-4D97-AF65-F5344CB8AC3E}">
        <p14:creationId xmlns:p14="http://schemas.microsoft.com/office/powerpoint/2010/main" val="1804549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D2AC1D-A6F2-792A-081D-8691AB9F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ZOPDS a Zjednodušené formuláře (EASYFORMS)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8CDB940-6D20-D765-E277-4C61AEC24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b="1" dirty="0"/>
              <a:t>ZoPDS – vládní priorita a závazek vůči občanům</a:t>
            </a:r>
          </a:p>
          <a:p>
            <a:pPr lvl="1"/>
            <a:r>
              <a:rPr lang="cs-CZ" dirty="0"/>
              <a:t>Splnění ZoPDS je deklarovanou prioritou vlády.</a:t>
            </a:r>
          </a:p>
          <a:p>
            <a:pPr lvl="1"/>
            <a:r>
              <a:rPr lang="cs-CZ" dirty="0"/>
              <a:t>Předseda vlády na počátku volebního období vyzval ministry k urychlené realizaci digitálních služeb.</a:t>
            </a:r>
          </a:p>
          <a:p>
            <a:pPr lvl="1"/>
            <a:r>
              <a:rPr lang="cs-CZ" dirty="0"/>
              <a:t>Termín plného naplnění: 1. 2. 2027.</a:t>
            </a:r>
          </a:p>
          <a:p>
            <a:pPr lvl="1"/>
            <a:r>
              <a:rPr lang="cs-CZ" dirty="0"/>
              <a:t>Odpovědnost nese každý gestor agendy.</a:t>
            </a:r>
          </a:p>
          <a:p>
            <a:r>
              <a:rPr lang="cs-CZ" b="1" dirty="0"/>
              <a:t>EASYFORMS = praktický nástroj pro splnění ZoPDS</a:t>
            </a:r>
          </a:p>
          <a:p>
            <a:pPr lvl="1"/>
            <a:r>
              <a:rPr lang="cs-CZ" dirty="0"/>
              <a:t>rychlá realizace digitální služby bez vlastního vývoje</a:t>
            </a:r>
          </a:p>
          <a:p>
            <a:pPr lvl="1"/>
            <a:r>
              <a:rPr lang="cs-CZ" dirty="0"/>
              <a:t>jednotný model formuláře, autorizace a přenosu</a:t>
            </a:r>
          </a:p>
          <a:p>
            <a:pPr lvl="1"/>
            <a:r>
              <a:rPr lang="cs-CZ" dirty="0"/>
              <a:t>podpora přenesené působnosti</a:t>
            </a:r>
          </a:p>
          <a:p>
            <a:pPr lvl="1"/>
            <a:r>
              <a:rPr lang="cs-CZ" dirty="0"/>
              <a:t>škálovatelné řešení pro stovky až tisíce OVM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41ACE5F-ED7F-1D3A-EE69-F090D094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6491A7E-9B40-9C22-C492-BFCDDA34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394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ED63501-2207-170D-8BFC-781DA4831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Přenesená působnost </a:t>
            </a:r>
            <a:br>
              <a:rPr lang="cs-CZ" dirty="0"/>
            </a:br>
            <a:r>
              <a:rPr lang="cs-CZ" dirty="0"/>
              <a:t>Směrování podání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B815F38-B567-826D-C655-DB93DFAD0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Jeden formulář pro stovky a tisíce obcí</a:t>
            </a:r>
          </a:p>
        </p:txBody>
      </p:sp>
    </p:spTree>
    <p:extLst>
      <p:ext uri="{BB962C8B-B14F-4D97-AF65-F5344CB8AC3E}">
        <p14:creationId xmlns:p14="http://schemas.microsoft.com/office/powerpoint/2010/main" val="307219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DEA828-6AE9-3CDE-448B-517CD2F6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Přenesená působnost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0A0AE2-1890-4A75-1CAD-2A90F50E8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19727"/>
            <a:ext cx="7700233" cy="4550768"/>
          </a:xfrm>
        </p:spPr>
        <p:txBody>
          <a:bodyPr>
            <a:normAutofit fontScale="92500"/>
          </a:bodyPr>
          <a:lstStyle/>
          <a:p>
            <a:r>
              <a:rPr lang="cs-CZ" b="1" dirty="0"/>
              <a:t>Přenesená působnost</a:t>
            </a:r>
            <a:r>
              <a:rPr lang="cs-CZ" dirty="0"/>
              <a:t> je forma výkonu </a:t>
            </a:r>
            <a:r>
              <a:rPr lang="cs-CZ" b="1" dirty="0"/>
              <a:t>státní správy</a:t>
            </a:r>
            <a:r>
              <a:rPr lang="cs-CZ" dirty="0"/>
              <a:t>, kterou </a:t>
            </a:r>
            <a:r>
              <a:rPr lang="cs-CZ" b="1" dirty="0"/>
              <a:t>vykonávají </a:t>
            </a:r>
          </a:p>
          <a:p>
            <a:pPr lvl="1"/>
            <a:r>
              <a:rPr lang="cs-CZ" b="1" dirty="0"/>
              <a:t>územní samosprávné celky</a:t>
            </a:r>
            <a:r>
              <a:rPr lang="cs-CZ" dirty="0"/>
              <a:t> (obce, kraje), nebo</a:t>
            </a:r>
          </a:p>
          <a:p>
            <a:pPr lvl="1"/>
            <a:r>
              <a:rPr lang="cs-CZ" b="1" dirty="0"/>
              <a:t>specializované správní úřady státu</a:t>
            </a:r>
            <a:r>
              <a:rPr lang="cs-CZ" dirty="0"/>
              <a:t>.</a:t>
            </a:r>
          </a:p>
          <a:p>
            <a:r>
              <a:rPr lang="cs-CZ" dirty="0"/>
              <a:t>V obou případech jde stále o </a:t>
            </a:r>
            <a:r>
              <a:rPr lang="cs-CZ" b="1" dirty="0"/>
              <a:t>státní správu</a:t>
            </a:r>
            <a:r>
              <a:rPr lang="cs-CZ" dirty="0"/>
              <a:t>, nikoli o samosprávu.</a:t>
            </a:r>
          </a:p>
          <a:p>
            <a:r>
              <a:rPr lang="cs-CZ" dirty="0"/>
              <a:t>Typické znaky:</a:t>
            </a:r>
          </a:p>
          <a:p>
            <a:pPr lvl="1"/>
            <a:r>
              <a:rPr lang="cs-CZ" dirty="0"/>
              <a:t>rozhodování je </a:t>
            </a:r>
            <a:r>
              <a:rPr lang="cs-CZ" b="1" dirty="0"/>
              <a:t>závazné</a:t>
            </a:r>
            <a:r>
              <a:rPr lang="cs-CZ" dirty="0"/>
              <a:t> (správní rozhodnutí),</a:t>
            </a:r>
          </a:p>
          <a:p>
            <a:pPr lvl="1"/>
            <a:r>
              <a:rPr lang="cs-CZ" dirty="0"/>
              <a:t>postupy jsou </a:t>
            </a:r>
            <a:r>
              <a:rPr lang="cs-CZ" b="1" dirty="0"/>
              <a:t>přesně dané zákonem</a:t>
            </a:r>
            <a:r>
              <a:rPr lang="cs-CZ" dirty="0"/>
              <a:t>,</a:t>
            </a:r>
          </a:p>
          <a:p>
            <a:pPr lvl="1"/>
            <a:r>
              <a:rPr lang="cs-CZ" dirty="0"/>
              <a:t>nad výkonem je </a:t>
            </a:r>
            <a:r>
              <a:rPr lang="cs-CZ" b="1" dirty="0"/>
              <a:t>státní dohled</a:t>
            </a:r>
            <a:r>
              <a:rPr lang="cs-CZ" dirty="0"/>
              <a:t> (ministerstva, krajské úřady),</a:t>
            </a:r>
          </a:p>
          <a:p>
            <a:pPr lvl="1"/>
            <a:r>
              <a:rPr lang="cs-CZ" dirty="0"/>
              <a:t>úředník je </a:t>
            </a:r>
            <a:r>
              <a:rPr lang="cs-CZ" b="1" dirty="0"/>
              <a:t>vázán právními předpisy</a:t>
            </a:r>
            <a:r>
              <a:rPr lang="cs-CZ" dirty="0"/>
              <a:t>, nikoli politickým rozhodnutím obce.</a:t>
            </a:r>
          </a:p>
          <a:p>
            <a:pPr lvl="1"/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A78FFED-0C31-8F4F-25AA-0CDEC36C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8B7E424-06DA-D4EF-F56C-5D7D1364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  <p:sp>
        <p:nvSpPr>
          <p:cNvPr id="6" name="Zástupný obsah 2">
            <a:extLst>
              <a:ext uri="{FF2B5EF4-FFF2-40B4-BE49-F238E27FC236}">
                <a16:creationId xmlns:a16="http://schemas.microsoft.com/office/drawing/2014/main" id="{9C51A246-B24C-7AF5-12E2-381EE471D845}"/>
              </a:ext>
            </a:extLst>
          </p:cNvPr>
          <p:cNvSpPr txBox="1">
            <a:spLocks/>
          </p:cNvSpPr>
          <p:nvPr/>
        </p:nvSpPr>
        <p:spPr>
          <a:xfrm>
            <a:off x="8786446" y="1419727"/>
            <a:ext cx="3249947" cy="4550768"/>
          </a:xfrm>
          <a:prstGeom prst="rect">
            <a:avLst/>
          </a:prstGeom>
        </p:spPr>
        <p:txBody>
          <a:bodyPr vert="horz" lIns="0" tIns="0" rIns="0" bIns="0" rtlCol="0" anchor="t" anchorCtr="0">
            <a:normAutofit fontScale="92500" lnSpcReduction="10000"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cs-CZ" sz="2100" b="1" dirty="0">
                <a:solidFill>
                  <a:schemeClr val="accent1"/>
                </a:solidFill>
              </a:rPr>
              <a:t>Příklady</a:t>
            </a:r>
          </a:p>
          <a:p>
            <a:r>
              <a:rPr lang="cs-CZ" dirty="0"/>
              <a:t>vydávání občanských průkazů a pasů,</a:t>
            </a:r>
          </a:p>
          <a:p>
            <a:r>
              <a:rPr lang="cs-CZ" dirty="0"/>
              <a:t>evidence obyvatel,</a:t>
            </a:r>
          </a:p>
          <a:p>
            <a:r>
              <a:rPr lang="cs-CZ" dirty="0"/>
              <a:t>řidičské průkazy,</a:t>
            </a:r>
          </a:p>
          <a:p>
            <a:r>
              <a:rPr lang="cs-CZ" dirty="0"/>
              <a:t>přestupkové řízení,</a:t>
            </a:r>
          </a:p>
          <a:p>
            <a:r>
              <a:rPr lang="cs-CZ" dirty="0"/>
              <a:t>ochrana životního prostředí,</a:t>
            </a:r>
          </a:p>
          <a:p>
            <a:r>
              <a:rPr lang="cs-CZ" dirty="0"/>
              <a:t>agenda sociálních dávek,</a:t>
            </a:r>
          </a:p>
          <a:p>
            <a:r>
              <a:rPr lang="cs-CZ" dirty="0"/>
              <a:t>ochrana veřejného zdraví,</a:t>
            </a:r>
          </a:p>
          <a:p>
            <a:r>
              <a:rPr lang="cs-CZ" dirty="0"/>
              <a:t>epidemiologická opatření,</a:t>
            </a:r>
          </a:p>
          <a:p>
            <a:r>
              <a:rPr lang="cs-CZ" dirty="0"/>
              <a:t>hygienický dozor.</a:t>
            </a:r>
          </a:p>
        </p:txBody>
      </p:sp>
    </p:spTree>
    <p:extLst>
      <p:ext uri="{BB962C8B-B14F-4D97-AF65-F5344CB8AC3E}">
        <p14:creationId xmlns:p14="http://schemas.microsoft.com/office/powerpoint/2010/main" val="259755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E10DF9-5361-0233-1346-C911921E1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67522"/>
            <a:ext cx="11113200" cy="459896"/>
          </a:xfrm>
        </p:spPr>
        <p:txBody>
          <a:bodyPr>
            <a:normAutofit fontScale="90000"/>
          </a:bodyPr>
          <a:lstStyle/>
          <a:p>
            <a:r>
              <a:rPr lang="cs-CZ" dirty="0"/>
              <a:t>Přenesená působnost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35188E5-53E6-4143-BD34-BA4CA371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A540213-DD7A-8736-7EF6-D3AF31D5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  <p:pic>
        <p:nvPicPr>
          <p:cNvPr id="9" name="Zástupný obsah 8">
            <a:extLst>
              <a:ext uri="{FF2B5EF4-FFF2-40B4-BE49-F238E27FC236}">
                <a16:creationId xmlns:a16="http://schemas.microsoft.com/office/drawing/2014/main" id="{74CA6B7D-869A-0752-F135-F065122EA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800" y="754470"/>
            <a:ext cx="10224994" cy="6063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02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7CF921-4950-3A37-E76F-D4C58B2B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Jeden formulář pro tisíce obcí</a:t>
            </a:r>
            <a:br>
              <a:rPr lang="cs-CZ" dirty="0"/>
            </a:br>
            <a:r>
              <a:rPr lang="cs-CZ" sz="2200" dirty="0"/>
              <a:t>(1krát univerzální řešení nebo tisíckrát řešení na zakázku)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31657C-8CF6-2EA5-91BC-C7D139F8C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přenesenou působnost digitální službu realizuje ohlašovatel agendy (ministerstvo)</a:t>
            </a:r>
          </a:p>
          <a:p>
            <a:r>
              <a:rPr lang="cs-CZ" dirty="0"/>
              <a:t>Ohlašovatel zveřejní formulář, formulář dle typu přenesené působnosti slouží pro:</a:t>
            </a:r>
          </a:p>
          <a:p>
            <a:pPr lvl="1"/>
            <a:r>
              <a:rPr lang="cs-CZ" dirty="0"/>
              <a:t>6400 obcí pokud se jedná o přenesenou působnost na obce nebo</a:t>
            </a:r>
          </a:p>
          <a:p>
            <a:pPr lvl="1"/>
            <a:r>
              <a:rPr lang="cs-CZ" dirty="0"/>
              <a:t>205 obcí s rozšířenou působností nebo</a:t>
            </a:r>
          </a:p>
          <a:p>
            <a:pPr lvl="1"/>
            <a:r>
              <a:rPr lang="cs-CZ" dirty="0"/>
              <a:t>14 krajů nebo</a:t>
            </a:r>
          </a:p>
          <a:p>
            <a:pPr lvl="1"/>
            <a:r>
              <a:rPr lang="cs-CZ" dirty="0"/>
              <a:t>jiné OVM pokud se jedná například o hygienické stanice apod.	</a:t>
            </a:r>
          </a:p>
          <a:p>
            <a:r>
              <a:rPr lang="cs-CZ" b="1" u="sng" dirty="0"/>
              <a:t>JEDEN vytvořený formulář využijí stovky respektive tisíce OVM</a:t>
            </a:r>
            <a:r>
              <a:rPr lang="cs-CZ" dirty="0"/>
              <a:t>, mění se pouze místo, kde se služba vyřizuje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EE19CD-04A4-863C-4C86-191F22A0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BC2D640-2B24-E5FE-1473-23E5B572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2776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11CCDF-47FE-C11F-F6E2-569EE49FE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Implementace v </a:t>
            </a:r>
            <a:r>
              <a:rPr lang="cs-CZ" dirty="0" err="1"/>
              <a:t>EASYForms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A885C4F-D3AD-C8F0-D138-584DE8F598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8806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E96D-7E30-B80A-1F6C-0E6240C1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683FF9-8051-42C8-F387-C7A07EFA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cs-CZ" sz="3200" dirty="0"/>
              <a:t>Nastavení místní příslušnosti služby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4256BDF-7EEC-72E3-A167-EDB46A865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999" y="1630017"/>
            <a:ext cx="2865555" cy="4309983"/>
          </a:xfrm>
        </p:spPr>
        <p:txBody>
          <a:bodyPr>
            <a:noAutofit/>
          </a:bodyPr>
          <a:lstStyle/>
          <a:p>
            <a:pPr marL="287945" indent="-287655">
              <a:lnSpc>
                <a:spcPct val="100000"/>
              </a:lnSpc>
            </a:pPr>
            <a:r>
              <a:rPr lang="cs-CZ" dirty="0">
                <a:solidFill>
                  <a:srgbClr val="2E2D2C"/>
                </a:solidFill>
                <a:latin typeface="Arial"/>
                <a:cs typeface="Arial"/>
              </a:rPr>
              <a:t>Jakou má služba místní příslušnost se nastavuje v AIS RPP Působnostní – záložka Služby VS</a:t>
            </a:r>
          </a:p>
          <a:p>
            <a:pPr marL="287945" indent="-287655">
              <a:lnSpc>
                <a:spcPct val="100000"/>
              </a:lnSpc>
            </a:pPr>
            <a:endParaRPr lang="cs-CZ" dirty="0">
              <a:solidFill>
                <a:srgbClr val="2E2D2C"/>
              </a:solidFill>
              <a:latin typeface="Arial"/>
              <a:cs typeface="Arial"/>
            </a:endParaRPr>
          </a:p>
          <a:p>
            <a:pPr marL="287945" indent="-287655">
              <a:lnSpc>
                <a:spcPct val="100000"/>
              </a:lnSpc>
            </a:pPr>
            <a:endParaRPr lang="cs-CZ" dirty="0"/>
          </a:p>
        </p:txBody>
      </p:sp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E599867F-13AE-1849-07F3-402F58DD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DIA.GOV.CZ</a:t>
            </a:r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261EA968-7AAC-8F91-3B4B-AC1F291D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pPr/>
              <a:t>8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58E7F207-BFF7-D063-4FC8-6C6E65BC8798}"/>
              </a:ext>
            </a:extLst>
          </p:cNvPr>
          <p:cNvSpPr txBox="1"/>
          <p:nvPr/>
        </p:nvSpPr>
        <p:spPr>
          <a:xfrm>
            <a:off x="6467061" y="66260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  <p:pic>
        <p:nvPicPr>
          <p:cNvPr id="10" name="Obrázek 9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A9FF3439-3FA5-8299-C367-34AA90B1D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161" y="1630017"/>
            <a:ext cx="7254869" cy="36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9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DFF3-50F8-4A62-9027-4FAA3C4E2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8F23C252-CAA7-9BB5-F9B4-299A396A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Nastavení v </a:t>
            </a:r>
            <a:r>
              <a:rPr lang="cs-CZ" dirty="0" err="1"/>
              <a:t>EasyForMs</a:t>
            </a:r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1A60710-D74E-B5A9-FB1F-7A6F8CDF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99" y="1352635"/>
            <a:ext cx="10668345" cy="438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87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Ukázka směrování podání na portálu občana_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CDCBFD82-71DE-B4D4-D0F5-D608435CBB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15842BD-64E8-E6D6-8222-0C2AA221E21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24600"/>
            <a:ext cx="5940425" cy="365125"/>
          </a:xfrm>
        </p:spPr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659097F-0879-9058-65E5-50CCFC6BE87C}"/>
              </a:ext>
            </a:extLst>
          </p:cNvPr>
          <p:cNvSpPr txBox="1"/>
          <p:nvPr/>
        </p:nvSpPr>
        <p:spPr>
          <a:xfrm>
            <a:off x="2543175" y="1728788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968A-569F-08EE-E851-BAAB295C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91727D-78E8-F936-6375-C6F0FF0A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cs-CZ" sz="3200" dirty="0"/>
              <a:t>Automatické dohledání příslušného úřadu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A306CD3-BEE6-7D4F-3E0C-AA97C1F6D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999" y="1630017"/>
            <a:ext cx="10167757" cy="4309983"/>
          </a:xfrm>
        </p:spPr>
        <p:txBody>
          <a:bodyPr>
            <a:noAutofit/>
          </a:bodyPr>
          <a:lstStyle/>
          <a:p>
            <a:pPr marL="287945" indent="-287655">
              <a:lnSpc>
                <a:spcPct val="100000"/>
              </a:lnSpc>
            </a:pPr>
            <a:r>
              <a:rPr lang="cs-CZ" dirty="0">
                <a:solidFill>
                  <a:srgbClr val="2E2D2C"/>
                </a:solidFill>
                <a:latin typeface="Arial"/>
                <a:cs typeface="Arial"/>
              </a:rPr>
              <a:t>P</a:t>
            </a:r>
            <a:r>
              <a:rPr lang="cs-CZ" dirty="0"/>
              <a:t>okud je u služby uvedena jedna z následujících místních příslušností, dojde k automatickému vyhledání místně příslušného úřadu: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dle místa podnikání fyzické osoby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dle místa trvalého pobytu fyzické osoby 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dle sídla právnické osoby</a:t>
            </a:r>
          </a:p>
        </p:txBody>
      </p:sp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E32A1B66-0730-88BA-88D0-162551D4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DIA.GOV.CZ</a:t>
            </a:r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5E81C4C3-CBA5-31B7-20A8-09C207F2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pPr/>
              <a:t>11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66333AB-EE39-E0BB-1B05-6BA35766D229}"/>
              </a:ext>
            </a:extLst>
          </p:cNvPr>
          <p:cNvSpPr txBox="1"/>
          <p:nvPr/>
        </p:nvSpPr>
        <p:spPr>
          <a:xfrm>
            <a:off x="6467061" y="66260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987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968A-569F-08EE-E851-BAAB295C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91727D-78E8-F936-6375-C6F0FF0A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cs-CZ" sz="3200" dirty="0"/>
              <a:t>Video - Automatické dohledání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A306CD3-BEE6-7D4F-3E0C-AA97C1F6D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999" y="1630017"/>
            <a:ext cx="10167757" cy="4309983"/>
          </a:xfrm>
        </p:spPr>
        <p:txBody>
          <a:bodyPr>
            <a:noAutofit/>
          </a:bodyPr>
          <a:lstStyle/>
          <a:p>
            <a:pPr marL="287945" indent="-287655">
              <a:lnSpc>
                <a:spcPct val="100000"/>
              </a:lnSpc>
            </a:pPr>
            <a:endParaRPr lang="cs-CZ" sz="1600" dirty="0"/>
          </a:p>
        </p:txBody>
      </p:sp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E32A1B66-0730-88BA-88D0-162551D4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DIA.GOV.CZ</a:t>
            </a:r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5E81C4C3-CBA5-31B7-20A8-09C207F2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pPr/>
              <a:t>12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66333AB-EE39-E0BB-1B05-6BA35766D229}"/>
              </a:ext>
            </a:extLst>
          </p:cNvPr>
          <p:cNvSpPr txBox="1"/>
          <p:nvPr/>
        </p:nvSpPr>
        <p:spPr>
          <a:xfrm>
            <a:off x="6467061" y="66260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  <p:pic>
        <p:nvPicPr>
          <p:cNvPr id="5" name="vyhledani-automaticky">
            <a:hlinkClick r:id="" action="ppaction://media"/>
            <a:extLst>
              <a:ext uri="{FF2B5EF4-FFF2-40B4-BE49-F238E27FC236}">
                <a16:creationId xmlns:a16="http://schemas.microsoft.com/office/drawing/2014/main" id="{FA037697-C48A-1ED8-BC63-586F1610778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9999" y="1041808"/>
            <a:ext cx="8647544" cy="486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8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7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68A5-B14B-7531-2C94-90ACFDDE3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952DAC-0BC2-F780-29DB-F6CF2FFE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cs-CZ" sz="3200" dirty="0"/>
              <a:t>Asistované dohledání příslušného úřadu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5BB2A5D-3651-46E4-161A-14EA1B087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999" y="1630017"/>
            <a:ext cx="10167757" cy="4309983"/>
          </a:xfrm>
        </p:spPr>
        <p:txBody>
          <a:bodyPr>
            <a:noAutofit/>
          </a:bodyPr>
          <a:lstStyle/>
          <a:p>
            <a:pPr marL="287945" indent="-287655">
              <a:lnSpc>
                <a:spcPct val="100000"/>
              </a:lnSpc>
            </a:pPr>
            <a:r>
              <a:rPr lang="cs-CZ" dirty="0">
                <a:solidFill>
                  <a:srgbClr val="2E2D2C"/>
                </a:solidFill>
                <a:latin typeface="Arial"/>
                <a:cs typeface="Arial"/>
              </a:rPr>
              <a:t>P</a:t>
            </a:r>
            <a:r>
              <a:rPr lang="cs-CZ" dirty="0"/>
              <a:t>okud je u služby uvedena jedna z následujících místních příslušností, dojde k asistovanému vyhledání místně příslušného úřadu: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dle místa dotčené nemovitosti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dle místa činnosti účastníka</a:t>
            </a:r>
          </a:p>
          <a:p>
            <a:pPr marL="288000" lvl="1" indent="0">
              <a:buNone/>
            </a:pPr>
            <a:r>
              <a:rPr lang="cs-CZ" dirty="0"/>
              <a:t>Uživatel musí uvést adresu nebo použít GPS polohu, podle které dojde k dohledání místně příslušného úřadu.</a:t>
            </a:r>
          </a:p>
        </p:txBody>
      </p:sp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C45C7DB5-E3DF-AC3A-C9F5-C372E773B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DIA.GOV.CZ</a:t>
            </a:r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24534EFF-E776-AC63-D18D-1473D01E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pPr/>
              <a:t>13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67361489-744C-3A78-B83A-C409D133C498}"/>
              </a:ext>
            </a:extLst>
          </p:cNvPr>
          <p:cNvSpPr txBox="1"/>
          <p:nvPr/>
        </p:nvSpPr>
        <p:spPr>
          <a:xfrm>
            <a:off x="6467061" y="66260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96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968A-569F-08EE-E851-BAAB295C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91727D-78E8-F936-6375-C6F0FF0A4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cs-CZ" sz="3200" dirty="0"/>
              <a:t>Video - Asistované dohledání</a:t>
            </a:r>
          </a:p>
        </p:txBody>
      </p:sp>
      <p:pic>
        <p:nvPicPr>
          <p:cNvPr id="6" name="vyhledani-dle dotazu 1 urad">
            <a:hlinkClick r:id="" action="ppaction://media"/>
            <a:extLst>
              <a:ext uri="{FF2B5EF4-FFF2-40B4-BE49-F238E27FC236}">
                <a16:creationId xmlns:a16="http://schemas.microsoft.com/office/drawing/2014/main" id="{E24DBF26-BC47-51FA-8065-6BB85E893936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8800" y="1008001"/>
            <a:ext cx="8716944" cy="4902942"/>
          </a:xfrm>
        </p:spPr>
      </p:pic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E32A1B66-0730-88BA-88D0-162551D4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DIA.GOV.CZ</a:t>
            </a:r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5E81C4C3-CBA5-31B7-20A8-09C207F2A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pPr/>
              <a:t>14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66333AB-EE39-E0BB-1B05-6BA35766D229}"/>
              </a:ext>
            </a:extLst>
          </p:cNvPr>
          <p:cNvSpPr txBox="1"/>
          <p:nvPr/>
        </p:nvSpPr>
        <p:spPr>
          <a:xfrm>
            <a:off x="6467061" y="66260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90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81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DB744-E619-2008-76F9-D19169593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0E5084-8613-36E3-E090-63EF19BA1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cs-CZ" sz="3200" dirty="0"/>
              <a:t>Není místní příslušnost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0058715-05B2-0113-DD60-C008B12C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999" y="1630017"/>
            <a:ext cx="10167757" cy="4309983"/>
          </a:xfrm>
        </p:spPr>
        <p:txBody>
          <a:bodyPr>
            <a:noAutofit/>
          </a:bodyPr>
          <a:lstStyle/>
          <a:p>
            <a:pPr marL="287945" indent="-287655">
              <a:lnSpc>
                <a:spcPct val="100000"/>
              </a:lnSpc>
            </a:pPr>
            <a:r>
              <a:rPr lang="cs-CZ" dirty="0">
                <a:solidFill>
                  <a:srgbClr val="2E2D2C"/>
                </a:solidFill>
                <a:latin typeface="Arial"/>
                <a:cs typeface="Arial"/>
              </a:rPr>
              <a:t>P</a:t>
            </a:r>
            <a:r>
              <a:rPr lang="cs-CZ" dirty="0"/>
              <a:t>okud u služby není místní příslušnost, musí uživatel zadat adresu (GPS polohu), ke které mu jsou dohledány úřady. Uživatel z nabídky jeden úřad vybere.</a:t>
            </a:r>
          </a:p>
        </p:txBody>
      </p:sp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146F37EF-3B99-D609-C495-E20986A1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DIA.GOV.CZ</a:t>
            </a:r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EF69174C-4120-6E76-3359-24F587166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pPr/>
              <a:t>15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7E1673F5-5A39-E9B1-AE0A-92C0F58345DF}"/>
              </a:ext>
            </a:extLst>
          </p:cNvPr>
          <p:cNvSpPr txBox="1"/>
          <p:nvPr/>
        </p:nvSpPr>
        <p:spPr>
          <a:xfrm>
            <a:off x="6467061" y="66260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44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6BE9C-3593-6F92-ABE7-5F62142F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F9F60F-3063-EA57-C33A-3B1D8B2D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cs-CZ" sz="3200" dirty="0"/>
              <a:t>Video - Není místní příslušnost</a:t>
            </a:r>
          </a:p>
        </p:txBody>
      </p:sp>
      <p:pic>
        <p:nvPicPr>
          <p:cNvPr id="5" name="vyhledani-dle dotazu vice uradu">
            <a:hlinkClick r:id="" action="ppaction://media"/>
            <a:extLst>
              <a:ext uri="{FF2B5EF4-FFF2-40B4-BE49-F238E27FC236}">
                <a16:creationId xmlns:a16="http://schemas.microsoft.com/office/drawing/2014/main" id="{1822B58D-4919-BDA6-A565-E2BE6AF9ACD0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8800" y="1008001"/>
            <a:ext cx="8736298" cy="4913828"/>
          </a:xfrm>
        </p:spPr>
      </p:pic>
      <p:sp>
        <p:nvSpPr>
          <p:cNvPr id="7" name="Zástupný symbol pro zápatí 6">
            <a:extLst>
              <a:ext uri="{FF2B5EF4-FFF2-40B4-BE49-F238E27FC236}">
                <a16:creationId xmlns:a16="http://schemas.microsoft.com/office/drawing/2014/main" id="{10D4599F-DDE4-A8C4-EA85-4130F1BD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/>
              <a:t>DIA.GOV.CZ</a:t>
            </a:r>
          </a:p>
        </p:txBody>
      </p:sp>
      <p:sp>
        <p:nvSpPr>
          <p:cNvPr id="8" name="Zástupný symbol pro číslo snímku 7">
            <a:extLst>
              <a:ext uri="{FF2B5EF4-FFF2-40B4-BE49-F238E27FC236}">
                <a16:creationId xmlns:a16="http://schemas.microsoft.com/office/drawing/2014/main" id="{C69B3253-64D3-39BB-711A-ECB3A41C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pPr/>
              <a:t>16</a:t>
            </a:fld>
            <a:endParaRPr lang="cs-CZ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1319562E-A45E-F230-68BB-D9D1C54B8C3A}"/>
              </a:ext>
            </a:extLst>
          </p:cNvPr>
          <p:cNvSpPr txBox="1"/>
          <p:nvPr/>
        </p:nvSpPr>
        <p:spPr>
          <a:xfrm>
            <a:off x="6467061" y="66260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63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B5F886-0C7F-66DE-08DB-E886BFF0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Výjimky</a:t>
            </a:r>
          </a:p>
        </p:txBody>
      </p:sp>
    </p:spTree>
    <p:extLst>
      <p:ext uri="{BB962C8B-B14F-4D97-AF65-F5344CB8AC3E}">
        <p14:creationId xmlns:p14="http://schemas.microsoft.com/office/powerpoint/2010/main" val="2657457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7ACDA0-1E68-22F6-3EB1-F341AEFC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Přenesená působnost Věcná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40150E-9838-C444-8415-5ED750435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Věcnou příslušnost nelze použít pro směrování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Příklad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Komunikace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dálnice a silnice I. třídy (stát, ŘSD), 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silnice II. a III. třídy (kraj, Správa údržby silnic), 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Místní komunikace (město)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Parky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Městský park – obec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Národní park – stát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CHKO – AOPK (Agentura ochrany přírody)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cs-CZ" dirty="0"/>
          </a:p>
          <a:p>
            <a:pPr marL="573750" lvl="1" indent="-285750">
              <a:buFont typeface="Arial" panose="020B0604020202020204" pitchFamily="34" charset="0"/>
              <a:buChar char="•"/>
            </a:pP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9669563-E796-3321-FAAD-E6B2C18C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BE9A5A6-DD45-847D-8820-760F1415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874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BFDB21-4137-41D1-725E-B902C0F2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případy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887E15-0DAE-D71F-28FE-FF6B43E27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Specifická územní skladebnost </a:t>
            </a:r>
          </a:p>
          <a:p>
            <a:pPr lvl="1"/>
            <a:r>
              <a:rPr lang="cs-CZ" dirty="0"/>
              <a:t>Finanční úřady</a:t>
            </a:r>
          </a:p>
          <a:p>
            <a:r>
              <a:rPr lang="cs-CZ" dirty="0"/>
              <a:t>Pracoviště, které nejsou vedena v RPP</a:t>
            </a:r>
          </a:p>
          <a:p>
            <a:pPr lvl="1"/>
            <a:r>
              <a:rPr lang="cs-CZ" dirty="0"/>
              <a:t>např. Úřad práce (jedno OVM ale reálně je to spousta pracovišť s vlastními Datovými schránkami)</a:t>
            </a:r>
          </a:p>
          <a:p>
            <a:pPr lvl="1"/>
            <a:endParaRPr lang="cs-CZ" dirty="0"/>
          </a:p>
          <a:p>
            <a:r>
              <a:rPr lang="cs-CZ" dirty="0"/>
              <a:t>Je možné realizovat, ale nejsou údaje v AIS působnostním (nutná spolupráce s příslušným OVM)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D66A162-D5B0-0266-A99E-42B38D8A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B04BFC-9E9D-DD40-0E5C-EA20B93A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8409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E2F251-E481-9FCC-6C21-3085C26E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Přenos podání mezi systémy</a:t>
            </a:r>
          </a:p>
        </p:txBody>
      </p:sp>
    </p:spTree>
    <p:extLst>
      <p:ext uri="{BB962C8B-B14F-4D97-AF65-F5344CB8AC3E}">
        <p14:creationId xmlns:p14="http://schemas.microsoft.com/office/powerpoint/2010/main" val="3943463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E1C1CF-241D-3193-C3BA-73BEDE5A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Přenos podání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83D4CB-548B-B549-A0F3-7A2C8A61F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Přenos podání v současné době probíhá pomocí datových schránek, protože nelze zaručit, že všechny obce umí použít Informační systém sdílených služeb (ISSS).</a:t>
            </a:r>
          </a:p>
          <a:p>
            <a:r>
              <a:rPr lang="cs-CZ" dirty="0">
                <a:solidFill>
                  <a:schemeClr val="accent1"/>
                </a:solidFill>
              </a:rPr>
              <a:t>Formulář v </a:t>
            </a:r>
            <a:r>
              <a:rPr lang="cs-CZ" dirty="0" err="1">
                <a:solidFill>
                  <a:schemeClr val="accent1"/>
                </a:solidFill>
              </a:rPr>
              <a:t>EasyFoms</a:t>
            </a:r>
            <a:r>
              <a:rPr lang="cs-CZ" dirty="0">
                <a:solidFill>
                  <a:schemeClr val="accent1"/>
                </a:solidFill>
              </a:rPr>
              <a:t> je nastaven tak, aby podání předal na adresu </a:t>
            </a:r>
            <a:r>
              <a:rPr lang="cs-CZ" b="1" dirty="0">
                <a:solidFill>
                  <a:schemeClr val="accent1"/>
                </a:solidFill>
              </a:rPr>
              <a:t>primární datové schránky OVM</a:t>
            </a:r>
            <a:r>
              <a:rPr lang="cs-CZ" dirty="0">
                <a:solidFill>
                  <a:schemeClr val="accent1"/>
                </a:solidFill>
              </a:rPr>
              <a:t>, který je místně příslušný, nebo které si uživatel vybral (pokud místní příslušnost není).</a:t>
            </a:r>
          </a:p>
          <a:p>
            <a:r>
              <a:rPr lang="cs-CZ" dirty="0">
                <a:latin typeface="Arial"/>
                <a:cs typeface="Arial"/>
              </a:rPr>
              <a:t>Vlastní podání tedy přijde do datové schránky v lidsky i počítačově čitelné podobě, tedy PDF s XML kontejnerem s pečetí Digitální a informační agentury.</a:t>
            </a:r>
          </a:p>
          <a:p>
            <a:r>
              <a:rPr lang="cs-CZ" dirty="0"/>
              <a:t>Obec, respektive vykonavatel úkonu, může podání zpracovat ručně využitím čitelné podoby v rámci spisové služby nebo automatizovaně na základě vytěžení XML.</a:t>
            </a:r>
          </a:p>
          <a:p>
            <a:r>
              <a:rPr lang="cs-CZ" dirty="0"/>
              <a:t>Podání je doplněno průvodkou.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4F009F0-AD03-76CF-28B1-5B126A56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82C7CE4-D565-1CF3-FD0B-F944DA16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089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595F87-B311-95F9-637F-67E2E487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Fikce podpisu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7B51708-E2A0-B93F-9DFC-0DFE78B58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 podáním prostřednictvím informačního systému veřejné správy počítá ustanovení § 4 odst. 1 písm. d) zákona o právu na digitální služby (dále jen „ZoPDS“), podle něhož je možné učinit podání prostřednictvím informačního systému veřejné správy za předpokladu, že došlo k prokázání totožnosti s využitím elektronické identifikace digitálního úkonu uživatelem služby a je umožněno zpětné prokázání projevu vůle uživatele služby učinit digitální úkon.</a:t>
            </a:r>
          </a:p>
          <a:p>
            <a:r>
              <a:rPr lang="cs-CZ" dirty="0">
                <a:solidFill>
                  <a:schemeClr val="accent1"/>
                </a:solidFill>
              </a:rPr>
              <a:t>Pokud je podání podáno způsobem podle předchozího odstavce, </a:t>
            </a:r>
            <a:r>
              <a:rPr lang="cs-CZ" b="1" dirty="0">
                <a:solidFill>
                  <a:schemeClr val="accent1"/>
                </a:solidFill>
              </a:rPr>
              <a:t>považuje se za vlastnoručně podepsané</a:t>
            </a:r>
            <a:r>
              <a:rPr lang="cs-CZ" dirty="0">
                <a:solidFill>
                  <a:schemeClr val="accent1"/>
                </a:solidFill>
              </a:rPr>
              <a:t>, podle § 8 zákona č. 365/2000 Sb., o informačních systémech veřejné správy.</a:t>
            </a:r>
          </a:p>
          <a:p>
            <a:r>
              <a:rPr lang="cs-CZ" dirty="0"/>
              <a:t>Toto je potvrzeno pečetí provozovatele portálu.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A887D19-AAAB-1776-6A11-58AA2FAA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B6AB408-505C-7277-A9A8-F4BBA5707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2554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1B2A73-46BE-018B-F613-C604D313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6904987" cy="1296000"/>
          </a:xfrm>
        </p:spPr>
        <p:txBody>
          <a:bodyPr/>
          <a:lstStyle/>
          <a:p>
            <a:r>
              <a:rPr lang="cs-CZ"/>
              <a:t>Průvodní dopis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E91C4AF-3D5E-30C5-52B5-86EC3F0BB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187356"/>
            <a:ext cx="6904987" cy="4782714"/>
          </a:xfrm>
        </p:spPr>
        <p:txBody>
          <a:bodyPr>
            <a:normAutofit fontScale="85000" lnSpcReduction="10000"/>
          </a:bodyPr>
          <a:lstStyle/>
          <a:p>
            <a:r>
              <a:rPr lang="cs-CZ" b="1" dirty="0"/>
              <a:t>Průvodní dopis předání podání učiněného na Portálu občana prostřednictvím datové zprávy </a:t>
            </a:r>
          </a:p>
          <a:p>
            <a:r>
              <a:rPr lang="cs-CZ" dirty="0"/>
              <a:t>Vážení,</a:t>
            </a:r>
          </a:p>
          <a:p>
            <a:r>
              <a:rPr lang="cs-CZ" dirty="0"/>
              <a:t>uživatel služby {uživatel služby} učinil podání na Portálu občana, které je zasláno prostřednictvím technické datové schránky gwbdi7h k vyřízení na vašem úřadu {Vyřizující úřad, kterému dojde podání v přenesené působnosti}.</a:t>
            </a:r>
          </a:p>
          <a:p>
            <a:r>
              <a:rPr lang="cs-CZ" dirty="0"/>
              <a:t>Podání uživatelem služby bylo učiněno dle úkonu {číslo a název digitálního úkon} v rámci služby {číslo a název digitální služby} v agendě {číslo a název agendy}. Uživatel služby využil fikci podpisu dle § 8 zákona č. 365/2000 Sb., o informačních systémech veřejné správy a o změně některých dalších zákonů a výsledek úkonu byl autorizován prostřednictvím služeb Národního bodu pro identifikaci a autentizaci, který je možné ověřit zde: </a:t>
            </a:r>
            <a:r>
              <a:rPr lang="cs-CZ" u="sng" dirty="0">
                <a:hlinkClick r:id="rId2" tooltip="https://www.identita.gov.cz/Autorizace/OvereniUkonu"/>
              </a:rPr>
              <a:t>https://www.identita.gov.cz/Autorizace/OvereniUkonu</a:t>
            </a:r>
            <a:r>
              <a:rPr lang="cs-CZ" dirty="0"/>
              <a:t> </a:t>
            </a:r>
          </a:p>
          <a:p>
            <a:r>
              <a:rPr lang="cs-CZ" dirty="0"/>
              <a:t>Obsahem podání bylo celkem {počet předávaných dokumentů} dokumentů, které vám předáváme v příloze datové zprávy.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3DAA122-323F-3EED-DC43-BA2D25A65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5BA7E9F-2D90-4190-C604-D36ECFA1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23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0619B4F-30CD-413C-28C3-8424F878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002" y="167521"/>
            <a:ext cx="4351138" cy="625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1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0819E6-CA66-3FA5-8007-7C07E396B0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Implementace do portálů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755BC6F-83C8-52EF-799A-36FA347E69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4359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49FB9AB4-5148-FC8F-9B66-FEC0A3E8E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698300"/>
          </a:xfrm>
        </p:spPr>
        <p:txBody>
          <a:bodyPr/>
          <a:lstStyle/>
          <a:p>
            <a:r>
              <a:rPr lang="cs-CZ" b="1" dirty="0"/>
              <a:t>Služba pro dohledání OVM na PO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72E7D6-BBF9-0057-DB6D-05DBC1B24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130300"/>
            <a:ext cx="11113200" cy="4953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Pro vyhledávání OVM včetně datové schránky se využívá na Portálu občana služba</a:t>
            </a:r>
            <a:r>
              <a:rPr lang="cs-CZ" b="1" dirty="0"/>
              <a:t> “hledat-datovou-</a:t>
            </a:r>
            <a:r>
              <a:rPr lang="cs-CZ" b="1" dirty="0" err="1"/>
              <a:t>schranku</a:t>
            </a:r>
            <a:r>
              <a:rPr lang="cs-CZ" b="1" dirty="0"/>
              <a:t>-</a:t>
            </a:r>
            <a:r>
              <a:rPr lang="cs-CZ" b="1" dirty="0" err="1"/>
              <a:t>uradu</a:t>
            </a:r>
            <a:r>
              <a:rPr lang="cs-CZ" dirty="0"/>
              <a:t>"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 err="1"/>
              <a:t>url_gov</a:t>
            </a:r>
            <a:r>
              <a:rPr lang="cs-CZ" dirty="0"/>
              <a:t>: </a:t>
            </a:r>
            <a:r>
              <a:rPr lang="cs-CZ" u="sng" dirty="0">
                <a:hlinkClick r:id="rId2"/>
              </a:rPr>
              <a:t>https://portal.gov.cz/katalogy/api/ovm/hledat-datovou-schranku-uradu</a:t>
            </a:r>
            <a:endParaRPr lang="cs-CZ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 err="1"/>
              <a:t>Body_raw</a:t>
            </a:r>
            <a:r>
              <a:rPr lang="cs-CZ" dirty="0"/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  "</a:t>
            </a:r>
            <a:r>
              <a:rPr lang="cs-CZ" dirty="0" err="1"/>
              <a:t>identifikatorSluzby</a:t>
            </a:r>
            <a:r>
              <a:rPr lang="cs-CZ" dirty="0"/>
              <a:t>": "S1636",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  "</a:t>
            </a:r>
            <a:r>
              <a:rPr lang="cs-CZ" dirty="0" err="1"/>
              <a:t>typSubjektu</a:t>
            </a:r>
            <a:r>
              <a:rPr lang="cs-CZ" dirty="0"/>
              <a:t>": "FO",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    "</a:t>
            </a:r>
            <a:r>
              <a:rPr lang="cs-CZ" dirty="0" err="1"/>
              <a:t>souradnice</a:t>
            </a:r>
            <a:r>
              <a:rPr lang="cs-CZ" dirty="0"/>
              <a:t>":[-736008.098607109, -1119479.6882866076]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 err="1"/>
              <a:t>url_test</a:t>
            </a:r>
            <a:r>
              <a:rPr lang="cs-CZ" dirty="0"/>
              <a:t>:</a:t>
            </a:r>
            <a:r>
              <a:rPr lang="cs-CZ" sz="1200" dirty="0"/>
              <a:t> </a:t>
            </a:r>
            <a:r>
              <a:rPr lang="cs-CZ" u="sng" dirty="0">
                <a:hlinkClick r:id="rId3"/>
              </a:rPr>
              <a:t>https://portal-dev.gov.cz/katalogy/api/ovm/hledat-datovou-schranku-uradu</a:t>
            </a:r>
            <a:endParaRPr lang="cs-CZ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    "</a:t>
            </a:r>
            <a:r>
              <a:rPr lang="cs-CZ" dirty="0" err="1"/>
              <a:t>identifikatorSluzby</a:t>
            </a:r>
            <a:r>
              <a:rPr lang="cs-CZ" dirty="0"/>
              <a:t>": "S40339",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    "</a:t>
            </a:r>
            <a:r>
              <a:rPr lang="cs-CZ" dirty="0" err="1"/>
              <a:t>typSubjektu</a:t>
            </a:r>
            <a:r>
              <a:rPr lang="cs-CZ" dirty="0"/>
              <a:t>": "FO",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    "</a:t>
            </a:r>
            <a:r>
              <a:rPr lang="cs-CZ" dirty="0" err="1"/>
              <a:t>souradnice</a:t>
            </a:r>
            <a:r>
              <a:rPr lang="cs-CZ" dirty="0"/>
              <a:t>": [-631807.3181532498, -1135355.0057722451]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cs-CZ" dirty="0"/>
              <a:t>}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8A5AE95-B8A5-9AD7-DD17-A701F1C3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64CB8C1-CB17-EC5B-0027-B89140A4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2464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8073D4-5D02-8DC6-9972-71E6859F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Příklad odpovědi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C69FE5-D89A-76CE-FB52-AC2D8B088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Příklad odpovědi API:</a:t>
            </a:r>
          </a:p>
          <a:p>
            <a:r>
              <a:rPr lang="cs-CZ" dirty="0"/>
              <a:t>[{"id":2692,"identifikator":"00579149","nazev":"obec Říčky v Orlických horách","identifikatorDs</a:t>
            </a:r>
            <a:r>
              <a:rPr lang="cs-CZ" dirty="0">
                <a:highlight>
                  <a:srgbClr val="FFFF00"/>
                </a:highlight>
              </a:rPr>
              <a:t>":"g59aqcu"</a:t>
            </a:r>
            <a:r>
              <a:rPr lang="cs-CZ" dirty="0"/>
              <a:t>,"adresa":{"kodAdresnihoMista":"21544557","geometrie":{"type":"Point","</a:t>
            </a:r>
            <a:r>
              <a:rPr lang="cs-CZ" dirty="0" err="1"/>
              <a:t>coordinates</a:t>
            </a:r>
            <a:r>
              <a:rPr lang="cs-CZ" dirty="0"/>
              <a:t>":[-597136.0,-1047395.19]},"text":["č. p. 2","51761 Říčky v Orlických horách"]}}]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ECD5664-CD7B-1927-72E3-B86DC79A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F740492-A42A-41F0-B5D1-5E8803BD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3398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B237848A-BACD-9596-4023-4CF6D31A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Přenos podání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C72FCA4-8C91-92E6-58EF-3EC28693E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u="sng" dirty="0">
                <a:latin typeface="Arial"/>
                <a:cs typeface="Arial"/>
              </a:rPr>
              <a:t>Metodický pokyn k procesu přenosu podání mezi informačními systémy veřejné správy a orgány veřejné správy</a:t>
            </a:r>
            <a:endParaRPr lang="cs-CZ" b="1" u="sng" dirty="0"/>
          </a:p>
          <a:p>
            <a:pPr marL="573405" lvl="1" indent="-285750">
              <a:buFont typeface="Arial" panose="020B0604020202020204" pitchFamily="34" charset="0"/>
              <a:buChar char="•"/>
            </a:pPr>
            <a:r>
              <a:rPr lang="cs-CZ" dirty="0">
                <a:hlinkClick r:id="rId2"/>
              </a:rPr>
              <a:t>https://archi.gov.cz/_media/dokumenty:metodicky_pokyn_prenesena_pusobnost.pdf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Průvodka elektronického podání</a:t>
            </a:r>
          </a:p>
          <a:p>
            <a:pPr marL="573405" lvl="1" indent="-285750">
              <a:buFont typeface="Arial" panose="020B0604020202020204" pitchFamily="34" charset="0"/>
              <a:buChar char="•"/>
            </a:pPr>
            <a:r>
              <a:rPr lang="cs-CZ" dirty="0">
                <a:hlinkClick r:id="rId3"/>
              </a:rPr>
              <a:t>https://archi.gov.cz/_media/dokumenty:pruvodka_predani_prenesena_pusobnost_zopds.docx</a:t>
            </a: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Dokument z formuláře pro elektronické podání</a:t>
            </a:r>
            <a:endParaRPr lang="cs-CZ" dirty="0">
              <a:hlinkClick r:id="rId4"/>
            </a:endParaRPr>
          </a:p>
          <a:p>
            <a:pPr marL="573405" lvl="1" indent="-285750">
              <a:buFont typeface="Arial" panose="020B0604020202020204" pitchFamily="34" charset="0"/>
              <a:buChar char="•"/>
            </a:pPr>
            <a:r>
              <a:rPr lang="cs-CZ" dirty="0">
                <a:latin typeface="Arial"/>
                <a:cs typeface="Arial"/>
                <a:hlinkClick r:id="rId4"/>
              </a:rPr>
              <a:t>https://ofn.gov.cz/dokumenty-z-formulářů-ZoPDS/2024-10-04/#konceptuální-vlastnost-jednoznačnýhttps://ofn.gov.cz/dokumenty-z-formul%E1řů-ZoPDS/2024-10-04/identifikátor-řetězcová-podoba-jednoznačného-identifikátoru</a:t>
            </a:r>
            <a:r>
              <a:rPr lang="cs-CZ" dirty="0">
                <a:latin typeface="Arial"/>
                <a:cs typeface="Arial"/>
              </a:rPr>
              <a:t>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36526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>
            <a:extLst>
              <a:ext uri="{FF2B5EF4-FFF2-40B4-BE49-F238E27FC236}">
                <a16:creationId xmlns:a16="http://schemas.microsoft.com/office/drawing/2014/main" id="{A9C7DF77-07E0-4097-A505-CF1DC429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FEF227B8-E38C-E9DC-8892-1DBD15C96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/>
              <a:t>Centrální publikaci typových formulářů zajišťují správci agend (ÚSÚ)</a:t>
            </a:r>
            <a:r>
              <a:rPr lang="cs-CZ" sz="2000" dirty="0"/>
              <a:t> – tj. věcně příslušné ústřední správní úřady jako garanti obsahu služby.</a:t>
            </a:r>
          </a:p>
          <a:p>
            <a:r>
              <a:rPr lang="cs-CZ" sz="2000" b="1" dirty="0"/>
              <a:t>Příslušné orgány veřejné moci vykonávající službu</a:t>
            </a:r>
            <a:r>
              <a:rPr lang="cs-CZ" sz="2000" dirty="0"/>
              <a:t> mají povinnost formulář </a:t>
            </a:r>
            <a:r>
              <a:rPr lang="cs-CZ" sz="2000" b="1" dirty="0"/>
              <a:t>zpřístupnit</a:t>
            </a:r>
            <a:r>
              <a:rPr lang="cs-CZ" sz="2000" dirty="0"/>
              <a:t> (minimálně </a:t>
            </a:r>
            <a:r>
              <a:rPr lang="cs-CZ" sz="2000" b="1" dirty="0"/>
              <a:t>odkazem na svých webových stránkách</a:t>
            </a:r>
            <a:r>
              <a:rPr lang="cs-CZ" sz="2000" dirty="0"/>
              <a:t> na centrálně publikovaný formulář).</a:t>
            </a:r>
          </a:p>
          <a:p>
            <a:r>
              <a:rPr lang="cs-CZ" sz="2000" dirty="0">
                <a:solidFill>
                  <a:schemeClr val="accent1"/>
                </a:solidFill>
              </a:rPr>
              <a:t>Při využití </a:t>
            </a:r>
            <a:r>
              <a:rPr lang="cs-CZ" sz="2000" b="1" dirty="0" err="1">
                <a:solidFill>
                  <a:schemeClr val="accent1"/>
                </a:solidFill>
              </a:rPr>
              <a:t>EasyForms</a:t>
            </a:r>
            <a:r>
              <a:rPr lang="cs-CZ" sz="2000" dirty="0">
                <a:solidFill>
                  <a:schemeClr val="accent1"/>
                </a:solidFill>
              </a:rPr>
              <a:t> je </a:t>
            </a:r>
            <a:r>
              <a:rPr lang="cs-CZ" sz="2000" b="1" dirty="0">
                <a:solidFill>
                  <a:schemeClr val="accent1"/>
                </a:solidFill>
              </a:rPr>
              <a:t>směrování podání plně automatické</a:t>
            </a:r>
            <a:r>
              <a:rPr lang="cs-CZ" sz="2000" dirty="0">
                <a:solidFill>
                  <a:schemeClr val="accent1"/>
                </a:solidFill>
              </a:rPr>
              <a:t> (správný úřad dle typu místní příslušnosti). </a:t>
            </a:r>
            <a:r>
              <a:rPr lang="cs-CZ" sz="2000" b="1" dirty="0">
                <a:solidFill>
                  <a:schemeClr val="accent1"/>
                </a:solidFill>
              </a:rPr>
              <a:t>Projekt je v pilotním provozu do konce února.</a:t>
            </a:r>
          </a:p>
          <a:p>
            <a:r>
              <a:rPr lang="cs-CZ" sz="2000" dirty="0"/>
              <a:t>Při vlastním návrhu formulářů lze pro směrování a předvyplnění využít </a:t>
            </a:r>
            <a:r>
              <a:rPr lang="cs-CZ" sz="2000" b="1" dirty="0"/>
              <a:t>údaje z AIS působnostního</a:t>
            </a:r>
            <a:r>
              <a:rPr lang="cs-CZ" sz="2000" dirty="0"/>
              <a:t> (strojové určení příslušného úřadu / působnosti).</a:t>
            </a:r>
          </a:p>
          <a:p>
            <a:pPr marL="457200" indent="-457200">
              <a:buFont typeface="+mj-lt"/>
              <a:buAutoNum type="arabicPeriod"/>
            </a:pPr>
            <a:endParaRPr lang="cs-CZ" sz="2000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E84CC3-3B65-D099-8410-C15DF2822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F769FE-2D3E-BF8E-25F4-5BD893B3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6342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3465B9-5B74-4627-A279-58C2C239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Novinky v EASYFORMS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DD37F6DC-5206-3F99-C6B7-5269198852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/>
              <a:t>Číselníky</a:t>
            </a:r>
          </a:p>
          <a:p>
            <a:r>
              <a:rPr lang="cs-CZ" dirty="0"/>
              <a:t>Překlad do angličtiny pomocí AI</a:t>
            </a:r>
          </a:p>
          <a:p>
            <a:r>
              <a:rPr lang="cs-CZ" dirty="0"/>
              <a:t>Neomezené množství příloh</a:t>
            </a:r>
          </a:p>
        </p:txBody>
      </p:sp>
    </p:spTree>
    <p:extLst>
      <p:ext uri="{BB962C8B-B14F-4D97-AF65-F5344CB8AC3E}">
        <p14:creationId xmlns:p14="http://schemas.microsoft.com/office/powerpoint/2010/main" val="3010898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02086C-55B5-4E63-C5A0-DA83B8061C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Číselníky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D3DD642-EA2E-1D2B-116E-80202D6B0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4555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38CAB5-A645-22BF-200D-C77B1146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Číselníky – nová funkce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8E169AD-ED03-D6A8-EBAF-1A65CA42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1639E41-FB2B-539F-937C-726BA6BB9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31</a:t>
            </a:fld>
            <a:endParaRPr lang="cs-CZ"/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93C6C9F0-8B93-8F26-2914-5B22E3B6D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Nově je možné vkládat číselníky. Jsou k dispozici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jednoduché číselníky, které jsou přímo součástí formuláře a pak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sdílené číselníky, které se spravují v samotném AIS Správa katalogů.</a:t>
            </a:r>
          </a:p>
          <a:p>
            <a:r>
              <a:rPr lang="cs-CZ" dirty="0"/>
              <a:t>V rámci služby je možné vybrat sdílený číselník nebo si vytvořit vlastní</a:t>
            </a:r>
          </a:p>
          <a:p>
            <a:r>
              <a:rPr lang="cs-CZ" dirty="0"/>
              <a:t>Vytvořit vlastní v poli Hodnoty číselníku</a:t>
            </a:r>
          </a:p>
          <a:p>
            <a:pPr lvl="2"/>
            <a:r>
              <a:rPr lang="cs-CZ" dirty="0"/>
              <a:t>V poli pro zadávání údajů je validace na zápis typu CSV: 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oddělovač středník, počet povolných sloupců 2-3 </a:t>
            </a:r>
          </a:p>
          <a:p>
            <a:pPr marL="861750" lvl="2" indent="-285750">
              <a:buFont typeface="Arial" panose="020B0604020202020204" pitchFamily="34" charset="0"/>
              <a:buChar char="•"/>
            </a:pPr>
            <a:r>
              <a:rPr lang="cs-CZ" dirty="0"/>
              <a:t>ukázka: 100;Název;Název(EN)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16232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85C81-9C3D-2F82-17F9-03D6EF64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Jednoduché číselníky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C3897A2-ECBC-1475-5F47-D53F14F2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7ED3A84-4378-F6B2-2C10-AD959D41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32</a:t>
            </a:fld>
            <a:endParaRPr lang="cs-CZ"/>
          </a:p>
        </p:txBody>
      </p:sp>
      <p:pic>
        <p:nvPicPr>
          <p:cNvPr id="6" name="Zástupný obsah 5" descr="Obsah obrázku text, řada/pruh, snímek obrazovky, účtenka&#10;&#10;Obsah generovaný pomocí AI může být nesprávný.">
            <a:extLst>
              <a:ext uri="{FF2B5EF4-FFF2-40B4-BE49-F238E27FC236}">
                <a16:creationId xmlns:a16="http://schemas.microsoft.com/office/drawing/2014/main" id="{CD4D74DF-6284-E664-539C-AF21E5A11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2219923"/>
            <a:ext cx="11114088" cy="335636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550508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158562-CC8D-6384-3345-4E2B297E3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Jednoduché číselníky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BD3A2B7-EF77-EBE9-79A8-C4AC1D34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2940869-D5FE-9B16-3EE4-16789568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33</a:t>
            </a:fld>
            <a:endParaRPr lang="cs-CZ"/>
          </a:p>
        </p:txBody>
      </p:sp>
      <p:pic>
        <p:nvPicPr>
          <p:cNvPr id="6" name="Zástupný obsah 5" descr="Obsah obrázku text, účtenka, řada/pruh&#10;&#10;Obsah generovaný pomocí AI může být nesprávný.">
            <a:extLst>
              <a:ext uri="{FF2B5EF4-FFF2-40B4-BE49-F238E27FC236}">
                <a16:creationId xmlns:a16="http://schemas.microsoft.com/office/drawing/2014/main" id="{5391C12B-6A0F-757C-6417-2E6E8F420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794" y="1993106"/>
            <a:ext cx="9144000" cy="3810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057861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210C70-7D3C-0664-33C5-9EBBF549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Sdílené číselníky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2A4A669-0BE3-E45B-91F6-A06F389D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F6D3AA0-850C-D5CD-BCA8-697D233E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34</a:t>
            </a:fld>
            <a:endParaRPr lang="cs-CZ"/>
          </a:p>
        </p:txBody>
      </p:sp>
      <p:pic>
        <p:nvPicPr>
          <p:cNvPr id="6" name="Zástupný obsah 5" descr="Obsah obrázku text, snímek obrazovky, software&#10;&#10;Obsah generovaný pomocí AI může být nesprávný.">
            <a:extLst>
              <a:ext uri="{FF2B5EF4-FFF2-40B4-BE49-F238E27FC236}">
                <a16:creationId xmlns:a16="http://schemas.microsoft.com/office/drawing/2014/main" id="{5C9C6F6A-CF30-CC66-435A-D3D2661918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529" y="1825625"/>
            <a:ext cx="9644529" cy="41449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669085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60D04E-83A3-2352-A019-65AB5122D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Sdílené číselníky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7C2CD28-80C6-6E8C-7D97-14023AC6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F3A8BEF-C513-1E4D-0AFD-A95B02E83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35</a:t>
            </a:fld>
            <a:endParaRPr lang="cs-CZ"/>
          </a:p>
        </p:txBody>
      </p:sp>
      <p:pic>
        <p:nvPicPr>
          <p:cNvPr id="6" name="Zástupný obsah 5" descr="Obsah obrázku text, snímek obrazovky, software, Webová stránka&#10;&#10;Obsah generovaný pomocí AI může být nesprávný.">
            <a:extLst>
              <a:ext uri="{FF2B5EF4-FFF2-40B4-BE49-F238E27FC236}">
                <a16:creationId xmlns:a16="http://schemas.microsoft.com/office/drawing/2014/main" id="{F417CBAC-4931-C581-2590-32D30C4F4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1782" y="1825625"/>
            <a:ext cx="8550023" cy="41449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230999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FE452F-6CDB-CCB1-2A80-8A0266E1F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Číselník z KATALOGU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1E3FD3EC-2B31-3843-0ADD-484566FA3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9294" y="2659856"/>
            <a:ext cx="8255000" cy="2476500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67658D0-AA7A-56FB-57E6-547E9CD9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00CAC1-89A3-C3DB-83DB-FD122757B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5696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859763-1F4A-85FD-036E-F269B3277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Překlad do angličtiny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D213EA3-1124-EBE2-F544-A08787AFE6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u="sng" dirty="0">
                <a:solidFill>
                  <a:schemeClr val="accent1">
                    <a:lumMod val="50000"/>
                  </a:schemeClr>
                </a:solidFill>
                <a:hlinkClick r:id="rId2" tooltip="https://commission.europa.eu/resources/etranslation_e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https://commission.europa.eu/resources/etranslation_en</a:t>
            </a:r>
            <a:endParaRPr lang="cs-CZ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5222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4B077E-CC20-2D72-DE6D-93B923E3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Správa Katalogů – Přeložit VŠE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73A970C2-B3B9-98E8-966F-7674BD79C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0025" y="1080000"/>
            <a:ext cx="8438826" cy="4799805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582528A-1F8C-B70F-718D-476E3F35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ADE9EB7-B63E-A5DD-6312-E13BBAA4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24344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B09EEF-2130-625C-6B0A-FD75D640B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VšeChna</a:t>
            </a:r>
            <a:r>
              <a:rPr lang="cs-CZ" dirty="0"/>
              <a:t> pole byla přeložena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947538EE-0625-CCE8-FEA2-9D2BBC344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8425" y="991883"/>
            <a:ext cx="8569682" cy="4874233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22757D1-D519-F18F-3EBA-713C27391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3D405A3-8888-CA4F-319A-0383B384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71708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331188F-C15C-E858-9372-1416A1225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Neomezené množství příloh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C033E1F-8F8C-641F-2DC6-73B321F057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575773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0A44E4-C0B2-9AC4-FD2B-FE5DCE4C5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Vícenásobné přílohy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712EBBBA-DF3B-8587-5342-C8995EF1C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3744" y="3523456"/>
            <a:ext cx="5626100" cy="749300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B960565-6814-C46B-9EA6-95B21DD9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D0130E-1FB8-6BC3-DFD1-936F3412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35264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9285FA-B019-AFEC-C1CB-9CBD940B7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Další přiložené přílohy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59B3FDF4-4098-2ED5-7B0C-E2B17D131C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9847" y="1825625"/>
            <a:ext cx="10493894" cy="4144963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8172948-EC34-5F7B-178A-199AD1BBE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5BB6651-EE39-FDC0-0FDB-FBE44A24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4677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520748-6DBA-C51F-DBA3-B5C2076A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Zjednodušené formuláře pro obce</a:t>
            </a:r>
            <a:br>
              <a:rPr lang="cs-CZ" dirty="0"/>
            </a:br>
            <a:endParaRPr lang="cs-CZ" dirty="0"/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78442D05-2667-232D-5555-9AC16B68F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739938"/>
          </a:xfrm>
        </p:spPr>
        <p:txBody>
          <a:bodyPr>
            <a:normAutofit fontScale="85000" lnSpcReduction="20000"/>
          </a:bodyPr>
          <a:lstStyle/>
          <a:p>
            <a:r>
              <a:rPr lang="cs-CZ" dirty="0"/>
              <a:t>Portál služby obcí</a:t>
            </a:r>
          </a:p>
          <a:p>
            <a:r>
              <a:rPr lang="cs-CZ" dirty="0"/>
              <a:t>Možnost modifikace formuláře pro jednotlivé obce </a:t>
            </a:r>
          </a:p>
          <a:p>
            <a:r>
              <a:rPr lang="cs-CZ" dirty="0"/>
              <a:t>Neomezený počet položek</a:t>
            </a:r>
          </a:p>
          <a:p>
            <a:r>
              <a:rPr lang="cs-CZ" dirty="0"/>
              <a:t>Další připravované novinky</a:t>
            </a:r>
          </a:p>
        </p:txBody>
      </p:sp>
    </p:spTree>
    <p:extLst>
      <p:ext uri="{BB962C8B-B14F-4D97-AF65-F5344CB8AC3E}">
        <p14:creationId xmlns:p14="http://schemas.microsoft.com/office/powerpoint/2010/main" val="13917514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EBCF47C-9E3D-341B-C08A-39C3164A8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3287417" cy="1296000"/>
          </a:xfrm>
        </p:spPr>
        <p:txBody>
          <a:bodyPr/>
          <a:lstStyle/>
          <a:p>
            <a:r>
              <a:rPr lang="cs-CZ" dirty="0"/>
              <a:t>Služby obcí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2D95E0E-DBD6-67A8-EDC4-F82142177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3287417" cy="4144869"/>
          </a:xfrm>
        </p:spPr>
        <p:txBody>
          <a:bodyPr/>
          <a:lstStyle/>
          <a:p>
            <a:r>
              <a:rPr lang="cs-CZ" dirty="0"/>
              <a:t>Portál obcí, kde je možné vyhledat formuláře dostupné pro jednotlivé obce vytvořené v </a:t>
            </a:r>
            <a:r>
              <a:rPr lang="cs-CZ" dirty="0" err="1"/>
              <a:t>EasyForms</a:t>
            </a:r>
            <a:r>
              <a:rPr lang="cs-CZ" dirty="0"/>
              <a:t>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B115471-A863-A737-C698-052E8ECF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FDA609-D7FE-2A57-5183-035A849B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44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472E1C8-16D5-5A8C-953E-BE6C08620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789" y="358716"/>
            <a:ext cx="7772400" cy="606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131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95E242-2C35-4458-845F-A4DA53C98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Vytváření formulářů upravených pro konkrétní obec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4F7089-FAD9-1189-8DF5-0A2E67786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Katalog šablon formulářů obcí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Existují standardní šablony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Katalog formulářů obcí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Uživatel si může vybrat šablonu a upravit jí podle požadavků konkrétní obce</a:t>
            </a:r>
          </a:p>
          <a:p>
            <a:pPr marL="573750" lvl="1" indent="-285750">
              <a:buFont typeface="Arial" panose="020B0604020202020204" pitchFamily="34" charset="0"/>
              <a:buChar char="•"/>
            </a:pPr>
            <a:r>
              <a:rPr lang="cs-CZ" dirty="0"/>
              <a:t>Každá modifikovaný formulář má svůj vlastní URL odkaz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B8A82C0-B8D6-D768-98DB-E0783FA2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FE2483A-1AB5-438C-E733-3589EE96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60741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045C920-CF60-1416-22B2-0FFA43D91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Neomezený počet položek</a:t>
            </a:r>
            <a:br>
              <a:rPr lang="cs-CZ" dirty="0"/>
            </a:br>
            <a:r>
              <a:rPr lang="cs-CZ" dirty="0"/>
              <a:t>Lepší UX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FE024386-E563-4934-C1DA-D744D6EF3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750" y="2017834"/>
            <a:ext cx="11114088" cy="3760545"/>
          </a:xfrm>
          <a:prstGeom prst="rect">
            <a:avLst/>
          </a:prstGeo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C74F67-16FF-5E41-61CD-014B2FB2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DE71E1E-3768-393D-993C-7AF0312AA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5593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0C489F-817F-B25E-ED96-67EE61A7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Připravované novinky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76AC749-D1AA-880D-F70A-4CBB25F0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51B4E53-C0C3-5F97-9FF5-4B0B4749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47</a:t>
            </a:fld>
            <a:endParaRPr lang="cs-CZ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1AC6FF36-5EDF-B350-0B30-866F535FE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Vzorce pro výpočet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Podmíněné zobrazování příloh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Lepší uživatelské prostředí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729075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/>
              <a:t>Jan Petr</a:t>
            </a:r>
          </a:p>
          <a:p>
            <a:r>
              <a:rPr lang="cs-CZ" dirty="0" err="1"/>
              <a:t>jan.petr@dia.gov.cz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EEDC0FAECAFE148AD396C865B9B5E28" ma:contentTypeVersion="15" ma:contentTypeDescription="Vytvoří nový dokument" ma:contentTypeScope="" ma:versionID="eb65721d332b1b8f89da6fb317cf435d">
  <xsd:schema xmlns:xsd="http://www.w3.org/2001/XMLSchema" xmlns:xs="http://www.w3.org/2001/XMLSchema" xmlns:p="http://schemas.microsoft.com/office/2006/metadata/properties" xmlns:ns2="0f7720ff-53f2-424f-bdbf-9f2258d7a7d5" xmlns:ns3="60eff747-50e2-4621-8df6-458c8151a505" targetNamespace="http://schemas.microsoft.com/office/2006/metadata/properties" ma:root="true" ma:fieldsID="d514370374d0ea117954dc18d6a23469" ns2:_="" ns3:_="">
    <xsd:import namespace="0f7720ff-53f2-424f-bdbf-9f2258d7a7d5"/>
    <xsd:import namespace="60eff747-50e2-4621-8df6-458c8151a5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7720ff-53f2-424f-bdbf-9f2258d7a7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Značky obrázků" ma:readOnly="false" ma:fieldId="{5cf76f15-5ced-4ddc-b409-7134ff3c332f}" ma:taxonomyMulti="true" ma:sspId="d2a44d23-90f1-4afd-aa8c-0d6faad4ae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ff747-50e2-4621-8df6-458c8151a50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558e03cf-6a6f-48c3-ad9a-368505d3ce36}" ma:internalName="TaxCatchAll" ma:showField="CatchAllData" ma:web="60eff747-50e2-4621-8df6-458c8151a5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7720ff-53f2-424f-bdbf-9f2258d7a7d5">
      <Terms xmlns="http://schemas.microsoft.com/office/infopath/2007/PartnerControls"/>
    </lcf76f155ced4ddcb4097134ff3c332f>
    <TaxCatchAll xmlns="60eff747-50e2-4621-8df6-458c8151a505" xsi:nil="true"/>
  </documentManagement>
</p:properties>
</file>

<file path=customXml/itemProps1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2F077D-3E3E-4B30-A730-C8200FB550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7720ff-53f2-424f-bdbf-9f2258d7a7d5"/>
    <ds:schemaRef ds:uri="60eff747-50e2-4621-8df6-458c8151a5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FFC4A16-FB80-4302-ABCF-BFA1C75DBE66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60eff747-50e2-4621-8df6-458c8151a505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0f7720ff-53f2-424f-bdbf-9f2258d7a7d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9480</TotalTime>
  <Words>1793</Words>
  <Application>Microsoft Macintosh PowerPoint</Application>
  <PresentationFormat>Širokoúhlá obrazovka</PresentationFormat>
  <Paragraphs>247</Paragraphs>
  <Slides>48</Slides>
  <Notes>0</Notes>
  <HiddenSlides>0</HiddenSlides>
  <MMClips>3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48</vt:i4>
      </vt:variant>
    </vt:vector>
  </HeadingPairs>
  <TitlesOfParts>
    <vt:vector size="53" baseType="lpstr">
      <vt:lpstr>Arial</vt:lpstr>
      <vt:lpstr>Azeret Mono</vt:lpstr>
      <vt:lpstr>Azeret Mono Medium</vt:lpstr>
      <vt:lpstr>Wingdings</vt:lpstr>
      <vt:lpstr>DIA_ nadpis a text s odrážkami</vt:lpstr>
      <vt:lpstr>Zjednodušené formuláře - Přenesená působnost - Novinky EASYFORMS - Služby obcím</vt:lpstr>
      <vt:lpstr>ZOPDS a Zjednodušené formuláře (EASYFORMS)</vt:lpstr>
      <vt:lpstr>Přenesená působnost  Směrování podání</vt:lpstr>
      <vt:lpstr>Přenesená působnost</vt:lpstr>
      <vt:lpstr>Přenesená působnost</vt:lpstr>
      <vt:lpstr>Jeden formulář pro tisíce obcí (1krát univerzální řešení nebo tisíckrát řešení na zakázku)</vt:lpstr>
      <vt:lpstr>Implementace v EASYForms</vt:lpstr>
      <vt:lpstr>Nastavení místní příslušnosti služby</vt:lpstr>
      <vt:lpstr>Nastavení v EasyForMs</vt:lpstr>
      <vt:lpstr>Ukázka směrování podání na portálu občana_</vt:lpstr>
      <vt:lpstr>Automatické dohledání příslušného úřadu</vt:lpstr>
      <vt:lpstr>Video - Automatické dohledání</vt:lpstr>
      <vt:lpstr>Asistované dohledání příslušného úřadu</vt:lpstr>
      <vt:lpstr>Video - Asistované dohledání</vt:lpstr>
      <vt:lpstr>Není místní příslušnost</vt:lpstr>
      <vt:lpstr>Video - Není místní příslušnost</vt:lpstr>
      <vt:lpstr>Výjimky</vt:lpstr>
      <vt:lpstr>Přenesená působnost Věcná</vt:lpstr>
      <vt:lpstr>Další případy </vt:lpstr>
      <vt:lpstr>Přenos podání mezi systémy</vt:lpstr>
      <vt:lpstr>Přenos podání</vt:lpstr>
      <vt:lpstr>Fikce podpisu</vt:lpstr>
      <vt:lpstr>Průvodní dopis</vt:lpstr>
      <vt:lpstr>Implementace do portálů</vt:lpstr>
      <vt:lpstr>Služba pro dohledání OVM na PO</vt:lpstr>
      <vt:lpstr>Příklad odpovědi</vt:lpstr>
      <vt:lpstr>Přenos podání</vt:lpstr>
      <vt:lpstr>Závěr</vt:lpstr>
      <vt:lpstr>Novinky v EASYFORMS</vt:lpstr>
      <vt:lpstr>Číselníky</vt:lpstr>
      <vt:lpstr>Číselníky – nová funkce</vt:lpstr>
      <vt:lpstr>Jednoduché číselníky</vt:lpstr>
      <vt:lpstr>Jednoduché číselníky</vt:lpstr>
      <vt:lpstr>Sdílené číselníky</vt:lpstr>
      <vt:lpstr>Sdílené číselníky</vt:lpstr>
      <vt:lpstr>Číselník z KATALOGU</vt:lpstr>
      <vt:lpstr>Překlad do angličtiny</vt:lpstr>
      <vt:lpstr>Správa Katalogů – Přeložit VŠE</vt:lpstr>
      <vt:lpstr>VšeChna pole byla přeložena</vt:lpstr>
      <vt:lpstr>Neomezené množství příloh</vt:lpstr>
      <vt:lpstr>Vícenásobné přílohy</vt:lpstr>
      <vt:lpstr>Další přiložené přílohy</vt:lpstr>
      <vt:lpstr>Zjednodušené formuláře pro obce </vt:lpstr>
      <vt:lpstr>Služby obcí</vt:lpstr>
      <vt:lpstr>Vytváření formulářů upravených pro konkrétní obec</vt:lpstr>
      <vt:lpstr>Neomezený počet položek Lepší UX</vt:lpstr>
      <vt:lpstr>Připravované novinky</vt:lpstr>
      <vt:lpstr>Děkuji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Petr Jan</cp:lastModifiedBy>
  <cp:revision>18</cp:revision>
  <dcterms:created xsi:type="dcterms:W3CDTF">2025-07-01T06:55:00Z</dcterms:created>
  <dcterms:modified xsi:type="dcterms:W3CDTF">2026-02-16T11:35:12Z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0x0101005EEDC0FAECAFE148AD396C865B9B5E28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2024-05-30T05:59:10Z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a2d8e465-2e67-489c-bf05-fd17198c7476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ediaServiceImageTags">
    <vt:lpwstr/>
  </property>
</Properties>
</file>
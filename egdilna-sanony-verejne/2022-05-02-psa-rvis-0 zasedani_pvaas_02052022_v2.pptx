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269" r:id="rId13"/>
    <p:sldId id="292" r:id="rId14"/>
    <p:sldId id="306" r:id="rId15"/>
    <p:sldId id="307" r:id="rId16"/>
    <p:sldId id="308" r:id="rId17"/>
    <p:sldId id="309" r:id="rId18"/>
    <p:sldId id="277" r:id="rId19"/>
    <p:sldId id="295" r:id="rId20"/>
    <p:sldId id="296" r:id="rId21"/>
    <p:sldId id="297" r:id="rId22"/>
    <p:sldId id="298" r:id="rId23"/>
    <p:sldId id="299" r:id="rId24"/>
    <p:sldId id="301" r:id="rId25"/>
    <p:sldId id="304" r:id="rId26"/>
    <p:sldId id="300" r:id="rId27"/>
    <p:sldId id="305" r:id="rId28"/>
    <p:sldId id="272" r:id="rId29"/>
    <p:sldId id="270" r:id="rId3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02.05.2022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02.05.2022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univerzalni_kontaktni_misto" TargetMode="External"/><Relationship Id="rId2" Type="http://schemas.openxmlformats.org/officeDocument/2006/relationships/hyperlink" Target="https://archi.gov.cz/znalostni_baze:predavani_datoveho_fond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nap:evidence_udaju_o_subjektech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ikc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122174" y="5591877"/>
            <a:ext cx="8533612" cy="646331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484989"/>
            <a:ext cx="9649072" cy="27392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40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40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1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2. 5. 2022</a:t>
            </a:r>
            <a:endParaRPr kumimoji="0" lang="cs-CZ" sz="18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2022687"/>
            <a:ext cx="8811491" cy="1323439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53331" y="237608"/>
            <a:ext cx="8587048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4" y="1538344"/>
            <a:ext cx="115212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Vzorové 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formuláře OHA pro IROP – </a:t>
            </a: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pokračování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Martin Hruška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Nová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verze IKČR 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 a kol.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Usnesení vlády č. 289/2022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77923" y="877078"/>
            <a:ext cx="11296691" cy="576959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AIS působnostní a jeho návody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</a:t>
            </a:r>
            <a:r>
              <a:rPr lang="cs-CZ" sz="2900" b="1" u="sng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znalostni_baze:aisp_editace_udaju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; https://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</a:t>
            </a:r>
            <a:r>
              <a:rPr lang="cs-CZ" sz="2900" b="1" u="sng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znalostni_baze:aisp_ohlaseni_agendy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; https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://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archi.gov.cz/znalostni_baze:aisp_navod_kratky   </a:t>
            </a:r>
            <a:endParaRPr lang="cs-CZ" sz="2900" b="1" u="sng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Předávání údajů datového fondu agendy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archi.gov.cz/znalostni_baze:predavani_datoveho_fondu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Pravidla univerzálního kontaktního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místa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archi.gov.cz/nap:univerzalni_kontaktni_misto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Pravidla pro klientský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identifikátor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4"/>
              </a:rPr>
              <a:t>archi.gov.cz/nap:evidence_udaju_o_subjektech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2022/4/29/U5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Vzorové formuláře OHA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Vzorové formuláře pro potřeby IROP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Žadatel - fiktivní obec s rozšířenou působností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Vzory pro: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Posílení kybernetické bezpečnosti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Portálové řešení</a:t>
            </a: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Integrovaný informační systém</a:t>
            </a:r>
          </a:p>
          <a:p>
            <a:pPr lvl="1"/>
            <a:endParaRPr lang="cs-CZ" b="1" dirty="0" smtClean="0">
              <a:ln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Součástí budou projektové a architektonické informace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17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symbol pro obsah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023" y="365125"/>
            <a:ext cx="10069209" cy="6337455"/>
          </a:xfrm>
        </p:spPr>
      </p:pic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950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Zástupný symbol pro obsah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1" y="296780"/>
            <a:ext cx="7076302" cy="6336690"/>
          </a:xfrm>
        </p:spPr>
      </p:pic>
    </p:spTree>
    <p:extLst>
      <p:ext uri="{BB962C8B-B14F-4D97-AF65-F5344CB8AC3E}">
        <p14:creationId xmlns:p14="http://schemas.microsoft.com/office/powerpoint/2010/main" val="159187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849" y="79224"/>
            <a:ext cx="4942703" cy="6667724"/>
          </a:xfrm>
        </p:spPr>
      </p:pic>
    </p:spTree>
    <p:extLst>
      <p:ext uri="{BB962C8B-B14F-4D97-AF65-F5344CB8AC3E}">
        <p14:creationId xmlns:p14="http://schemas.microsoft.com/office/powerpoint/2010/main" val="303070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Zástupný symbol pro obsah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78" y="544365"/>
            <a:ext cx="11327027" cy="5763593"/>
          </a:xfrm>
        </p:spPr>
      </p:pic>
    </p:spTree>
    <p:extLst>
      <p:ext uri="{BB962C8B-B14F-4D97-AF65-F5344CB8AC3E}">
        <p14:creationId xmlns:p14="http://schemas.microsoft.com/office/powerpoint/2010/main" val="269129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77788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Spolupráce nad Informační koncepcí ČR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Spolupráce nad Informační koncepcí ČR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 hlavních cílů, 51 podcílů</a:t>
            </a: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17 principů</a:t>
            </a: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17 zásad</a:t>
            </a:r>
          </a:p>
          <a:p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Výchozí strategický dokument pro Národní architekturu eGovernmentu</a:t>
            </a:r>
            <a:endParaRPr lang="cs-CZ" sz="32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3200" b="1" dirty="0" smtClean="0">
                <a:ln>
                  <a:solidFill>
                    <a:schemeClr val="bg1"/>
                  </a:solidFill>
                </a:ln>
                <a:hlinkClick r:id="rId2"/>
              </a:rPr>
              <a:t>https://archi.gov.cz/ikcr</a:t>
            </a:r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  </a:t>
            </a:r>
            <a:endParaRPr lang="cs-CZ" sz="32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8420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Spolupráce nad Informační koncepcí ČR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940954"/>
            <a:ext cx="10515600" cy="4351338"/>
          </a:xfrm>
        </p:spPr>
        <p:txBody>
          <a:bodyPr>
            <a:normAutofit/>
          </a:bodyPr>
          <a:lstStyle/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 hlavních cílů, </a:t>
            </a: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56 </a:t>
            </a:r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podcílů (9 + 10 + 11 + 8 + 13 + 5) 17 principů, 17 zásad</a:t>
            </a: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podcíle např. Digitální oprávnění a zmocnění, </a:t>
            </a:r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elektronické platby</a:t>
            </a:r>
          </a:p>
          <a:p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Uvítáme vaší spolupráci</a:t>
            </a:r>
          </a:p>
          <a:p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OHA začne striktně vymáhat povinnosti k IK</a:t>
            </a:r>
          </a:p>
          <a:p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Na rok 2023 chystáme další změny</a:t>
            </a:r>
            <a:endParaRPr lang="cs-CZ" sz="32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91927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77788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č. 289/2022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72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č. 289/2022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517693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lvl="0" hangingPunct="0"/>
            <a:r>
              <a:rPr lang="cs-CZ" sz="4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realizovat </a:t>
            </a:r>
            <a:r>
              <a:rPr lang="cs-CZ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projekt „Transformace řízení </a:t>
            </a:r>
            <a:r>
              <a:rPr lang="cs-CZ" sz="4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digitalizace“</a:t>
            </a:r>
            <a:endParaRPr lang="cs-CZ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 hangingPunct="0"/>
            <a:r>
              <a:rPr lang="cs-CZ" sz="33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Termín: 31. prosince </a:t>
            </a:r>
            <a:r>
              <a:rPr lang="cs-CZ" sz="33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2022</a:t>
            </a:r>
          </a:p>
          <a:p>
            <a:pPr marL="457200" lvl="1" indent="0" hangingPunct="0">
              <a:buNone/>
            </a:pPr>
            <a:endParaRPr lang="cs-CZ" sz="33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0" hangingPunct="0"/>
            <a:r>
              <a:rPr lang="cs-CZ" sz="4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zahájit </a:t>
            </a:r>
            <a:r>
              <a:rPr lang="cs-CZ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 zajistit sběr a evidenci metrik služeb </a:t>
            </a:r>
            <a:r>
              <a:rPr lang="cs-CZ" sz="4400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veřejné správy a skupin úkonů služby veřejné </a:t>
            </a:r>
            <a:r>
              <a:rPr lang="cs-CZ" sz="44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správy</a:t>
            </a:r>
            <a:endParaRPr lang="cs-CZ" sz="4400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  <a:p>
            <a:pPr lvl="1" hangingPunct="0"/>
            <a:r>
              <a:rPr lang="cs-CZ" sz="3300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Termín: 30. dubna </a:t>
            </a:r>
            <a:r>
              <a:rPr lang="cs-CZ" sz="33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2022</a:t>
            </a:r>
          </a:p>
          <a:p>
            <a:pPr lvl="1" hangingPunct="0"/>
            <a:endParaRPr lang="cs-CZ" sz="3300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  <a:p>
            <a:pPr lvl="0" hangingPunct="0"/>
            <a:r>
              <a:rPr lang="cs-CZ" sz="44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předložit </a:t>
            </a:r>
            <a:r>
              <a:rPr lang="cs-CZ" sz="4400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změny zákona o státním </a:t>
            </a:r>
            <a:r>
              <a:rPr lang="cs-CZ" sz="44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podniku</a:t>
            </a:r>
            <a:endParaRPr lang="cs-CZ" sz="4400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  <a:p>
            <a:pPr lvl="1" hangingPunct="0"/>
            <a:r>
              <a:rPr lang="cs-CZ" sz="3300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Termín: 30. dubna </a:t>
            </a:r>
            <a:r>
              <a:rPr lang="cs-CZ" sz="33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2022</a:t>
            </a:r>
            <a:endParaRPr lang="cs-CZ" sz="3300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76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č. 289/2022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517693"/>
            <a:ext cx="10515600" cy="4351338"/>
          </a:xfrm>
        </p:spPr>
        <p:txBody>
          <a:bodyPr>
            <a:normAutofit/>
          </a:bodyPr>
          <a:lstStyle/>
          <a:p>
            <a:pPr lvl="0" hangingPunct="0"/>
            <a:endParaRPr lang="cs-CZ" sz="33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4" name="Tabulk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058939"/>
              </p:ext>
            </p:extLst>
          </p:nvPr>
        </p:nvGraphicFramePr>
        <p:xfrm>
          <a:off x="838199" y="1517686"/>
          <a:ext cx="10515600" cy="435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347516">
                  <a:extLst>
                    <a:ext uri="{9D8B030D-6E8A-4147-A177-3AD203B41FA5}">
                      <a16:colId xmlns:a16="http://schemas.microsoft.com/office/drawing/2014/main" val="3901362665"/>
                    </a:ext>
                  </a:extLst>
                </a:gridCol>
                <a:gridCol w="2168084">
                  <a:extLst>
                    <a:ext uri="{9D8B030D-6E8A-4147-A177-3AD203B41FA5}">
                      <a16:colId xmlns:a16="http://schemas.microsoft.com/office/drawing/2014/main" val="1977373965"/>
                    </a:ext>
                  </a:extLst>
                </a:gridCol>
              </a:tblGrid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Zahájení projektu, projektová struktura, dokumentace, financování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31. 3. 2022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1849229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Návrh cílové  organizační struktury a odpovědnosti 	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30. 4. 2022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4056242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Legislativní rámec, předložení návrhu zákona vládě	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15. 5. 2022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2826213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1. čtení návrhu zákona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06 /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2031338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Návrh rozpočtu 2023 / rozpočtové kapitoly	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06 – 07 /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0979326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Schválení zákona v Poslanecké Sněmovně		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09 – 10 /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2981976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Schválení zákonných úprav v Senátu, podpis prezidenta	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10 /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4888927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Návrh, projednání a schválení systemizace služebních a pracovních míst	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10 /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3801948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Dokončení formálního převodu majetku, smluv a pravomocí k 1. 1. 2023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11 /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488841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 dirty="0">
                          <a:effectLst/>
                        </a:rPr>
                        <a:t>Připravenost nových společností na převod služeb 	</a:t>
                      </a:r>
                      <a:endParaRPr lang="cs-CZ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11 / 2022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000807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Účinnost zákona, zahájení provozu a služeb v novém formátu	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>
                          <a:effectLst/>
                        </a:rPr>
                        <a:t>1. 1. 2023</a:t>
                      </a:r>
                      <a:endParaRPr lang="cs-CZ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7273288"/>
                  </a:ext>
                </a:extLst>
              </a:tr>
              <a:tr h="3626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 dirty="0">
                          <a:effectLst/>
                        </a:rPr>
                        <a:t>Případná likvidace stávajících státních podniků</a:t>
                      </a:r>
                      <a:endParaRPr lang="cs-CZ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00"/>
                        </a:spcAft>
                      </a:pPr>
                      <a:r>
                        <a:rPr lang="cs-CZ" sz="1100" dirty="0">
                          <a:effectLst/>
                        </a:rPr>
                        <a:t>2. pololetí 2023</a:t>
                      </a:r>
                      <a:endParaRPr lang="cs-CZ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6362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94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č. 289/2022</a:t>
            </a:r>
            <a:endParaRPr lang="cs-CZ" dirty="0"/>
          </a:p>
        </p:txBody>
      </p:sp>
      <p:pic>
        <p:nvPicPr>
          <p:cNvPr id="5" name="Zástupný symbol pro obsah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97" y="1509412"/>
            <a:ext cx="10723564" cy="4990241"/>
          </a:xfrm>
        </p:spPr>
      </p:pic>
    </p:spTree>
    <p:extLst>
      <p:ext uri="{BB962C8B-B14F-4D97-AF65-F5344CB8AC3E}">
        <p14:creationId xmlns:p14="http://schemas.microsoft.com/office/powerpoint/2010/main" val="419039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54675" y="117989"/>
            <a:ext cx="11160967" cy="565751"/>
          </a:xfrm>
        </p:spPr>
        <p:txBody>
          <a:bodyPr>
            <a:normAutofit fontScale="90000"/>
          </a:bodyPr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č. 289/2022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719" y="683740"/>
            <a:ext cx="8189065" cy="6015096"/>
          </a:xfrm>
        </p:spPr>
      </p:pic>
    </p:spTree>
    <p:extLst>
      <p:ext uri="{BB962C8B-B14F-4D97-AF65-F5344CB8AC3E}">
        <p14:creationId xmlns:p14="http://schemas.microsoft.com/office/powerpoint/2010/main" val="341299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č. 289/2022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SLEDOVANÉ METRIKY ZA OBDOBÍ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Obecně za období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Počet všech transakcí v rámci služby včetně nedokončených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Počet dokončených transakcí</a:t>
            </a:r>
          </a:p>
          <a:p>
            <a:pPr marL="0" indent="0">
              <a:buNone/>
            </a:pPr>
            <a:r>
              <a:rPr lang="cs-CZ" b="1" dirty="0"/>
              <a:t> 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Pro každou transakci bude sledováno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Datum a čas zahájení transakce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Datum a čas ukončení transakce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Vstupní kanál, kterým byl úkon zahájen (digitální, nedigitální)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Výstupní kanál, kterým byl úkon ukončen či jeho výsledek oznámený žadateli (digitální automatická, digitální písemná, listinná, osobní</a:t>
            </a:r>
            <a:endParaRPr lang="cs-CZ" sz="29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24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č. 289/2022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550644"/>
            <a:ext cx="10515600" cy="46030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●	Počet aktivních projektů řešících mezirezortní problematiku (životní situace se službami z více rezortů) ke konci roku 2022, 2023, 2024</a:t>
            </a:r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●	Průměrná odchylka  plánované a dosažené délky trvání eGovernment projektů ke konci roku 2022, 2023, 2024</a:t>
            </a:r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●	Celkový počet transakcí využívajících sdílené služby eGOV ke konci roku 2022, 2023, 2024</a:t>
            </a:r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●	Měření kvality žádostí ke schválení pro posouzení v OHA.</a:t>
            </a:r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●	Doba schvalování jednotlivých formulářů OHA v rámci posuzování v OHA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2651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e08fb0dd1033572d62b70ecc67e1c61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77c69e46c62157503f07a38e2ec41cc0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7782F8-DE64-4367-88E8-C83756DB8242}"/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1297</TotalTime>
  <Words>803</Words>
  <Application>Microsoft Office PowerPoint</Application>
  <PresentationFormat>Širokoúhlá obrazovka</PresentationFormat>
  <Paragraphs>117</Paragraphs>
  <Slides>26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26</vt:i4>
      </vt:variant>
    </vt:vector>
  </HeadingPairs>
  <TitlesOfParts>
    <vt:vector size="29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Vzorové formuláře OHA</vt:lpstr>
      <vt:lpstr>Vzorové formuláře pro potřeby IROP</vt:lpstr>
      <vt:lpstr>Prezentace aplikace PowerPoint</vt:lpstr>
      <vt:lpstr>Prezentace aplikace PowerPoint</vt:lpstr>
      <vt:lpstr>Prezentace aplikace PowerPoint</vt:lpstr>
      <vt:lpstr>Prezentace aplikace PowerPoint</vt:lpstr>
      <vt:lpstr>Spolupráce nad Informační koncepcí ČR</vt:lpstr>
      <vt:lpstr>Spolupráce nad Informační koncepcí ČR</vt:lpstr>
      <vt:lpstr>Spolupráce nad Informační koncepcí ČR</vt:lpstr>
      <vt:lpstr>Usnesení vlády č. 289/2022</vt:lpstr>
      <vt:lpstr>Usnesení vlády č. 289/2022</vt:lpstr>
      <vt:lpstr>Usnesení vlády č. 289/2022</vt:lpstr>
      <vt:lpstr>Usnesení vlády č. 289/2022</vt:lpstr>
      <vt:lpstr>Usnesení vlády č. 289/2022</vt:lpstr>
      <vt:lpstr>Usnesení vlády č. 289/2022</vt:lpstr>
      <vt:lpstr>Usnesení vlády č. 289/2022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64</cp:revision>
  <dcterms:created xsi:type="dcterms:W3CDTF">2021-01-27T09:19:54Z</dcterms:created>
  <dcterms:modified xsi:type="dcterms:W3CDTF">2022-05-02T10:36:07Z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</Properties>
</file>
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0" r:id="rId6"/>
    <p:sldId id="261" r:id="rId7"/>
    <p:sldId id="259" r:id="rId8"/>
    <p:sldId id="265" r:id="rId9"/>
    <p:sldId id="274" r:id="rId10"/>
    <p:sldId id="276" r:id="rId11"/>
    <p:sldId id="275" r:id="rId12"/>
    <p:sldId id="277" r:id="rId13"/>
    <p:sldId id="279" r:id="rId14"/>
    <p:sldId id="269" r:id="rId15"/>
    <p:sldId id="278" r:id="rId16"/>
    <p:sldId id="272" r:id="rId17"/>
    <p:sldId id="270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.gov.cz/faq" TargetMode="External"/><Relationship Id="rId3" Type="http://schemas.openxmlformats.org/officeDocument/2006/relationships/hyperlink" Target="https://archi.gov.cz/znalostni_baze:tco" TargetMode="External"/><Relationship Id="rId7" Type="http://schemas.openxmlformats.org/officeDocument/2006/relationships/hyperlink" Target="https://archi.gov.cz/znalostni_baze:vendorlock" TargetMode="External"/><Relationship Id="rId2" Type="http://schemas.openxmlformats.org/officeDocument/2006/relationships/hyperlink" Target="https://archi.gov.cz/vyhledavani:changelo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znalostni_baze:vzorove_zadosti" TargetMode="External"/><Relationship Id="rId5" Type="http://schemas.openxmlformats.org/officeDocument/2006/relationships/hyperlink" Target="https://archi.gov.cz/uvod_schvalovani" TargetMode="External"/><Relationship Id="rId10" Type="http://schemas.openxmlformats.org/officeDocument/2006/relationships/hyperlink" Target="https://archi.gov.cz/nap:portaly_verejne_spravy_a_soukromopravnich_uzivatelu_udaju" TargetMode="External"/><Relationship Id="rId4" Type="http://schemas.openxmlformats.org/officeDocument/2006/relationships/hyperlink" Target="https://archi.gov.cz/znalostni_baze:ztotoznovani_spuu" TargetMode="External"/><Relationship Id="rId9" Type="http://schemas.openxmlformats.org/officeDocument/2006/relationships/hyperlink" Target="https://archi.gov.cz/nap:egsb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 skupiny pro architekturu a 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1.11.2021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Propojený datový fond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Petr Tiller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Single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Digital </a:t>
            </a:r>
            <a:r>
              <a:rPr lang="cs-CZ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Gateway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MPO+MVČR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Příklady dobré praxe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GFŘ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Vyhláška o dlouhodobém řízení ISVS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Změny v Národní architektuře eGovernmentu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5096021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dirty="0"/>
              <a:t>Viz také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archi.gov.cz/vyhledavani:changelog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/>
              <a:t>Nová stránka pro TCO </a:t>
            </a:r>
            <a:r>
              <a:rPr lang="cs-CZ" dirty="0">
                <a:hlinkClick r:id="rId3"/>
              </a:rPr>
              <a:t>https://</a:t>
            </a:r>
            <a:r>
              <a:rPr lang="cs-CZ" dirty="0" smtClean="0">
                <a:hlinkClick r:id="rId3"/>
              </a:rPr>
              <a:t>archi.gov.cz/znalostni_baze:tco</a:t>
            </a:r>
            <a:r>
              <a:rPr lang="cs-CZ" dirty="0" smtClean="0"/>
              <a:t>  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Nová </a:t>
            </a:r>
            <a:r>
              <a:rPr lang="cs-CZ" dirty="0"/>
              <a:t>stránka ztotožňování FO u SPUU </a:t>
            </a:r>
            <a:r>
              <a:rPr lang="cs-CZ" dirty="0">
                <a:hlinkClick r:id="rId4"/>
              </a:rPr>
              <a:t>https://</a:t>
            </a:r>
            <a:r>
              <a:rPr lang="cs-CZ" dirty="0" smtClean="0">
                <a:hlinkClick r:id="rId4"/>
              </a:rPr>
              <a:t>archi.gov.cz/znalostni_baze:ztotoznovani_spuu</a:t>
            </a:r>
            <a:r>
              <a:rPr lang="cs-CZ" dirty="0" smtClean="0"/>
              <a:t>  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Výroční zprávy </a:t>
            </a:r>
            <a:r>
              <a:rPr lang="cs-CZ" dirty="0"/>
              <a:t>o posuzování OHA </a:t>
            </a:r>
            <a:r>
              <a:rPr lang="cs-CZ" dirty="0">
                <a:hlinkClick r:id="rId5"/>
              </a:rPr>
              <a:t>https://</a:t>
            </a:r>
            <a:r>
              <a:rPr lang="cs-CZ" dirty="0" smtClean="0">
                <a:hlinkClick r:id="rId5"/>
              </a:rPr>
              <a:t>archi.gov.cz/uvod_schvalovani</a:t>
            </a:r>
            <a:r>
              <a:rPr lang="cs-CZ" dirty="0" smtClean="0"/>
              <a:t> </a:t>
            </a:r>
            <a:endParaRPr lang="cs-CZ" dirty="0"/>
          </a:p>
          <a:p>
            <a:pPr>
              <a:lnSpc>
                <a:spcPct val="170000"/>
              </a:lnSpc>
            </a:pPr>
            <a:r>
              <a:rPr lang="cs-CZ" dirty="0" smtClean="0"/>
              <a:t>Nová stránka vzorové žádosti </a:t>
            </a:r>
            <a:r>
              <a:rPr lang="cs-CZ" dirty="0"/>
              <a:t>o stanovisko OHA </a:t>
            </a:r>
            <a:r>
              <a:rPr lang="cs-CZ" dirty="0">
                <a:hlinkClick r:id="rId6"/>
              </a:rPr>
              <a:t>https://</a:t>
            </a:r>
            <a:r>
              <a:rPr lang="cs-CZ" dirty="0" smtClean="0">
                <a:hlinkClick r:id="rId6"/>
              </a:rPr>
              <a:t>archi.gov.cz/znalostni_baze:vzorove_zadosti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Nová stránka nevýhodná ujednání na dodávku ICT </a:t>
            </a:r>
            <a:r>
              <a:rPr lang="cs-CZ" dirty="0"/>
              <a:t>služeb </a:t>
            </a:r>
            <a:r>
              <a:rPr lang="cs-CZ" dirty="0">
                <a:hlinkClick r:id="rId7"/>
              </a:rPr>
              <a:t>https://</a:t>
            </a:r>
            <a:r>
              <a:rPr lang="cs-CZ" dirty="0" smtClean="0">
                <a:hlinkClick r:id="rId7"/>
              </a:rPr>
              <a:t>archi.gov.cz/znalostni_baze:vendorlock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Nová stránka FAQ </a:t>
            </a:r>
            <a:r>
              <a:rPr lang="cs-CZ" dirty="0">
                <a:hlinkClick r:id="rId8"/>
              </a:rPr>
              <a:t>https://</a:t>
            </a:r>
            <a:r>
              <a:rPr lang="cs-CZ" dirty="0" smtClean="0">
                <a:hlinkClick r:id="rId8"/>
              </a:rPr>
              <a:t>archi.gov.cz/faq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Nový popis služby </a:t>
            </a:r>
            <a:r>
              <a:rPr lang="cs-CZ" dirty="0" err="1" smtClean="0"/>
              <a:t>gsbCtiData</a:t>
            </a:r>
            <a:r>
              <a:rPr lang="cs-CZ" dirty="0" smtClean="0"/>
              <a:t> a </a:t>
            </a:r>
            <a:r>
              <a:rPr lang="cs-CZ" dirty="0" err="1" smtClean="0"/>
              <a:t>gsbZapisData</a:t>
            </a:r>
            <a:r>
              <a:rPr lang="cs-CZ" dirty="0" smtClean="0"/>
              <a:t> s omezením pro </a:t>
            </a:r>
            <a:r>
              <a:rPr lang="cs-CZ" dirty="0" err="1" smtClean="0"/>
              <a:t>mapaAIFO</a:t>
            </a:r>
            <a:r>
              <a:rPr lang="cs-CZ" dirty="0"/>
              <a:t> </a:t>
            </a:r>
            <a:r>
              <a:rPr lang="cs-CZ" dirty="0">
                <a:hlinkClick r:id="rId9"/>
              </a:rPr>
              <a:t>https://</a:t>
            </a:r>
            <a:r>
              <a:rPr lang="cs-CZ" dirty="0" smtClean="0">
                <a:hlinkClick r:id="rId9"/>
              </a:rPr>
              <a:t>archi.gov.cz/nap:egsb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Jiná </a:t>
            </a:r>
            <a:r>
              <a:rPr lang="cs-CZ" dirty="0" err="1" smtClean="0"/>
              <a:t>pojmologie</a:t>
            </a:r>
            <a:r>
              <a:rPr lang="cs-CZ" dirty="0" smtClean="0"/>
              <a:t> </a:t>
            </a:r>
            <a:r>
              <a:rPr lang="cs-CZ" dirty="0"/>
              <a:t>portálu jako AIS </a:t>
            </a:r>
            <a:r>
              <a:rPr lang="cs-CZ" dirty="0">
                <a:hlinkClick r:id="rId10"/>
              </a:rPr>
              <a:t>https://</a:t>
            </a:r>
            <a:r>
              <a:rPr lang="cs-CZ" dirty="0" smtClean="0">
                <a:hlinkClick r:id="rId10"/>
              </a:rPr>
              <a:t>archi.gov.cz/nap:portaly_verejne_spravy_a_soukromopravnich_uzivatelu_udaju</a:t>
            </a:r>
            <a:r>
              <a:rPr lang="cs-CZ" b="1" dirty="0" smtClean="0"/>
              <a:t> </a:t>
            </a:r>
          </a:p>
          <a:p>
            <a:pPr>
              <a:lnSpc>
                <a:spcPct val="170000"/>
              </a:lnSpc>
            </a:pPr>
            <a:endParaRPr lang="cs-CZ" dirty="0" smtClean="0"/>
          </a:p>
          <a:p>
            <a:pPr>
              <a:lnSpc>
                <a:spcPct val="170000"/>
              </a:lnSpc>
            </a:pPr>
            <a:endParaRPr lang="cs-CZ" dirty="0" smtClean="0"/>
          </a:p>
          <a:p>
            <a:pPr>
              <a:lnSpc>
                <a:spcPct val="170000"/>
              </a:lnSpc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Diskutuje s námi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Pravidla diskuze na konci každé stránky:</a:t>
            </a:r>
          </a:p>
          <a:p>
            <a:pPr lvl="1"/>
            <a:r>
              <a:rPr lang="cs-CZ" dirty="0" smtClean="0"/>
              <a:t>Dotazy </a:t>
            </a:r>
            <a:r>
              <a:rPr lang="cs-CZ" dirty="0"/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dirty="0">
                <a:hlinkClick r:id="rId2"/>
              </a:rPr>
              <a:t> https://archi.gov.cz/diskuze</a:t>
            </a:r>
            <a:r>
              <a:rPr lang="cs-CZ" dirty="0" smtClean="0"/>
              <a:t>.</a:t>
            </a:r>
            <a:endParaRPr lang="cs-CZ" dirty="0"/>
          </a:p>
          <a:p>
            <a:r>
              <a:rPr lang="cs-CZ" dirty="0" smtClean="0"/>
              <a:t>Pravidla </a:t>
            </a:r>
            <a:r>
              <a:rPr lang="cs-CZ" dirty="0"/>
              <a:t>diskuze ve speciální části </a:t>
            </a:r>
            <a:r>
              <a:rPr lang="cs-CZ" dirty="0" smtClean="0"/>
              <a:t>webu</a:t>
            </a:r>
            <a:r>
              <a:rPr lang="cs-CZ" dirty="0"/>
              <a:t>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archi.gov.cz/diskuze</a:t>
            </a:r>
            <a:r>
              <a:rPr lang="cs-CZ" dirty="0" smtClean="0"/>
              <a:t> </a:t>
            </a:r>
            <a:endParaRPr lang="cs-CZ" dirty="0"/>
          </a:p>
          <a:p>
            <a:pPr lvl="1"/>
            <a:r>
              <a:rPr lang="cs-CZ" dirty="0" smtClean="0"/>
              <a:t>Diskutujte </a:t>
            </a:r>
            <a:r>
              <a:rPr lang="cs-CZ" dirty="0"/>
              <a:t>v rámci založené diskuze. Pokud Váš příspěvek s vláknem nesouvisí, založte prosím nové diskuzní vlákno.</a:t>
            </a:r>
          </a:p>
          <a:p>
            <a:pPr lvl="1"/>
            <a:r>
              <a:rPr lang="cs-CZ" dirty="0"/>
              <a:t>Pokud zakládáte nové vlákno, nezapomeňte ho pojmenovat. Název by měl souviset s Vaším dotazem.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Poslední seznam </a:t>
            </a:r>
            <a:r>
              <a:rPr lang="cs-CZ" dirty="0"/>
              <a:t>změn jednomyslně schválen </a:t>
            </a:r>
            <a:r>
              <a:rPr lang="cs-CZ" dirty="0" smtClean="0"/>
              <a:t>usnesením RVIS 2021/10/01/U5</a:t>
            </a:r>
          </a:p>
          <a:p>
            <a:r>
              <a:rPr lang="cs-CZ" dirty="0" smtClean="0"/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Plenární zasedání RVIS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Propojený datový fond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Single </a:t>
            </a:r>
            <a:r>
              <a:rPr lang="cs-CZ" b="1" dirty="0" err="1" smtClean="0"/>
              <a:t>digital</a:t>
            </a:r>
            <a:r>
              <a:rPr lang="cs-CZ" b="1" dirty="0" smtClean="0"/>
              <a:t> </a:t>
            </a:r>
            <a:r>
              <a:rPr lang="cs-CZ" b="1" dirty="0" err="1" smtClean="0"/>
              <a:t>gateway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8293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Příklad dobré praxe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Vyhláška o dlouhodobém řízení ISVS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37592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AA2412-4DE8-4A1F-A199-FBC7D4653BFF}"/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341</Words>
  <Application>Microsoft Office PowerPoint</Application>
  <PresentationFormat>Širokoúhlá obrazovka</PresentationFormat>
  <Paragraphs>50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7" baseType="lpstr">
      <vt:lpstr>Arial</vt:lpstr>
      <vt:lpstr>Calibri</vt:lpstr>
      <vt:lpstr>MV_sablona1_2007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Diskutuje s námi</vt:lpstr>
      <vt:lpstr>Změny v Národní architektuře eGovernmentu</vt:lpstr>
      <vt:lpstr>Propojený datový fond</vt:lpstr>
      <vt:lpstr>Single digital gateway</vt:lpstr>
      <vt:lpstr>Příklad dobré praxe</vt:lpstr>
      <vt:lpstr>Vyhláška o dlouhodobém řízení ISVS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27</cp:revision>
  <dcterms:created xsi:type="dcterms:W3CDTF">2021-01-27T09:19:54Z</dcterms:created>
  <dcterms:modified xsi:type="dcterms:W3CDTF">2021-11-01T11:36:26Z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
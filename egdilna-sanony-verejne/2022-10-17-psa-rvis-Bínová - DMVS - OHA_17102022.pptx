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256" r:id="rId5"/>
    <p:sldId id="564" r:id="rId6"/>
    <p:sldId id="549" r:id="rId7"/>
    <p:sldId id="566" r:id="rId8"/>
    <p:sldId id="567" r:id="rId9"/>
    <p:sldId id="561" r:id="rId10"/>
    <p:sldId id="548" r:id="rId11"/>
    <p:sldId id="545" r:id="rId12"/>
    <p:sldId id="552" r:id="rId13"/>
    <p:sldId id="553" r:id="rId14"/>
    <p:sldId id="432" r:id="rId15"/>
    <p:sldId id="562" r:id="rId16"/>
    <p:sldId id="496" r:id="rId17"/>
    <p:sldId id="581" r:id="rId18"/>
    <p:sldId id="568" r:id="rId19"/>
    <p:sldId id="547" r:id="rId20"/>
    <p:sldId id="494" r:id="rId21"/>
    <p:sldId id="558" r:id="rId22"/>
    <p:sldId id="559" r:id="rId23"/>
    <p:sldId id="554" r:id="rId24"/>
    <p:sldId id="560" r:id="rId25"/>
    <p:sldId id="569" r:id="rId26"/>
    <p:sldId id="571" r:id="rId27"/>
    <p:sldId id="572" r:id="rId28"/>
    <p:sldId id="582" r:id="rId29"/>
    <p:sldId id="577" r:id="rId30"/>
    <p:sldId id="576" r:id="rId31"/>
    <p:sldId id="488" r:id="rId32"/>
    <p:sldId id="556" r:id="rId33"/>
    <p:sldId id="580" r:id="rId34"/>
    <p:sldId id="456" r:id="rId35"/>
  </p:sldIdLst>
  <p:sldSz cx="9144000" cy="6858000" type="screen4x3"/>
  <p:notesSz cx="6797675" cy="9926638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B5E7"/>
    <a:srgbClr val="83AEE1"/>
    <a:srgbClr val="CC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167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614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49911" y="0"/>
            <a:ext cx="2946144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DDCEFD-3C91-40C4-860E-EBDC3099F593}" type="datetimeFigureOut">
              <a:rPr lang="cs-CZ" smtClean="0"/>
              <a:pPr/>
              <a:t>17.10.2022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1" y="9428164"/>
            <a:ext cx="294614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49911" y="9428164"/>
            <a:ext cx="2946144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DF141-5672-462A-A043-5B68CDEA4786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999350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E57185-84AF-4AAF-BB1F-04146E08BDAC}" type="datetimeFigureOut">
              <a:rPr lang="cs-CZ" smtClean="0"/>
              <a:pPr/>
              <a:t>17.10.2022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4113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80F4AF-BA39-4BA8-9F01-189E2B2B31AB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46081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0F4AF-BA39-4BA8-9F01-189E2B2B31AB}" type="slidenum">
              <a:rPr lang="cs-CZ" smtClean="0"/>
              <a:pPr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402964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0F4AF-BA39-4BA8-9F01-189E2B2B31AB}" type="slidenum">
              <a:rPr lang="cs-CZ" smtClean="0"/>
              <a:pPr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599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 smtClean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0F4AF-BA39-4BA8-9F01-189E2B2B31AB}" type="slidenum">
              <a:rPr lang="cs-CZ" smtClean="0"/>
              <a:pPr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09622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 smtClean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0F4AF-BA39-4BA8-9F01-189E2B2B31AB}" type="slidenum">
              <a:rPr lang="cs-CZ" smtClean="0"/>
              <a:pPr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611638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 smtClean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0F4AF-BA39-4BA8-9F01-189E2B2B31AB}" type="slidenum">
              <a:rPr lang="cs-CZ" smtClean="0"/>
              <a:pPr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974881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baseline="0" dirty="0" smtClean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0F4AF-BA39-4BA8-9F01-189E2B2B31AB}" type="slidenum">
              <a:rPr lang="cs-CZ" smtClean="0"/>
              <a:pPr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21545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0F4AF-BA39-4BA8-9F01-189E2B2B31AB}" type="slidenum">
              <a:rPr lang="cs-CZ" smtClean="0"/>
              <a:pPr/>
              <a:t>22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047129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0F4AF-BA39-4BA8-9F01-189E2B2B31AB}" type="slidenum">
              <a:rPr lang="cs-CZ" smtClean="0"/>
              <a:pPr/>
              <a:t>23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14325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F80F4AF-BA39-4BA8-9F01-189E2B2B31AB}" type="slidenum">
              <a:rPr lang="cs-CZ" smtClean="0"/>
              <a:pPr/>
              <a:t>24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272961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r>
              <a:rPr lang="cs-CZ" dirty="0" smtClean="0"/>
              <a:t>Klepnutím lze upravit styl předlohy nadpisů.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 dirty="0" smtClean="0"/>
              <a:t>Klepnutím lze upravit styl předlohy podnadpisů.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smtClean="0"/>
              <a:t>Praha, 25.3.2009</a:t>
            </a:r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smtClean="0"/>
              <a:t>Název prezentace,  autor, funkce</a:t>
            </a:r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74EE-690F-4746-AA67-60C7F9ED09C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357174"/>
            <a:ext cx="8229600" cy="1143000"/>
          </a:xfrm>
        </p:spPr>
        <p:txBody>
          <a:bodyPr>
            <a:noAutofit/>
          </a:bodyPr>
          <a:lstStyle>
            <a:lvl1pPr>
              <a:defRPr sz="3800" b="1">
                <a:solidFill>
                  <a:srgbClr val="C00000"/>
                </a:solidFill>
              </a:defRPr>
            </a:lvl1pPr>
          </a:lstStyle>
          <a:p>
            <a:r>
              <a:rPr lang="cs-CZ" dirty="0" smtClean="0"/>
              <a:t>Klepnutím lze upravit styl předlohy nadpisů.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689119"/>
            <a:ext cx="8229600" cy="45259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cs-CZ" dirty="0" smtClean="0"/>
              <a:t>Klepnutím lze upravit styly předlohy textu.</a:t>
            </a:r>
          </a:p>
          <a:p>
            <a:pPr lvl="1"/>
            <a:r>
              <a:rPr lang="cs-CZ" dirty="0" smtClean="0"/>
              <a:t>Druhá úroveň</a:t>
            </a:r>
          </a:p>
          <a:p>
            <a:pPr lvl="2"/>
            <a:r>
              <a:rPr lang="cs-CZ" dirty="0" smtClean="0"/>
              <a:t>Třetí úroveň</a:t>
            </a:r>
          </a:p>
          <a:p>
            <a:pPr lvl="3"/>
            <a:r>
              <a:rPr lang="cs-CZ" dirty="0" smtClean="0"/>
              <a:t>Čtvrtá úroveň</a:t>
            </a:r>
          </a:p>
          <a:p>
            <a:pPr lvl="4"/>
            <a:r>
              <a:rPr lang="cs-CZ" dirty="0" smtClean="0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0" y="6429396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cs-CZ" smtClean="0"/>
              <a:t>Praha, </a:t>
            </a:r>
            <a:br>
              <a:rPr lang="cs-CZ" smtClean="0"/>
            </a:br>
            <a:r>
              <a:rPr lang="cs-CZ" smtClean="0"/>
              <a:t>25.3.2009</a:t>
            </a: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3000364" y="6421461"/>
            <a:ext cx="2895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cs-CZ" dirty="0" smtClean="0"/>
              <a:t>Název prezentace,  </a:t>
            </a:r>
            <a:br>
              <a:rPr lang="cs-CZ" dirty="0" smtClean="0"/>
            </a:br>
            <a:r>
              <a:rPr lang="cs-CZ" dirty="0" smtClean="0"/>
              <a:t>autor, funkce, apod.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‹#›</a:t>
            </a:fld>
            <a:endParaRPr lang="cs-CZ" dirty="0"/>
          </a:p>
        </p:txBody>
      </p:sp>
      <p:cxnSp>
        <p:nvCxnSpPr>
          <p:cNvPr id="8" name="Přímá spojovací čára 7"/>
          <p:cNvCxnSpPr/>
          <p:nvPr userDrawn="1"/>
        </p:nvCxnSpPr>
        <p:spPr>
          <a:xfrm>
            <a:off x="428596" y="1571612"/>
            <a:ext cx="8286808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dirty="0" smtClean="0"/>
              <a:t>Praha, </a:t>
            </a:r>
          </a:p>
          <a:p>
            <a:r>
              <a:rPr lang="cs-CZ" dirty="0" smtClean="0"/>
              <a:t>25.3.2009</a:t>
            </a: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 smtClean="0"/>
              <a:t>Název prezentace,  </a:t>
            </a:r>
          </a:p>
          <a:p>
            <a:r>
              <a:rPr lang="cs-CZ" dirty="0" smtClean="0"/>
              <a:t>autor, funkce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cs-CZ" dirty="0" smtClean="0"/>
              <a:t>Stránka </a:t>
            </a:r>
            <a:fld id="{48E274EE-690F-4746-AA67-60C7F9ED09CD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dirty="0" smtClean="0"/>
              <a:t>Praha, </a:t>
            </a:r>
          </a:p>
          <a:p>
            <a:r>
              <a:rPr lang="cs-CZ" dirty="0" smtClean="0"/>
              <a:t>25.3.2009</a:t>
            </a:r>
            <a:endParaRPr lang="cs-CZ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 smtClean="0"/>
              <a:t>Název prezentace,  </a:t>
            </a:r>
          </a:p>
          <a:p>
            <a:r>
              <a:rPr lang="cs-CZ" dirty="0" smtClean="0"/>
              <a:t>autor, funkce</a:t>
            </a:r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cs-CZ" dirty="0" smtClean="0"/>
              <a:t>Stránka </a:t>
            </a:r>
            <a:fld id="{48E274EE-690F-4746-AA67-60C7F9ED09CD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dirty="0" smtClean="0"/>
              <a:t>Praha, </a:t>
            </a:r>
          </a:p>
          <a:p>
            <a:r>
              <a:rPr lang="cs-CZ" dirty="0" smtClean="0"/>
              <a:t>25.3.2009</a:t>
            </a:r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 smtClean="0"/>
              <a:t>Název prezentace,  </a:t>
            </a:r>
          </a:p>
          <a:p>
            <a:r>
              <a:rPr lang="cs-CZ" dirty="0" smtClean="0"/>
              <a:t>autor, funkce</a:t>
            </a:r>
            <a:endParaRPr lang="cs-CZ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cs-CZ" dirty="0" smtClean="0"/>
              <a:t>Stránka </a:t>
            </a:r>
            <a:fld id="{48E274EE-690F-4746-AA67-60C7F9ED09CD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dirty="0" smtClean="0"/>
              <a:t>Praha, </a:t>
            </a:r>
          </a:p>
          <a:p>
            <a:r>
              <a:rPr lang="cs-CZ" dirty="0" smtClean="0"/>
              <a:t>25.3.2009</a:t>
            </a:r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 smtClean="0"/>
              <a:t>Název prezentace, </a:t>
            </a:r>
          </a:p>
          <a:p>
            <a:r>
              <a:rPr lang="cs-CZ" dirty="0" smtClean="0"/>
              <a:t>autor, funkce</a:t>
            </a:r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cs-CZ" dirty="0" smtClean="0"/>
              <a:t>Stránka </a:t>
            </a:r>
            <a:fld id="{48E274EE-690F-4746-AA67-60C7F9ED09CD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dirty="0" smtClean="0"/>
              <a:t>Praha, </a:t>
            </a:r>
          </a:p>
          <a:p>
            <a:r>
              <a:rPr lang="cs-CZ" dirty="0" smtClean="0"/>
              <a:t>25.3.2009</a:t>
            </a:r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 smtClean="0"/>
              <a:t>Název prezentace,  </a:t>
            </a:r>
          </a:p>
          <a:p>
            <a:r>
              <a:rPr lang="cs-CZ" dirty="0" smtClean="0"/>
              <a:t>autor, funkce</a:t>
            </a:r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cs-CZ" dirty="0" smtClean="0"/>
              <a:t>Stránka </a:t>
            </a:r>
            <a:fld id="{48E274EE-690F-4746-AA67-60C7F9ED09CD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smtClean="0"/>
              <a:t>Praha, 25.3.2009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smtClean="0"/>
              <a:t>Název prezentace,  autor, funkce</a:t>
            </a:r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74EE-690F-4746-AA67-60C7F9ED09C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smtClean="0"/>
              <a:t>Praha, 25.3.2009</a:t>
            </a:r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smtClean="0"/>
              <a:t>Název prezentace,  autor, funkce</a:t>
            </a:r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74EE-690F-4746-AA67-60C7F9ED09C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smtClean="0"/>
              <a:t>Praha, 25.3.2009</a:t>
            </a:r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smtClean="0"/>
              <a:t>Název prezentace,  autor, funkce</a:t>
            </a:r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74EE-690F-4746-AA67-60C7F9ED09C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cs-CZ" smtClean="0"/>
              <a:t>Klepnutím lze upravit styl předlohy nadpisů.</a:t>
            </a:r>
            <a:endParaRPr lang="cs-CZ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cs-CZ" smtClean="0"/>
              <a:t>Klepnutím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cs-CZ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cs-CZ" smtClean="0"/>
              <a:t>Praha, 25.3.2009</a:t>
            </a:r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smtClean="0"/>
              <a:t>Název prezentace,  autor, funkce</a:t>
            </a:r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274EE-690F-4746-AA67-60C7F9ED09CD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 dirty="0" smtClean="0"/>
              <a:t>Klepnutím lze upravit styl předlohy nadpisů.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 smtClean="0"/>
              <a:t>Klepnutím lze upravit styly předlohy textu.</a:t>
            </a:r>
          </a:p>
          <a:p>
            <a:pPr lvl="1"/>
            <a:r>
              <a:rPr lang="cs-CZ" dirty="0" smtClean="0"/>
              <a:t>Druhá úroveň</a:t>
            </a:r>
          </a:p>
          <a:p>
            <a:pPr lvl="2"/>
            <a:r>
              <a:rPr lang="cs-CZ" dirty="0" smtClean="0"/>
              <a:t>Třetí úroveň</a:t>
            </a:r>
          </a:p>
          <a:p>
            <a:pPr lvl="3"/>
            <a:r>
              <a:rPr lang="cs-CZ" dirty="0" smtClean="0"/>
              <a:t>Čtvrtá úroveň</a:t>
            </a:r>
          </a:p>
          <a:p>
            <a:pPr lvl="4"/>
            <a:r>
              <a:rPr lang="cs-CZ" dirty="0" smtClean="0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71406" y="642146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cs-CZ" smtClean="0"/>
              <a:t>Praha, </a:t>
            </a:r>
          </a:p>
          <a:p>
            <a:r>
              <a:rPr lang="cs-CZ" smtClean="0"/>
              <a:t>25.3.2009</a:t>
            </a:r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3000364" y="6421461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cs-CZ" smtClean="0"/>
              <a:t>Název prezentace,  </a:t>
            </a:r>
          </a:p>
          <a:p>
            <a:r>
              <a:rPr lang="cs-CZ" smtClean="0"/>
              <a:t>autor, funkce, apod.</a:t>
            </a:r>
            <a:endParaRPr lang="cs-CZ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6867556" y="6421461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‹#›</a:t>
            </a:fld>
            <a:endParaRPr lang="cs-CZ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rgbClr val="CC0000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results?search_query=apg+digit%C3%A1ln%C3%AD+technick%C3%A1+mapa" TargetMode="External"/><Relationship Id="rId2" Type="http://schemas.openxmlformats.org/officeDocument/2006/relationships/hyperlink" Target="https://www.cuzk.cz/dmvs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323528" y="1052737"/>
            <a:ext cx="8280920" cy="1440159"/>
          </a:xfrm>
        </p:spPr>
        <p:txBody>
          <a:bodyPr>
            <a:normAutofit/>
          </a:bodyPr>
          <a:lstStyle/>
          <a:p>
            <a:pPr algn="l"/>
            <a:r>
              <a:rPr lang="cs-CZ" dirty="0" smtClean="0">
                <a:solidFill>
                  <a:srgbClr val="CC0000"/>
                </a:solidFill>
              </a:rPr>
              <a:t>Digitální mapa veřejné správy – první narozeniny</a:t>
            </a:r>
            <a:endParaRPr lang="cs-CZ" b="1" dirty="0">
              <a:solidFill>
                <a:srgbClr val="CC0000"/>
              </a:solidFill>
            </a:endParaRPr>
          </a:p>
        </p:txBody>
      </p:sp>
      <p:sp>
        <p:nvSpPr>
          <p:cNvPr id="5" name="Podnadpis 2"/>
          <p:cNvSpPr>
            <a:spLocks/>
          </p:cNvSpPr>
          <p:nvPr/>
        </p:nvSpPr>
        <p:spPr bwMode="auto">
          <a:xfrm>
            <a:off x="539552" y="4143375"/>
            <a:ext cx="7818636" cy="23819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20000"/>
              </a:spcBef>
              <a:spcAft>
                <a:spcPts val="600"/>
              </a:spcAft>
              <a:buFont typeface="Arial" pitchFamily="34" charset="0"/>
              <a:buNone/>
            </a:pPr>
            <a:r>
              <a:rPr lang="cs-CZ" sz="3600" dirty="0" smtClean="0">
                <a:solidFill>
                  <a:schemeClr val="bg1"/>
                </a:solidFill>
                <a:latin typeface="Calibri" pitchFamily="34" charset="0"/>
              </a:rPr>
              <a:t>Dagmar Bínová</a:t>
            </a:r>
            <a:endParaRPr lang="cs-CZ" sz="3600" dirty="0">
              <a:solidFill>
                <a:schemeClr val="bg1"/>
              </a:solidFill>
              <a:latin typeface="Calibri" pitchFamily="34" charset="0"/>
            </a:endParaRPr>
          </a:p>
          <a:p>
            <a:pPr algn="ctr">
              <a:spcBef>
                <a:spcPct val="20000"/>
              </a:spcBef>
              <a:buFont typeface="Arial" pitchFamily="34" charset="0"/>
              <a:buNone/>
            </a:pPr>
            <a:endParaRPr lang="cs-CZ" sz="2000" dirty="0">
              <a:solidFill>
                <a:schemeClr val="bg1"/>
              </a:solidFill>
              <a:latin typeface="Calibri" pitchFamily="34" charset="0"/>
            </a:endParaRPr>
          </a:p>
          <a:p>
            <a:pPr algn="ctr">
              <a:spcBef>
                <a:spcPct val="20000"/>
              </a:spcBef>
              <a:buFont typeface="Arial" pitchFamily="34" charset="0"/>
              <a:buNone/>
            </a:pPr>
            <a:endParaRPr lang="cs-CZ" sz="20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TextovéPole 3"/>
          <p:cNvSpPr txBox="1"/>
          <p:nvPr/>
        </p:nvSpPr>
        <p:spPr>
          <a:xfrm>
            <a:off x="539552" y="5157192"/>
            <a:ext cx="86044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 smtClean="0">
                <a:solidFill>
                  <a:schemeClr val="bg1"/>
                </a:solidFill>
              </a:rPr>
              <a:t>Pracovní skupina pro architekturu a řízení ICT </a:t>
            </a:r>
          </a:p>
          <a:p>
            <a:endParaRPr lang="cs-CZ" dirty="0" smtClean="0">
              <a:solidFill>
                <a:schemeClr val="bg1"/>
              </a:solidFill>
            </a:endParaRPr>
          </a:p>
          <a:p>
            <a:endParaRPr lang="cs-CZ" dirty="0" smtClean="0">
              <a:solidFill>
                <a:schemeClr val="bg1"/>
              </a:solidFill>
            </a:endParaRPr>
          </a:p>
          <a:p>
            <a:r>
              <a:rPr lang="cs-CZ" dirty="0" smtClean="0">
                <a:solidFill>
                  <a:schemeClr val="bg1"/>
                </a:solidFill>
              </a:rPr>
              <a:t>17. říjen 2022</a:t>
            </a:r>
            <a:endParaRPr lang="cs-CZ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1612266"/>
            <a:ext cx="8892480" cy="4697054"/>
          </a:xfrm>
        </p:spPr>
        <p:txBody>
          <a:bodyPr vert="horz" lIns="91440" tIns="45720" rIns="91440" bIns="45720" rtlCol="0">
            <a:noAutofit/>
          </a:bodyPr>
          <a:lstStyle/>
          <a:p>
            <a:pPr marL="342900" lvl="1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cs-CZ" sz="2400" dirty="0">
                <a:solidFill>
                  <a:srgbClr val="C00000"/>
                </a:solidFill>
              </a:rPr>
              <a:t>Vedení technických map není povinné</a:t>
            </a:r>
          </a:p>
          <a:p>
            <a:pPr lvl="1">
              <a:spcBef>
                <a:spcPts val="600"/>
              </a:spcBef>
            </a:pPr>
            <a:r>
              <a:rPr lang="cs-CZ" sz="2000" dirty="0" smtClean="0"/>
              <a:t>To v důsledku vede k tomu, že se s jejich existencí nemůže počítat např. pro zjednodušení postupů ve stavebním řízení</a:t>
            </a:r>
            <a:endParaRPr lang="cs-CZ" sz="2000" dirty="0"/>
          </a:p>
          <a:p>
            <a:pPr marL="342900" lvl="1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cs-CZ" sz="2400" dirty="0">
                <a:solidFill>
                  <a:srgbClr val="C00000"/>
                </a:solidFill>
              </a:rPr>
              <a:t>Právní úprava upravuje pouze vedení technických map obcí.</a:t>
            </a:r>
          </a:p>
          <a:p>
            <a:pPr lvl="1">
              <a:spcBef>
                <a:spcPts val="600"/>
              </a:spcBef>
            </a:pPr>
            <a:r>
              <a:rPr lang="cs-CZ" sz="2000" dirty="0" smtClean="0"/>
              <a:t>Tedy nikoliv technických map krajů, přičemž kraje technické mapy vést chtějí </a:t>
            </a:r>
          </a:p>
          <a:p>
            <a:pPr marL="342900" lvl="1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cs-CZ" sz="2400" dirty="0" smtClean="0">
                <a:solidFill>
                  <a:srgbClr val="C00000"/>
                </a:solidFill>
              </a:rPr>
              <a:t>Neplatí prováděcí </a:t>
            </a:r>
            <a:r>
              <a:rPr lang="cs-CZ" sz="2400" dirty="0">
                <a:solidFill>
                  <a:srgbClr val="C00000"/>
                </a:solidFill>
              </a:rPr>
              <a:t>předpisy/pravidla, které by sjednocovaly vedení technických map na straně jejich správců.</a:t>
            </a:r>
          </a:p>
          <a:p>
            <a:pPr marL="342900" lvl="1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cs-CZ" sz="2400" dirty="0" smtClean="0">
                <a:solidFill>
                  <a:srgbClr val="C00000"/>
                </a:solidFill>
                <a:latin typeface="+mj-lt"/>
              </a:rPr>
              <a:t>Drobní stavebníci nemají povinnost předávat podklad pro aktualizaci obsahu technické mapy.</a:t>
            </a:r>
          </a:p>
          <a:p>
            <a:pPr marL="342900" lvl="1" indent="-342900">
              <a:spcBef>
                <a:spcPts val="600"/>
              </a:spcBef>
              <a:buFont typeface="Arial" pitchFamily="34" charset="0"/>
              <a:buChar char="•"/>
            </a:pPr>
            <a:r>
              <a:rPr lang="cs-CZ" sz="2400" dirty="0" smtClean="0">
                <a:solidFill>
                  <a:srgbClr val="C00000"/>
                </a:solidFill>
                <a:latin typeface="+mj-lt"/>
              </a:rPr>
              <a:t>Technická mapa není upravena jako digitální databáze obsahující prostorová a popisná data.</a:t>
            </a:r>
            <a:endParaRPr lang="cs-CZ" sz="2400" dirty="0" smtClean="0">
              <a:solidFill>
                <a:srgbClr val="C00000"/>
              </a:solidFill>
            </a:endParaRPr>
          </a:p>
        </p:txBody>
      </p:sp>
      <p:sp>
        <p:nvSpPr>
          <p:cNvPr id="7" name="Obdélník 2"/>
          <p:cNvSpPr>
            <a:spLocks noChangeArrowheads="1"/>
          </p:cNvSpPr>
          <p:nvPr/>
        </p:nvSpPr>
        <p:spPr bwMode="auto">
          <a:xfrm>
            <a:off x="568325" y="682625"/>
            <a:ext cx="694914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Současný stav – v čem nevyhovuje?</a:t>
            </a:r>
            <a:endParaRPr lang="pl-PL" sz="2400" dirty="0">
              <a:solidFill>
                <a:srgbClr val="C00000"/>
              </a:solidFill>
            </a:endParaRPr>
          </a:p>
        </p:txBody>
      </p:sp>
      <p:sp>
        <p:nvSpPr>
          <p:cNvPr id="11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2</a:t>
            </a:fld>
            <a:endParaRPr lang="cs-CZ" dirty="0"/>
          </a:p>
        </p:txBody>
      </p:sp>
      <p:sp>
        <p:nvSpPr>
          <p:cNvPr id="8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DMVS </a:t>
            </a:r>
            <a:r>
              <a:rPr lang="pl-PL" sz="1200" dirty="0" smtClean="0">
                <a:solidFill>
                  <a:schemeClr val="bg1"/>
                </a:solidFill>
              </a:rPr>
              <a:t>– pracovní skupina pro architekturu a řízení ICT</a:t>
            </a:r>
          </a:p>
          <a:p>
            <a:pPr algn="ctr">
              <a:defRPr/>
            </a:pPr>
            <a:r>
              <a:rPr lang="cs-CZ" sz="1200" dirty="0" smtClean="0">
                <a:solidFill>
                  <a:schemeClr val="bg1"/>
                </a:solidFill>
              </a:rPr>
              <a:t>Dagmar Bínová</a:t>
            </a: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5258855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1612266"/>
            <a:ext cx="8892480" cy="4409022"/>
          </a:xfrm>
        </p:spPr>
        <p:txBody>
          <a:bodyPr vert="horz" lIns="91440" tIns="45720" rIns="91440" bIns="45720" rtlCol="0">
            <a:noAutofit/>
          </a:bodyPr>
          <a:lstStyle/>
          <a:p>
            <a:pPr marL="457200" lvl="1" indent="0">
              <a:spcBef>
                <a:spcPts val="600"/>
              </a:spcBef>
              <a:buNone/>
            </a:pPr>
            <a:r>
              <a:rPr lang="cs-CZ" sz="2400" dirty="0" smtClean="0">
                <a:solidFill>
                  <a:srgbClr val="C00000"/>
                </a:solidFill>
                <a:latin typeface="+mj-lt"/>
              </a:rPr>
              <a:t>Zákon č. 47/2020 Sb., kterým se novelizoval zákon o zeměměřictví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cs-CZ" sz="1600" dirty="0" smtClean="0">
                <a:latin typeface="+mj-lt"/>
              </a:rPr>
              <a:t>DMVS – správce, účel, obsah, přebírání údajů z DTM kraje, § 4d </a:t>
            </a:r>
            <a:r>
              <a:rPr lang="cs-CZ" sz="1600" dirty="0" err="1" smtClean="0">
                <a:latin typeface="+mj-lt"/>
              </a:rPr>
              <a:t>ZemZ</a:t>
            </a:r>
            <a:endParaRPr lang="cs-CZ" sz="1600" dirty="0" smtClean="0">
              <a:latin typeface="+mj-lt"/>
            </a:endParaRP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cs-CZ" sz="1600" dirty="0" smtClean="0">
                <a:latin typeface="+mj-lt"/>
              </a:rPr>
              <a:t>DTM krajů – správce, účel, obsah (DTI a ZPS), způsob editace, poskytování údajů, § 4b </a:t>
            </a:r>
            <a:r>
              <a:rPr lang="cs-CZ" sz="1600" dirty="0" err="1" smtClean="0">
                <a:latin typeface="+mj-lt"/>
              </a:rPr>
              <a:t>ZemZ</a:t>
            </a:r>
            <a:r>
              <a:rPr lang="cs-CZ" sz="1600" dirty="0" smtClean="0">
                <a:latin typeface="+mj-lt"/>
              </a:rPr>
              <a:t> </a:t>
            </a:r>
            <a:r>
              <a:rPr lang="cs-CZ" sz="2200" dirty="0" smtClean="0">
                <a:latin typeface="+mj-lt"/>
              </a:rPr>
              <a:t> </a:t>
            </a:r>
          </a:p>
          <a:p>
            <a:pPr marL="114300" indent="0">
              <a:spcBef>
                <a:spcPts val="600"/>
              </a:spcBef>
              <a:buNone/>
            </a:pPr>
            <a:r>
              <a:rPr lang="cs-CZ" sz="2400" dirty="0" smtClean="0">
                <a:solidFill>
                  <a:srgbClr val="C00000"/>
                </a:solidFill>
                <a:latin typeface="+mj-lt"/>
              </a:rPr>
              <a:t>     Vyhláška </a:t>
            </a:r>
            <a:r>
              <a:rPr lang="cs-CZ" sz="2400" dirty="0">
                <a:solidFill>
                  <a:srgbClr val="C00000"/>
                </a:solidFill>
                <a:latin typeface="+mj-lt"/>
              </a:rPr>
              <a:t>o digitální technické mapě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cs-CZ" sz="1600" dirty="0">
                <a:latin typeface="+mj-lt"/>
              </a:rPr>
              <a:t>Struktura a obsah DTM, zjednodušený obsah vedení údajů DTM, výměnný formát DTM, podmínky poskytování údajů z DTM, obsahy seznamu vlastníků správců a provozovatelů </a:t>
            </a:r>
            <a:r>
              <a:rPr lang="cs-CZ" sz="1600" dirty="0" smtClean="0">
                <a:latin typeface="+mj-lt"/>
              </a:rPr>
              <a:t>DTI a </a:t>
            </a:r>
            <a:r>
              <a:rPr lang="cs-CZ" sz="1600" dirty="0">
                <a:latin typeface="+mj-lt"/>
              </a:rPr>
              <a:t>editorů DTM</a:t>
            </a:r>
          </a:p>
          <a:p>
            <a:pPr marL="457200" lvl="1" indent="0">
              <a:spcBef>
                <a:spcPts val="600"/>
              </a:spcBef>
              <a:buNone/>
            </a:pPr>
            <a:r>
              <a:rPr lang="cs-CZ" dirty="0">
                <a:solidFill>
                  <a:srgbClr val="C00000"/>
                </a:solidFill>
                <a:latin typeface="+mj-lt"/>
              </a:rPr>
              <a:t> </a:t>
            </a:r>
            <a:r>
              <a:rPr lang="cs-CZ" sz="2400" dirty="0">
                <a:solidFill>
                  <a:srgbClr val="C00000"/>
                </a:solidFill>
                <a:latin typeface="+mj-lt"/>
              </a:rPr>
              <a:t>DMVS i DTM je součástí Digitalizace stavebního řízení 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cs-CZ" sz="1600" dirty="0">
                <a:latin typeface="+mj-lt"/>
              </a:rPr>
              <a:t>DMVS (ČÚZK) </a:t>
            </a:r>
            <a:r>
              <a:rPr lang="cs-CZ" sz="1600" dirty="0" smtClean="0">
                <a:latin typeface="+mj-lt"/>
              </a:rPr>
              <a:t>- </a:t>
            </a:r>
            <a:r>
              <a:rPr lang="cs-CZ" sz="1600" dirty="0">
                <a:latin typeface="+mj-lt"/>
              </a:rPr>
              <a:t>0,230 mld. Kč 	IROP (konec k 30.6.2023)</a:t>
            </a:r>
          </a:p>
          <a:p>
            <a:pPr lvl="1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cs-CZ" sz="1600" dirty="0">
                <a:latin typeface="+mj-lt"/>
              </a:rPr>
              <a:t>DTM Krajů      - 2,353 mld. Kč	OP PIK (konec k 30.6.2023)</a:t>
            </a:r>
            <a:r>
              <a:rPr lang="cs-CZ" sz="2400" dirty="0" smtClean="0">
                <a:latin typeface="+mj-lt"/>
              </a:rPr>
              <a:t>	</a:t>
            </a:r>
            <a:r>
              <a:rPr lang="cs-CZ" sz="2400" dirty="0" smtClean="0">
                <a:solidFill>
                  <a:srgbClr val="C00000"/>
                </a:solidFill>
                <a:latin typeface="+mj-lt"/>
              </a:rPr>
              <a:t>	</a:t>
            </a:r>
          </a:p>
          <a:p>
            <a:pPr marL="457200" lvl="1" indent="0">
              <a:spcBef>
                <a:spcPts val="600"/>
              </a:spcBef>
              <a:buNone/>
            </a:pPr>
            <a:endParaRPr lang="cs-CZ" sz="24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3</a:t>
            </a:fld>
            <a:endParaRPr lang="cs-CZ" dirty="0"/>
          </a:p>
        </p:txBody>
      </p:sp>
      <p:sp>
        <p:nvSpPr>
          <p:cNvPr id="8" name="Obdélník 2"/>
          <p:cNvSpPr>
            <a:spLocks noChangeArrowheads="1"/>
          </p:cNvSpPr>
          <p:nvPr/>
        </p:nvSpPr>
        <p:spPr bwMode="auto">
          <a:xfrm>
            <a:off x="568325" y="682625"/>
            <a:ext cx="387176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Legislativa - souhrn</a:t>
            </a:r>
            <a:endParaRPr lang="pl-PL" sz="3600" b="1" dirty="0">
              <a:solidFill>
                <a:srgbClr val="C00000"/>
              </a:solidFill>
            </a:endParaRPr>
          </a:p>
        </p:txBody>
      </p:sp>
      <p:sp>
        <p:nvSpPr>
          <p:cNvPr id="9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DMVS – pracovní skupina pro architekturu a řízení ICT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</p:txBody>
      </p:sp>
    </p:spTree>
    <p:extLst>
      <p:ext uri="{BB962C8B-B14F-4D97-AF65-F5344CB8AC3E}">
        <p14:creationId xmlns:p14="http://schemas.microsoft.com/office/powerpoint/2010/main" val="2739526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dirty="0" smtClean="0"/>
              <a:t>Stránka </a:t>
            </a:r>
            <a:fld id="{48E274EE-690F-4746-AA67-60C7F9ED09CD}" type="slidenum">
              <a:rPr lang="cs-CZ" smtClean="0"/>
              <a:pPr/>
              <a:t>4</a:t>
            </a:fld>
            <a:endParaRPr lang="cs-CZ" dirty="0"/>
          </a:p>
        </p:txBody>
      </p:sp>
      <p:sp>
        <p:nvSpPr>
          <p:cNvPr id="8" name="Obdélník 2"/>
          <p:cNvSpPr>
            <a:spLocks noChangeArrowheads="1"/>
          </p:cNvSpPr>
          <p:nvPr/>
        </p:nvSpPr>
        <p:spPr bwMode="auto">
          <a:xfrm>
            <a:off x="568325" y="682625"/>
            <a:ext cx="764542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Nová ustanovení zákona o zeměmřictví</a:t>
            </a:r>
            <a:endParaRPr lang="pl-PL" sz="3600" b="1" dirty="0">
              <a:solidFill>
                <a:srgbClr val="C00000"/>
              </a:solidFill>
            </a:endParaRPr>
          </a:p>
        </p:txBody>
      </p:sp>
      <p:sp>
        <p:nvSpPr>
          <p:cNvPr id="9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DMVS – pracovní skupina pro architekturu a řízení ICT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7" name="Obrázek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5543" y="0"/>
            <a:ext cx="9154951" cy="6245352"/>
          </a:xfrm>
          <a:prstGeom prst="rect">
            <a:avLst/>
          </a:prstGeom>
        </p:spPr>
      </p:pic>
      <p:sp>
        <p:nvSpPr>
          <p:cNvPr id="10" name="TextovéPole 9"/>
          <p:cNvSpPr txBox="1"/>
          <p:nvPr/>
        </p:nvSpPr>
        <p:spPr>
          <a:xfrm>
            <a:off x="107504" y="188640"/>
            <a:ext cx="439248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cs-CZ" dirty="0" smtClean="0"/>
              <a:t>Technická mapa tedy obsahuje nejen sítě…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99450141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dirty="0" smtClean="0"/>
              <a:t>Stránka </a:t>
            </a:r>
            <a:fld id="{48E274EE-690F-4746-AA67-60C7F9ED09CD}" type="slidenum">
              <a:rPr lang="cs-CZ" smtClean="0"/>
              <a:pPr/>
              <a:t>5</a:t>
            </a:fld>
            <a:endParaRPr lang="cs-CZ" dirty="0"/>
          </a:p>
        </p:txBody>
      </p:sp>
      <p:sp>
        <p:nvSpPr>
          <p:cNvPr id="8" name="Obdélník 2"/>
          <p:cNvSpPr>
            <a:spLocks noChangeArrowheads="1"/>
          </p:cNvSpPr>
          <p:nvPr/>
        </p:nvSpPr>
        <p:spPr bwMode="auto">
          <a:xfrm>
            <a:off x="568325" y="682625"/>
            <a:ext cx="7645426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Nová ustanovení zákona o zeměmřictví</a:t>
            </a:r>
            <a:endParaRPr lang="pl-PL" sz="3600" b="1" dirty="0">
              <a:solidFill>
                <a:srgbClr val="C00000"/>
              </a:solidFill>
            </a:endParaRPr>
          </a:p>
        </p:txBody>
      </p:sp>
      <p:sp>
        <p:nvSpPr>
          <p:cNvPr id="9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DMVS – pracovní skupina pro architekturu a řízení ICT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11" name="Obrázek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28" y="1828"/>
            <a:ext cx="9133672" cy="6341623"/>
          </a:xfrm>
          <a:prstGeom prst="rect">
            <a:avLst/>
          </a:prstGeom>
        </p:spPr>
      </p:pic>
      <p:sp>
        <p:nvSpPr>
          <p:cNvPr id="12" name="TextovéPole 11"/>
          <p:cNvSpPr txBox="1"/>
          <p:nvPr/>
        </p:nvSpPr>
        <p:spPr>
          <a:xfrm>
            <a:off x="179512" y="260648"/>
            <a:ext cx="3672408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cs-CZ" dirty="0" smtClean="0"/>
              <a:t>…, ale i polohopis prostorové situace. 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3902060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1612266"/>
            <a:ext cx="8892480" cy="440902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cs-CZ" dirty="0" smtClean="0">
                <a:latin typeface="+mj-lt"/>
              </a:rPr>
              <a:t>§ 4d odst. 3)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cs-CZ" sz="2400" dirty="0" smtClean="0">
                <a:solidFill>
                  <a:srgbClr val="C00000"/>
                </a:solidFill>
                <a:latin typeface="+mj-lt"/>
              </a:rPr>
              <a:t>Funkce IS DMVS:</a:t>
            </a:r>
            <a:endParaRPr lang="cs-CZ" sz="2400" dirty="0">
              <a:solidFill>
                <a:srgbClr val="C00000"/>
              </a:solidFill>
              <a:latin typeface="+mj-lt"/>
            </a:endParaRP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cs-CZ" dirty="0" smtClean="0">
                <a:latin typeface="+mj-lt"/>
              </a:rPr>
              <a:t>a) jednotné </a:t>
            </a:r>
            <a:r>
              <a:rPr lang="cs-CZ" dirty="0">
                <a:latin typeface="+mj-lt"/>
              </a:rPr>
              <a:t>rozhraní pro zobrazení katastrální mapy, </a:t>
            </a:r>
            <a:r>
              <a:rPr lang="cs-CZ" dirty="0" err="1">
                <a:latin typeface="+mj-lt"/>
              </a:rPr>
              <a:t>ortofota</a:t>
            </a:r>
            <a:r>
              <a:rPr lang="cs-CZ" dirty="0">
                <a:latin typeface="+mj-lt"/>
              </a:rPr>
              <a:t> a DTM krajů</a:t>
            </a:r>
            <a:r>
              <a:rPr lang="cs-CZ" dirty="0" smtClean="0">
                <a:latin typeface="+mj-lt"/>
              </a:rPr>
              <a:t>,</a:t>
            </a:r>
          </a:p>
          <a:p>
            <a:pPr marL="712787" lvl="4" indent="0" defTabSz="987425">
              <a:spcBef>
                <a:spcPts val="300"/>
              </a:spcBef>
              <a:buNone/>
            </a:pPr>
            <a:endParaRPr lang="cs-CZ" dirty="0">
              <a:latin typeface="+mj-lt"/>
            </a:endParaRP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cs-CZ" dirty="0" smtClean="0">
                <a:latin typeface="+mj-lt"/>
              </a:rPr>
              <a:t>b) jednotné </a:t>
            </a:r>
            <a:r>
              <a:rPr lang="cs-CZ" dirty="0">
                <a:latin typeface="+mj-lt"/>
              </a:rPr>
              <a:t>rozhraní pro předávání údajů k aktualizaci DTM krajů</a:t>
            </a:r>
            <a:r>
              <a:rPr lang="cs-CZ" dirty="0" smtClean="0">
                <a:latin typeface="+mj-lt"/>
              </a:rPr>
              <a:t>,</a:t>
            </a:r>
          </a:p>
          <a:p>
            <a:pPr marL="712787" lvl="4" indent="0" defTabSz="987425">
              <a:spcBef>
                <a:spcPts val="300"/>
              </a:spcBef>
              <a:buNone/>
            </a:pPr>
            <a:endParaRPr lang="cs-CZ" dirty="0">
              <a:latin typeface="+mj-lt"/>
            </a:endParaRP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cs-CZ" dirty="0" smtClean="0">
                <a:latin typeface="+mj-lt"/>
              </a:rPr>
              <a:t>c) vedení </a:t>
            </a:r>
            <a:r>
              <a:rPr lang="cs-CZ" dirty="0">
                <a:latin typeface="+mj-lt"/>
              </a:rPr>
              <a:t>seznamu vlastníků, provozovatelů a správců technické a dopravní  infrastruktury, včetně údajů o tom, v jakém území působí</a:t>
            </a:r>
            <a:r>
              <a:rPr lang="cs-CZ" dirty="0" smtClean="0">
                <a:latin typeface="+mj-lt"/>
              </a:rPr>
              <a:t>,</a:t>
            </a:r>
          </a:p>
          <a:p>
            <a:pPr marL="712787" lvl="4" indent="0" defTabSz="987425">
              <a:spcBef>
                <a:spcPts val="300"/>
              </a:spcBef>
              <a:buNone/>
            </a:pPr>
            <a:r>
              <a:rPr lang="cs-CZ" dirty="0">
                <a:latin typeface="+mj-lt"/>
              </a:rPr>
              <a:t> </a:t>
            </a: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cs-CZ" dirty="0" smtClean="0">
                <a:latin typeface="+mj-lt"/>
              </a:rPr>
              <a:t>d) vedení </a:t>
            </a:r>
            <a:r>
              <a:rPr lang="cs-CZ" dirty="0">
                <a:latin typeface="+mj-lt"/>
              </a:rPr>
              <a:t>seznamu editorů DTM </a:t>
            </a:r>
            <a:r>
              <a:rPr lang="cs-CZ" dirty="0" smtClean="0">
                <a:latin typeface="+mj-lt"/>
              </a:rPr>
              <a:t>krajů.</a:t>
            </a:r>
          </a:p>
          <a:p>
            <a:pPr marL="0" lvl="2" indent="-201613" defTabSz="987425">
              <a:spcBef>
                <a:spcPts val="300"/>
              </a:spcBef>
              <a:buNone/>
            </a:pPr>
            <a:endParaRPr lang="cs-CZ" sz="2800" dirty="0">
              <a:solidFill>
                <a:srgbClr val="C00000"/>
              </a:solidFill>
            </a:endParaRPr>
          </a:p>
          <a:p>
            <a:pPr lvl="1">
              <a:spcBef>
                <a:spcPts val="600"/>
              </a:spcBef>
            </a:pPr>
            <a:endParaRPr lang="cs-CZ" sz="24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6</a:t>
            </a:fld>
            <a:endParaRPr lang="cs-CZ" dirty="0"/>
          </a:p>
        </p:txBody>
      </p:sp>
      <p:sp>
        <p:nvSpPr>
          <p:cNvPr id="8" name="Obdélník 2"/>
          <p:cNvSpPr>
            <a:spLocks noChangeArrowheads="1"/>
          </p:cNvSpPr>
          <p:nvPr/>
        </p:nvSpPr>
        <p:spPr bwMode="auto">
          <a:xfrm>
            <a:off x="568325" y="682625"/>
            <a:ext cx="758028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Zadání – Digitální mapa veřejné správy</a:t>
            </a:r>
            <a:endParaRPr lang="pl-PL" sz="3600" b="1" dirty="0">
              <a:solidFill>
                <a:srgbClr val="C00000"/>
              </a:solidFill>
            </a:endParaRPr>
          </a:p>
        </p:txBody>
      </p:sp>
      <p:sp>
        <p:nvSpPr>
          <p:cNvPr id="9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DMVS – pracovní skupina pro architekturu a řízení ICT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1403648" y="2636912"/>
            <a:ext cx="2016224" cy="360040"/>
          </a:xfrm>
          <a:prstGeom prst="roundRect">
            <a:avLst/>
          </a:prstGeom>
          <a:solidFill>
            <a:srgbClr val="30F04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Rounded Rectangle 6"/>
          <p:cNvSpPr/>
          <p:nvPr/>
        </p:nvSpPr>
        <p:spPr>
          <a:xfrm>
            <a:off x="1403648" y="3280262"/>
            <a:ext cx="2016224" cy="360040"/>
          </a:xfrm>
          <a:prstGeom prst="roundRect">
            <a:avLst/>
          </a:prstGeom>
          <a:solidFill>
            <a:srgbClr val="30F04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9581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élník 2"/>
          <p:cNvSpPr>
            <a:spLocks noChangeArrowheads="1"/>
          </p:cNvSpPr>
          <p:nvPr/>
        </p:nvSpPr>
        <p:spPr bwMode="auto">
          <a:xfrm>
            <a:off x="568324" y="682625"/>
            <a:ext cx="850427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cs-CZ" sz="3200" b="1" dirty="0">
                <a:solidFill>
                  <a:srgbClr val="C00000"/>
                </a:solidFill>
              </a:rPr>
              <a:t>Architektura řešení </a:t>
            </a:r>
            <a:r>
              <a:rPr lang="pl-PL" sz="3200" b="1" dirty="0">
                <a:solidFill>
                  <a:srgbClr val="C00000"/>
                </a:solidFill>
              </a:rPr>
              <a:t>digitálních </a:t>
            </a:r>
            <a:r>
              <a:rPr lang="pl-PL" sz="3200" b="1" dirty="0" smtClean="0">
                <a:solidFill>
                  <a:srgbClr val="C00000"/>
                </a:solidFill>
              </a:rPr>
              <a:t>technických map</a:t>
            </a:r>
          </a:p>
        </p:txBody>
      </p:sp>
      <p:sp>
        <p:nvSpPr>
          <p:cNvPr id="13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7</a:t>
            </a:fld>
            <a:endParaRPr lang="cs-CZ" dirty="0"/>
          </a:p>
        </p:txBody>
      </p:sp>
      <p:sp>
        <p:nvSpPr>
          <p:cNvPr id="8" name="Zástupný symbol pro obsah 2"/>
          <p:cNvSpPr>
            <a:spLocks noGrp="1"/>
          </p:cNvSpPr>
          <p:nvPr>
            <p:ph idx="1"/>
          </p:nvPr>
        </p:nvSpPr>
        <p:spPr>
          <a:xfrm>
            <a:off x="107504" y="1988840"/>
            <a:ext cx="8858137" cy="3394472"/>
          </a:xfrm>
        </p:spPr>
        <p:txBody>
          <a:bodyPr lIns="80296"/>
          <a:lstStyle/>
          <a:p>
            <a:pPr marL="0" indent="0">
              <a:buNone/>
            </a:pPr>
            <a:r>
              <a:rPr lang="cs-CZ" sz="1800" b="1" dirty="0"/>
              <a:t>Národní </a:t>
            </a:r>
            <a:r>
              <a:rPr lang="cs-CZ" sz="1800" b="1" dirty="0" smtClean="0"/>
              <a:t>úroveň (IS DMVS)</a:t>
            </a:r>
            <a:r>
              <a:rPr lang="cs-CZ" sz="1800" b="1" dirty="0"/>
              <a:t>				</a:t>
            </a:r>
            <a:r>
              <a:rPr lang="cs-CZ" sz="1800" b="1" dirty="0" smtClean="0"/>
              <a:t>       </a:t>
            </a:r>
            <a:r>
              <a:rPr lang="cs-CZ" sz="1800" b="1" dirty="0" smtClean="0">
                <a:solidFill>
                  <a:srgbClr val="C00000"/>
                </a:solidFill>
              </a:rPr>
              <a:t>Krajská </a:t>
            </a:r>
            <a:r>
              <a:rPr lang="cs-CZ" sz="1800" b="1" dirty="0">
                <a:solidFill>
                  <a:srgbClr val="C00000"/>
                </a:solidFill>
              </a:rPr>
              <a:t>úroveň </a:t>
            </a:r>
            <a:r>
              <a:rPr lang="cs-CZ" sz="1800" b="1" dirty="0" smtClean="0">
                <a:solidFill>
                  <a:srgbClr val="C00000"/>
                </a:solidFill>
              </a:rPr>
              <a:t>(14 x IS DTM)</a:t>
            </a:r>
            <a:r>
              <a:rPr lang="cs-CZ" sz="1800" b="1" dirty="0">
                <a:solidFill>
                  <a:srgbClr val="FF0000"/>
                </a:solidFill>
              </a:rPr>
              <a:t>	</a:t>
            </a:r>
            <a:r>
              <a:rPr lang="cs-CZ" sz="1800" b="1" dirty="0" smtClean="0"/>
              <a:t>ČÚZK							</a:t>
            </a:r>
            <a:r>
              <a:rPr lang="cs-CZ" sz="1800" b="1" dirty="0" smtClean="0">
                <a:solidFill>
                  <a:srgbClr val="C00000"/>
                </a:solidFill>
              </a:rPr>
              <a:t>kraje</a:t>
            </a:r>
            <a:r>
              <a:rPr lang="cs-CZ" sz="1800" b="1" dirty="0"/>
              <a:t>	</a:t>
            </a:r>
          </a:p>
          <a:p>
            <a:pPr marL="273050" indent="-273050"/>
            <a:endParaRPr lang="cs-CZ" sz="1800" b="1" dirty="0"/>
          </a:p>
        </p:txBody>
      </p:sp>
      <p:sp>
        <p:nvSpPr>
          <p:cNvPr id="9" name="Zástupný symbol pro číslo snímku 3"/>
          <p:cNvSpPr txBox="1">
            <a:spLocks/>
          </p:cNvSpPr>
          <p:nvPr/>
        </p:nvSpPr>
        <p:spPr>
          <a:xfrm>
            <a:off x="6567086" y="5285537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77AD5F7-9A70-43A8-B2E8-1F114AD105DD}" type="slidenum">
              <a:rPr lang="cs-CZ" smtClean="0">
                <a:solidFill>
                  <a:srgbClr val="262626">
                    <a:tint val="75000"/>
                  </a:srgbClr>
                </a:solidFill>
              </a:rPr>
              <a:pPr/>
              <a:t>7</a:t>
            </a:fld>
            <a:endParaRPr lang="cs-CZ">
              <a:solidFill>
                <a:srgbClr val="262626">
                  <a:tint val="75000"/>
                </a:srgbClr>
              </a:solidFill>
            </a:endParaRPr>
          </a:p>
        </p:txBody>
      </p:sp>
      <p:sp>
        <p:nvSpPr>
          <p:cNvPr id="11" name="Vývojový diagram: magnetický disk 10"/>
          <p:cNvSpPr/>
          <p:nvPr/>
        </p:nvSpPr>
        <p:spPr>
          <a:xfrm>
            <a:off x="4568604" y="3174516"/>
            <a:ext cx="330741" cy="347223"/>
          </a:xfrm>
          <a:prstGeom prst="flowChartMagneticDisk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2" name="Vývojový diagram: magnetický disk 11"/>
          <p:cNvSpPr/>
          <p:nvPr/>
        </p:nvSpPr>
        <p:spPr>
          <a:xfrm>
            <a:off x="4733974" y="3696184"/>
            <a:ext cx="330741" cy="347223"/>
          </a:xfrm>
          <a:prstGeom prst="flowChartMagneticDisk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4" name="Vývojový diagram: magnetický disk 13"/>
          <p:cNvSpPr/>
          <p:nvPr/>
        </p:nvSpPr>
        <p:spPr>
          <a:xfrm>
            <a:off x="5545333" y="4471154"/>
            <a:ext cx="330741" cy="347223"/>
          </a:xfrm>
          <a:prstGeom prst="flowChartMagneticDisk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5" name="Vývojový diagram: magnetický disk 14"/>
          <p:cNvSpPr/>
          <p:nvPr/>
        </p:nvSpPr>
        <p:spPr>
          <a:xfrm>
            <a:off x="4061233" y="4782439"/>
            <a:ext cx="330741" cy="347223"/>
          </a:xfrm>
          <a:prstGeom prst="flowChartMagneticDisk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6" name="Vývojový diagram: magnetický disk 15"/>
          <p:cNvSpPr/>
          <p:nvPr/>
        </p:nvSpPr>
        <p:spPr>
          <a:xfrm>
            <a:off x="2976639" y="3750924"/>
            <a:ext cx="330741" cy="347223"/>
          </a:xfrm>
          <a:prstGeom prst="flowChartMagneticDisk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7" name="Vývojový diagram: magnetický disk 16"/>
          <p:cNvSpPr/>
          <p:nvPr/>
        </p:nvSpPr>
        <p:spPr>
          <a:xfrm>
            <a:off x="2743768" y="2791354"/>
            <a:ext cx="330741" cy="347223"/>
          </a:xfrm>
          <a:prstGeom prst="flowChartMagneticDisk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8" name="Vývojový diagram: magnetický disk 17"/>
          <p:cNvSpPr/>
          <p:nvPr/>
        </p:nvSpPr>
        <p:spPr>
          <a:xfrm>
            <a:off x="4135721" y="2232541"/>
            <a:ext cx="330741" cy="347223"/>
          </a:xfrm>
          <a:prstGeom prst="flowChartMagneticDisk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9" name="Vývojový diagram: magnetický disk 18"/>
          <p:cNvSpPr/>
          <p:nvPr/>
        </p:nvSpPr>
        <p:spPr>
          <a:xfrm>
            <a:off x="5379962" y="2232541"/>
            <a:ext cx="330741" cy="347223"/>
          </a:xfrm>
          <a:prstGeom prst="flowChartMagneticDisk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0" name="Vývojový diagram: magnetický disk 19"/>
          <p:cNvSpPr/>
          <p:nvPr/>
        </p:nvSpPr>
        <p:spPr>
          <a:xfrm>
            <a:off x="5967997" y="2964966"/>
            <a:ext cx="330741" cy="347223"/>
          </a:xfrm>
          <a:prstGeom prst="flowChartMagneticDisk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1" name="Vývojový diagram: magnetický disk 20"/>
          <p:cNvSpPr/>
          <p:nvPr/>
        </p:nvSpPr>
        <p:spPr>
          <a:xfrm>
            <a:off x="6311838" y="3750925"/>
            <a:ext cx="330741" cy="347223"/>
          </a:xfrm>
          <a:prstGeom prst="flowChartMagneticDisk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2" name="Vývojový diagram: magnetický disk 21"/>
          <p:cNvSpPr/>
          <p:nvPr/>
        </p:nvSpPr>
        <p:spPr>
          <a:xfrm>
            <a:off x="6642579" y="5044777"/>
            <a:ext cx="330741" cy="347223"/>
          </a:xfrm>
          <a:prstGeom prst="flowChartMagneticDisk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3" name="Vývojový diagram: magnetický disk 22"/>
          <p:cNvSpPr/>
          <p:nvPr/>
        </p:nvSpPr>
        <p:spPr>
          <a:xfrm>
            <a:off x="7303145" y="4242199"/>
            <a:ext cx="330741" cy="347223"/>
          </a:xfrm>
          <a:prstGeom prst="flowChartMagneticDisk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4" name="Vývojový diagram: magnetický disk 23"/>
          <p:cNvSpPr/>
          <p:nvPr/>
        </p:nvSpPr>
        <p:spPr>
          <a:xfrm>
            <a:off x="8527761" y="4154525"/>
            <a:ext cx="330741" cy="347223"/>
          </a:xfrm>
          <a:prstGeom prst="flowChartMagneticDisk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5" name="Vývojový diagram: magnetický disk 24"/>
          <p:cNvSpPr/>
          <p:nvPr/>
        </p:nvSpPr>
        <p:spPr>
          <a:xfrm>
            <a:off x="7820126" y="5074544"/>
            <a:ext cx="330741" cy="347223"/>
          </a:xfrm>
          <a:prstGeom prst="flowChartMagneticDisk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6" name="Vývojový diagram: magnetický disk 25"/>
          <p:cNvSpPr/>
          <p:nvPr/>
        </p:nvSpPr>
        <p:spPr>
          <a:xfrm>
            <a:off x="715478" y="4512692"/>
            <a:ext cx="771233" cy="627914"/>
          </a:xfrm>
          <a:prstGeom prst="flowChartMagneticDisk">
            <a:avLst/>
          </a:prstGeom>
          <a:solidFill>
            <a:srgbClr val="000099"/>
          </a:solidFill>
          <a:ln>
            <a:solidFill>
              <a:srgbClr val="FF000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27" name="Obrázek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976" y="2989961"/>
            <a:ext cx="1816238" cy="1603800"/>
          </a:xfrm>
          <a:prstGeom prst="rect">
            <a:avLst/>
          </a:prstGeom>
        </p:spPr>
      </p:pic>
      <p:cxnSp>
        <p:nvCxnSpPr>
          <p:cNvPr id="28" name="Přímá spojnice 27"/>
          <p:cNvCxnSpPr/>
          <p:nvPr/>
        </p:nvCxnSpPr>
        <p:spPr>
          <a:xfrm flipV="1">
            <a:off x="1281634" y="1885669"/>
            <a:ext cx="2237355" cy="110429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Přímá spojnice 28"/>
          <p:cNvCxnSpPr/>
          <p:nvPr/>
        </p:nvCxnSpPr>
        <p:spPr>
          <a:xfrm>
            <a:off x="1486711" y="5129662"/>
            <a:ext cx="2739892" cy="746627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Obrázek 2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826" y="3161232"/>
            <a:ext cx="1547843" cy="902908"/>
          </a:xfrm>
          <a:prstGeom prst="rect">
            <a:avLst/>
          </a:prstGeom>
        </p:spPr>
      </p:pic>
      <p:pic>
        <p:nvPicPr>
          <p:cNvPr id="31" name="Obrázek 3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548" y="1276577"/>
            <a:ext cx="6859800" cy="5144850"/>
          </a:xfrm>
          <a:prstGeom prst="rect">
            <a:avLst/>
          </a:prstGeom>
        </p:spPr>
      </p:pic>
      <p:sp>
        <p:nvSpPr>
          <p:cNvPr id="33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DMVS – pracovní skupina pro architekturu a řízení ICT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98429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1612266"/>
            <a:ext cx="8892480" cy="4409022"/>
          </a:xfrm>
        </p:spPr>
        <p:txBody>
          <a:bodyPr vert="horz" lIns="91440" tIns="45720" rIns="91440" bIns="45720" rtlCol="0">
            <a:noAutofit/>
          </a:bodyPr>
          <a:lstStyle/>
          <a:p>
            <a:pPr lvl="1">
              <a:spcBef>
                <a:spcPts val="600"/>
              </a:spcBef>
            </a:pPr>
            <a:r>
              <a:rPr lang="cs-CZ" sz="2400" dirty="0" smtClean="0">
                <a:solidFill>
                  <a:srgbClr val="C00000"/>
                </a:solidFill>
                <a:latin typeface="+mj-lt"/>
              </a:rPr>
              <a:t>Bezešvá grafická prezentace DTM</a:t>
            </a:r>
          </a:p>
          <a:p>
            <a:pPr lvl="2">
              <a:spcBef>
                <a:spcPts val="600"/>
              </a:spcBef>
            </a:pPr>
            <a:r>
              <a:rPr lang="cs-CZ" sz="2000" dirty="0" smtClean="0">
                <a:latin typeface="+mj-lt"/>
              </a:rPr>
              <a:t>DMVS má tři vrstvy</a:t>
            </a:r>
          </a:p>
          <a:p>
            <a:pPr lvl="3">
              <a:spcBef>
                <a:spcPts val="600"/>
              </a:spcBef>
            </a:pPr>
            <a:r>
              <a:rPr lang="cs-CZ" sz="1600" dirty="0" smtClean="0">
                <a:latin typeface="+mj-lt"/>
              </a:rPr>
              <a:t>katastrální mapa</a:t>
            </a:r>
          </a:p>
          <a:p>
            <a:pPr lvl="3">
              <a:spcBef>
                <a:spcPts val="600"/>
              </a:spcBef>
            </a:pPr>
            <a:r>
              <a:rPr lang="cs-CZ" sz="1600" dirty="0" err="1" smtClean="0">
                <a:latin typeface="+mj-lt"/>
              </a:rPr>
              <a:t>ortofotomapa</a:t>
            </a:r>
            <a:endParaRPr lang="cs-CZ" sz="1600" dirty="0" smtClean="0">
              <a:latin typeface="+mj-lt"/>
            </a:endParaRPr>
          </a:p>
          <a:p>
            <a:pPr lvl="3">
              <a:spcBef>
                <a:spcPts val="600"/>
              </a:spcBef>
            </a:pPr>
            <a:r>
              <a:rPr lang="cs-CZ" sz="1600" dirty="0" smtClean="0">
                <a:latin typeface="+mj-lt"/>
              </a:rPr>
              <a:t>technická mapa kraje</a:t>
            </a:r>
          </a:p>
          <a:p>
            <a:pPr lvl="1">
              <a:spcBef>
                <a:spcPts val="600"/>
              </a:spcBef>
            </a:pPr>
            <a:r>
              <a:rPr lang="cs-CZ" sz="2400" dirty="0" smtClean="0">
                <a:solidFill>
                  <a:srgbClr val="C00000"/>
                </a:solidFill>
                <a:latin typeface="+mj-lt"/>
              </a:rPr>
              <a:t>Jednotné aktualizační rozhraní pro editaci obsahu DTM</a:t>
            </a:r>
          </a:p>
          <a:p>
            <a:pPr marL="1200150" lvl="2" indent="-342900">
              <a:spcBef>
                <a:spcPts val="600"/>
              </a:spcBef>
            </a:pPr>
            <a:r>
              <a:rPr lang="cs-CZ" sz="2000" dirty="0" smtClean="0">
                <a:latin typeface="+mj-lt"/>
              </a:rPr>
              <a:t>„sítaři - infrastruktura“ → přímá editace DTM</a:t>
            </a:r>
          </a:p>
          <a:p>
            <a:pPr marL="1200150" lvl="2" indent="-342900">
              <a:spcBef>
                <a:spcPts val="600"/>
              </a:spcBef>
            </a:pPr>
            <a:r>
              <a:rPr lang="cs-CZ" sz="2000" dirty="0" smtClean="0">
                <a:latin typeface="+mj-lt"/>
              </a:rPr>
              <a:t>„stavebníci – ZPS“ → editorem je kraj, stavebník zasílá podklad pro editaci</a:t>
            </a:r>
          </a:p>
          <a:p>
            <a:pPr lvl="1">
              <a:spcBef>
                <a:spcPts val="600"/>
              </a:spcBef>
            </a:pPr>
            <a:r>
              <a:rPr lang="cs-CZ" sz="2400" dirty="0" smtClean="0">
                <a:solidFill>
                  <a:srgbClr val="C00000"/>
                </a:solidFill>
                <a:latin typeface="+mj-lt"/>
              </a:rPr>
              <a:t>Garantovaný zdroj dat o vlastnících, správcích a provozovatelích dopravní infrastruktury</a:t>
            </a:r>
          </a:p>
          <a:p>
            <a:pPr lvl="2">
              <a:spcBef>
                <a:spcPts val="600"/>
              </a:spcBef>
            </a:pPr>
            <a:r>
              <a:rPr lang="cs-CZ" sz="2000" dirty="0" smtClean="0">
                <a:latin typeface="+mj-lt"/>
              </a:rPr>
              <a:t>podpora „vyjádření“ pro účely stavební řízení</a:t>
            </a:r>
          </a:p>
          <a:p>
            <a:pPr lvl="1">
              <a:spcBef>
                <a:spcPts val="600"/>
              </a:spcBef>
            </a:pPr>
            <a:endParaRPr lang="cs-CZ" sz="24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8</a:t>
            </a:fld>
            <a:endParaRPr lang="cs-CZ" dirty="0"/>
          </a:p>
        </p:txBody>
      </p:sp>
      <p:sp>
        <p:nvSpPr>
          <p:cNvPr id="8" name="Obdélník 2"/>
          <p:cNvSpPr>
            <a:spLocks noChangeArrowheads="1"/>
          </p:cNvSpPr>
          <p:nvPr/>
        </p:nvSpPr>
        <p:spPr bwMode="auto">
          <a:xfrm>
            <a:off x="568325" y="682625"/>
            <a:ext cx="585769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Digitální mapa veřejné správy</a:t>
            </a:r>
            <a:endParaRPr lang="pl-PL" sz="3600" b="1" dirty="0">
              <a:solidFill>
                <a:srgbClr val="C00000"/>
              </a:solidFill>
            </a:endParaRPr>
          </a:p>
        </p:txBody>
      </p:sp>
      <p:sp>
        <p:nvSpPr>
          <p:cNvPr id="9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DMVS – pracovní skupina pro architekturu a řízení ICT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5131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1612266"/>
            <a:ext cx="8892480" cy="4409022"/>
          </a:xfrm>
        </p:spPr>
        <p:txBody>
          <a:bodyPr vert="horz" lIns="91440" tIns="45720" rIns="91440" bIns="45720" rtlCol="0">
            <a:noAutofit/>
          </a:bodyPr>
          <a:lstStyle/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400" dirty="0" smtClean="0">
                <a:solidFill>
                  <a:srgbClr val="C00000"/>
                </a:solidFill>
                <a:latin typeface="+mj-lt"/>
              </a:rPr>
              <a:t>Funkce jednotného rozhraní (aktualizace DTM….)</a:t>
            </a:r>
          </a:p>
          <a:p>
            <a:pPr lvl="2">
              <a:spcBef>
                <a:spcPts val="600"/>
              </a:spcBef>
            </a:pPr>
            <a:r>
              <a:rPr lang="cs-CZ" sz="2000" dirty="0" smtClean="0">
                <a:latin typeface="+mj-lt"/>
              </a:rPr>
              <a:t>Webové služby</a:t>
            </a:r>
          </a:p>
          <a:p>
            <a:pPr lvl="2">
              <a:spcBef>
                <a:spcPts val="600"/>
              </a:spcBef>
            </a:pPr>
            <a:r>
              <a:rPr lang="cs-CZ" sz="2000" dirty="0" smtClean="0">
                <a:latin typeface="+mj-lt"/>
              </a:rPr>
              <a:t>Portálové řešení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400" dirty="0" smtClean="0">
                <a:solidFill>
                  <a:srgbClr val="C00000"/>
                </a:solidFill>
                <a:latin typeface="+mj-lt"/>
              </a:rPr>
              <a:t>Obsah DMVS (subjekty DMVS…vlastníci, správci, provozovatelé, ÚOZI)</a:t>
            </a:r>
          </a:p>
          <a:p>
            <a:pPr lvl="2">
              <a:spcBef>
                <a:spcPts val="600"/>
              </a:spcBef>
            </a:pPr>
            <a:r>
              <a:rPr lang="cs-CZ" sz="2000" dirty="0" smtClean="0">
                <a:latin typeface="+mj-lt"/>
              </a:rPr>
              <a:t>Webové služby</a:t>
            </a:r>
          </a:p>
          <a:p>
            <a:pPr lvl="2">
              <a:spcBef>
                <a:spcPts val="600"/>
              </a:spcBef>
            </a:pPr>
            <a:r>
              <a:rPr lang="cs-CZ" sz="2000" dirty="0" smtClean="0">
                <a:latin typeface="+mj-lt"/>
              </a:rPr>
              <a:t>Portálové řešení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cs-CZ" sz="2400" dirty="0" smtClean="0">
                <a:solidFill>
                  <a:srgbClr val="C00000"/>
                </a:solidFill>
                <a:latin typeface="+mj-lt"/>
              </a:rPr>
              <a:t>Technologie  Jednotný výměnný formát DTM</a:t>
            </a:r>
          </a:p>
          <a:p>
            <a:pPr lvl="2">
              <a:spcBef>
                <a:spcPts val="600"/>
              </a:spcBef>
            </a:pPr>
            <a:r>
              <a:rPr lang="cs-CZ" sz="2000" dirty="0" smtClean="0">
                <a:latin typeface="+mj-lt"/>
              </a:rPr>
              <a:t>Jednotný výměnný formát DTM (standardizovaný formát pro sdílení obsahu DTM)</a:t>
            </a:r>
            <a:endParaRPr lang="cs-CZ" sz="2000" dirty="0">
              <a:latin typeface="+mj-lt"/>
            </a:endParaRP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9</a:t>
            </a:fld>
            <a:endParaRPr lang="cs-CZ" dirty="0"/>
          </a:p>
        </p:txBody>
      </p:sp>
      <p:sp>
        <p:nvSpPr>
          <p:cNvPr id="8" name="Obdélník 2"/>
          <p:cNvSpPr>
            <a:spLocks noChangeArrowheads="1"/>
          </p:cNvSpPr>
          <p:nvPr/>
        </p:nvSpPr>
        <p:spPr bwMode="auto">
          <a:xfrm>
            <a:off x="568325" y="682625"/>
            <a:ext cx="805637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Digitální mapa veřejné správy – co a  jak?</a:t>
            </a:r>
            <a:endParaRPr lang="pl-PL" sz="3600" b="1" dirty="0">
              <a:solidFill>
                <a:srgbClr val="C00000"/>
              </a:solidFill>
            </a:endParaRPr>
          </a:p>
        </p:txBody>
      </p:sp>
      <p:sp>
        <p:nvSpPr>
          <p:cNvPr id="9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DMVS – pracovní skupina pro architekturu a řízení ICT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0320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1612266"/>
            <a:ext cx="8892480" cy="440902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buNone/>
            </a:pPr>
            <a:r>
              <a:rPr lang="cs-CZ" b="1" dirty="0" err="1" smtClean="0"/>
              <a:t>Tématické</a:t>
            </a:r>
            <a:r>
              <a:rPr lang="cs-CZ" b="1" dirty="0" smtClean="0"/>
              <a:t> sady</a:t>
            </a:r>
          </a:p>
          <a:p>
            <a:r>
              <a:rPr lang="cs-CZ" b="1" dirty="0" smtClean="0"/>
              <a:t>Správa </a:t>
            </a:r>
            <a:r>
              <a:rPr lang="cs-CZ" b="1" dirty="0"/>
              <a:t>údajů o subjektech</a:t>
            </a:r>
            <a:r>
              <a:rPr lang="cs-CZ" dirty="0"/>
              <a:t> – registrační služba </a:t>
            </a:r>
            <a:r>
              <a:rPr lang="cs-CZ" dirty="0" smtClean="0"/>
              <a:t>osob (vlastníci, editoři, </a:t>
            </a:r>
            <a:r>
              <a:rPr lang="cs-CZ" dirty="0" err="1" smtClean="0"/>
              <a:t>atd</a:t>
            </a:r>
            <a:r>
              <a:rPr lang="cs-CZ" dirty="0" smtClean="0"/>
              <a:t>…),služby </a:t>
            </a:r>
            <a:r>
              <a:rPr lang="cs-CZ" dirty="0"/>
              <a:t>pro určení a změnu editora </a:t>
            </a:r>
            <a:r>
              <a:rPr lang="cs-CZ" dirty="0" err="1"/>
              <a:t>atd</a:t>
            </a:r>
            <a:r>
              <a:rPr lang="cs-CZ" dirty="0"/>
              <a:t>….</a:t>
            </a:r>
          </a:p>
          <a:p>
            <a:r>
              <a:rPr lang="cs-CZ" dirty="0"/>
              <a:t>Služby </a:t>
            </a:r>
            <a:r>
              <a:rPr lang="cs-CZ" dirty="0" smtClean="0"/>
              <a:t>pro </a:t>
            </a:r>
            <a:r>
              <a:rPr lang="cs-CZ" b="1" dirty="0" smtClean="0"/>
              <a:t>editaci </a:t>
            </a:r>
            <a:r>
              <a:rPr lang="cs-CZ" b="1" dirty="0"/>
              <a:t>obsahu DTM externími editory</a:t>
            </a:r>
            <a:endParaRPr lang="cs-CZ" dirty="0"/>
          </a:p>
          <a:p>
            <a:r>
              <a:rPr lang="cs-CZ" dirty="0"/>
              <a:t>Služby pro podporu </a:t>
            </a:r>
            <a:r>
              <a:rPr lang="cs-CZ" b="1" dirty="0"/>
              <a:t>Vyjádření správců sítí</a:t>
            </a:r>
            <a:endParaRPr lang="cs-CZ" dirty="0"/>
          </a:p>
          <a:p>
            <a:r>
              <a:rPr lang="cs-CZ" b="1" dirty="0"/>
              <a:t>Stahovací a prohlížecí služby </a:t>
            </a:r>
            <a:endParaRPr lang="cs-CZ" b="1" dirty="0" smtClean="0"/>
          </a:p>
          <a:p>
            <a:r>
              <a:rPr lang="cs-CZ" b="1" dirty="0" smtClean="0"/>
              <a:t>Podpůrné služby</a:t>
            </a:r>
            <a:endParaRPr lang="cs-CZ" dirty="0"/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cs-CZ" sz="24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10</a:t>
            </a:fld>
            <a:endParaRPr lang="cs-CZ" dirty="0"/>
          </a:p>
        </p:txBody>
      </p:sp>
      <p:sp>
        <p:nvSpPr>
          <p:cNvPr id="8" name="Obdélník 2"/>
          <p:cNvSpPr>
            <a:spLocks noChangeArrowheads="1"/>
          </p:cNvSpPr>
          <p:nvPr/>
        </p:nvSpPr>
        <p:spPr bwMode="auto">
          <a:xfrm>
            <a:off x="568325" y="682625"/>
            <a:ext cx="782009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Rozhraní DMVS – aktuálně 30 WS</a:t>
            </a:r>
            <a:endParaRPr lang="pl-PL" sz="3600" b="1" dirty="0">
              <a:solidFill>
                <a:srgbClr val="C00000"/>
              </a:solidFill>
            </a:endParaRPr>
          </a:p>
        </p:txBody>
      </p:sp>
      <p:sp>
        <p:nvSpPr>
          <p:cNvPr id="9" name="Zástupný symbol pro zápatí 4"/>
          <p:cNvSpPr txBox="1">
            <a:spLocks noGrp="1"/>
          </p:cNvSpPr>
          <p:nvPr/>
        </p:nvSpPr>
        <p:spPr bwMode="auto">
          <a:xfrm>
            <a:off x="1619672" y="6604023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DMVS – pracovní skupina pro architekturu a řízení ICT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</a:endParaRP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97105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11</a:t>
            </a:fld>
            <a:endParaRPr lang="cs-CZ" dirty="0"/>
          </a:p>
        </p:txBody>
      </p:sp>
      <p:sp>
        <p:nvSpPr>
          <p:cNvPr id="9" name="Zástupný symbol pro zápatí 4"/>
          <p:cNvSpPr txBox="1">
            <a:spLocks noGrp="1"/>
          </p:cNvSpPr>
          <p:nvPr/>
        </p:nvSpPr>
        <p:spPr bwMode="auto">
          <a:xfrm>
            <a:off x="1619672" y="6589515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DMVS – pracovní skupina pro architekturu a řízení ICT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</a:endParaRP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2" name="Obrázek 1"/>
          <p:cNvPicPr>
            <a:picLocks noChangeAspect="1"/>
          </p:cNvPicPr>
          <p:nvPr/>
        </p:nvPicPr>
        <p:blipFill rotWithShape="1">
          <a:blip r:embed="rId3"/>
          <a:srcRect l="17713" t="20601" r="18107" b="13601"/>
          <a:stretch/>
        </p:blipFill>
        <p:spPr>
          <a:xfrm>
            <a:off x="107504" y="1124744"/>
            <a:ext cx="8862346" cy="511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2936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12</a:t>
            </a:fld>
            <a:endParaRPr lang="cs-CZ" dirty="0"/>
          </a:p>
        </p:txBody>
      </p:sp>
      <p:sp>
        <p:nvSpPr>
          <p:cNvPr id="9" name="Zástupný symbol pro zápatí 4"/>
          <p:cNvSpPr txBox="1">
            <a:spLocks noGrp="1"/>
          </p:cNvSpPr>
          <p:nvPr/>
        </p:nvSpPr>
        <p:spPr bwMode="auto">
          <a:xfrm>
            <a:off x="1619672" y="6589515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DMVS – pracovní skupina pro architekturu a řízení ICT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</a:endParaRP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10" name="TextovéPole 9"/>
          <p:cNvSpPr txBox="1"/>
          <p:nvPr/>
        </p:nvSpPr>
        <p:spPr>
          <a:xfrm>
            <a:off x="107504" y="188640"/>
            <a:ext cx="4464496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cs-CZ" dirty="0" smtClean="0"/>
              <a:t>Globální architektura IS DMVS</a:t>
            </a:r>
            <a:endParaRPr lang="cs-CZ" dirty="0"/>
          </a:p>
        </p:txBody>
      </p:sp>
      <p:pic>
        <p:nvPicPr>
          <p:cNvPr id="11" name="Obrázek 10"/>
          <p:cNvPicPr/>
          <p:nvPr/>
        </p:nvPicPr>
        <p:blipFill>
          <a:blip r:embed="rId2"/>
          <a:stretch>
            <a:fillRect/>
          </a:stretch>
        </p:blipFill>
        <p:spPr>
          <a:xfrm>
            <a:off x="364121" y="803198"/>
            <a:ext cx="8136904" cy="5251603"/>
          </a:xfrm>
          <a:prstGeom prst="rect">
            <a:avLst/>
          </a:prstGeom>
        </p:spPr>
      </p:pic>
      <p:sp>
        <p:nvSpPr>
          <p:cNvPr id="2" name="Zaoblený obdélník 1"/>
          <p:cNvSpPr/>
          <p:nvPr/>
        </p:nvSpPr>
        <p:spPr>
          <a:xfrm>
            <a:off x="2232000" y="2276872"/>
            <a:ext cx="1476000" cy="5760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Zaoblený obdélník 6"/>
          <p:cNvSpPr/>
          <p:nvPr/>
        </p:nvSpPr>
        <p:spPr>
          <a:xfrm>
            <a:off x="3712493" y="2276872"/>
            <a:ext cx="1440160" cy="5760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8" name="Zaoblený obdélník 7"/>
          <p:cNvSpPr/>
          <p:nvPr/>
        </p:nvSpPr>
        <p:spPr>
          <a:xfrm>
            <a:off x="5152652" y="2276872"/>
            <a:ext cx="1476000" cy="57606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Rounded Rectangle 2"/>
          <p:cNvSpPr/>
          <p:nvPr/>
        </p:nvSpPr>
        <p:spPr>
          <a:xfrm>
            <a:off x="612000" y="5184000"/>
            <a:ext cx="7632848" cy="72000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27974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8" grpId="0" animBg="1"/>
      <p:bldP spid="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ástupný symbol pro obsah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536" y="1612900"/>
            <a:ext cx="8223503" cy="4552950"/>
          </a:xfrm>
          <a:prstGeom prst="rect">
            <a:avLst/>
          </a:prstGeom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13</a:t>
            </a:fld>
            <a:endParaRPr lang="cs-CZ" dirty="0"/>
          </a:p>
        </p:txBody>
      </p:sp>
      <p:sp>
        <p:nvSpPr>
          <p:cNvPr id="8" name="Obdélník 2"/>
          <p:cNvSpPr>
            <a:spLocks noChangeArrowheads="1"/>
          </p:cNvSpPr>
          <p:nvPr/>
        </p:nvSpPr>
        <p:spPr bwMode="auto">
          <a:xfrm>
            <a:off x="568325" y="682625"/>
            <a:ext cx="844833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Základní harmonogram projektu – IS DMVS</a:t>
            </a:r>
            <a:endParaRPr lang="pl-PL" sz="3600" b="1" dirty="0">
              <a:solidFill>
                <a:srgbClr val="C00000"/>
              </a:solidFill>
            </a:endParaRPr>
          </a:p>
        </p:txBody>
      </p:sp>
      <p:sp>
        <p:nvSpPr>
          <p:cNvPr id="9" name="Zástupný symbol pro zápatí 4"/>
          <p:cNvSpPr txBox="1">
            <a:spLocks noGrp="1"/>
          </p:cNvSpPr>
          <p:nvPr/>
        </p:nvSpPr>
        <p:spPr bwMode="auto">
          <a:xfrm>
            <a:off x="1619672" y="6604023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DMVS – pracovní skupina pro architekturu a řízení ICT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</a:endParaRP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  <p:cxnSp>
        <p:nvCxnSpPr>
          <p:cNvPr id="4" name="Přímá spojnice 3"/>
          <p:cNvCxnSpPr/>
          <p:nvPr/>
        </p:nvCxnSpPr>
        <p:spPr>
          <a:xfrm>
            <a:off x="522000" y="4149080"/>
            <a:ext cx="8082000" cy="0"/>
          </a:xfrm>
          <a:prstGeom prst="line">
            <a:avLst/>
          </a:prstGeom>
          <a:ln w="25400">
            <a:headEnd type="oval"/>
            <a:tailEnd type="oval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3597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14</a:t>
            </a:fld>
            <a:endParaRPr lang="cs-CZ" dirty="0"/>
          </a:p>
        </p:txBody>
      </p:sp>
      <p:sp>
        <p:nvSpPr>
          <p:cNvPr id="8" name="Obdélník 2"/>
          <p:cNvSpPr>
            <a:spLocks noChangeArrowheads="1"/>
          </p:cNvSpPr>
          <p:nvPr/>
        </p:nvSpPr>
        <p:spPr bwMode="auto">
          <a:xfrm>
            <a:off x="568325" y="682625"/>
            <a:ext cx="691041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Harmonogram pro externí subjekty</a:t>
            </a:r>
            <a:endParaRPr lang="pl-PL" sz="3600" b="1" dirty="0">
              <a:solidFill>
                <a:srgbClr val="C00000"/>
              </a:solidFill>
            </a:endParaRPr>
          </a:p>
        </p:txBody>
      </p:sp>
      <p:sp>
        <p:nvSpPr>
          <p:cNvPr id="9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Digitální mapa veřejné správy – první narozeniny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4" name="Zástupný symbol pro obsah 3"/>
          <p:cNvGraphicFramePr>
            <a:graphicFrameLocks noGrp="1"/>
          </p:cNvGraphicFramePr>
          <p:nvPr>
            <p:ph idx="1"/>
            <p:extLst/>
          </p:nvPr>
        </p:nvGraphicFramePr>
        <p:xfrm>
          <a:off x="179512" y="1328954"/>
          <a:ext cx="8784976" cy="48848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79041">
                  <a:extLst>
                    <a:ext uri="{9D8B030D-6E8A-4147-A177-3AD203B41FA5}">
                      <a16:colId xmlns:a16="http://schemas.microsoft.com/office/drawing/2014/main" val="1773092733"/>
                    </a:ext>
                  </a:extLst>
                </a:gridCol>
                <a:gridCol w="6605935">
                  <a:extLst>
                    <a:ext uri="{9D8B030D-6E8A-4147-A177-3AD203B41FA5}">
                      <a16:colId xmlns:a16="http://schemas.microsoft.com/office/drawing/2014/main" val="3234920016"/>
                    </a:ext>
                  </a:extLst>
                </a:gridCol>
              </a:tblGrid>
              <a:tr h="46197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cs-CZ" sz="1100" u="none" strike="noStrike">
                          <a:effectLst/>
                        </a:rPr>
                        <a:t>Rámcový harmonogram klíčových kroků při budování IS DMVS </a:t>
                      </a:r>
                      <a:br>
                        <a:rPr lang="cs-CZ" sz="1100" u="none" strike="noStrike">
                          <a:effectLst/>
                        </a:rPr>
                      </a:br>
                      <a:endParaRPr lang="cs-CZ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144742"/>
                  </a:ext>
                </a:extLst>
              </a:tr>
              <a:tr h="298633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cs-CZ" sz="900" u="none" strike="noStrike">
                          <a:effectLst/>
                        </a:rPr>
                        <a:t>Určeno pro externí subjekty připravující se na propojení s IS DMVS/DTM (obce, vlastníky a správce dopravní a technické infrastruktury a další)</a:t>
                      </a:r>
                      <a:endParaRPr lang="cs-CZ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274629"/>
                  </a:ext>
                </a:extLst>
              </a:tr>
              <a:tr h="156202"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 </a:t>
                      </a:r>
                      <a:endParaRPr lang="cs-CZ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 </a:t>
                      </a:r>
                      <a:endParaRPr lang="cs-CZ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3080209382"/>
                  </a:ext>
                </a:extLst>
              </a:tr>
              <a:tr h="16499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od 1.2.2022 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Příprava existujících dat DTI, resp. převod dat do JVF pro úvodní migraci 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859055701"/>
                  </a:ext>
                </a:extLst>
              </a:tr>
              <a:tr h="32998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 </a:t>
                      </a:r>
                      <a:endParaRPr lang="cs-CZ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U dat DI/TI je třeba zajistit přípravu exportu/transformace dat do implementační verze JVF DTM 1.4.2</a:t>
                      </a:r>
                      <a:endParaRPr lang="cs-CZ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3139860524"/>
                  </a:ext>
                </a:extLst>
              </a:tr>
              <a:tr h="32998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od 15.6.2022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Zahájení zasílání výzev ČÚZK k registraci vlastníků/správců/provozovatelů DTI do „Verifikačního registru IS DMVS“ 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1419619964"/>
                  </a:ext>
                </a:extLst>
              </a:tr>
              <a:tr h="16499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od 1.8.2022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Prefinální popisy webových služeb rozhraní IS DMVS  na úrovni .wsdl a .xsd.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911368988"/>
                  </a:ext>
                </a:extLst>
              </a:tr>
              <a:tr h="32998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od 15.9.2022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Finální popisy webových služeb rozhraní IS DMVS (viz. tabulka níže) na úrovni .wsdl a .xsd.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2074259063"/>
                  </a:ext>
                </a:extLst>
              </a:tr>
              <a:tr h="16499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od 28.2.2023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Zprovoznění vývojového prostředí externích IS (vlastníci, správci, …) napojených na IS DMVS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3870988070"/>
                  </a:ext>
                </a:extLst>
              </a:tr>
              <a:tr h="65996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 dirty="0">
                          <a:effectLst/>
                        </a:rPr>
                        <a:t> </a:t>
                      </a:r>
                      <a:endParaRPr lang="cs-CZ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 dirty="0">
                          <a:effectLst/>
                        </a:rPr>
                        <a:t>Prostředí bude umožňovat vývoj a testování rozhraní WS. Vývojové prostředí nebude napojené na IS DTM, jeho funkce budou nahrazeny FAKE rozhraním. Uživatelé budou autentizováni buď proti testovací NIA nebo mohou být předpřipraveny konkrétní uživatelské profily.</a:t>
                      </a:r>
                      <a:endParaRPr lang="cs-CZ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2793929739"/>
                  </a:ext>
                </a:extLst>
              </a:tr>
              <a:tr h="16499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od 28.2.2023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Potvrzení/aktivace registrace do IS DMVS 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3995154370"/>
                  </a:ext>
                </a:extLst>
              </a:tr>
              <a:tr h="65996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 </a:t>
                      </a:r>
                      <a:endParaRPr lang="cs-CZ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 dirty="0">
                          <a:effectLst/>
                        </a:rPr>
                        <a:t>Bude dokončena migrace údajů z Verifikačního registru do IS DMVS (Registr subjektů). Subjekty, které se zaregistrovaly v průběhu roku 2022 do „Verifikačního registru“ potvrdí předvyplněné údaje a doplní údaje nutné k finální registraci a aktivují svůj účet, což je nutnou podmínkou využití služeb pro migraci/aktualizaci dat DTI.</a:t>
                      </a:r>
                      <a:endParaRPr lang="cs-CZ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2612358200"/>
                  </a:ext>
                </a:extLst>
              </a:tr>
              <a:tr h="16499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od 28.2.2023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Registrace do IS DMVS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3668573539"/>
                  </a:ext>
                </a:extLst>
              </a:tr>
              <a:tr h="32998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 dirty="0">
                          <a:effectLst/>
                        </a:rPr>
                        <a:t> </a:t>
                      </a:r>
                      <a:endParaRPr lang="cs-CZ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Subjekty, které nereagovaly na výzvu ČÚZK a jejichž údaje nebudou zapsány ve Verifikačním registru, budou muset provést kompletní registraci v IS DMVS.</a:t>
                      </a:r>
                      <a:endParaRPr lang="cs-CZ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3394941390"/>
                  </a:ext>
                </a:extLst>
              </a:tr>
              <a:tr h="16499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od 30.3.2023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Pilotní provoz služeb pro migraci/aktualizaci dat DTI a ZPS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638154916"/>
                  </a:ext>
                </a:extLst>
              </a:tr>
              <a:tr h="16499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 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Podmínkou je zprovoznění navazující funkčnosti na straně krajských IS DTM.</a:t>
                      </a:r>
                      <a:endParaRPr lang="cs-CZ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3981235068"/>
                  </a:ext>
                </a:extLst>
              </a:tr>
              <a:tr h="173240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od 30.6.2023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 dirty="0">
                          <a:effectLst/>
                        </a:rPr>
                        <a:t>Spuštění produkčního ostrého provozu IS DMVS</a:t>
                      </a:r>
                      <a:endParaRPr lang="cs-CZ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2751966687"/>
                  </a:ext>
                </a:extLst>
              </a:tr>
            </a:tbl>
          </a:graphicData>
        </a:graphic>
      </p:graphicFrame>
      <p:sp>
        <p:nvSpPr>
          <p:cNvPr id="2" name="Zaoblený obdélník 1"/>
          <p:cNvSpPr/>
          <p:nvPr/>
        </p:nvSpPr>
        <p:spPr>
          <a:xfrm>
            <a:off x="93938" y="3228891"/>
            <a:ext cx="8726534" cy="3600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Zaoblený obdélník 6"/>
          <p:cNvSpPr/>
          <p:nvPr/>
        </p:nvSpPr>
        <p:spPr>
          <a:xfrm>
            <a:off x="102612" y="3588930"/>
            <a:ext cx="8717860" cy="1064205"/>
          </a:xfrm>
          <a:prstGeom prst="roundRect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81426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Obráze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92817"/>
            <a:ext cx="9130901" cy="388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33388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16</a:t>
            </a:fld>
            <a:endParaRPr lang="cs-CZ" dirty="0"/>
          </a:p>
        </p:txBody>
      </p:sp>
      <p:sp>
        <p:nvSpPr>
          <p:cNvPr id="8" name="Obdélník 2"/>
          <p:cNvSpPr>
            <a:spLocks noChangeArrowheads="1"/>
          </p:cNvSpPr>
          <p:nvPr/>
        </p:nvSpPr>
        <p:spPr bwMode="auto">
          <a:xfrm>
            <a:off x="568325" y="682625"/>
            <a:ext cx="691041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Harmonogram pro externí subjekty</a:t>
            </a:r>
            <a:endParaRPr lang="pl-PL" sz="3600" b="1" dirty="0">
              <a:solidFill>
                <a:srgbClr val="C00000"/>
              </a:solidFill>
            </a:endParaRPr>
          </a:p>
        </p:txBody>
      </p:sp>
      <p:sp>
        <p:nvSpPr>
          <p:cNvPr id="9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DMVS – pracovní skupina pro architekturu a řízení ICT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  <p:graphicFrame>
        <p:nvGraphicFramePr>
          <p:cNvPr id="4" name="Zástupný symbol pro obsah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1222932"/>
              </p:ext>
            </p:extLst>
          </p:nvPr>
        </p:nvGraphicFramePr>
        <p:xfrm>
          <a:off x="179512" y="1328954"/>
          <a:ext cx="8784976" cy="48848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79041">
                  <a:extLst>
                    <a:ext uri="{9D8B030D-6E8A-4147-A177-3AD203B41FA5}">
                      <a16:colId xmlns:a16="http://schemas.microsoft.com/office/drawing/2014/main" val="1773092733"/>
                    </a:ext>
                  </a:extLst>
                </a:gridCol>
                <a:gridCol w="6605935">
                  <a:extLst>
                    <a:ext uri="{9D8B030D-6E8A-4147-A177-3AD203B41FA5}">
                      <a16:colId xmlns:a16="http://schemas.microsoft.com/office/drawing/2014/main" val="3234920016"/>
                    </a:ext>
                  </a:extLst>
                </a:gridCol>
              </a:tblGrid>
              <a:tr h="461973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cs-CZ" sz="1100" u="none" strike="noStrike">
                          <a:effectLst/>
                        </a:rPr>
                        <a:t>Rámcový harmonogram klíčových kroků při budování IS DMVS </a:t>
                      </a:r>
                      <a:br>
                        <a:rPr lang="cs-CZ" sz="1100" u="none" strike="noStrike">
                          <a:effectLst/>
                        </a:rPr>
                      </a:br>
                      <a:endParaRPr lang="cs-CZ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2144742"/>
                  </a:ext>
                </a:extLst>
              </a:tr>
              <a:tr h="298633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cs-CZ" sz="900" u="none" strike="noStrike">
                          <a:effectLst/>
                        </a:rPr>
                        <a:t>Určeno pro externí subjekty připravující se na propojení s IS DMVS/DTM (obce, vlastníky a správce dopravní a technické infrastruktury a další)</a:t>
                      </a:r>
                      <a:endParaRPr lang="cs-CZ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tc hMerge="1">
                  <a:txBody>
                    <a:bodyPr/>
                    <a:lstStyle/>
                    <a:p>
                      <a:endParaRPr lang="cs-CZ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274629"/>
                  </a:ext>
                </a:extLst>
              </a:tr>
              <a:tr h="156202"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 </a:t>
                      </a:r>
                      <a:endParaRPr lang="cs-CZ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 </a:t>
                      </a:r>
                      <a:endParaRPr lang="cs-CZ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3080209382"/>
                  </a:ext>
                </a:extLst>
              </a:tr>
              <a:tr h="16499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od 1.2.2022 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Příprava existujících dat DTI, resp. převod dat do JVF pro úvodní migraci 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859055701"/>
                  </a:ext>
                </a:extLst>
              </a:tr>
              <a:tr h="32998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 </a:t>
                      </a:r>
                      <a:endParaRPr lang="cs-CZ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U dat DI/TI je třeba zajistit přípravu exportu/transformace dat do implementační verze JVF DTM 1.4.2</a:t>
                      </a:r>
                      <a:endParaRPr lang="cs-CZ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3139860524"/>
                  </a:ext>
                </a:extLst>
              </a:tr>
              <a:tr h="32998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od 15.6.2022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Zahájení zasílání výzev ČÚZK k registraci vlastníků/správců/provozovatelů DTI do „Verifikačního registru IS DMVS“ 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1419619964"/>
                  </a:ext>
                </a:extLst>
              </a:tr>
              <a:tr h="16499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od 1.8.2022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Prefinální popisy webových služeb rozhraní IS DMVS  na úrovni .wsdl a .xsd.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911368988"/>
                  </a:ext>
                </a:extLst>
              </a:tr>
              <a:tr h="32998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od 15.9.2022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Finální popisy webových služeb rozhraní IS DMVS (viz. tabulka níže) na úrovni .wsdl a .xsd.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2074259063"/>
                  </a:ext>
                </a:extLst>
              </a:tr>
              <a:tr h="16499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od 28.2.2023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Zprovoznění vývojového prostředí externích IS (vlastníci, správci, …) napojených na IS DMVS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3870988070"/>
                  </a:ext>
                </a:extLst>
              </a:tr>
              <a:tr h="65996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 dirty="0">
                          <a:effectLst/>
                        </a:rPr>
                        <a:t> </a:t>
                      </a:r>
                      <a:endParaRPr lang="cs-CZ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 dirty="0">
                          <a:effectLst/>
                        </a:rPr>
                        <a:t>Prostředí bude umožňovat vývoj a testování rozhraní WS. Vývojové prostředí nebude napojené na IS DTM, jeho funkce budou nahrazeny FAKE rozhraním. Uživatelé budou autentizováni buď proti testovací NIA nebo mohou být předpřipraveny konkrétní uživatelské profily.</a:t>
                      </a:r>
                      <a:endParaRPr lang="cs-CZ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2793929739"/>
                  </a:ext>
                </a:extLst>
              </a:tr>
              <a:tr h="16499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od 28.2.2023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900" u="none" strike="noStrike">
                          <a:effectLst/>
                        </a:rPr>
                        <a:t>Potvrzení/aktivace registrace do IS DMVS 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3995154370"/>
                  </a:ext>
                </a:extLst>
              </a:tr>
              <a:tr h="65996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 </a:t>
                      </a:r>
                      <a:endParaRPr lang="cs-CZ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 dirty="0">
                          <a:effectLst/>
                        </a:rPr>
                        <a:t>Bude dokončena migrace údajů z Verifikačního registru do IS DMVS (Registr subjektů). Subjekty, které se zaregistrovaly v průběhu roku 2022 do „Verifikačního registru“ potvrdí předvyplněné údaje a doplní údaje nutné k finální registraci a aktivují svůj účet, což je nutnou podmínkou využití služeb pro migraci/aktualizaci dat DTI.</a:t>
                      </a:r>
                      <a:endParaRPr lang="cs-CZ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2612358200"/>
                  </a:ext>
                </a:extLst>
              </a:tr>
              <a:tr h="16499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od 28.2.2023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Registrace do IS DMVS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3668573539"/>
                  </a:ext>
                </a:extLst>
              </a:tr>
              <a:tr h="32998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 dirty="0">
                          <a:effectLst/>
                        </a:rPr>
                        <a:t> </a:t>
                      </a:r>
                      <a:endParaRPr lang="cs-CZ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Subjekty, které nereagovaly na výzvu ČÚZK a jejichž údaje nebudou zapsány ve Verifikačním registru, budou muset provést kompletní registraci v IS DMVS.</a:t>
                      </a:r>
                      <a:endParaRPr lang="cs-CZ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3394941390"/>
                  </a:ext>
                </a:extLst>
              </a:tr>
              <a:tr h="16499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od 30.3.2023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Pilotní provoz služeb pro migraci/aktualizaci dat DTI a ZPS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638154916"/>
                  </a:ext>
                </a:extLst>
              </a:tr>
              <a:tr h="164991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 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>
                          <a:effectLst/>
                        </a:rPr>
                        <a:t>Podmínkou je zprovoznění navazující funkčnosti na straně krajských IS DTM.</a:t>
                      </a:r>
                      <a:endParaRPr lang="cs-CZ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3981235068"/>
                  </a:ext>
                </a:extLst>
              </a:tr>
              <a:tr h="173240">
                <a:tc>
                  <a:txBody>
                    <a:bodyPr/>
                    <a:lstStyle/>
                    <a:p>
                      <a:pPr algn="just" fontAlgn="ctr"/>
                      <a:r>
                        <a:rPr lang="cs-CZ" sz="900" u="none" strike="noStrike">
                          <a:effectLst/>
                        </a:rPr>
                        <a:t>od 30.6.2023</a:t>
                      </a:r>
                      <a:endParaRPr lang="cs-CZ" sz="9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cs-CZ" sz="900" u="none" strike="noStrike" dirty="0">
                          <a:effectLst/>
                        </a:rPr>
                        <a:t>Spuštění produkčního ostrého provozu IS DMVS</a:t>
                      </a:r>
                      <a:endParaRPr lang="cs-CZ" sz="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48" marR="7648" marT="7648" marB="0" anchor="b"/>
                </a:tc>
                <a:extLst>
                  <a:ext uri="{0D108BD9-81ED-4DB2-BD59-A6C34878D82A}">
                    <a16:rowId xmlns:a16="http://schemas.microsoft.com/office/drawing/2014/main" val="2751966687"/>
                  </a:ext>
                </a:extLst>
              </a:tr>
            </a:tbl>
          </a:graphicData>
        </a:graphic>
      </p:graphicFrame>
      <p:sp>
        <p:nvSpPr>
          <p:cNvPr id="2" name="Zaoblený obdélník 1"/>
          <p:cNvSpPr/>
          <p:nvPr/>
        </p:nvSpPr>
        <p:spPr>
          <a:xfrm>
            <a:off x="93938" y="3228891"/>
            <a:ext cx="8726534" cy="36001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Zaoblený obdélník 6"/>
          <p:cNvSpPr/>
          <p:nvPr/>
        </p:nvSpPr>
        <p:spPr>
          <a:xfrm>
            <a:off x="102612" y="3588930"/>
            <a:ext cx="8717860" cy="1064205"/>
          </a:xfrm>
          <a:prstGeom prst="roundRect">
            <a:avLst/>
          </a:prstGeom>
          <a:noFill/>
          <a:ln>
            <a:solidFill>
              <a:srgbClr val="FF00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pic>
        <p:nvPicPr>
          <p:cNvPr id="10" name="Obráze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6613"/>
            <a:ext cx="12118975" cy="5165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3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ástupný symbol pro obsah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825" y="1700808"/>
            <a:ext cx="8893175" cy="4104456"/>
          </a:xfrm>
          <a:prstGeom prst="rect">
            <a:avLst/>
          </a:prstGeom>
        </p:spPr>
      </p:pic>
      <p:sp>
        <p:nvSpPr>
          <p:cNvPr id="7" name="Obdélník 2"/>
          <p:cNvSpPr>
            <a:spLocks noChangeArrowheads="1"/>
          </p:cNvSpPr>
          <p:nvPr/>
        </p:nvSpPr>
        <p:spPr bwMode="auto">
          <a:xfrm>
            <a:off x="568325" y="682625"/>
            <a:ext cx="56218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Správcovské GUI – IS DMVS</a:t>
            </a:r>
            <a:endParaRPr lang="pl-PL" sz="2400" dirty="0">
              <a:solidFill>
                <a:srgbClr val="C00000"/>
              </a:solidFill>
            </a:endParaRPr>
          </a:p>
        </p:txBody>
      </p:sp>
      <p:sp>
        <p:nvSpPr>
          <p:cNvPr id="11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17</a:t>
            </a:fld>
            <a:endParaRPr lang="cs-CZ" dirty="0"/>
          </a:p>
        </p:txBody>
      </p:sp>
      <p:sp>
        <p:nvSpPr>
          <p:cNvPr id="8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Digitální mapa veřejné správy – první narozeniny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6458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2"/>
          <p:cNvSpPr>
            <a:spLocks noChangeArrowheads="1"/>
          </p:cNvSpPr>
          <p:nvPr/>
        </p:nvSpPr>
        <p:spPr bwMode="auto">
          <a:xfrm>
            <a:off x="568325" y="682625"/>
            <a:ext cx="56218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Správcovské GUI – IS DMVS</a:t>
            </a:r>
            <a:endParaRPr lang="pl-PL" sz="2400" dirty="0">
              <a:solidFill>
                <a:srgbClr val="C00000"/>
              </a:solidFill>
            </a:endParaRPr>
          </a:p>
        </p:txBody>
      </p:sp>
      <p:sp>
        <p:nvSpPr>
          <p:cNvPr id="11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18</a:t>
            </a:fld>
            <a:endParaRPr lang="cs-CZ" dirty="0"/>
          </a:p>
        </p:txBody>
      </p:sp>
      <p:sp>
        <p:nvSpPr>
          <p:cNvPr id="8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Digitální mapa veřejné správy – první narozeniny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6" name="Zástupný symbol pro obsah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20" y="1628800"/>
            <a:ext cx="8821074" cy="453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0952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2"/>
          <p:cNvSpPr>
            <a:spLocks noChangeArrowheads="1"/>
          </p:cNvSpPr>
          <p:nvPr/>
        </p:nvSpPr>
        <p:spPr bwMode="auto">
          <a:xfrm>
            <a:off x="568325" y="682625"/>
            <a:ext cx="562186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Správcovské GUI – IS DMVS</a:t>
            </a:r>
            <a:endParaRPr lang="pl-PL" sz="2400" dirty="0">
              <a:solidFill>
                <a:srgbClr val="C00000"/>
              </a:solidFill>
            </a:endParaRPr>
          </a:p>
        </p:txBody>
      </p:sp>
      <p:sp>
        <p:nvSpPr>
          <p:cNvPr id="11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19</a:t>
            </a:fld>
            <a:endParaRPr lang="cs-CZ" dirty="0"/>
          </a:p>
        </p:txBody>
      </p:sp>
      <p:sp>
        <p:nvSpPr>
          <p:cNvPr id="8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DMVS – pracovní skupina pro architekturu a řízení ICT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28" y="1844824"/>
            <a:ext cx="8363272" cy="4248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017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Zástupný symbol pro obsah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3568" y="1612900"/>
            <a:ext cx="7632848" cy="4695825"/>
          </a:xfrm>
          <a:prstGeom prst="rect">
            <a:avLst/>
          </a:prstGeom>
        </p:spPr>
      </p:pic>
      <p:sp>
        <p:nvSpPr>
          <p:cNvPr id="7" name="Obdélník 2"/>
          <p:cNvSpPr>
            <a:spLocks noChangeArrowheads="1"/>
          </p:cNvSpPr>
          <p:nvPr/>
        </p:nvSpPr>
        <p:spPr bwMode="auto">
          <a:xfrm>
            <a:off x="568325" y="682625"/>
            <a:ext cx="30641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Portál IS DMVS</a:t>
            </a:r>
            <a:endParaRPr lang="pl-PL" sz="2400" dirty="0">
              <a:solidFill>
                <a:srgbClr val="C00000"/>
              </a:solidFill>
            </a:endParaRPr>
          </a:p>
        </p:txBody>
      </p:sp>
      <p:sp>
        <p:nvSpPr>
          <p:cNvPr id="11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20</a:t>
            </a:fld>
            <a:endParaRPr lang="cs-CZ" dirty="0"/>
          </a:p>
        </p:txBody>
      </p:sp>
      <p:sp>
        <p:nvSpPr>
          <p:cNvPr id="8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Digitální mapa veřejné správy – první narozeniny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20870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2"/>
          <p:cNvSpPr>
            <a:spLocks noChangeArrowheads="1"/>
          </p:cNvSpPr>
          <p:nvPr/>
        </p:nvSpPr>
        <p:spPr bwMode="auto">
          <a:xfrm>
            <a:off x="568325" y="682625"/>
            <a:ext cx="306417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Portál IS DMVS</a:t>
            </a:r>
            <a:endParaRPr lang="pl-PL" sz="2400" dirty="0">
              <a:solidFill>
                <a:srgbClr val="C00000"/>
              </a:solidFill>
            </a:endParaRPr>
          </a:p>
        </p:txBody>
      </p:sp>
      <p:sp>
        <p:nvSpPr>
          <p:cNvPr id="11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21</a:t>
            </a:fld>
            <a:endParaRPr lang="cs-CZ" dirty="0"/>
          </a:p>
        </p:txBody>
      </p:sp>
      <p:sp>
        <p:nvSpPr>
          <p:cNvPr id="8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Digitální mapa veřejné správy – první narozeniny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43608" y="1689100"/>
            <a:ext cx="6696743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7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1612266"/>
            <a:ext cx="8892480" cy="440902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cs-CZ" dirty="0" smtClean="0">
                <a:latin typeface="+mj-lt"/>
              </a:rPr>
              <a:t>§ 4d odst. 3)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cs-CZ" sz="2400" dirty="0" smtClean="0">
                <a:solidFill>
                  <a:srgbClr val="C00000"/>
                </a:solidFill>
                <a:latin typeface="+mj-lt"/>
              </a:rPr>
              <a:t>Funkce IS DMVS:</a:t>
            </a:r>
            <a:endParaRPr lang="cs-CZ" sz="2400" dirty="0">
              <a:solidFill>
                <a:srgbClr val="C00000"/>
              </a:solidFill>
              <a:latin typeface="+mj-lt"/>
            </a:endParaRP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cs-CZ" dirty="0" smtClean="0">
                <a:latin typeface="+mj-lt"/>
              </a:rPr>
              <a:t>a) jednotné </a:t>
            </a:r>
            <a:r>
              <a:rPr lang="cs-CZ" dirty="0">
                <a:latin typeface="+mj-lt"/>
              </a:rPr>
              <a:t>rozhraní pro zobrazení katastrální mapy, </a:t>
            </a:r>
            <a:r>
              <a:rPr lang="cs-CZ" dirty="0" err="1">
                <a:latin typeface="+mj-lt"/>
              </a:rPr>
              <a:t>ortofota</a:t>
            </a:r>
            <a:r>
              <a:rPr lang="cs-CZ" dirty="0">
                <a:latin typeface="+mj-lt"/>
              </a:rPr>
              <a:t> a DTM krajů</a:t>
            </a:r>
            <a:r>
              <a:rPr lang="cs-CZ" dirty="0" smtClean="0">
                <a:latin typeface="+mj-lt"/>
              </a:rPr>
              <a:t>,</a:t>
            </a:r>
          </a:p>
          <a:p>
            <a:pPr marL="712787" lvl="4" indent="0" defTabSz="987425">
              <a:spcBef>
                <a:spcPts val="300"/>
              </a:spcBef>
              <a:buNone/>
            </a:pPr>
            <a:endParaRPr lang="cs-CZ" dirty="0">
              <a:latin typeface="+mj-lt"/>
            </a:endParaRP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cs-CZ" dirty="0" smtClean="0">
                <a:latin typeface="+mj-lt"/>
              </a:rPr>
              <a:t>b) jednotné </a:t>
            </a:r>
            <a:r>
              <a:rPr lang="cs-CZ" dirty="0">
                <a:latin typeface="+mj-lt"/>
              </a:rPr>
              <a:t>rozhraní pro předávání údajů k aktualizaci DTM krajů</a:t>
            </a:r>
            <a:r>
              <a:rPr lang="cs-CZ" dirty="0" smtClean="0">
                <a:latin typeface="+mj-lt"/>
              </a:rPr>
              <a:t>,</a:t>
            </a:r>
          </a:p>
          <a:p>
            <a:pPr marL="712787" lvl="4" indent="0" defTabSz="987425">
              <a:spcBef>
                <a:spcPts val="300"/>
              </a:spcBef>
              <a:buNone/>
            </a:pPr>
            <a:endParaRPr lang="cs-CZ" dirty="0">
              <a:latin typeface="+mj-lt"/>
            </a:endParaRP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cs-CZ" dirty="0" smtClean="0">
                <a:latin typeface="+mj-lt"/>
              </a:rPr>
              <a:t>c) vedení </a:t>
            </a:r>
            <a:r>
              <a:rPr lang="cs-CZ" dirty="0">
                <a:latin typeface="+mj-lt"/>
              </a:rPr>
              <a:t>seznamu vlastníků, provozovatelů a správců technické a dopravní  infrastruktury, včetně údajů o tom, v jakém území působí</a:t>
            </a:r>
            <a:r>
              <a:rPr lang="cs-CZ" dirty="0" smtClean="0">
                <a:latin typeface="+mj-lt"/>
              </a:rPr>
              <a:t>,</a:t>
            </a:r>
          </a:p>
          <a:p>
            <a:pPr marL="712787" lvl="4" indent="0" defTabSz="987425">
              <a:spcBef>
                <a:spcPts val="300"/>
              </a:spcBef>
              <a:buNone/>
            </a:pPr>
            <a:r>
              <a:rPr lang="cs-CZ" dirty="0">
                <a:latin typeface="+mj-lt"/>
              </a:rPr>
              <a:t> </a:t>
            </a: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cs-CZ" dirty="0" smtClean="0">
                <a:latin typeface="+mj-lt"/>
              </a:rPr>
              <a:t>d) vedení </a:t>
            </a:r>
            <a:r>
              <a:rPr lang="cs-CZ" dirty="0">
                <a:latin typeface="+mj-lt"/>
              </a:rPr>
              <a:t>seznamu editorů DTM </a:t>
            </a:r>
            <a:r>
              <a:rPr lang="cs-CZ" dirty="0" smtClean="0">
                <a:latin typeface="+mj-lt"/>
              </a:rPr>
              <a:t>krajů.</a:t>
            </a:r>
          </a:p>
          <a:p>
            <a:pPr marL="0" lvl="2" indent="-201613" defTabSz="987425">
              <a:spcBef>
                <a:spcPts val="300"/>
              </a:spcBef>
              <a:buNone/>
            </a:pPr>
            <a:endParaRPr lang="cs-CZ" sz="2800" dirty="0">
              <a:solidFill>
                <a:srgbClr val="C00000"/>
              </a:solidFill>
            </a:endParaRPr>
          </a:p>
          <a:p>
            <a:pPr lvl="1">
              <a:spcBef>
                <a:spcPts val="600"/>
              </a:spcBef>
            </a:pPr>
            <a:endParaRPr lang="cs-CZ" sz="24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22</a:t>
            </a:fld>
            <a:endParaRPr lang="cs-CZ" dirty="0"/>
          </a:p>
        </p:txBody>
      </p:sp>
      <p:sp>
        <p:nvSpPr>
          <p:cNvPr id="8" name="Obdélník 2"/>
          <p:cNvSpPr>
            <a:spLocks noChangeArrowheads="1"/>
          </p:cNvSpPr>
          <p:nvPr/>
        </p:nvSpPr>
        <p:spPr bwMode="auto">
          <a:xfrm>
            <a:off x="568325" y="682625"/>
            <a:ext cx="758028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Zadání – Digitální mapa veřejné správy</a:t>
            </a:r>
            <a:endParaRPr lang="pl-PL" sz="3600" b="1" dirty="0">
              <a:solidFill>
                <a:srgbClr val="C00000"/>
              </a:solidFill>
            </a:endParaRPr>
          </a:p>
        </p:txBody>
      </p:sp>
      <p:sp>
        <p:nvSpPr>
          <p:cNvPr id="9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DMVS – pracovní skupina pro architekturu a řízení ICT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1412214" y="3952548"/>
            <a:ext cx="5320026" cy="360040"/>
          </a:xfrm>
          <a:prstGeom prst="roundRect">
            <a:avLst/>
          </a:prstGeom>
          <a:solidFill>
            <a:srgbClr val="30F04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Rounded Rectangle 6"/>
          <p:cNvSpPr/>
          <p:nvPr/>
        </p:nvSpPr>
        <p:spPr>
          <a:xfrm>
            <a:off x="1475656" y="4986918"/>
            <a:ext cx="2520280" cy="360040"/>
          </a:xfrm>
          <a:prstGeom prst="roundRect">
            <a:avLst/>
          </a:prstGeom>
          <a:solidFill>
            <a:srgbClr val="30F047">
              <a:alpha val="4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3444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1612266"/>
            <a:ext cx="8892480" cy="440902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cs-CZ" dirty="0" smtClean="0">
                <a:latin typeface="+mj-lt"/>
              </a:rPr>
              <a:t>Bod 3 – Přechodných ustanovení zákona č. 47/2020 Sb. 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cs-CZ" sz="2400" dirty="0" smtClean="0">
                <a:solidFill>
                  <a:srgbClr val="C00000"/>
                </a:solidFill>
                <a:latin typeface="+mj-lt"/>
              </a:rPr>
              <a:t> - poskytnou vlastnící správci a provozovatelé dopravní a technické infrastruktury na </a:t>
            </a:r>
            <a:r>
              <a:rPr lang="cs-CZ" sz="2400" u="sng" dirty="0" smtClean="0">
                <a:solidFill>
                  <a:srgbClr val="C00000"/>
                </a:solidFill>
                <a:latin typeface="+mj-lt"/>
              </a:rPr>
              <a:t>výzvu </a:t>
            </a:r>
            <a:r>
              <a:rPr lang="cs-CZ" sz="2400" dirty="0" smtClean="0">
                <a:solidFill>
                  <a:srgbClr val="C00000"/>
                </a:solidFill>
                <a:latin typeface="+mj-lt"/>
              </a:rPr>
              <a:t>ČÚZK údaje potřebné pro zprovoznění IS DMVS v části vedení seznamu vlastníků, správců a provozovatelů dopravní a technické infrastruktury, včetně údajů o tom, v jakém území působí. </a:t>
            </a:r>
            <a:endParaRPr lang="cs-CZ" sz="2400" dirty="0">
              <a:solidFill>
                <a:srgbClr val="C00000"/>
              </a:solidFill>
              <a:latin typeface="+mj-lt"/>
            </a:endParaRPr>
          </a:p>
          <a:p>
            <a:pPr marL="0" lvl="2" indent="-201613" defTabSz="987425">
              <a:spcBef>
                <a:spcPts val="300"/>
              </a:spcBef>
              <a:buNone/>
            </a:pPr>
            <a:r>
              <a:rPr lang="cs-CZ" sz="3200" dirty="0" smtClean="0"/>
              <a:t>Jak naplnit seznam vlastníků, správců a provozovatelů dopravní a technické infrastruktury?</a:t>
            </a:r>
            <a:endParaRPr lang="cs-CZ" sz="2800" dirty="0">
              <a:solidFill>
                <a:srgbClr val="C00000"/>
              </a:solidFill>
            </a:endParaRP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23</a:t>
            </a:fld>
            <a:endParaRPr lang="cs-CZ" dirty="0"/>
          </a:p>
        </p:txBody>
      </p:sp>
      <p:sp>
        <p:nvSpPr>
          <p:cNvPr id="8" name="Obdélník 2"/>
          <p:cNvSpPr>
            <a:spLocks noChangeArrowheads="1"/>
          </p:cNvSpPr>
          <p:nvPr/>
        </p:nvSpPr>
        <p:spPr bwMode="auto">
          <a:xfrm>
            <a:off x="568325" y="682625"/>
            <a:ext cx="758028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Zadání – Digitální mapa veřejné správy</a:t>
            </a:r>
            <a:endParaRPr lang="pl-PL" sz="3600" b="1" dirty="0">
              <a:solidFill>
                <a:srgbClr val="C00000"/>
              </a:solidFill>
            </a:endParaRPr>
          </a:p>
        </p:txBody>
      </p:sp>
      <p:sp>
        <p:nvSpPr>
          <p:cNvPr id="9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Digitální mapa veřejné správy – první narozeniny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15878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1612266"/>
            <a:ext cx="8892480" cy="440902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cs-CZ" sz="2400" dirty="0" smtClean="0">
                <a:solidFill>
                  <a:srgbClr val="C00000"/>
                </a:solidFill>
                <a:latin typeface="+mj-lt"/>
              </a:rPr>
              <a:t>Funkce Verifikačního registru:</a:t>
            </a:r>
            <a:endParaRPr lang="cs-CZ" sz="2400" dirty="0">
              <a:solidFill>
                <a:srgbClr val="C00000"/>
              </a:solidFill>
              <a:latin typeface="+mj-lt"/>
            </a:endParaRP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cs-CZ" dirty="0" smtClean="0">
                <a:latin typeface="+mj-lt"/>
              </a:rPr>
              <a:t>shromáždit dostupné údaje ze stávajících evidencí,</a:t>
            </a:r>
          </a:p>
          <a:p>
            <a:pPr marL="712787" lvl="4" indent="0" defTabSz="987425">
              <a:spcBef>
                <a:spcPts val="300"/>
              </a:spcBef>
              <a:buNone/>
            </a:pPr>
            <a:endParaRPr lang="cs-CZ" dirty="0">
              <a:latin typeface="+mj-lt"/>
            </a:endParaRP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cs-CZ" dirty="0" smtClean="0">
                <a:latin typeface="+mj-lt"/>
              </a:rPr>
              <a:t> zpracovat a konsolidovat získané údaje,</a:t>
            </a:r>
          </a:p>
          <a:p>
            <a:pPr marL="712787" lvl="4" indent="0" defTabSz="987425">
              <a:spcBef>
                <a:spcPts val="300"/>
              </a:spcBef>
              <a:buNone/>
            </a:pPr>
            <a:endParaRPr lang="cs-CZ" dirty="0">
              <a:latin typeface="+mj-lt"/>
            </a:endParaRP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cs-CZ" dirty="0" smtClean="0">
                <a:latin typeface="+mj-lt"/>
              </a:rPr>
              <a:t> ověřit údaje proti věrohodným zdrojům</a:t>
            </a:r>
          </a:p>
          <a:p>
            <a:pPr marL="712787" lvl="4" indent="0" defTabSz="987425">
              <a:spcBef>
                <a:spcPts val="300"/>
              </a:spcBef>
              <a:buNone/>
            </a:pPr>
            <a:endParaRPr lang="cs-CZ" dirty="0">
              <a:latin typeface="+mj-lt"/>
            </a:endParaRP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cs-CZ" dirty="0" smtClean="0">
                <a:latin typeface="+mj-lt"/>
              </a:rPr>
              <a:t> učinit výzvu ČÚZK a oslovit vlastníky, správce a provozovateli DI a TI.</a:t>
            </a:r>
          </a:p>
          <a:p>
            <a:pPr marL="0" lvl="2" indent="-201613" defTabSz="987425">
              <a:spcBef>
                <a:spcPts val="300"/>
              </a:spcBef>
              <a:buNone/>
            </a:pPr>
            <a:endParaRPr lang="cs-CZ" sz="2800" dirty="0">
              <a:solidFill>
                <a:srgbClr val="C00000"/>
              </a:solidFill>
            </a:endParaRPr>
          </a:p>
          <a:p>
            <a:pPr marL="457200" lvl="1" indent="0">
              <a:spcBef>
                <a:spcPts val="600"/>
              </a:spcBef>
              <a:buNone/>
            </a:pPr>
            <a:endParaRPr lang="cs-CZ" sz="24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24</a:t>
            </a:fld>
            <a:endParaRPr lang="cs-CZ" dirty="0"/>
          </a:p>
        </p:txBody>
      </p:sp>
      <p:sp>
        <p:nvSpPr>
          <p:cNvPr id="8" name="Obdélník 2"/>
          <p:cNvSpPr>
            <a:spLocks noChangeArrowheads="1"/>
          </p:cNvSpPr>
          <p:nvPr/>
        </p:nvSpPr>
        <p:spPr bwMode="auto">
          <a:xfrm>
            <a:off x="568325" y="682625"/>
            <a:ext cx="526618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Verifikační registr IS DMVS</a:t>
            </a:r>
            <a:endParaRPr lang="pl-PL" sz="3600" b="1" dirty="0">
              <a:solidFill>
                <a:srgbClr val="C00000"/>
              </a:solidFill>
            </a:endParaRPr>
          </a:p>
        </p:txBody>
      </p:sp>
      <p:sp>
        <p:nvSpPr>
          <p:cNvPr id="9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DMVS – pracovní skupina pro architekturu a řízení ICT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53685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délník 1"/>
          <p:cNvSpPr/>
          <p:nvPr/>
        </p:nvSpPr>
        <p:spPr>
          <a:xfrm>
            <a:off x="478694" y="2874097"/>
            <a:ext cx="1638513" cy="10752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22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cs-CZ" sz="1350"/>
          </a:p>
        </p:txBody>
      </p:sp>
      <p:sp>
        <p:nvSpPr>
          <p:cNvPr id="4" name="Obdélník 3"/>
          <p:cNvSpPr/>
          <p:nvPr/>
        </p:nvSpPr>
        <p:spPr>
          <a:xfrm>
            <a:off x="2678065" y="2870525"/>
            <a:ext cx="1638513" cy="10740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22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cs-CZ" sz="1350"/>
          </a:p>
        </p:txBody>
      </p:sp>
      <p:sp>
        <p:nvSpPr>
          <p:cNvPr id="6" name="TextovéPole 5"/>
          <p:cNvSpPr txBox="1">
            <a:spLocks noChangeArrowheads="1"/>
          </p:cNvSpPr>
          <p:nvPr/>
        </p:nvSpPr>
        <p:spPr bwMode="auto">
          <a:xfrm>
            <a:off x="1008591" y="3570703"/>
            <a:ext cx="87522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>
                <a:latin typeface="Anton" pitchFamily="2" charset="-18"/>
              </a:rPr>
              <a:t>obce</a:t>
            </a:r>
          </a:p>
        </p:txBody>
      </p:sp>
      <p:sp>
        <p:nvSpPr>
          <p:cNvPr id="7" name="TextovéPole 6"/>
          <p:cNvSpPr txBox="1">
            <a:spLocks noChangeArrowheads="1"/>
          </p:cNvSpPr>
          <p:nvPr/>
        </p:nvSpPr>
        <p:spPr bwMode="auto">
          <a:xfrm>
            <a:off x="3025772" y="3598091"/>
            <a:ext cx="106098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>
                <a:latin typeface="Anton" pitchFamily="2" charset="-18"/>
              </a:rPr>
              <a:t>subjekty</a:t>
            </a:r>
            <a:endParaRPr lang="cs-CZ" altLang="cs-CZ" sz="1350">
              <a:latin typeface="Anton" pitchFamily="2" charset="-18"/>
            </a:endParaRPr>
          </a:p>
        </p:txBody>
      </p:sp>
      <p:sp>
        <p:nvSpPr>
          <p:cNvPr id="11" name="Obdélník 10"/>
          <p:cNvSpPr/>
          <p:nvPr/>
        </p:nvSpPr>
        <p:spPr>
          <a:xfrm>
            <a:off x="457259" y="4131560"/>
            <a:ext cx="3859319" cy="10740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2225">
            <a:solidFill>
              <a:schemeClr val="tx1"/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cs-CZ" sz="1350"/>
          </a:p>
        </p:txBody>
      </p:sp>
      <p:sp>
        <p:nvSpPr>
          <p:cNvPr id="13" name="TextovéPole 12"/>
          <p:cNvSpPr txBox="1">
            <a:spLocks noChangeArrowheads="1"/>
          </p:cNvSpPr>
          <p:nvPr/>
        </p:nvSpPr>
        <p:spPr bwMode="auto">
          <a:xfrm>
            <a:off x="999065" y="4495939"/>
            <a:ext cx="27185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cs-CZ" altLang="cs-CZ" sz="1800">
                <a:latin typeface="Anton" pitchFamily="2" charset="-18"/>
              </a:rPr>
              <a:t>Registrační formulář</a:t>
            </a:r>
            <a:endParaRPr lang="cs-CZ" altLang="cs-CZ" sz="1350">
              <a:latin typeface="Anton" pitchFamily="2" charset="-18"/>
            </a:endParaRPr>
          </a:p>
        </p:txBody>
      </p:sp>
      <p:sp>
        <p:nvSpPr>
          <p:cNvPr id="14" name="Obdélník 13"/>
          <p:cNvSpPr/>
          <p:nvPr/>
        </p:nvSpPr>
        <p:spPr>
          <a:xfrm>
            <a:off x="7106576" y="1385622"/>
            <a:ext cx="1845709" cy="4304670"/>
          </a:xfrm>
          <a:prstGeom prst="rect">
            <a:avLst/>
          </a:prstGeom>
          <a:solidFill>
            <a:schemeClr val="accent1">
              <a:lumMod val="60000"/>
              <a:lumOff val="40000"/>
              <a:alpha val="2000"/>
            </a:schemeClr>
          </a:solidFill>
          <a:ln w="22225"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cs-CZ" sz="1350"/>
          </a:p>
        </p:txBody>
      </p:sp>
      <p:sp>
        <p:nvSpPr>
          <p:cNvPr id="16" name="Šipka doprava 15"/>
          <p:cNvSpPr/>
          <p:nvPr/>
        </p:nvSpPr>
        <p:spPr>
          <a:xfrm>
            <a:off x="2117207" y="3186081"/>
            <a:ext cx="560858" cy="44297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cs-CZ" sz="1350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0" name="Obdélník 9"/>
          <p:cNvSpPr/>
          <p:nvPr/>
        </p:nvSpPr>
        <p:spPr>
          <a:xfrm>
            <a:off x="4929830" y="2870525"/>
            <a:ext cx="1637323" cy="10740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22225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cs-CZ" sz="1350"/>
          </a:p>
        </p:txBody>
      </p:sp>
      <p:sp>
        <p:nvSpPr>
          <p:cNvPr id="12" name="TextovéPole 11"/>
          <p:cNvSpPr txBox="1">
            <a:spLocks noChangeArrowheads="1"/>
          </p:cNvSpPr>
          <p:nvPr/>
        </p:nvSpPr>
        <p:spPr bwMode="auto">
          <a:xfrm>
            <a:off x="712086" y="2959833"/>
            <a:ext cx="11717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cs-CZ" altLang="cs-CZ" sz="1800">
                <a:solidFill>
                  <a:srgbClr val="FF0000"/>
                </a:solidFill>
                <a:latin typeface="Anton" pitchFamily="2" charset="-18"/>
              </a:rPr>
              <a:t>Výzva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cs-CZ" altLang="cs-CZ" sz="1800">
                <a:solidFill>
                  <a:srgbClr val="FF0000"/>
                </a:solidFill>
                <a:latin typeface="Anton" pitchFamily="2" charset="-18"/>
              </a:rPr>
              <a:t>ČÚZK</a:t>
            </a:r>
            <a:endParaRPr lang="cs-CZ" altLang="cs-CZ" sz="1350">
              <a:solidFill>
                <a:srgbClr val="FF0000"/>
              </a:solidFill>
              <a:latin typeface="Anton" pitchFamily="2" charset="-18"/>
            </a:endParaRPr>
          </a:p>
        </p:txBody>
      </p:sp>
      <p:sp>
        <p:nvSpPr>
          <p:cNvPr id="20" name="Šipka doprava 19"/>
          <p:cNvSpPr/>
          <p:nvPr/>
        </p:nvSpPr>
        <p:spPr>
          <a:xfrm>
            <a:off x="6567153" y="3238475"/>
            <a:ext cx="568002" cy="44297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cs-CZ" sz="1350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15" name="TextovéPole 14"/>
          <p:cNvSpPr txBox="1"/>
          <p:nvPr/>
        </p:nvSpPr>
        <p:spPr>
          <a:xfrm>
            <a:off x="7430468" y="5049652"/>
            <a:ext cx="1361062" cy="10156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cs-CZ" sz="3000" dirty="0">
                <a:solidFill>
                  <a:schemeClr val="bg1">
                    <a:lumMod val="65000"/>
                  </a:schemeClr>
                </a:solidFill>
                <a:latin typeface="Anton" panose="00000500000000000000" pitchFamily="2" charset="-18"/>
              </a:rPr>
              <a:t>IS DMVS</a:t>
            </a:r>
            <a:endParaRPr lang="cs-CZ" sz="2400" dirty="0">
              <a:solidFill>
                <a:schemeClr val="bg1">
                  <a:lumMod val="65000"/>
                </a:schemeClr>
              </a:solidFill>
              <a:latin typeface="Anton" panose="00000500000000000000" pitchFamily="2" charset="-18"/>
            </a:endParaRPr>
          </a:p>
        </p:txBody>
      </p:sp>
      <p:sp>
        <p:nvSpPr>
          <p:cNvPr id="3" name="Obdélník 2"/>
          <p:cNvSpPr/>
          <p:nvPr/>
        </p:nvSpPr>
        <p:spPr>
          <a:xfrm>
            <a:off x="7183977" y="2863380"/>
            <a:ext cx="1637322" cy="10752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endParaRPr lang="cs-CZ" sz="1350"/>
          </a:p>
        </p:txBody>
      </p:sp>
      <p:sp>
        <p:nvSpPr>
          <p:cNvPr id="9" name="TextovéPole 8"/>
          <p:cNvSpPr txBox="1">
            <a:spLocks noChangeArrowheads="1"/>
          </p:cNvSpPr>
          <p:nvPr/>
        </p:nvSpPr>
        <p:spPr bwMode="auto">
          <a:xfrm>
            <a:off x="7404270" y="3089629"/>
            <a:ext cx="11717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cs-CZ" altLang="cs-CZ" sz="1800">
                <a:latin typeface="Anton" pitchFamily="2" charset="-18"/>
              </a:rPr>
              <a:t>Registr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cs-CZ" altLang="cs-CZ" sz="1800">
                <a:latin typeface="Anton" pitchFamily="2" charset="-18"/>
              </a:rPr>
              <a:t>subjektů </a:t>
            </a:r>
            <a:endParaRPr lang="cs-CZ" altLang="cs-CZ" sz="1350">
              <a:latin typeface="Anton" pitchFamily="2" charset="-18"/>
            </a:endParaRPr>
          </a:p>
        </p:txBody>
      </p:sp>
      <p:sp>
        <p:nvSpPr>
          <p:cNvPr id="27" name="TextovéPole 26"/>
          <p:cNvSpPr txBox="1">
            <a:spLocks noChangeArrowheads="1"/>
          </p:cNvSpPr>
          <p:nvPr/>
        </p:nvSpPr>
        <p:spPr bwMode="auto">
          <a:xfrm>
            <a:off x="2911458" y="2955070"/>
            <a:ext cx="11717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cs-CZ" altLang="cs-CZ" sz="1800">
                <a:solidFill>
                  <a:srgbClr val="FF0000"/>
                </a:solidFill>
                <a:latin typeface="Anton" pitchFamily="2" charset="-18"/>
              </a:rPr>
              <a:t>Výzva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cs-CZ" altLang="cs-CZ" sz="1800">
                <a:solidFill>
                  <a:srgbClr val="FF0000"/>
                </a:solidFill>
                <a:latin typeface="Anton" pitchFamily="2" charset="-18"/>
              </a:rPr>
              <a:t>ČÚZK</a:t>
            </a:r>
            <a:endParaRPr lang="cs-CZ" altLang="cs-CZ" sz="1350">
              <a:solidFill>
                <a:srgbClr val="FF0000"/>
              </a:solidFill>
              <a:latin typeface="Anton" pitchFamily="2" charset="-18"/>
            </a:endParaRPr>
          </a:p>
        </p:txBody>
      </p:sp>
      <p:sp>
        <p:nvSpPr>
          <p:cNvPr id="28" name="Šipka doprava 27"/>
          <p:cNvSpPr/>
          <p:nvPr/>
        </p:nvSpPr>
        <p:spPr>
          <a:xfrm>
            <a:off x="4316578" y="3186081"/>
            <a:ext cx="613251" cy="442970"/>
          </a:xfrm>
          <a:prstGeom prst="righ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cs-CZ" sz="1350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8" name="TextovéPole 7"/>
          <p:cNvSpPr txBox="1">
            <a:spLocks noChangeArrowheads="1"/>
          </p:cNvSpPr>
          <p:nvPr/>
        </p:nvSpPr>
        <p:spPr bwMode="auto">
          <a:xfrm>
            <a:off x="5166795" y="3252765"/>
            <a:ext cx="1171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cs-CZ" altLang="cs-CZ" sz="1800">
                <a:latin typeface="Anton" pitchFamily="2" charset="-18"/>
              </a:rPr>
              <a:t>Migrace</a:t>
            </a:r>
            <a:endParaRPr lang="cs-CZ" altLang="cs-CZ" sz="1350">
              <a:latin typeface="Anton" pitchFamily="2" charset="-18"/>
            </a:endParaRPr>
          </a:p>
        </p:txBody>
      </p:sp>
      <p:sp>
        <p:nvSpPr>
          <p:cNvPr id="29" name="Šipka ohnutá nahoru 28"/>
          <p:cNvSpPr/>
          <p:nvPr/>
        </p:nvSpPr>
        <p:spPr>
          <a:xfrm>
            <a:off x="4316579" y="3944609"/>
            <a:ext cx="1659947" cy="834736"/>
          </a:xfrm>
          <a:prstGeom prst="bentUp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cs-CZ" sz="1350" b="1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noFill/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sp>
        <p:nvSpPr>
          <p:cNvPr id="31" name="TextovéPole 30"/>
          <p:cNvSpPr txBox="1">
            <a:spLocks noChangeArrowheads="1"/>
          </p:cNvSpPr>
          <p:nvPr/>
        </p:nvSpPr>
        <p:spPr bwMode="auto">
          <a:xfrm>
            <a:off x="7430467" y="4016055"/>
            <a:ext cx="117172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cs-CZ" altLang="cs-CZ" sz="1800">
                <a:solidFill>
                  <a:srgbClr val="FF0000"/>
                </a:solidFill>
                <a:latin typeface="Anton" pitchFamily="2" charset="-18"/>
              </a:rPr>
              <a:t>Aktivace!</a:t>
            </a:r>
            <a:endParaRPr lang="cs-CZ" altLang="cs-CZ" sz="1350">
              <a:solidFill>
                <a:srgbClr val="FF0000"/>
              </a:solidFill>
              <a:latin typeface="Anton" pitchFamily="2" charset="-18"/>
            </a:endParaRPr>
          </a:p>
        </p:txBody>
      </p:sp>
      <p:sp>
        <p:nvSpPr>
          <p:cNvPr id="32" name="TextovéPole 31"/>
          <p:cNvSpPr txBox="1">
            <a:spLocks noChangeArrowheads="1"/>
          </p:cNvSpPr>
          <p:nvPr/>
        </p:nvSpPr>
        <p:spPr bwMode="auto">
          <a:xfrm>
            <a:off x="822829" y="2373969"/>
            <a:ext cx="1060985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>
                <a:latin typeface="Anton" pitchFamily="2" charset="-18"/>
              </a:rPr>
              <a:t>15.6.2022</a:t>
            </a:r>
            <a:endParaRPr lang="cs-CZ" altLang="cs-CZ" sz="1350">
              <a:latin typeface="Anton" pitchFamily="2" charset="-18"/>
            </a:endParaRPr>
          </a:p>
        </p:txBody>
      </p:sp>
      <p:sp>
        <p:nvSpPr>
          <p:cNvPr id="33" name="TextovéPole 32"/>
          <p:cNvSpPr txBox="1">
            <a:spLocks noChangeArrowheads="1"/>
          </p:cNvSpPr>
          <p:nvPr/>
        </p:nvSpPr>
        <p:spPr bwMode="auto">
          <a:xfrm>
            <a:off x="3106745" y="2373969"/>
            <a:ext cx="8990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>
                <a:latin typeface="Anton" pitchFamily="2" charset="-18"/>
              </a:rPr>
              <a:t>3Q 2022</a:t>
            </a:r>
            <a:endParaRPr lang="cs-CZ" altLang="cs-CZ" sz="1350">
              <a:latin typeface="Anton" pitchFamily="2" charset="-18"/>
            </a:endParaRPr>
          </a:p>
        </p:txBody>
      </p:sp>
      <p:sp>
        <p:nvSpPr>
          <p:cNvPr id="34" name="TextovéPole 33"/>
          <p:cNvSpPr txBox="1">
            <a:spLocks noChangeArrowheads="1"/>
          </p:cNvSpPr>
          <p:nvPr/>
        </p:nvSpPr>
        <p:spPr bwMode="auto">
          <a:xfrm>
            <a:off x="5325169" y="2373969"/>
            <a:ext cx="8990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>
                <a:latin typeface="Anton" pitchFamily="2" charset="-18"/>
              </a:rPr>
              <a:t>12/2022</a:t>
            </a:r>
            <a:endParaRPr lang="cs-CZ" altLang="cs-CZ" sz="1350">
              <a:latin typeface="Anton" pitchFamily="2" charset="-18"/>
            </a:endParaRPr>
          </a:p>
        </p:txBody>
      </p:sp>
      <p:sp>
        <p:nvSpPr>
          <p:cNvPr id="35" name="TextovéPole 34"/>
          <p:cNvSpPr txBox="1">
            <a:spLocks noChangeArrowheads="1"/>
          </p:cNvSpPr>
          <p:nvPr/>
        </p:nvSpPr>
        <p:spPr bwMode="auto">
          <a:xfrm>
            <a:off x="7580507" y="2373969"/>
            <a:ext cx="8990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cs-CZ" altLang="cs-CZ" sz="1800">
                <a:latin typeface="Anton" pitchFamily="2" charset="-18"/>
              </a:rPr>
              <a:t>1Q 2023</a:t>
            </a:r>
            <a:endParaRPr lang="cs-CZ" altLang="cs-CZ" sz="1350">
              <a:latin typeface="Anton" pitchFamily="2" charset="-18"/>
            </a:endParaRPr>
          </a:p>
        </p:txBody>
      </p:sp>
    </p:spTree>
    <p:extLst>
      <p:ext uri="{BB962C8B-B14F-4D97-AF65-F5344CB8AC3E}">
        <p14:creationId xmlns:p14="http://schemas.microsoft.com/office/powerpoint/2010/main" val="309447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/>
      <p:bldP spid="7" grpId="0"/>
      <p:bldP spid="11" grpId="0" animBg="1"/>
      <p:bldP spid="13" grpId="0"/>
      <p:bldP spid="14" grpId="0" animBg="1"/>
      <p:bldP spid="16" grpId="0" animBg="1"/>
      <p:bldP spid="10" grpId="0" animBg="1"/>
      <p:bldP spid="12" grpId="0"/>
      <p:bldP spid="20" grpId="0" animBg="1"/>
      <p:bldP spid="15" grpId="0"/>
      <p:bldP spid="3" grpId="0" animBg="1"/>
      <p:bldP spid="9" grpId="0"/>
      <p:bldP spid="27" grpId="0"/>
      <p:bldP spid="28" grpId="0" animBg="1"/>
      <p:bldP spid="8" grpId="0"/>
      <p:bldP spid="31" grpId="0"/>
      <p:bldP spid="32" grpId="0"/>
      <p:bldP spid="33" grpId="0"/>
      <p:bldP spid="34" grpId="0"/>
      <p:bldP spid="35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ulka 1"/>
          <p:cNvGraphicFramePr>
            <a:graphicFrameLocks noGrp="1"/>
          </p:cNvGraphicFramePr>
          <p:nvPr/>
        </p:nvGraphicFramePr>
        <p:xfrm>
          <a:off x="952625" y="1214149"/>
          <a:ext cx="7400698" cy="453686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0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66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6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15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53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815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kraj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registrovaných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obcí celkem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% z kraje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% z registrovaných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Praha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0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1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0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0,00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Ústecký kraj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174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354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49,15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5,56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Jihočeský kraj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318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623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51,04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10,16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Karlovarský kraj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58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132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43,94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1,85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Jihomoravský kraj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318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673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47,25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10,16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Olomoucký kraj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188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399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47,12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6,01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Středočeský kraj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530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1145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46,29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16,93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Královéhradecký kraj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199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448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44,42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6,36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5013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Moravskoslezský kraj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174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300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58,00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5,56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4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Plzeňský kraj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250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501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49,90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7,99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Pardubický kraj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242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451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53,66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7,73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Kraj Vysočina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429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704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60,94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13,71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Liberecký kraj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92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215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42,79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2,94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4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Zlínský kraj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152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307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49,51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4,86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455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SUM/průměr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3130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 smtClean="0">
                          <a:effectLst/>
                        </a:rPr>
                        <a:t>6258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>
                          <a:effectLst/>
                        </a:rPr>
                        <a:t>50,06</a:t>
                      </a:r>
                      <a:endParaRPr lang="cs-CZ" sz="140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cs-CZ" sz="1400" dirty="0">
                          <a:effectLst/>
                        </a:rPr>
                        <a:t>100,00</a:t>
                      </a:r>
                      <a:endParaRPr lang="cs-CZ" sz="1400" dirty="0">
                        <a:effectLst/>
                        <a:latin typeface="Calibri"/>
                        <a:ea typeface="Calibri"/>
                      </a:endParaRPr>
                    </a:p>
                  </a:txBody>
                  <a:tcPr marL="33346" marR="33346" marT="0" marB="0" anchor="b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4163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746875" y="1039105"/>
            <a:ext cx="7145871" cy="994301"/>
          </a:xfrm>
        </p:spPr>
        <p:txBody>
          <a:bodyPr rtlCol="0">
            <a:normAutofit fontScale="90000"/>
          </a:bodyPr>
          <a:lstStyle/>
          <a:p>
            <a:pPr algn="l">
              <a:defRPr/>
            </a:pPr>
            <a:r>
              <a:rPr lang="cs-CZ" sz="3600" dirty="0">
                <a:solidFill>
                  <a:srgbClr val="00B0F0"/>
                </a:solidFill>
                <a:latin typeface="Anton" panose="00000500000000000000" pitchFamily="2" charset="-18"/>
              </a:rPr>
              <a:t>Jak mohou vypadat reakce oslovených?</a:t>
            </a:r>
            <a:endParaRPr lang="cs-CZ" dirty="0">
              <a:solidFill>
                <a:schemeClr val="bg1">
                  <a:lumMod val="75000"/>
                </a:schemeClr>
              </a:solidFill>
              <a:latin typeface="Anton" panose="00000500000000000000" pitchFamily="2" charset="-18"/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757592" y="2226312"/>
            <a:ext cx="6981544" cy="3263928"/>
          </a:xfrm>
        </p:spPr>
        <p:txBody>
          <a:bodyPr rtlCol="0">
            <a:noAutofit/>
          </a:bodyPr>
          <a:lstStyle/>
          <a:p>
            <a:pPr marL="0" indent="0">
              <a:buNone/>
              <a:defRPr/>
            </a:pPr>
            <a:r>
              <a:rPr lang="cs-CZ" sz="750" i="1" dirty="0">
                <a:latin typeface="Anton" panose="00000500000000000000" pitchFamily="2" charset="-18"/>
              </a:rPr>
              <a:t>„</a:t>
            </a:r>
            <a:r>
              <a:rPr lang="cs-CZ" sz="1800" i="1" dirty="0"/>
              <a:t>Do naší datové schránky dorazil dopis kterému nerozumím.  Hovoří se v něm velice obecně o vlastnících, správcích a provozovatelích dopravní a technické infrastruktury.  Nevím, co si mám pod tím představit.  Dopravní infrastruktura je třeba dálnice D1? Tu nevlastním, nespravuji, neprovozuji.  Technická infrastruktura? Ani žádnou jadernou elektrárnu nevlastníme, nespravujeme, neprovozujeme...</a:t>
            </a:r>
          </a:p>
          <a:p>
            <a:pPr marL="0" indent="0">
              <a:buNone/>
              <a:defRPr/>
            </a:pPr>
            <a:r>
              <a:rPr lang="cs-CZ" sz="1800" i="1" dirty="0"/>
              <a:t>Prosím někoho, aby mi jednoduše řekl, o co jde. Nejlépe telefonicky - viz můj kontakt v záhlaví.</a:t>
            </a:r>
          </a:p>
          <a:p>
            <a:pPr marL="0" indent="0">
              <a:buNone/>
              <a:defRPr/>
            </a:pPr>
            <a:r>
              <a:rPr lang="cs-CZ" sz="1800" i="1" dirty="0"/>
              <a:t>Děkuji a jsem s pozdravem,</a:t>
            </a:r>
          </a:p>
          <a:p>
            <a:pPr marL="0" indent="0">
              <a:buNone/>
              <a:defRPr/>
            </a:pPr>
            <a:r>
              <a:rPr lang="cs-CZ" sz="1800" i="1" dirty="0"/>
              <a:t>XXXX YYYYYYYYY</a:t>
            </a:r>
          </a:p>
          <a:p>
            <a:pPr marL="0" indent="0">
              <a:buNone/>
              <a:defRPr/>
            </a:pPr>
            <a:r>
              <a:rPr lang="cs-CZ" sz="1800" i="1" dirty="0"/>
              <a:t>nástěnkář, svačinář, údržbář, jednatel“   </a:t>
            </a:r>
            <a:r>
              <a:rPr lang="cs-CZ" sz="1800" dirty="0"/>
              <a:t>          </a:t>
            </a:r>
          </a:p>
          <a:p>
            <a:pPr marL="0" indent="0">
              <a:buNone/>
              <a:defRPr/>
            </a:pPr>
            <a:endParaRPr lang="cs-CZ" sz="1800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465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2"/>
          <p:cNvSpPr>
            <a:spLocks noChangeArrowheads="1"/>
          </p:cNvSpPr>
          <p:nvPr/>
        </p:nvSpPr>
        <p:spPr bwMode="auto">
          <a:xfrm>
            <a:off x="568325" y="682625"/>
            <a:ext cx="5246373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Aktuálně řešené problémy</a:t>
            </a:r>
            <a:endParaRPr lang="pl-PL" sz="3600" b="1" dirty="0">
              <a:solidFill>
                <a:srgbClr val="C00000"/>
              </a:solidFill>
            </a:endParaRP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28</a:t>
            </a:fld>
            <a:endParaRPr lang="cs-CZ" dirty="0"/>
          </a:p>
        </p:txBody>
      </p:sp>
      <p:sp>
        <p:nvSpPr>
          <p:cNvPr id="10" name="Zástupný symbol pro obsah 2"/>
          <p:cNvSpPr txBox="1">
            <a:spLocks/>
          </p:cNvSpPr>
          <p:nvPr/>
        </p:nvSpPr>
        <p:spPr>
          <a:xfrm>
            <a:off x="251520" y="1628800"/>
            <a:ext cx="8892480" cy="453650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cs-CZ" dirty="0" smtClean="0">
                <a:latin typeface="+mj-lt"/>
              </a:rPr>
              <a:t>ohlášení, resp. </a:t>
            </a:r>
            <a:r>
              <a:rPr lang="cs-CZ" dirty="0" err="1" smtClean="0">
                <a:latin typeface="+mj-lt"/>
              </a:rPr>
              <a:t>přeohlášení</a:t>
            </a:r>
            <a:r>
              <a:rPr lang="cs-CZ" dirty="0" smtClean="0">
                <a:latin typeface="+mj-lt"/>
              </a:rPr>
              <a:t> agendy v RPP</a:t>
            </a:r>
          </a:p>
          <a:p>
            <a:pPr>
              <a:spcBef>
                <a:spcPts val="600"/>
              </a:spcBef>
            </a:pPr>
            <a:r>
              <a:rPr lang="cs-CZ" dirty="0" smtClean="0">
                <a:latin typeface="+mj-lt"/>
              </a:rPr>
              <a:t>vydání testovacího certifikátu pro volání ZR</a:t>
            </a:r>
          </a:p>
          <a:p>
            <a:pPr>
              <a:spcBef>
                <a:spcPts val="600"/>
              </a:spcBef>
            </a:pPr>
            <a:r>
              <a:rPr lang="cs-CZ" dirty="0" smtClean="0">
                <a:latin typeface="+mj-lt"/>
              </a:rPr>
              <a:t>zlepšení informovanosti obcí</a:t>
            </a:r>
          </a:p>
          <a:p>
            <a:pPr>
              <a:spcBef>
                <a:spcPts val="600"/>
              </a:spcBef>
            </a:pPr>
            <a:r>
              <a:rPr lang="cs-CZ" dirty="0" smtClean="0">
                <a:latin typeface="+mj-lt"/>
              </a:rPr>
              <a:t>převzetí Jednotného výměnného formátu DTM pod správu ČÚZK</a:t>
            </a:r>
          </a:p>
          <a:p>
            <a:pPr>
              <a:spcBef>
                <a:spcPts val="600"/>
              </a:spcBef>
            </a:pPr>
            <a:r>
              <a:rPr lang="cs-CZ" dirty="0" smtClean="0">
                <a:latin typeface="+mj-lt"/>
              </a:rPr>
              <a:t>centralizovaný výdej veřejných a neveřejných dat</a:t>
            </a:r>
          </a:p>
          <a:p>
            <a:pPr>
              <a:spcBef>
                <a:spcPts val="600"/>
              </a:spcBef>
            </a:pPr>
            <a:r>
              <a:rPr lang="cs-CZ" dirty="0" smtClean="0">
                <a:latin typeface="+mj-lt"/>
              </a:rPr>
              <a:t>s vazbou na posun DSŘ navržen posun účinnosti ustanovení týkajících se DMVS/DTM o jeden rok </a:t>
            </a:r>
          </a:p>
          <a:p>
            <a:pPr>
              <a:spcBef>
                <a:spcPts val="600"/>
              </a:spcBef>
            </a:pPr>
            <a:endParaRPr lang="cs-CZ" dirty="0" smtClean="0">
              <a:latin typeface="+mj-lt"/>
            </a:endParaRPr>
          </a:p>
        </p:txBody>
      </p:sp>
      <p:sp>
        <p:nvSpPr>
          <p:cNvPr id="8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Digitální mapa veřejné správy – první narozeniny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3109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1612266"/>
            <a:ext cx="8892480" cy="440902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cs-CZ" dirty="0" smtClean="0">
                <a:latin typeface="+mj-lt"/>
              </a:rPr>
              <a:t>§ 4d odst. 3)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cs-CZ" sz="2400" dirty="0" smtClean="0">
                <a:solidFill>
                  <a:srgbClr val="C00000"/>
                </a:solidFill>
                <a:latin typeface="+mj-lt"/>
              </a:rPr>
              <a:t>Funkce IS DMVS:</a:t>
            </a:r>
            <a:endParaRPr lang="cs-CZ" sz="2400" dirty="0">
              <a:solidFill>
                <a:srgbClr val="C00000"/>
              </a:solidFill>
              <a:latin typeface="+mj-lt"/>
            </a:endParaRP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cs-CZ" dirty="0">
                <a:latin typeface="+mj-lt"/>
              </a:rPr>
              <a:t>jednotné rozhraní pro zobrazení katastrální mapy, </a:t>
            </a:r>
            <a:r>
              <a:rPr lang="cs-CZ" dirty="0" err="1">
                <a:latin typeface="+mj-lt"/>
              </a:rPr>
              <a:t>ortofota</a:t>
            </a:r>
            <a:r>
              <a:rPr lang="cs-CZ" dirty="0">
                <a:latin typeface="+mj-lt"/>
              </a:rPr>
              <a:t> a DTM krajů</a:t>
            </a:r>
            <a:r>
              <a:rPr lang="cs-CZ" dirty="0" smtClean="0">
                <a:latin typeface="+mj-lt"/>
              </a:rPr>
              <a:t>,</a:t>
            </a:r>
          </a:p>
          <a:p>
            <a:pPr marL="712787" lvl="4" indent="0" defTabSz="987425">
              <a:spcBef>
                <a:spcPts val="300"/>
              </a:spcBef>
              <a:buNone/>
            </a:pPr>
            <a:endParaRPr lang="cs-CZ" dirty="0">
              <a:latin typeface="+mj-lt"/>
            </a:endParaRP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cs-CZ" dirty="0">
                <a:latin typeface="+mj-lt"/>
              </a:rPr>
              <a:t>jednotné rozhraní pro předávání údajů k aktualizaci DTM krajů</a:t>
            </a:r>
            <a:r>
              <a:rPr lang="cs-CZ" dirty="0" smtClean="0">
                <a:latin typeface="+mj-lt"/>
              </a:rPr>
              <a:t>,</a:t>
            </a: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cs-CZ" dirty="0">
              <a:latin typeface="+mj-lt"/>
            </a:endParaRP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cs-CZ" dirty="0">
                <a:latin typeface="+mj-lt"/>
              </a:rPr>
              <a:t>vedení seznamu vlastníků, provozovatelů a správců technické a dopravní  infrastruktury, včetně údajů o tom, v jakém území působí</a:t>
            </a:r>
            <a:r>
              <a:rPr lang="cs-CZ" dirty="0" smtClean="0">
                <a:latin typeface="+mj-lt"/>
              </a:rPr>
              <a:t>,</a:t>
            </a:r>
          </a:p>
          <a:p>
            <a:pPr marL="712787" lvl="4" indent="0" defTabSz="987425">
              <a:spcBef>
                <a:spcPts val="300"/>
              </a:spcBef>
              <a:buNone/>
            </a:pPr>
            <a:endParaRPr lang="cs-CZ" dirty="0">
              <a:latin typeface="+mj-lt"/>
            </a:endParaRP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cs-CZ" dirty="0">
                <a:latin typeface="+mj-lt"/>
              </a:rPr>
              <a:t>vedení seznamu editorů DTM </a:t>
            </a:r>
            <a:r>
              <a:rPr lang="cs-CZ" dirty="0" smtClean="0">
                <a:latin typeface="+mj-lt"/>
              </a:rPr>
              <a:t>krajů.</a:t>
            </a:r>
          </a:p>
          <a:p>
            <a:pPr marL="0" lvl="2" indent="-201613" defTabSz="987425">
              <a:spcBef>
                <a:spcPts val="300"/>
              </a:spcBef>
              <a:buNone/>
            </a:pPr>
            <a:endParaRPr lang="cs-CZ" dirty="0">
              <a:solidFill>
                <a:srgbClr val="C00000"/>
              </a:solidFill>
            </a:endParaRPr>
          </a:p>
          <a:p>
            <a:pPr lvl="1">
              <a:spcBef>
                <a:spcPts val="600"/>
              </a:spcBef>
            </a:pPr>
            <a:endParaRPr lang="cs-CZ" sz="24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29</a:t>
            </a:fld>
            <a:endParaRPr lang="cs-CZ" dirty="0"/>
          </a:p>
        </p:txBody>
      </p:sp>
      <p:sp>
        <p:nvSpPr>
          <p:cNvPr id="8" name="Obdélník 2"/>
          <p:cNvSpPr>
            <a:spLocks noChangeArrowheads="1"/>
          </p:cNvSpPr>
          <p:nvPr/>
        </p:nvSpPr>
        <p:spPr bwMode="auto">
          <a:xfrm>
            <a:off x="568325" y="682625"/>
            <a:ext cx="558851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IS DMVS – legislativní posun</a:t>
            </a:r>
            <a:endParaRPr lang="pl-PL" sz="3600" b="1" dirty="0">
              <a:solidFill>
                <a:srgbClr val="C00000"/>
              </a:solidFill>
            </a:endParaRPr>
          </a:p>
        </p:txBody>
      </p:sp>
      <p:sp>
        <p:nvSpPr>
          <p:cNvPr id="9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DMVS – pracovní skupina pro architekturu a řízení ICT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2" name="TextovéPole 1"/>
          <p:cNvSpPr txBox="1"/>
          <p:nvPr/>
        </p:nvSpPr>
        <p:spPr>
          <a:xfrm>
            <a:off x="1115616" y="2924944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 smtClean="0">
                <a:solidFill>
                  <a:srgbClr val="FF0000"/>
                </a:solidFill>
              </a:rPr>
              <a:t>30.6.2024</a:t>
            </a:r>
            <a:endParaRPr lang="cs-CZ" b="1" dirty="0">
              <a:solidFill>
                <a:srgbClr val="FF0000"/>
              </a:solidFill>
            </a:endParaRPr>
          </a:p>
        </p:txBody>
      </p:sp>
      <p:sp>
        <p:nvSpPr>
          <p:cNvPr id="7" name="TextovéPole 6"/>
          <p:cNvSpPr txBox="1"/>
          <p:nvPr/>
        </p:nvSpPr>
        <p:spPr>
          <a:xfrm>
            <a:off x="1115616" y="3632111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 smtClean="0">
                <a:solidFill>
                  <a:srgbClr val="FF0000"/>
                </a:solidFill>
              </a:rPr>
              <a:t>30.6.2024</a:t>
            </a:r>
            <a:endParaRPr lang="cs-CZ" b="1" dirty="0">
              <a:solidFill>
                <a:srgbClr val="FF0000"/>
              </a:solidFill>
            </a:endParaRPr>
          </a:p>
        </p:txBody>
      </p:sp>
      <p:sp>
        <p:nvSpPr>
          <p:cNvPr id="10" name="TextovéPole 9"/>
          <p:cNvSpPr txBox="1"/>
          <p:nvPr/>
        </p:nvSpPr>
        <p:spPr>
          <a:xfrm>
            <a:off x="1115616" y="4606954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 smtClean="0">
                <a:solidFill>
                  <a:srgbClr val="FF0000"/>
                </a:solidFill>
              </a:rPr>
              <a:t>30.6.2023</a:t>
            </a:r>
            <a:endParaRPr lang="cs-CZ" b="1" dirty="0">
              <a:solidFill>
                <a:srgbClr val="FF0000"/>
              </a:solidFill>
            </a:endParaRPr>
          </a:p>
        </p:txBody>
      </p:sp>
      <p:sp>
        <p:nvSpPr>
          <p:cNvPr id="11" name="TextovéPole 10"/>
          <p:cNvSpPr txBox="1"/>
          <p:nvPr/>
        </p:nvSpPr>
        <p:spPr>
          <a:xfrm>
            <a:off x="1115616" y="5300211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b="1" dirty="0" smtClean="0">
                <a:solidFill>
                  <a:srgbClr val="FF0000"/>
                </a:solidFill>
              </a:rPr>
              <a:t>30.6.2024</a:t>
            </a:r>
            <a:endParaRPr lang="cs-CZ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862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10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51520" y="1612266"/>
            <a:ext cx="8892480" cy="4409022"/>
          </a:xfrm>
        </p:spPr>
        <p:txBody>
          <a:bodyPr vert="horz" lIns="91440" tIns="45720" rIns="91440" bIns="45720" rtlCol="0"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endParaRPr lang="cs-CZ" sz="2400" dirty="0">
              <a:solidFill>
                <a:srgbClr val="C00000"/>
              </a:solidFill>
              <a:latin typeface="+mj-lt"/>
            </a:endParaRP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cs-CZ" dirty="0" smtClean="0">
                <a:latin typeface="+mj-lt"/>
              </a:rPr>
              <a:t>na webové adrese </a:t>
            </a:r>
            <a:r>
              <a:rPr lang="cs-CZ" dirty="0">
                <a:hlinkClick r:id="rId2"/>
              </a:rPr>
              <a:t>https://www.cuzk.cz/dmvs</a:t>
            </a:r>
            <a:endParaRPr lang="cs-CZ" dirty="0"/>
          </a:p>
          <a:p>
            <a:pPr marL="712787" lvl="4" indent="0" defTabSz="987425">
              <a:spcBef>
                <a:spcPts val="300"/>
              </a:spcBef>
              <a:buNone/>
            </a:pPr>
            <a:endParaRPr lang="cs-CZ" dirty="0">
              <a:latin typeface="+mj-lt"/>
            </a:endParaRP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cs-CZ" dirty="0" smtClean="0">
                <a:latin typeface="+mj-lt"/>
              </a:rPr>
              <a:t>můžete se přihlásit k odběru novinek prostřednictvím RSS kanálu</a:t>
            </a:r>
          </a:p>
          <a:p>
            <a:pPr marL="712787" lvl="4" indent="0" defTabSz="987425">
              <a:spcBef>
                <a:spcPts val="300"/>
              </a:spcBef>
              <a:buNone/>
            </a:pPr>
            <a:endParaRPr lang="cs-CZ" dirty="0">
              <a:latin typeface="+mj-lt"/>
            </a:endParaRPr>
          </a:p>
          <a:p>
            <a:pPr marL="1055687" lvl="4" indent="-342900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cs-CZ" dirty="0" smtClean="0">
                <a:latin typeface="+mj-lt"/>
                <a:hlinkClick r:id="rId3"/>
              </a:rPr>
              <a:t>https</a:t>
            </a:r>
            <a:r>
              <a:rPr lang="cs-CZ" dirty="0">
                <a:latin typeface="+mj-lt"/>
                <a:hlinkClick r:id="rId3"/>
              </a:rPr>
              <a:t>://</a:t>
            </a:r>
            <a:r>
              <a:rPr lang="cs-CZ" dirty="0" smtClean="0">
                <a:latin typeface="+mj-lt"/>
                <a:hlinkClick r:id="rId3"/>
              </a:rPr>
              <a:t>www.youtube.com/results?search_query=apg+digit%C3%A1ln%C3%AD+technick%C3%A1+mapa</a:t>
            </a:r>
            <a:endParaRPr lang="cs-CZ" dirty="0" smtClean="0">
              <a:latin typeface="+mj-lt"/>
            </a:endParaRPr>
          </a:p>
          <a:p>
            <a:pPr marL="712787" lvl="4" indent="0" defTabSz="987425">
              <a:spcBef>
                <a:spcPts val="300"/>
              </a:spcBef>
              <a:buNone/>
            </a:pPr>
            <a:endParaRPr lang="cs-CZ" dirty="0">
              <a:latin typeface="+mj-lt"/>
            </a:endParaRPr>
          </a:p>
          <a:p>
            <a:pPr marL="1055687" lvl="4" indent="-342900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cs-CZ" dirty="0" smtClean="0">
              <a:latin typeface="+mj-lt"/>
            </a:endParaRP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cs-CZ" dirty="0">
              <a:latin typeface="+mj-lt"/>
            </a:endParaRPr>
          </a:p>
          <a:p>
            <a:pPr marL="895350" lvl="4" indent="-182563" defTabSz="987425">
              <a:spcBef>
                <a:spcPts val="300"/>
              </a:spcBef>
              <a:buFont typeface="Arial" panose="020B0604020202020204" pitchFamily="34" charset="0"/>
              <a:buChar char="•"/>
            </a:pPr>
            <a:endParaRPr lang="cs-CZ" dirty="0" smtClean="0">
              <a:latin typeface="+mj-lt"/>
            </a:endParaRPr>
          </a:p>
          <a:p>
            <a:pPr marL="712787" lvl="4" indent="0" defTabSz="987425">
              <a:spcBef>
                <a:spcPts val="300"/>
              </a:spcBef>
              <a:buNone/>
            </a:pPr>
            <a:endParaRPr lang="cs-CZ" dirty="0">
              <a:latin typeface="+mj-lt"/>
            </a:endParaRPr>
          </a:p>
          <a:p>
            <a:pPr marL="0" lvl="2" indent="-201613" defTabSz="987425">
              <a:spcBef>
                <a:spcPts val="300"/>
              </a:spcBef>
              <a:buNone/>
            </a:pPr>
            <a:endParaRPr lang="cs-CZ" dirty="0">
              <a:solidFill>
                <a:srgbClr val="C00000"/>
              </a:solidFill>
            </a:endParaRPr>
          </a:p>
          <a:p>
            <a:pPr lvl="1">
              <a:spcBef>
                <a:spcPts val="600"/>
              </a:spcBef>
            </a:pPr>
            <a:endParaRPr lang="cs-CZ" sz="24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30</a:t>
            </a:fld>
            <a:endParaRPr lang="cs-CZ" dirty="0"/>
          </a:p>
        </p:txBody>
      </p:sp>
      <p:sp>
        <p:nvSpPr>
          <p:cNvPr id="8" name="Obdélník 2"/>
          <p:cNvSpPr>
            <a:spLocks noChangeArrowheads="1"/>
          </p:cNvSpPr>
          <p:nvPr/>
        </p:nvSpPr>
        <p:spPr bwMode="auto">
          <a:xfrm>
            <a:off x="568325" y="682625"/>
            <a:ext cx="6645474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pl-PL" sz="3600" b="1" dirty="0" smtClean="0">
                <a:solidFill>
                  <a:srgbClr val="C00000"/>
                </a:solidFill>
              </a:rPr>
              <a:t>Kde získat informace o IS DMVS ? </a:t>
            </a:r>
            <a:endParaRPr lang="pl-PL" sz="3600" b="1" dirty="0">
              <a:solidFill>
                <a:srgbClr val="C00000"/>
              </a:solidFill>
            </a:endParaRPr>
          </a:p>
        </p:txBody>
      </p:sp>
      <p:sp>
        <p:nvSpPr>
          <p:cNvPr id="9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DMVS – pracovní skupina pro architekturu a řízení ICT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565032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endParaRPr lang="cs-CZ" dirty="0" smtClean="0"/>
          </a:p>
          <a:p>
            <a:pPr algn="ctr">
              <a:buFontTx/>
              <a:buNone/>
            </a:pPr>
            <a:r>
              <a:rPr lang="cs-CZ" sz="4000" dirty="0" smtClean="0">
                <a:solidFill>
                  <a:srgbClr val="CC0000"/>
                </a:solidFill>
              </a:rPr>
              <a:t>Děkuji za Vaši pozornost.</a:t>
            </a:r>
          </a:p>
          <a:p>
            <a:pPr>
              <a:buFontTx/>
              <a:buNone/>
            </a:pPr>
            <a:endParaRPr lang="cs-CZ" dirty="0" smtClean="0">
              <a:solidFill>
                <a:schemeClr val="bg1"/>
              </a:solidFill>
            </a:endParaRPr>
          </a:p>
          <a:p>
            <a:pPr>
              <a:buFontTx/>
              <a:buNone/>
            </a:pPr>
            <a:endParaRPr lang="cs-CZ" dirty="0" smtClean="0">
              <a:solidFill>
                <a:schemeClr val="bg1"/>
              </a:solidFill>
            </a:endParaRPr>
          </a:p>
          <a:p>
            <a:pPr>
              <a:buNone/>
            </a:pPr>
            <a:endParaRPr lang="cs-CZ" dirty="0"/>
          </a:p>
          <a:p>
            <a:pPr>
              <a:buNone/>
            </a:pPr>
            <a:r>
              <a:rPr lang="cs-CZ" dirty="0" smtClean="0"/>
              <a:t>dagmar.binova@cuzk.cz</a:t>
            </a:r>
            <a:endParaRPr lang="cs-CZ" dirty="0"/>
          </a:p>
          <a:p>
            <a:pPr>
              <a:buNone/>
            </a:pPr>
            <a:r>
              <a:rPr lang="cs-CZ" dirty="0"/>
              <a:t>www.cuzk.cz </a:t>
            </a:r>
          </a:p>
          <a:p>
            <a:pPr>
              <a:buNone/>
            </a:pPr>
            <a:endParaRPr lang="cs-CZ" dirty="0"/>
          </a:p>
          <a:p>
            <a:pPr>
              <a:buNone/>
            </a:pPr>
            <a:endParaRPr lang="cs-CZ" dirty="0"/>
          </a:p>
        </p:txBody>
      </p:sp>
      <p:sp>
        <p:nvSpPr>
          <p:cNvPr id="7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6938994" y="6421461"/>
            <a:ext cx="2133600" cy="365125"/>
          </a:xfrm>
        </p:spPr>
        <p:txBody>
          <a:bodyPr/>
          <a:lstStyle/>
          <a:p>
            <a:r>
              <a:rPr lang="cs-CZ" smtClean="0"/>
              <a:t>Stránka </a:t>
            </a:r>
            <a:fld id="{48E274EE-690F-4746-AA67-60C7F9ED09CD}" type="slidenum">
              <a:rPr lang="cs-CZ" smtClean="0"/>
              <a:pPr/>
              <a:t>31</a:t>
            </a:fld>
            <a:endParaRPr lang="cs-CZ" dirty="0"/>
          </a:p>
        </p:txBody>
      </p:sp>
      <p:sp>
        <p:nvSpPr>
          <p:cNvPr id="8" name="Zástupný symbol pro zápatí 4"/>
          <p:cNvSpPr txBox="1">
            <a:spLocks noGrp="1"/>
          </p:cNvSpPr>
          <p:nvPr/>
        </p:nvSpPr>
        <p:spPr bwMode="auto">
          <a:xfrm>
            <a:off x="1619672" y="6421438"/>
            <a:ext cx="5472608" cy="365125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ctr"/>
          <a:lstStyle/>
          <a:p>
            <a:pPr algn="ctr">
              <a:defRPr/>
            </a:pPr>
            <a:r>
              <a:rPr lang="pl-PL" sz="1200" dirty="0">
                <a:solidFill>
                  <a:schemeClr val="bg1"/>
                </a:solidFill>
              </a:rPr>
              <a:t>DMVS – pracovní skupina pro architekturu a řízení ICT</a:t>
            </a:r>
          </a:p>
          <a:p>
            <a:pPr algn="ctr">
              <a:defRPr/>
            </a:pPr>
            <a:r>
              <a:rPr lang="cs-CZ" sz="1200" dirty="0">
                <a:solidFill>
                  <a:schemeClr val="bg1"/>
                </a:solidFill>
              </a:rPr>
              <a:t>Dagmar Bínová</a:t>
            </a:r>
          </a:p>
          <a:p>
            <a:pPr algn="ctr">
              <a:defRPr/>
            </a:pPr>
            <a:endParaRPr lang="cs-CZ" sz="12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6833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434436-932E-4462-BFBD-CDF3FE8752D8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97f9b7a7-b627-4f79-ba26-855b997cb174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3389988-18EF-4F1A-A7F3-D890CC51EC4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0AD9276-A8B7-4AD4-9073-3873FF46EB64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33108</TotalTime>
  <Words>2136</Words>
  <Application>Microsoft Office PowerPoint</Application>
  <PresentationFormat>Předvádění na obrazovce (4:3)</PresentationFormat>
  <Paragraphs>392</Paragraphs>
  <Slides>31</Slides>
  <Notes>9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31</vt:i4>
      </vt:variant>
    </vt:vector>
  </HeadingPairs>
  <TitlesOfParts>
    <vt:vector size="36" baseType="lpstr">
      <vt:lpstr>Anton</vt:lpstr>
      <vt:lpstr>Arial</vt:lpstr>
      <vt:lpstr>Calibri</vt:lpstr>
      <vt:lpstr>Wingdings</vt:lpstr>
      <vt:lpstr>Motiv sady Office</vt:lpstr>
      <vt:lpstr>Digitální mapa veřejné správy – první narozeniny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Prezentace aplikace PowerPoint</vt:lpstr>
      <vt:lpstr>Jak mohou vypadat reakce oslovených?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ČÚZK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Snímek 1</dc:title>
  <dc:creator>Ing. Jaroslav Gall</dc:creator>
  <cp:lastModifiedBy>Bínová Dagmar</cp:lastModifiedBy>
  <cp:revision>560</cp:revision>
  <cp:lastPrinted>2019-09-25T17:39:59Z</cp:lastPrinted>
  <dcterms:created xsi:type="dcterms:W3CDTF">2009-03-25T09:36:13Z</dcterms:created>
  <dcterms:modified xsi:type="dcterms:W3CDTF">2022-10-17T14:18:20Z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0x0101000066334C2FF42D48ADF05E95119C8AE1</vt:lpwstr>
  </property>
</Properties>
</file>
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9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Authors.xml" ContentType="application/vnd.openxmlformats-officedocument.presentationml.commentAuthor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 bookmarkIdSeed="2">
  <p:sldMasterIdLst>
    <p:sldMasterId id="2147483648" r:id="rId1"/>
  </p:sldMasterIdLst>
  <p:notesMasterIdLst>
    <p:notesMasterId r:id="rId16"/>
  </p:notesMasterIdLst>
  <p:sldIdLst>
    <p:sldId id="257" r:id="rId2"/>
    <p:sldId id="1119" r:id="rId3"/>
    <p:sldId id="1120" r:id="rId4"/>
    <p:sldId id="1115" r:id="rId5"/>
    <p:sldId id="1099" r:id="rId6"/>
    <p:sldId id="1081" r:id="rId7"/>
    <p:sldId id="1103" r:id="rId8"/>
    <p:sldId id="1049" r:id="rId9"/>
    <p:sldId id="1113" r:id="rId10"/>
    <p:sldId id="1123" r:id="rId11"/>
    <p:sldId id="1058" r:id="rId12"/>
    <p:sldId id="1121" r:id="rId13"/>
    <p:sldId id="1122" r:id="rId14"/>
    <p:sldId id="282" r:id="rId15"/>
  </p:sldIdLst>
  <p:sldSz cx="12192000" cy="6858000"/>
  <p:notesSz cx="6858000" cy="12192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Ubuntu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Výchozí oddíl" id="{FA34C379-BD98-4D6E-9465-5F2C55450E37}">
          <p14:sldIdLst>
            <p14:sldId id="257"/>
            <p14:sldId id="1119"/>
            <p14:sldId id="1120"/>
            <p14:sldId id="1115"/>
            <p14:sldId id="1099"/>
            <p14:sldId id="1081"/>
            <p14:sldId id="1103"/>
            <p14:sldId id="1049"/>
            <p14:sldId id="1113"/>
            <p14:sldId id="1123"/>
            <p14:sldId id="1058"/>
            <p14:sldId id="1121"/>
            <p14:sldId id="1122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1" roundtripDataSignature="AMtx7mgrLXKN4zmBplXAmZppfXa+rPN5E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skova Vladena" initials="SV" lastIdx="1" clrIdx="0">
    <p:extLst>
      <p:ext uri="{19B8F6BF-5375-455C-9EA6-DF929625EA0E}">
        <p15:presenceInfo xmlns:p15="http://schemas.microsoft.com/office/powerpoint/2012/main" userId="S::v.saskova@nukibonline.cz::c31a9149-c749-4049-b69e-9db4f6cd54c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69" autoAdjust="0"/>
    <p:restoredTop sz="80611" autoAdjust="0"/>
  </p:normalViewPr>
  <p:slideViewPr>
    <p:cSldViewPr snapToGrid="0" showGuides="1">
      <p:cViewPr varScale="1">
        <p:scale>
          <a:sx n="67" d="100"/>
          <a:sy n="67" d="100"/>
        </p:scale>
        <p:origin x="45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431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8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83" Type="http://schemas.openxmlformats.org/officeDocument/2006/relationships/presProps" Target="presProps.xml"/><Relationship Id="rId88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87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82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81" Type="http://customschemas.google.com/relationships/presentationmetadata" Target="metadata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7" name="Google Shape;1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97357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7" name="Google Shape;1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85233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60304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19077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24883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48594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77886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376241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63235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51013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5798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white">
  <p:cSld name="Title White">
    <p:bg>
      <p:bgPr>
        <a:solidFill>
          <a:srgbClr val="FFFFFF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17350" y="3358800"/>
            <a:ext cx="2357276" cy="3165696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5"/>
          <p:cNvSpPr txBox="1">
            <a:spLocks noGrp="1"/>
          </p:cNvSpPr>
          <p:nvPr>
            <p:ph type="ctrTitle"/>
          </p:nvPr>
        </p:nvSpPr>
        <p:spPr>
          <a:xfrm>
            <a:off x="1524000" y="522198"/>
            <a:ext cx="9144000" cy="19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000"/>
              <a:buFont typeface="Calibri"/>
              <a:buNone/>
              <a:defRPr sz="6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000"/>
              <a:buFont typeface="Ubuntu"/>
              <a:buNone/>
              <a:defRPr sz="6000">
                <a:solidFill>
                  <a:srgbClr val="666666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000"/>
              <a:buFont typeface="Ubuntu"/>
              <a:buNone/>
              <a:defRPr sz="6000">
                <a:solidFill>
                  <a:srgbClr val="666666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000"/>
              <a:buFont typeface="Ubuntu"/>
              <a:buNone/>
              <a:defRPr sz="6000">
                <a:solidFill>
                  <a:srgbClr val="666666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000"/>
              <a:buFont typeface="Ubuntu"/>
              <a:buNone/>
              <a:defRPr sz="6000">
                <a:solidFill>
                  <a:srgbClr val="666666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000"/>
              <a:buFont typeface="Ubuntu"/>
              <a:buNone/>
              <a:defRPr sz="6000">
                <a:solidFill>
                  <a:srgbClr val="666666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000"/>
              <a:buFont typeface="Ubuntu"/>
              <a:buNone/>
              <a:defRPr sz="6000">
                <a:solidFill>
                  <a:srgbClr val="666666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000"/>
              <a:buFont typeface="Ubuntu"/>
              <a:buNone/>
              <a:defRPr sz="6000">
                <a:solidFill>
                  <a:srgbClr val="666666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000"/>
              <a:buFont typeface="Ubuntu"/>
              <a:buNone/>
              <a:defRPr sz="6000">
                <a:solidFill>
                  <a:srgbClr val="666666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r>
              <a:rPr lang="cs-CZ"/>
              <a:t>Kliknutím lze upravit styl.</a:t>
            </a:r>
            <a:endParaRPr/>
          </a:p>
        </p:txBody>
      </p:sp>
      <p:sp>
        <p:nvSpPr>
          <p:cNvPr id="20" name="Google Shape;20;p25"/>
          <p:cNvSpPr txBox="1">
            <a:spLocks noGrp="1"/>
          </p:cNvSpPr>
          <p:nvPr>
            <p:ph type="subTitle" idx="1"/>
          </p:nvPr>
        </p:nvSpPr>
        <p:spPr>
          <a:xfrm>
            <a:off x="1523988" y="2521398"/>
            <a:ext cx="9144000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Calibri"/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>
                <a:latin typeface="Calibri"/>
                <a:ea typeface="Calibri"/>
                <a:cs typeface="Calibri"/>
                <a:sym typeface="Calibri"/>
              </a:defRPr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>
                <a:latin typeface="Calibri"/>
                <a:ea typeface="Calibri"/>
                <a:cs typeface="Calibri"/>
                <a:sym typeface="Calibri"/>
              </a:defRPr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>
                <a:latin typeface="Calibri"/>
                <a:ea typeface="Calibri"/>
                <a:cs typeface="Calibri"/>
                <a:sym typeface="Calibri"/>
              </a:defRPr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>
                <a:latin typeface="Calibri"/>
                <a:ea typeface="Calibri"/>
                <a:cs typeface="Calibri"/>
                <a:sym typeface="Calibri"/>
              </a:defRPr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>
                <a:latin typeface="Calibri"/>
                <a:ea typeface="Calibri"/>
                <a:cs typeface="Calibri"/>
                <a:sym typeface="Calibri"/>
              </a:defRPr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>
                <a:latin typeface="Calibri"/>
                <a:ea typeface="Calibri"/>
                <a:cs typeface="Calibri"/>
                <a:sym typeface="Calibri"/>
              </a:defRPr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>
                <a:latin typeface="Calibri"/>
                <a:ea typeface="Calibri"/>
                <a:cs typeface="Calibri"/>
                <a:sym typeface="Calibri"/>
              </a:defRPr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cs-CZ"/>
              <a:t>Kliknutím můžete upravit styl předlohy.</a:t>
            </a:r>
            <a:endParaRPr/>
          </a:p>
        </p:txBody>
      </p:sp>
      <p:sp>
        <p:nvSpPr>
          <p:cNvPr id="21" name="Google Shape;21;p25"/>
          <p:cNvSpPr txBox="1">
            <a:spLocks noGrp="1"/>
          </p:cNvSpPr>
          <p:nvPr>
            <p:ph type="body" idx="2"/>
          </p:nvPr>
        </p:nvSpPr>
        <p:spPr>
          <a:xfrm>
            <a:off x="7274634" y="5446206"/>
            <a:ext cx="4582048" cy="1210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763" lvl="0" indent="-476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2" name="Google Shape;22;p25"/>
          <p:cNvSpPr txBox="1">
            <a:spLocks noGrp="1"/>
          </p:cNvSpPr>
          <p:nvPr>
            <p:ph type="body" idx="3"/>
          </p:nvPr>
        </p:nvSpPr>
        <p:spPr>
          <a:xfrm>
            <a:off x="335317" y="5446206"/>
            <a:ext cx="4582048" cy="1210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blue strip">
  <p:cSld name="Title and text blue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8"/>
          <p:cNvSpPr/>
          <p:nvPr/>
        </p:nvSpPr>
        <p:spPr>
          <a:xfrm>
            <a:off x="0" y="0"/>
            <a:ext cx="12192000" cy="8766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8"/>
          <p:cNvSpPr txBox="1">
            <a:spLocks noGrp="1"/>
          </p:cNvSpPr>
          <p:nvPr>
            <p:ph type="sldNum" idx="12"/>
          </p:nvPr>
        </p:nvSpPr>
        <p:spPr>
          <a:xfrm>
            <a:off x="10992897" y="6240911"/>
            <a:ext cx="864141" cy="47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  <p:sp>
        <p:nvSpPr>
          <p:cNvPr id="38" name="Google Shape;38;p28"/>
          <p:cNvSpPr txBox="1">
            <a:spLocks noGrp="1"/>
          </p:cNvSpPr>
          <p:nvPr>
            <p:ph type="ftr" idx="11"/>
          </p:nvPr>
        </p:nvSpPr>
        <p:spPr>
          <a:xfrm>
            <a:off x="334963" y="6240911"/>
            <a:ext cx="10577547" cy="47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cs-CZ" dirty="0"/>
              <a:t>Národní úřad pro kybernetickou a informační bezpečnost, TLP:CLEAR</a:t>
            </a:r>
            <a:endParaRPr dirty="0"/>
          </a:p>
        </p:txBody>
      </p:sp>
      <p:sp>
        <p:nvSpPr>
          <p:cNvPr id="39" name="Google Shape;39;p28"/>
          <p:cNvSpPr txBox="1">
            <a:spLocks noGrp="1"/>
          </p:cNvSpPr>
          <p:nvPr>
            <p:ph type="ctrTitle"/>
          </p:nvPr>
        </p:nvSpPr>
        <p:spPr>
          <a:xfrm>
            <a:off x="334962" y="144000"/>
            <a:ext cx="10800000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Ubuntu"/>
              <a:buNone/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Ubuntu"/>
              <a:buNone/>
              <a:defRPr sz="3600">
                <a:latin typeface="Ubuntu"/>
                <a:ea typeface="Ubuntu"/>
                <a:cs typeface="Ubuntu"/>
                <a:sym typeface="Ubuntu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Ubuntu"/>
              <a:buNone/>
              <a:defRPr sz="3600">
                <a:latin typeface="Ubuntu"/>
                <a:ea typeface="Ubuntu"/>
                <a:cs typeface="Ubuntu"/>
                <a:sym typeface="Ubuntu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Ubuntu"/>
              <a:buNone/>
              <a:defRPr sz="3600">
                <a:latin typeface="Ubuntu"/>
                <a:ea typeface="Ubuntu"/>
                <a:cs typeface="Ubuntu"/>
                <a:sym typeface="Ubuntu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Ubuntu"/>
              <a:buNone/>
              <a:defRPr sz="3600">
                <a:latin typeface="Ubuntu"/>
                <a:ea typeface="Ubuntu"/>
                <a:cs typeface="Ubuntu"/>
                <a:sym typeface="Ubuntu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Ubuntu"/>
              <a:buNone/>
              <a:defRPr sz="3600">
                <a:latin typeface="Ubuntu"/>
                <a:ea typeface="Ubuntu"/>
                <a:cs typeface="Ubuntu"/>
                <a:sym typeface="Ubuntu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Ubuntu"/>
              <a:buNone/>
              <a:defRPr sz="3600">
                <a:latin typeface="Ubuntu"/>
                <a:ea typeface="Ubuntu"/>
                <a:cs typeface="Ubuntu"/>
                <a:sym typeface="Ubuntu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Ubuntu"/>
              <a:buNone/>
              <a:defRPr sz="3600">
                <a:latin typeface="Ubuntu"/>
                <a:ea typeface="Ubuntu"/>
                <a:cs typeface="Ubuntu"/>
                <a:sym typeface="Ubuntu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Ubuntu"/>
              <a:buNone/>
              <a:defRPr sz="3600"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r>
              <a:rPr lang="cs-CZ"/>
              <a:t>Kliknutím lze upravit styl.</a:t>
            </a:r>
            <a:endParaRPr dirty="0"/>
          </a:p>
        </p:txBody>
      </p:sp>
      <p:sp>
        <p:nvSpPr>
          <p:cNvPr id="41" name="Google Shape;41;p28"/>
          <p:cNvSpPr txBox="1">
            <a:spLocks noGrp="1"/>
          </p:cNvSpPr>
          <p:nvPr>
            <p:ph type="body" idx="1"/>
          </p:nvPr>
        </p:nvSpPr>
        <p:spPr>
          <a:xfrm>
            <a:off x="334963" y="1016255"/>
            <a:ext cx="11522075" cy="49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360000" lvl="0" indent="-360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  <a:defRPr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20000" lvl="1" indent="-360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Courier New" panose="02070309020205020404" pitchFamily="49" charset="0"/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Ubuntu"/>
              </a:defRPr>
            </a:lvl2pPr>
            <a:lvl3pPr marL="1080000" lvl="2" indent="-360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Ubuntu"/>
              </a:defRPr>
            </a:lvl3pPr>
            <a:lvl4pPr marL="1440000" lvl="3" indent="-360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Ubuntu"/>
              </a:defRPr>
            </a:lvl4pPr>
            <a:lvl5pPr marL="1800000" lvl="4" indent="-360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Ubuntu"/>
              </a:defRPr>
            </a:lvl5pPr>
            <a:lvl6pPr marL="2743200" lvl="5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Ubuntu"/>
              <a:buChar char="■"/>
              <a:defRPr sz="36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marL="3200400" lvl="6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Ubuntu"/>
              <a:buChar char="●"/>
              <a:defRPr sz="36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marL="3657600" lvl="7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Ubuntu"/>
              <a:buChar char="○"/>
              <a:defRPr sz="36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marL="4114800" lvl="8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Ubuntu"/>
              <a:buChar char="■"/>
              <a:defRPr sz="36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Po kliknutí můžete upravovat styly textu v předloze.</a:t>
            </a:r>
          </a:p>
          <a:p>
            <a:pPr lvl="2"/>
            <a:r>
              <a:rPr lang="cs-CZ" dirty="0"/>
              <a:t>Po kliknutí můžete upravovat styly textu v předloze.</a:t>
            </a:r>
          </a:p>
          <a:p>
            <a:pPr lvl="3"/>
            <a:r>
              <a:rPr lang="cs-CZ" dirty="0"/>
              <a:t>Po kliknutí můžete upravovat styly textu v předloze.</a:t>
            </a:r>
          </a:p>
          <a:p>
            <a:pPr lvl="4"/>
            <a:r>
              <a:rPr lang="cs-CZ" dirty="0"/>
              <a:t>Po kliknutí můžete upravovat styly textu v předloze.</a:t>
            </a:r>
          </a:p>
        </p:txBody>
      </p:sp>
      <p:pic>
        <p:nvPicPr>
          <p:cNvPr id="8" name="Obrázek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5302" y="170902"/>
            <a:ext cx="531736" cy="534796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11">
          <p15:clr>
            <a:srgbClr val="FBAE40"/>
          </p15:clr>
        </p15:guide>
        <p15:guide id="2" pos="746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act white">
  <p:cSld name="Contact white">
    <p:bg>
      <p:bgPr>
        <a:solidFill>
          <a:srgbClr val="FFFFF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6"/>
          <p:cNvSpPr txBox="1">
            <a:spLocks noGrp="1"/>
          </p:cNvSpPr>
          <p:nvPr>
            <p:ph type="ctrTitle"/>
          </p:nvPr>
        </p:nvSpPr>
        <p:spPr>
          <a:xfrm>
            <a:off x="334962" y="3682725"/>
            <a:ext cx="11522076" cy="6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Ubuntu"/>
              <a:buNone/>
              <a:defRPr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cs-CZ"/>
              <a:t>Kliknutím lze upravit styl.</a:t>
            </a:r>
            <a:endParaRPr/>
          </a:p>
        </p:txBody>
      </p:sp>
      <p:sp>
        <p:nvSpPr>
          <p:cNvPr id="92" name="Google Shape;92;p36"/>
          <p:cNvSpPr txBox="1">
            <a:spLocks noGrp="1"/>
          </p:cNvSpPr>
          <p:nvPr>
            <p:ph type="subTitle" idx="1"/>
          </p:nvPr>
        </p:nvSpPr>
        <p:spPr>
          <a:xfrm>
            <a:off x="334963" y="4298804"/>
            <a:ext cx="11522074" cy="161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763" lvl="0" indent="-476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Ubuntu"/>
                <a:ea typeface="Ubuntu"/>
                <a:cs typeface="Ubuntu"/>
                <a:sym typeface="Ubuntu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Ubuntu"/>
                <a:ea typeface="Ubuntu"/>
                <a:cs typeface="Ubuntu"/>
                <a:sym typeface="Ubuntu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Ubuntu"/>
                <a:ea typeface="Ubuntu"/>
                <a:cs typeface="Ubuntu"/>
                <a:sym typeface="Ubuntu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Ubuntu"/>
                <a:ea typeface="Ubuntu"/>
                <a:cs typeface="Ubuntu"/>
                <a:sym typeface="Ubuntu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Ubuntu"/>
                <a:ea typeface="Ubuntu"/>
                <a:cs typeface="Ubuntu"/>
                <a:sym typeface="Ubuntu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Ubuntu"/>
                <a:ea typeface="Ubuntu"/>
                <a:cs typeface="Ubuntu"/>
                <a:sym typeface="Ubuntu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Ubuntu"/>
                <a:ea typeface="Ubuntu"/>
                <a:cs typeface="Ubuntu"/>
                <a:sym typeface="Ubuntu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r>
              <a:rPr lang="cs-CZ"/>
              <a:t>Kliknutím můžete upravit styl předlohy.</a:t>
            </a:r>
            <a:endParaRPr dirty="0"/>
          </a:p>
        </p:txBody>
      </p:sp>
      <p:sp>
        <p:nvSpPr>
          <p:cNvPr id="93" name="Google Shape;93;p36"/>
          <p:cNvSpPr txBox="1">
            <a:spLocks noGrp="1"/>
          </p:cNvSpPr>
          <p:nvPr>
            <p:ph type="sldNum" idx="12"/>
          </p:nvPr>
        </p:nvSpPr>
        <p:spPr>
          <a:xfrm>
            <a:off x="10992897" y="6240911"/>
            <a:ext cx="864141" cy="47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  <p:sp>
        <p:nvSpPr>
          <p:cNvPr id="94" name="Google Shape;94;p36"/>
          <p:cNvSpPr txBox="1">
            <a:spLocks noGrp="1"/>
          </p:cNvSpPr>
          <p:nvPr>
            <p:ph type="ftr" idx="11"/>
          </p:nvPr>
        </p:nvSpPr>
        <p:spPr>
          <a:xfrm>
            <a:off x="334963" y="6240911"/>
            <a:ext cx="10577547" cy="47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cs-CZ" dirty="0"/>
              <a:t>Národní úřad pro kybernetickou a informační bezpečnost, TLP:CLEAR</a:t>
            </a:r>
            <a:endParaRPr dirty="0"/>
          </a:p>
        </p:txBody>
      </p:sp>
      <p:pic>
        <p:nvPicPr>
          <p:cNvPr id="7" name="Obrázek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3277" y="170902"/>
            <a:ext cx="535786" cy="5364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>
            <a:spLocks noGrp="1"/>
          </p:cNvSpPr>
          <p:nvPr>
            <p:ph type="sldNum" idx="12"/>
          </p:nvPr>
        </p:nvSpPr>
        <p:spPr>
          <a:xfrm>
            <a:off x="11202417" y="6352093"/>
            <a:ext cx="6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  <p:sp>
        <p:nvSpPr>
          <p:cNvPr id="7" name="Google Shape;7;p23"/>
          <p:cNvSpPr txBox="1">
            <a:spLocks noGrp="1"/>
          </p:cNvSpPr>
          <p:nvPr>
            <p:ph type="dt" idx="10"/>
          </p:nvPr>
        </p:nvSpPr>
        <p:spPr>
          <a:xfrm>
            <a:off x="8269793" y="635209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3"/>
          <p:cNvSpPr txBox="1">
            <a:spLocks noGrp="1"/>
          </p:cNvSpPr>
          <p:nvPr>
            <p:ph type="ftr" idx="11"/>
          </p:nvPr>
        </p:nvSpPr>
        <p:spPr>
          <a:xfrm>
            <a:off x="334963" y="6356350"/>
            <a:ext cx="77454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cs-CZ" dirty="0"/>
              <a:t>Národní úřad pro kybernetickou a informační bezpečnost, TLP:CLEAR</a:t>
            </a:r>
            <a:endParaRPr dirty="0"/>
          </a:p>
        </p:txBody>
      </p:sp>
      <p:sp>
        <p:nvSpPr>
          <p:cNvPr id="9" name="Google Shape;9;p23"/>
          <p:cNvSpPr txBox="1">
            <a:spLocks noGrp="1"/>
          </p:cNvSpPr>
          <p:nvPr>
            <p:ph type="title"/>
          </p:nvPr>
        </p:nvSpPr>
        <p:spPr>
          <a:xfrm>
            <a:off x="334962" y="225984"/>
            <a:ext cx="11522075" cy="67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" name="Zástupný text 1">
            <a:extLst>
              <a:ext uri="{FF2B5EF4-FFF2-40B4-BE49-F238E27FC236}">
                <a16:creationId xmlns:a16="http://schemas.microsoft.com/office/drawing/2014/main" id="{C76F6BD6-3AC7-4D70-BB55-8EDC8975B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1" y="1074198"/>
            <a:ext cx="11490255" cy="51027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První úroveň.</a:t>
            </a:r>
          </a:p>
          <a:p>
            <a:pPr lvl="1"/>
            <a:r>
              <a:rPr lang="cs-CZ" dirty="0"/>
              <a:t>Druhá úroveň.</a:t>
            </a:r>
          </a:p>
          <a:p>
            <a:pPr lvl="2"/>
            <a:r>
              <a:rPr lang="cs-CZ" dirty="0"/>
              <a:t>Třetí úroveň.</a:t>
            </a:r>
          </a:p>
          <a:p>
            <a:pPr lvl="3"/>
            <a:r>
              <a:rPr lang="cs-CZ" dirty="0"/>
              <a:t>Čtvrtá úroveň.</a:t>
            </a:r>
          </a:p>
          <a:p>
            <a:pPr lvl="4"/>
            <a:r>
              <a:rPr lang="cs-CZ" dirty="0"/>
              <a:t>Pátá úroveň.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3" r:id="rId2"/>
    <p:sldLayoutId id="2147483661" r:id="rId3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360000" marR="0" lvl="0" indent="-36000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 pitchFamily="34" charset="0"/>
        <a:buChar char="•"/>
        <a:defRPr sz="2200" b="0" i="0" u="none" strike="noStrike" cap="none">
          <a:solidFill>
            <a:srgbClr val="000000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Arial"/>
        </a:defRPr>
      </a:lvl1pPr>
      <a:lvl2pPr marL="720000" marR="0" lvl="1" indent="-36000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80000"/>
        <a:buFont typeface="Courier New" panose="02070309020205020404" pitchFamily="49" charset="0"/>
        <a:buChar char="o"/>
        <a:defRPr sz="2000" b="0" i="0" u="none" strike="noStrike" cap="none">
          <a:solidFill>
            <a:srgbClr val="000000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Arial"/>
        </a:defRPr>
      </a:lvl2pPr>
      <a:lvl3pPr marL="1080000" marR="0" lvl="2" indent="-36000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Wingdings" panose="05000000000000000000" pitchFamily="2" charset="2"/>
        <a:buChar char="§"/>
        <a:defRPr sz="2000" b="0" i="0" u="none" strike="noStrike" cap="none">
          <a:solidFill>
            <a:srgbClr val="000000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Arial"/>
        </a:defRPr>
      </a:lvl3pPr>
      <a:lvl4pPr marL="1440000" marR="0" lvl="3" indent="-36000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 pitchFamily="34" charset="0"/>
        <a:buChar char="•"/>
        <a:defRPr sz="2000" b="0" i="0" u="none" strike="noStrike" cap="none">
          <a:solidFill>
            <a:srgbClr val="000000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Arial"/>
        </a:defRPr>
      </a:lvl4pPr>
      <a:lvl5pPr marL="1800000" marR="0" lvl="4" indent="-36000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 pitchFamily="34" charset="0"/>
        <a:buChar char="•"/>
        <a:defRPr sz="2000" b="0" i="0" u="none" strike="noStrike" cap="none">
          <a:solidFill>
            <a:srgbClr val="000000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11">
          <p15:clr>
            <a:srgbClr val="F26B43"/>
          </p15:clr>
        </p15:guide>
        <p15:guide id="2" pos="746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osveta.nukib.cz/course/view.php?id=145#section-3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mailto:regulace@nukib.cz" TargetMode="External"/><Relationship Id="rId2" Type="http://schemas.openxmlformats.org/officeDocument/2006/relationships/hyperlink" Target="mailto:v.saskova@nukib.cz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/>
          <p:cNvSpPr txBox="1">
            <a:spLocks noGrp="1"/>
          </p:cNvSpPr>
          <p:nvPr>
            <p:ph type="ctrTitle"/>
          </p:nvPr>
        </p:nvSpPr>
        <p:spPr>
          <a:xfrm>
            <a:off x="1102822" y="624973"/>
            <a:ext cx="9986356" cy="244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cs-CZ" sz="4400" b="1" dirty="0"/>
              <a:t>Kybernetická bezpečnost a veřejná správa</a:t>
            </a:r>
            <a:br>
              <a:rPr lang="cs-CZ" sz="4800" dirty="0"/>
            </a:br>
            <a:r>
              <a:rPr lang="cs-CZ" sz="3200" dirty="0"/>
              <a:t>v kontextu směrnice NIS2</a:t>
            </a:r>
            <a:endParaRPr lang="cs-CZ" sz="4800" dirty="0"/>
          </a:p>
        </p:txBody>
      </p:sp>
      <p:sp>
        <p:nvSpPr>
          <p:cNvPr id="117" name="Google Shape;117;p2"/>
          <p:cNvSpPr txBox="1">
            <a:spLocks noGrp="1"/>
          </p:cNvSpPr>
          <p:nvPr>
            <p:ph type="body" idx="2"/>
          </p:nvPr>
        </p:nvSpPr>
        <p:spPr>
          <a:xfrm>
            <a:off x="7274634" y="5446206"/>
            <a:ext cx="4582048" cy="1210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>
                <a:solidFill>
                  <a:schemeClr val="tx1"/>
                </a:solidFill>
              </a:rPr>
              <a:t>Daniela Procházková</a:t>
            </a: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>
                <a:solidFill>
                  <a:schemeClr val="tx1"/>
                </a:solidFill>
              </a:rPr>
              <a:t>vedoucí oddělení regulace veřejného sektoru</a:t>
            </a:r>
          </a:p>
        </p:txBody>
      </p:sp>
      <p:sp>
        <p:nvSpPr>
          <p:cNvPr id="118" name="Google Shape;118;p2"/>
          <p:cNvSpPr txBox="1">
            <a:spLocks noGrp="1"/>
          </p:cNvSpPr>
          <p:nvPr>
            <p:ph type="body" idx="3"/>
          </p:nvPr>
        </p:nvSpPr>
        <p:spPr>
          <a:xfrm>
            <a:off x="335317" y="5446206"/>
            <a:ext cx="4582048" cy="1210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>
                <a:solidFill>
                  <a:schemeClr val="tx1"/>
                </a:solidFill>
              </a:rPr>
              <a:t>20. Března 2023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TLP: </a:t>
            </a:r>
            <a:r>
              <a:rPr lang="cs-CZ" dirty="0">
                <a:solidFill>
                  <a:schemeClr val="tx1"/>
                </a:solidFill>
              </a:rPr>
              <a:t>CLEAR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 txBox="1">
            <a:spLocks noGrp="1"/>
          </p:cNvSpPr>
          <p:nvPr>
            <p:ph type="body" idx="1"/>
          </p:nvPr>
        </p:nvSpPr>
        <p:spPr>
          <a:xfrm>
            <a:off x="334963" y="966187"/>
            <a:ext cx="11522075" cy="52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spcBef>
                <a:spcPts val="600"/>
              </a:spcBef>
              <a:buClr>
                <a:srgbClr val="00B0F0"/>
              </a:buClr>
              <a:buFont typeface="Courier New" panose="02070309020205020404" pitchFamily="49" charset="0"/>
              <a:buChar char="o"/>
            </a:pPr>
            <a:r>
              <a:rPr lang="cs-CZ" sz="2400" dirty="0"/>
              <a:t>NÚKIB nemůže podkročit NIS2 - takové návrhy bude muset odmítnout</a:t>
            </a:r>
          </a:p>
          <a:p>
            <a:pPr algn="just">
              <a:spcBef>
                <a:spcPts val="600"/>
              </a:spcBef>
              <a:buClr>
                <a:srgbClr val="00B0F0"/>
              </a:buClr>
              <a:buFont typeface="Courier New" panose="02070309020205020404" pitchFamily="49" charset="0"/>
              <a:buChar char="o"/>
            </a:pPr>
            <a:r>
              <a:rPr lang="cs-CZ" sz="2400" dirty="0"/>
              <a:t>Předpisy z návrhů se </a:t>
            </a:r>
            <a:r>
              <a:rPr lang="cs-CZ" sz="2400" b="1" dirty="0"/>
              <a:t>budou</a:t>
            </a:r>
            <a:r>
              <a:rPr lang="cs-CZ" sz="2400" dirty="0"/>
              <a:t> měnit – zveřejnili jsme je ke skutečné konzultaci, ze které teď vyvozujeme důsledky a skutečně zapracováváme vstupy a ještě tyto návrhy čeká MPŘ – další příležitost i pro vás ovlivnit jejich podobu</a:t>
            </a:r>
          </a:p>
          <a:p>
            <a:pPr lvl="1" algn="just">
              <a:spcBef>
                <a:spcPts val="600"/>
              </a:spcBef>
              <a:buClr>
                <a:srgbClr val="00B0F0"/>
              </a:buClr>
            </a:pPr>
            <a:r>
              <a:rPr lang="cs-CZ" sz="2200" dirty="0"/>
              <a:t>Tedy, je vhodné počítat s tím, že dojde ke změnám</a:t>
            </a:r>
          </a:p>
          <a:p>
            <a:pPr lvl="1" algn="just">
              <a:spcBef>
                <a:spcPts val="600"/>
              </a:spcBef>
              <a:buClr>
                <a:srgbClr val="00B0F0"/>
              </a:buClr>
            </a:pPr>
            <a:r>
              <a:rPr lang="cs-CZ" sz="2200" dirty="0"/>
              <a:t>K informacím o změnách se dostanete– NÚKIB je bude komunikovat na webu k NIS2 a poskytne rád i jejich výklad</a:t>
            </a:r>
          </a:p>
          <a:p>
            <a:pPr algn="just">
              <a:spcBef>
                <a:spcPts val="600"/>
              </a:spcBef>
              <a:buClr>
                <a:srgbClr val="00B0F0"/>
              </a:buClr>
              <a:buFont typeface="Courier New" panose="02070309020205020404" pitchFamily="49" charset="0"/>
              <a:buChar char="o"/>
            </a:pPr>
            <a:r>
              <a:rPr lang="cs-CZ" sz="2400" dirty="0"/>
              <a:t>Prezentace má informační a osvětových charakter a vychází z aktuálního stavu poznání.</a:t>
            </a:r>
          </a:p>
        </p:txBody>
      </p:sp>
      <p:sp>
        <p:nvSpPr>
          <p:cNvPr id="139" name="Google Shape;139;p5"/>
          <p:cNvSpPr txBox="1">
            <a:spLocks noGrp="1"/>
          </p:cNvSpPr>
          <p:nvPr>
            <p:ph type="sldNum" idx="12"/>
          </p:nvPr>
        </p:nvSpPr>
        <p:spPr>
          <a:xfrm>
            <a:off x="10992897" y="6240911"/>
            <a:ext cx="864141" cy="47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cs-CZ"/>
              <a:t>2</a:t>
            </a:fld>
            <a:endParaRPr dirty="0"/>
          </a:p>
        </p:txBody>
      </p:sp>
      <p:sp>
        <p:nvSpPr>
          <p:cNvPr id="140" name="Google Shape;140;p5"/>
          <p:cNvSpPr txBox="1">
            <a:spLocks noGrp="1"/>
          </p:cNvSpPr>
          <p:nvPr>
            <p:ph type="ftr" idx="11"/>
          </p:nvPr>
        </p:nvSpPr>
        <p:spPr>
          <a:xfrm>
            <a:off x="334963" y="6240911"/>
            <a:ext cx="10577547" cy="47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cs-CZ" dirty="0"/>
              <a:t>Národní úřad pro kybernetickou a informační bezpečnost, TLP: CLEAR</a:t>
            </a:r>
          </a:p>
        </p:txBody>
      </p:sp>
      <p:sp>
        <p:nvSpPr>
          <p:cNvPr id="8" name="Google Shape;141;p5">
            <a:extLst>
              <a:ext uri="{FF2B5EF4-FFF2-40B4-BE49-F238E27FC236}">
                <a16:creationId xmlns:a16="http://schemas.microsoft.com/office/drawing/2014/main" id="{56FA07EE-D604-4FA3-B20B-73A40920139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34963" y="141814"/>
            <a:ext cx="10168054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cs-CZ" dirty="0"/>
              <a:t>Co si říci na začátek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34050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3E33DC27-7B34-4DED-A2F1-2A34985037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 smtClean="0"/>
              <a:t>3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45923E8F-0D9C-4C16-A5BC-95DEBE92D8B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cs-CZ" dirty="0"/>
              <a:t>Národní úřad pro kybernetickou a informační bezpečnost, TLP:CLEAR</a:t>
            </a:r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1D201EDD-39CC-4434-BA62-BF7F456A6C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Stav směrnice NIS2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E52DA180-8F4D-47C8-869F-520500E03E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1" y="4001292"/>
            <a:ext cx="11522075" cy="2513807"/>
          </a:xfrm>
        </p:spPr>
        <p:txBody>
          <a:bodyPr/>
          <a:lstStyle/>
          <a:p>
            <a:r>
              <a:rPr lang="cs-CZ" dirty="0"/>
              <a:t>Směrnice byla publikována 27. prosince 2022</a:t>
            </a:r>
          </a:p>
          <a:p>
            <a:r>
              <a:rPr lang="cs-CZ" dirty="0"/>
              <a:t>Gestor problematiky (předkladatel návrhu transpozičního zákona) = NÚKIB</a:t>
            </a:r>
          </a:p>
          <a:p>
            <a:r>
              <a:rPr lang="cs-CZ" sz="2800" b="1" dirty="0"/>
              <a:t>Transpozice, tj. provedení obsahu směrnice do českého práva je potřeba provést do 17. října 2024 – nová pravidla budou platná.</a:t>
            </a:r>
          </a:p>
          <a:p>
            <a:pPr marL="0" indent="0">
              <a:buNone/>
            </a:pPr>
            <a:r>
              <a:rPr lang="cs-CZ" sz="2400" dirty="0"/>
              <a:t>=&gt; Návrh odejde do legislativního procesu (LRV, MPŘ, Parlament…) v polovině 2023</a:t>
            </a: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C0AB3076-6642-4209-8B15-D52EDE531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2" y="843993"/>
            <a:ext cx="12184175" cy="327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281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 txBox="1">
            <a:spLocks noGrp="1"/>
          </p:cNvSpPr>
          <p:nvPr>
            <p:ph type="body" idx="1"/>
          </p:nvPr>
        </p:nvSpPr>
        <p:spPr>
          <a:xfrm>
            <a:off x="334963" y="966187"/>
            <a:ext cx="3154857" cy="52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00"/>
              </a:spcBef>
              <a:buClr>
                <a:srgbClr val="00B0F0"/>
              </a:buClr>
              <a:buNone/>
            </a:pPr>
            <a:r>
              <a:rPr lang="cs-CZ" sz="2000" dirty="0"/>
              <a:t>Směrnice NIS2 navazuje na obsah směrnice NIS1 přijaté v roce 2016 a poprvé zavádí povinnou regulaci veřejné správy ze strany členských států.</a:t>
            </a:r>
          </a:p>
          <a:p>
            <a:pPr marL="0" indent="0">
              <a:spcBef>
                <a:spcPts val="600"/>
              </a:spcBef>
              <a:buClr>
                <a:srgbClr val="00B0F0"/>
              </a:buClr>
              <a:buNone/>
            </a:pPr>
            <a:r>
              <a:rPr lang="cs-CZ" sz="2000" dirty="0"/>
              <a:t>ČR měla již existující úpravu kybernetické bezpečnosti veřejné správy</a:t>
            </a:r>
            <a:endParaRPr lang="cs-CZ" sz="1600" dirty="0"/>
          </a:p>
        </p:txBody>
      </p:sp>
      <p:sp>
        <p:nvSpPr>
          <p:cNvPr id="139" name="Google Shape;139;p5"/>
          <p:cNvSpPr txBox="1">
            <a:spLocks noGrp="1"/>
          </p:cNvSpPr>
          <p:nvPr>
            <p:ph type="sldNum" idx="12"/>
          </p:nvPr>
        </p:nvSpPr>
        <p:spPr>
          <a:xfrm>
            <a:off x="10992897" y="6240911"/>
            <a:ext cx="864141" cy="47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cs-CZ"/>
              <a:t>4</a:t>
            </a:fld>
            <a:endParaRPr dirty="0"/>
          </a:p>
        </p:txBody>
      </p:sp>
      <p:sp>
        <p:nvSpPr>
          <p:cNvPr id="140" name="Google Shape;140;p5"/>
          <p:cNvSpPr txBox="1">
            <a:spLocks noGrp="1"/>
          </p:cNvSpPr>
          <p:nvPr>
            <p:ph type="ftr" idx="11"/>
          </p:nvPr>
        </p:nvSpPr>
        <p:spPr>
          <a:xfrm>
            <a:off x="334963" y="6240911"/>
            <a:ext cx="10577547" cy="47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cs-CZ" dirty="0"/>
              <a:t>Národní úřad pro kybernetickou a informační bezpečnost, TLP: CLEAR</a:t>
            </a:r>
          </a:p>
        </p:txBody>
      </p:sp>
      <p:sp>
        <p:nvSpPr>
          <p:cNvPr id="8" name="Google Shape;141;p5">
            <a:extLst>
              <a:ext uri="{FF2B5EF4-FFF2-40B4-BE49-F238E27FC236}">
                <a16:creationId xmlns:a16="http://schemas.microsoft.com/office/drawing/2014/main" id="{56FA07EE-D604-4FA3-B20B-73A40920139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34963" y="141814"/>
            <a:ext cx="10168054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cs-CZ" dirty="0"/>
              <a:t>Nová směrnice NIS2</a:t>
            </a:r>
            <a:endParaRPr dirty="0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BB2D4911-4CA9-443A-A076-E415BF22F4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9820" y="966187"/>
            <a:ext cx="8584734" cy="5350759"/>
          </a:xfrm>
          <a:prstGeom prst="rect">
            <a:avLst/>
          </a:prstGeom>
        </p:spPr>
      </p:pic>
      <p:sp>
        <p:nvSpPr>
          <p:cNvPr id="10" name="Obdélník 9">
            <a:extLst>
              <a:ext uri="{FF2B5EF4-FFF2-40B4-BE49-F238E27FC236}">
                <a16:creationId xmlns:a16="http://schemas.microsoft.com/office/drawing/2014/main" id="{DF390EFF-9C72-4274-B44F-CDB160AA789D}"/>
              </a:ext>
            </a:extLst>
          </p:cNvPr>
          <p:cNvSpPr/>
          <p:nvPr/>
        </p:nvSpPr>
        <p:spPr>
          <a:xfrm>
            <a:off x="6446418" y="5155282"/>
            <a:ext cx="2843868" cy="569243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47402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/>
          <p:cNvSpPr txBox="1">
            <a:spLocks noGrp="1"/>
          </p:cNvSpPr>
          <p:nvPr>
            <p:ph type="ctrTitle"/>
          </p:nvPr>
        </p:nvSpPr>
        <p:spPr>
          <a:xfrm>
            <a:off x="1102822" y="1049223"/>
            <a:ext cx="9986356" cy="244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cs-CZ" sz="5400" dirty="0">
                <a:solidFill>
                  <a:schemeClr val="tx1"/>
                </a:solidFill>
              </a:rPr>
              <a:t>Návrh nového </a:t>
            </a:r>
            <a:br>
              <a:rPr lang="cs-CZ" sz="5400" dirty="0">
                <a:solidFill>
                  <a:schemeClr val="tx1"/>
                </a:solidFill>
              </a:rPr>
            </a:br>
            <a:r>
              <a:rPr lang="cs-CZ" sz="5400" dirty="0">
                <a:solidFill>
                  <a:schemeClr val="tx1"/>
                </a:solidFill>
              </a:rPr>
              <a:t>zákona o kybernetické bezpečnosti</a:t>
            </a:r>
            <a:br>
              <a:rPr lang="cs-CZ" sz="5400" dirty="0">
                <a:solidFill>
                  <a:schemeClr val="tx1"/>
                </a:solidFill>
              </a:rPr>
            </a:br>
            <a:endParaRPr lang="cs-CZ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8462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078BB0C2-017D-4DB9-9379-0AB27B7842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 smtClean="0"/>
              <a:t>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27D7F272-DC81-4612-9E22-17FB0FC1DDD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cs-CZ" dirty="0"/>
              <a:t>Národní úřad pro kybernetickou a informační bezpečnost, TLP: CLEAR</a:t>
            </a:r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13DE6F9B-8FE0-4D2F-B05D-C3D5017D3E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963" y="105956"/>
            <a:ext cx="10800000" cy="610200"/>
          </a:xfrm>
        </p:spPr>
        <p:txBody>
          <a:bodyPr/>
          <a:lstStyle/>
          <a:p>
            <a:r>
              <a:rPr lang="pl-PL" dirty="0"/>
              <a:t>Nový zákon o kybernetické bezpečnosti (NZKB)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B7748D71-E24B-467B-BF5F-E883CFBE41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3480" y="1057013"/>
            <a:ext cx="5582518" cy="5183898"/>
          </a:xfrm>
        </p:spPr>
        <p:txBody>
          <a:bodyPr/>
          <a:lstStyle/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cs-CZ" sz="2000" dirty="0">
                <a:solidFill>
                  <a:srgbClr val="000000"/>
                </a:solidFill>
              </a:rPr>
              <a:t>Nový zákon o kybernetické bezpečnosti – změn je tolik, že bylo třeba vytvořit nový zákon</a:t>
            </a: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cs-CZ" sz="1800" dirty="0">
                <a:solidFill>
                  <a:srgbClr val="000000"/>
                </a:solidFill>
              </a:rPr>
              <a:t>zcela nová úprava – cca 60 paragrafů</a:t>
            </a:r>
          </a:p>
          <a:p>
            <a:pPr lvl="1">
              <a:spcBef>
                <a:spcPts val="600"/>
              </a:spcBef>
              <a:buClr>
                <a:schemeClr val="accent1"/>
              </a:buClr>
            </a:pPr>
            <a:endParaRPr lang="cs-CZ" sz="1800" dirty="0">
              <a:solidFill>
                <a:srgbClr val="000000"/>
              </a:solidFill>
            </a:endParaRP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cs-CZ" sz="2000" dirty="0">
                <a:solidFill>
                  <a:schemeClr val="tx1"/>
                </a:solidFill>
              </a:rPr>
              <a:t>Zveřejněný návrh má </a:t>
            </a:r>
            <a:br>
              <a:rPr lang="cs-CZ" sz="2000" dirty="0">
                <a:solidFill>
                  <a:schemeClr val="tx1"/>
                </a:solidFill>
              </a:rPr>
            </a:br>
            <a:r>
              <a:rPr lang="cs-CZ" sz="2000" dirty="0">
                <a:solidFill>
                  <a:schemeClr val="tx1"/>
                </a:solidFill>
              </a:rPr>
              <a:t>aktuálně navíc 8 vyhlášek</a:t>
            </a:r>
          </a:p>
          <a:p>
            <a:pPr>
              <a:spcBef>
                <a:spcPts val="6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</a:pPr>
            <a:endParaRPr lang="cs-CZ" sz="1400" b="1" i="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endParaRPr lang="cs-CZ" sz="2000" dirty="0">
              <a:solidFill>
                <a:schemeClr val="tx1"/>
              </a:solidFill>
            </a:endParaRP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endParaRPr lang="cs-CZ" sz="2000" dirty="0">
              <a:solidFill>
                <a:schemeClr val="tx1"/>
              </a:solidFill>
            </a:endParaRP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cs-CZ" sz="2000" dirty="0">
                <a:solidFill>
                  <a:schemeClr val="tx1"/>
                </a:solidFill>
              </a:rPr>
              <a:t>Celý návrh zveřejněn </a:t>
            </a:r>
            <a:br>
              <a:rPr lang="cs-CZ" sz="2000" dirty="0">
                <a:solidFill>
                  <a:schemeClr val="tx1"/>
                </a:solidFill>
              </a:rPr>
            </a:br>
            <a:r>
              <a:rPr lang="cs-CZ" sz="2000" dirty="0">
                <a:solidFill>
                  <a:schemeClr val="tx1"/>
                </a:solidFill>
              </a:rPr>
              <a:t>zde:</a:t>
            </a:r>
            <a:r>
              <a:rPr lang="cs-CZ" sz="20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cs-CZ" sz="2000" dirty="0" err="1">
                <a:hlinkClick r:id="rId3"/>
              </a:rPr>
              <a:t>Course</a:t>
            </a:r>
            <a:r>
              <a:rPr lang="cs-CZ" sz="2000" dirty="0">
                <a:hlinkClick r:id="rId3"/>
              </a:rPr>
              <a:t>: Nová směrnice EU o bezpečnosti sítí a informací (nukib.cz)</a:t>
            </a:r>
            <a:endParaRPr lang="cs-CZ" sz="2000" b="1" i="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6" name="Obdélník: se zakulacenými rohy 5">
            <a:extLst>
              <a:ext uri="{FF2B5EF4-FFF2-40B4-BE49-F238E27FC236}">
                <a16:creationId xmlns:a16="http://schemas.microsoft.com/office/drawing/2014/main" id="{AD0C124B-EAA5-489A-9DF6-B45B819DD9F5}"/>
              </a:ext>
            </a:extLst>
          </p:cNvPr>
          <p:cNvSpPr/>
          <p:nvPr/>
        </p:nvSpPr>
        <p:spPr>
          <a:xfrm>
            <a:off x="6834749" y="1206101"/>
            <a:ext cx="2021305" cy="80210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2000" b="1" dirty="0"/>
              <a:t>NIS2</a:t>
            </a:r>
          </a:p>
        </p:txBody>
      </p:sp>
      <p:sp>
        <p:nvSpPr>
          <p:cNvPr id="7" name="Obdélník: se zakulacenými rohy 6">
            <a:extLst>
              <a:ext uri="{FF2B5EF4-FFF2-40B4-BE49-F238E27FC236}">
                <a16:creationId xmlns:a16="http://schemas.microsoft.com/office/drawing/2014/main" id="{60D29A7C-61C9-4ED5-9F1A-09338FF3D272}"/>
              </a:ext>
            </a:extLst>
          </p:cNvPr>
          <p:cNvSpPr/>
          <p:nvPr/>
        </p:nvSpPr>
        <p:spPr>
          <a:xfrm>
            <a:off x="6826360" y="2852110"/>
            <a:ext cx="2021305" cy="80210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2000" b="1" dirty="0"/>
              <a:t>Nový ZKB</a:t>
            </a:r>
          </a:p>
        </p:txBody>
      </p:sp>
      <p:sp>
        <p:nvSpPr>
          <p:cNvPr id="8" name="Obdélník: se zakulacenými rohy 7">
            <a:extLst>
              <a:ext uri="{FF2B5EF4-FFF2-40B4-BE49-F238E27FC236}">
                <a16:creationId xmlns:a16="http://schemas.microsoft.com/office/drawing/2014/main" id="{2576B1F0-7AE1-496D-8325-9CCF0298F38B}"/>
              </a:ext>
            </a:extLst>
          </p:cNvPr>
          <p:cNvSpPr/>
          <p:nvPr/>
        </p:nvSpPr>
        <p:spPr>
          <a:xfrm>
            <a:off x="5113971" y="5238768"/>
            <a:ext cx="2684623" cy="95401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600" b="1" dirty="0">
                <a:solidFill>
                  <a:schemeClr val="bg1"/>
                </a:solidFill>
              </a:rPr>
              <a:t>Vyhláška o bezpečnostních opatřeních pro </a:t>
            </a:r>
            <a:r>
              <a:rPr lang="cs-CZ" sz="1600" b="1" u="sng" dirty="0">
                <a:solidFill>
                  <a:schemeClr val="bg1"/>
                </a:solidFill>
              </a:rPr>
              <a:t>vyšší</a:t>
            </a:r>
            <a:r>
              <a:rPr lang="cs-CZ" sz="1600" b="1" dirty="0">
                <a:solidFill>
                  <a:schemeClr val="bg1"/>
                </a:solidFill>
              </a:rPr>
              <a:t> režim</a:t>
            </a:r>
          </a:p>
        </p:txBody>
      </p:sp>
      <p:cxnSp>
        <p:nvCxnSpPr>
          <p:cNvPr id="9" name="Přímá spojnice se šipkou 8">
            <a:extLst>
              <a:ext uri="{FF2B5EF4-FFF2-40B4-BE49-F238E27FC236}">
                <a16:creationId xmlns:a16="http://schemas.microsoft.com/office/drawing/2014/main" id="{FB6FF0FD-2772-4FB0-A359-568C3BC83163}"/>
              </a:ext>
            </a:extLst>
          </p:cNvPr>
          <p:cNvCxnSpPr>
            <a:stCxn id="6" idx="2"/>
            <a:endCxn id="7" idx="0"/>
          </p:cNvCxnSpPr>
          <p:nvPr/>
        </p:nvCxnSpPr>
        <p:spPr>
          <a:xfrm flipH="1">
            <a:off x="7837013" y="2008207"/>
            <a:ext cx="8389" cy="84390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Přímá spojnice se šipkou 9">
            <a:extLst>
              <a:ext uri="{FF2B5EF4-FFF2-40B4-BE49-F238E27FC236}">
                <a16:creationId xmlns:a16="http://schemas.microsoft.com/office/drawing/2014/main" id="{0CBB0F32-2A62-49A4-9619-B29CCAFFDEE4}"/>
              </a:ext>
            </a:extLst>
          </p:cNvPr>
          <p:cNvCxnSpPr>
            <a:cxnSpLocks/>
            <a:stCxn id="7" idx="1"/>
            <a:endCxn id="12" idx="3"/>
          </p:cNvCxnSpPr>
          <p:nvPr/>
        </p:nvCxnSpPr>
        <p:spPr>
          <a:xfrm flipH="1" flipV="1">
            <a:off x="6346200" y="3246158"/>
            <a:ext cx="480160" cy="700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Přímá spojnice se šipkou 10">
            <a:extLst>
              <a:ext uri="{FF2B5EF4-FFF2-40B4-BE49-F238E27FC236}">
                <a16:creationId xmlns:a16="http://schemas.microsoft.com/office/drawing/2014/main" id="{DD0E534E-14B4-4C4A-9E15-6465CA492294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flipH="1">
            <a:off x="6456283" y="3654216"/>
            <a:ext cx="1380730" cy="158455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bdélník: se zakulacenými rohy 11">
            <a:extLst>
              <a:ext uri="{FF2B5EF4-FFF2-40B4-BE49-F238E27FC236}">
                <a16:creationId xmlns:a16="http://schemas.microsoft.com/office/drawing/2014/main" id="{9FBDED9B-5FBD-47BA-A6DE-5D66B52F6649}"/>
              </a:ext>
            </a:extLst>
          </p:cNvPr>
          <p:cNvSpPr/>
          <p:nvPr/>
        </p:nvSpPr>
        <p:spPr>
          <a:xfrm>
            <a:off x="4324895" y="2456083"/>
            <a:ext cx="2021305" cy="158015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2000" b="1" dirty="0">
                <a:solidFill>
                  <a:schemeClr val="bg1"/>
                </a:solidFill>
              </a:rPr>
              <a:t>Vyhláška o regulovaných službách</a:t>
            </a:r>
          </a:p>
        </p:txBody>
      </p:sp>
      <p:sp>
        <p:nvSpPr>
          <p:cNvPr id="13" name="Obdélník: se zakulacenými rohy 12">
            <a:extLst>
              <a:ext uri="{FF2B5EF4-FFF2-40B4-BE49-F238E27FC236}">
                <a16:creationId xmlns:a16="http://schemas.microsoft.com/office/drawing/2014/main" id="{963223A3-E5ED-4D71-B615-9370BED7A91F}"/>
              </a:ext>
            </a:extLst>
          </p:cNvPr>
          <p:cNvSpPr/>
          <p:nvPr/>
        </p:nvSpPr>
        <p:spPr>
          <a:xfrm>
            <a:off x="7932949" y="5255373"/>
            <a:ext cx="2684623" cy="95401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600" b="1" dirty="0">
                <a:solidFill>
                  <a:schemeClr val="bg1"/>
                </a:solidFill>
              </a:rPr>
              <a:t>Vyhláška o bezpečnostních opatřeních pro </a:t>
            </a:r>
            <a:r>
              <a:rPr lang="cs-CZ" sz="1600" b="1" u="sng" dirty="0">
                <a:solidFill>
                  <a:schemeClr val="bg1"/>
                </a:solidFill>
              </a:rPr>
              <a:t>nižší</a:t>
            </a:r>
            <a:r>
              <a:rPr lang="cs-CZ" sz="1600" b="1" dirty="0">
                <a:solidFill>
                  <a:schemeClr val="bg1"/>
                </a:solidFill>
              </a:rPr>
              <a:t> režim</a:t>
            </a:r>
          </a:p>
        </p:txBody>
      </p:sp>
      <p:sp>
        <p:nvSpPr>
          <p:cNvPr id="14" name="Obdélník: se zakulacenými rohy 13">
            <a:extLst>
              <a:ext uri="{FF2B5EF4-FFF2-40B4-BE49-F238E27FC236}">
                <a16:creationId xmlns:a16="http://schemas.microsoft.com/office/drawing/2014/main" id="{27426541-9EF8-42C0-BBA2-10C29828CE72}"/>
              </a:ext>
            </a:extLst>
          </p:cNvPr>
          <p:cNvSpPr/>
          <p:nvPr/>
        </p:nvSpPr>
        <p:spPr>
          <a:xfrm>
            <a:off x="9799410" y="1178444"/>
            <a:ext cx="2021305" cy="610201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100" b="1" dirty="0"/>
              <a:t>Vyhláška o Portálu NÚKIB</a:t>
            </a:r>
          </a:p>
        </p:txBody>
      </p:sp>
      <p:sp>
        <p:nvSpPr>
          <p:cNvPr id="15" name="Obdélník: se zakulacenými rohy 14">
            <a:extLst>
              <a:ext uri="{FF2B5EF4-FFF2-40B4-BE49-F238E27FC236}">
                <a16:creationId xmlns:a16="http://schemas.microsoft.com/office/drawing/2014/main" id="{3C5DB5D7-2B34-49E1-BD06-9E2E6BD57364}"/>
              </a:ext>
            </a:extLst>
          </p:cNvPr>
          <p:cNvSpPr/>
          <p:nvPr/>
        </p:nvSpPr>
        <p:spPr>
          <a:xfrm>
            <a:off x="9799410" y="1958113"/>
            <a:ext cx="2021305" cy="610202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100" b="1" dirty="0"/>
              <a:t>Vyhláška o inspektorech</a:t>
            </a:r>
          </a:p>
        </p:txBody>
      </p:sp>
      <p:sp>
        <p:nvSpPr>
          <p:cNvPr id="16" name="Obdélník: se zakulacenými rohy 15">
            <a:extLst>
              <a:ext uri="{FF2B5EF4-FFF2-40B4-BE49-F238E27FC236}">
                <a16:creationId xmlns:a16="http://schemas.microsoft.com/office/drawing/2014/main" id="{DF55D6F3-EB8F-43C6-8581-011DBCD3DE0A}"/>
              </a:ext>
            </a:extLst>
          </p:cNvPr>
          <p:cNvSpPr/>
          <p:nvPr/>
        </p:nvSpPr>
        <p:spPr>
          <a:xfrm>
            <a:off x="9843447" y="2712614"/>
            <a:ext cx="1993271" cy="610202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100" b="1" dirty="0"/>
              <a:t>Vyhláška o nepominutelných funkcích (BDŘ)</a:t>
            </a:r>
          </a:p>
        </p:txBody>
      </p:sp>
      <p:sp>
        <p:nvSpPr>
          <p:cNvPr id="17" name="Obdélník: se zakulacenými rohy 16">
            <a:extLst>
              <a:ext uri="{FF2B5EF4-FFF2-40B4-BE49-F238E27FC236}">
                <a16:creationId xmlns:a16="http://schemas.microsoft.com/office/drawing/2014/main" id="{EE8454CC-4745-4948-A1A5-F691EA787528}"/>
              </a:ext>
            </a:extLst>
          </p:cNvPr>
          <p:cNvSpPr/>
          <p:nvPr/>
        </p:nvSpPr>
        <p:spPr>
          <a:xfrm>
            <a:off x="9827444" y="3485012"/>
            <a:ext cx="1993271" cy="609944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100" b="1" dirty="0"/>
              <a:t>Vyhláška o kritériích rizikovosti dodavatele (BDŘ)</a:t>
            </a:r>
          </a:p>
        </p:txBody>
      </p:sp>
      <p:cxnSp>
        <p:nvCxnSpPr>
          <p:cNvPr id="18" name="Přímá spojnice se šipkou 17">
            <a:extLst>
              <a:ext uri="{FF2B5EF4-FFF2-40B4-BE49-F238E27FC236}">
                <a16:creationId xmlns:a16="http://schemas.microsoft.com/office/drawing/2014/main" id="{06373468-700F-436F-9D92-EF204CBC30E0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>
            <a:off x="7837013" y="3654216"/>
            <a:ext cx="1438248" cy="160115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Přímá spojnice se šipkou 18">
            <a:extLst>
              <a:ext uri="{FF2B5EF4-FFF2-40B4-BE49-F238E27FC236}">
                <a16:creationId xmlns:a16="http://schemas.microsoft.com/office/drawing/2014/main" id="{207326D9-53E0-4A4C-A5FC-460E2C775FD6}"/>
              </a:ext>
            </a:extLst>
          </p:cNvPr>
          <p:cNvCxnSpPr>
            <a:cxnSpLocks/>
            <a:stCxn id="7" idx="3"/>
            <a:endCxn id="14" idx="1"/>
          </p:cNvCxnSpPr>
          <p:nvPr/>
        </p:nvCxnSpPr>
        <p:spPr>
          <a:xfrm flipV="1">
            <a:off x="8847665" y="1483545"/>
            <a:ext cx="951745" cy="176961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Přímá spojnice se šipkou 19">
            <a:extLst>
              <a:ext uri="{FF2B5EF4-FFF2-40B4-BE49-F238E27FC236}">
                <a16:creationId xmlns:a16="http://schemas.microsoft.com/office/drawing/2014/main" id="{1CA78042-019E-4706-8CFA-4B1A249EE289}"/>
              </a:ext>
            </a:extLst>
          </p:cNvPr>
          <p:cNvCxnSpPr>
            <a:cxnSpLocks/>
            <a:stCxn id="7" idx="3"/>
            <a:endCxn id="15" idx="1"/>
          </p:cNvCxnSpPr>
          <p:nvPr/>
        </p:nvCxnSpPr>
        <p:spPr>
          <a:xfrm flipV="1">
            <a:off x="8847665" y="2263214"/>
            <a:ext cx="951745" cy="98994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Přímá spojnice se šipkou 20">
            <a:extLst>
              <a:ext uri="{FF2B5EF4-FFF2-40B4-BE49-F238E27FC236}">
                <a16:creationId xmlns:a16="http://schemas.microsoft.com/office/drawing/2014/main" id="{1A9D2C8A-92DA-4873-9F89-48443DA8275F}"/>
              </a:ext>
            </a:extLst>
          </p:cNvPr>
          <p:cNvCxnSpPr>
            <a:cxnSpLocks/>
            <a:stCxn id="7" idx="3"/>
            <a:endCxn id="16" idx="1"/>
          </p:cNvCxnSpPr>
          <p:nvPr/>
        </p:nvCxnSpPr>
        <p:spPr>
          <a:xfrm flipV="1">
            <a:off x="8847665" y="3017715"/>
            <a:ext cx="995782" cy="23544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Přímá spojnice se šipkou 21">
            <a:extLst>
              <a:ext uri="{FF2B5EF4-FFF2-40B4-BE49-F238E27FC236}">
                <a16:creationId xmlns:a16="http://schemas.microsoft.com/office/drawing/2014/main" id="{61D300A3-8F16-4E48-B7EA-B502E0C708CA}"/>
              </a:ext>
            </a:extLst>
          </p:cNvPr>
          <p:cNvCxnSpPr>
            <a:cxnSpLocks/>
            <a:stCxn id="7" idx="3"/>
            <a:endCxn id="17" idx="1"/>
          </p:cNvCxnSpPr>
          <p:nvPr/>
        </p:nvCxnSpPr>
        <p:spPr>
          <a:xfrm>
            <a:off x="8847665" y="3253163"/>
            <a:ext cx="979779" cy="53682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bdélník: se zakulacenými rohy 22">
            <a:extLst>
              <a:ext uri="{FF2B5EF4-FFF2-40B4-BE49-F238E27FC236}">
                <a16:creationId xmlns:a16="http://schemas.microsoft.com/office/drawing/2014/main" id="{E4CD9D0E-302C-466C-B3AB-6C91A05FB208}"/>
              </a:ext>
            </a:extLst>
          </p:cNvPr>
          <p:cNvSpPr/>
          <p:nvPr/>
        </p:nvSpPr>
        <p:spPr>
          <a:xfrm>
            <a:off x="9799410" y="4227101"/>
            <a:ext cx="2056294" cy="787884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200" b="1" dirty="0">
                <a:solidFill>
                  <a:schemeClr val="bg1"/>
                </a:solidFill>
              </a:rPr>
              <a:t>Vyhláška o úrovních cloud computingu </a:t>
            </a:r>
          </a:p>
          <a:p>
            <a:pPr algn="ctr"/>
            <a:r>
              <a:rPr lang="cs-CZ" sz="1200" b="1" dirty="0">
                <a:solidFill>
                  <a:schemeClr val="bg1"/>
                </a:solidFill>
              </a:rPr>
              <a:t>(upravená vyhláška č. 315/2021 Sb.)</a:t>
            </a:r>
          </a:p>
        </p:txBody>
      </p:sp>
      <p:cxnSp>
        <p:nvCxnSpPr>
          <p:cNvPr id="24" name="Přímá spojnice se šipkou 23">
            <a:extLst>
              <a:ext uri="{FF2B5EF4-FFF2-40B4-BE49-F238E27FC236}">
                <a16:creationId xmlns:a16="http://schemas.microsoft.com/office/drawing/2014/main" id="{AA615F9D-97AF-421E-A84F-F0529E5F3C18}"/>
              </a:ext>
            </a:extLst>
          </p:cNvPr>
          <p:cNvCxnSpPr>
            <a:cxnSpLocks/>
            <a:stCxn id="7" idx="3"/>
            <a:endCxn id="23" idx="1"/>
          </p:cNvCxnSpPr>
          <p:nvPr/>
        </p:nvCxnSpPr>
        <p:spPr>
          <a:xfrm>
            <a:off x="8847665" y="3253163"/>
            <a:ext cx="951745" cy="136788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8337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078BB0C2-017D-4DB9-9379-0AB27B7842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 smtClean="0"/>
              <a:t>7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27D7F272-DC81-4612-9E22-17FB0FC1DDD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cs-CZ" dirty="0"/>
              <a:t>Národní úřad pro kybernetickou a informační bezpečnost, TLP: CLEAR</a:t>
            </a:r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13DE6F9B-8FE0-4D2F-B05D-C3D5017D3E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963" y="105956"/>
            <a:ext cx="10800000" cy="610200"/>
          </a:xfrm>
        </p:spPr>
        <p:txBody>
          <a:bodyPr/>
          <a:lstStyle/>
          <a:p>
            <a:r>
              <a:rPr lang="cs-CZ" dirty="0">
                <a:latin typeface="+mn-lt"/>
              </a:rPr>
              <a:t>Nový zákon o kybernetické bezpečnosti – shrnutí</a:t>
            </a:r>
            <a:endParaRPr lang="pl-PL" dirty="0"/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B7748D71-E24B-467B-BF5F-E883CFBE41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3480" y="1057013"/>
            <a:ext cx="10800000" cy="5183898"/>
          </a:xfrm>
        </p:spPr>
        <p:txBody>
          <a:bodyPr/>
          <a:lstStyle/>
          <a:p>
            <a:r>
              <a:rPr lang="cs-CZ" sz="1800" dirty="0">
                <a:solidFill>
                  <a:srgbClr val="000000"/>
                </a:solidFill>
              </a:rPr>
              <a:t>Dosavadní roztříštěná struktura několika povinných osob se sdružuje do jedné – </a:t>
            </a:r>
            <a:r>
              <a:rPr lang="cs-CZ" sz="1800" b="1" dirty="0">
                <a:solidFill>
                  <a:srgbClr val="000000"/>
                </a:solidFill>
              </a:rPr>
              <a:t>poskytovatel regulované služby (PRS) </a:t>
            </a:r>
            <a:r>
              <a:rPr lang="cs-CZ" sz="1800" i="1" dirty="0">
                <a:solidFill>
                  <a:srgbClr val="000000"/>
                </a:solidFill>
              </a:rPr>
              <a:t>– orientace podle IČO</a:t>
            </a:r>
          </a:p>
          <a:p>
            <a:r>
              <a:rPr lang="cs-CZ" sz="1800" b="1" dirty="0">
                <a:solidFill>
                  <a:srgbClr val="000000"/>
                </a:solidFill>
              </a:rPr>
              <a:t>PRS je určován na základě kritérií ve vyhlášce o regulovaných službách (</a:t>
            </a:r>
            <a:r>
              <a:rPr lang="cs-CZ" sz="1800" b="1" dirty="0" err="1">
                <a:solidFill>
                  <a:srgbClr val="000000"/>
                </a:solidFill>
              </a:rPr>
              <a:t>VoRS</a:t>
            </a:r>
            <a:r>
              <a:rPr lang="cs-CZ" sz="1800" b="1" dirty="0">
                <a:solidFill>
                  <a:srgbClr val="000000"/>
                </a:solidFill>
              </a:rPr>
              <a:t>)</a:t>
            </a:r>
          </a:p>
          <a:p>
            <a:r>
              <a:rPr lang="cs-CZ" sz="1800" b="1" dirty="0">
                <a:solidFill>
                  <a:srgbClr val="000000"/>
                </a:solidFill>
              </a:rPr>
              <a:t>Na základě kritérií je pro PRS určen režim regulace – vyšší nebo nižší </a:t>
            </a:r>
          </a:p>
          <a:p>
            <a:r>
              <a:rPr lang="cs-CZ" sz="1800" dirty="0">
                <a:solidFill>
                  <a:srgbClr val="000000"/>
                </a:solidFill>
              </a:rPr>
              <a:t>Kritéria jsou dvojí – pro identifikaci (vyhodnocuje adresát) a pro určení (vyhodnocuje NÚKIB)</a:t>
            </a:r>
          </a:p>
          <a:p>
            <a:r>
              <a:rPr lang="cs-CZ" sz="1800" b="1" dirty="0">
                <a:solidFill>
                  <a:srgbClr val="000000"/>
                </a:solidFill>
              </a:rPr>
              <a:t>Hlavní povinnosti</a:t>
            </a:r>
          </a:p>
          <a:p>
            <a:pPr lvl="1"/>
            <a:r>
              <a:rPr lang="cs-CZ" sz="1400" b="1" dirty="0">
                <a:solidFill>
                  <a:srgbClr val="000000"/>
                </a:solidFill>
              </a:rPr>
              <a:t>Hlásit údaje </a:t>
            </a:r>
            <a:r>
              <a:rPr lang="cs-CZ" sz="1400" dirty="0">
                <a:solidFill>
                  <a:srgbClr val="000000"/>
                </a:solidFill>
              </a:rPr>
              <a:t>– jak definuje Vyhláška o portálu NÚKIB </a:t>
            </a:r>
          </a:p>
          <a:p>
            <a:pPr lvl="1"/>
            <a:r>
              <a:rPr lang="cs-CZ" sz="1400" b="1" dirty="0">
                <a:solidFill>
                  <a:srgbClr val="000000"/>
                </a:solidFill>
              </a:rPr>
              <a:t>Stanovit rozsah řízení kybernetické bezpečnosti </a:t>
            </a:r>
            <a:r>
              <a:rPr lang="cs-CZ" sz="1400" dirty="0">
                <a:solidFill>
                  <a:srgbClr val="000000"/>
                </a:solidFill>
              </a:rPr>
              <a:t>– definuje </a:t>
            </a:r>
            <a:r>
              <a:rPr lang="cs-CZ" sz="1400" dirty="0" err="1">
                <a:solidFill>
                  <a:srgbClr val="000000"/>
                </a:solidFill>
              </a:rPr>
              <a:t>scope</a:t>
            </a:r>
            <a:r>
              <a:rPr lang="cs-CZ" sz="1400" dirty="0">
                <a:solidFill>
                  <a:srgbClr val="000000"/>
                </a:solidFill>
              </a:rPr>
              <a:t> bezpečnosti</a:t>
            </a:r>
          </a:p>
          <a:p>
            <a:pPr lvl="1"/>
            <a:r>
              <a:rPr lang="cs-CZ" sz="1400" b="1" dirty="0">
                <a:solidFill>
                  <a:srgbClr val="000000"/>
                </a:solidFill>
              </a:rPr>
              <a:t>Zavádět bezpečnosti opatření</a:t>
            </a:r>
            <a:r>
              <a:rPr lang="cs-CZ" sz="1400" dirty="0">
                <a:solidFill>
                  <a:srgbClr val="000000"/>
                </a:solidFill>
              </a:rPr>
              <a:t> – podle režimu v kterém je služba určena</a:t>
            </a:r>
          </a:p>
          <a:p>
            <a:pPr lvl="1"/>
            <a:r>
              <a:rPr lang="cs-CZ" sz="1400" b="1" dirty="0">
                <a:solidFill>
                  <a:srgbClr val="000000"/>
                </a:solidFill>
              </a:rPr>
              <a:t>Hlásit kybernetické bezpečnostní incidenty </a:t>
            </a:r>
          </a:p>
          <a:p>
            <a:pPr lvl="1"/>
            <a:r>
              <a:rPr lang="cs-CZ" sz="1400" b="1" dirty="0">
                <a:solidFill>
                  <a:srgbClr val="000000"/>
                </a:solidFill>
              </a:rPr>
              <a:t>Informovat zákazníky o incidentech a hrozbách</a:t>
            </a:r>
          </a:p>
          <a:p>
            <a:pPr lvl="1"/>
            <a:r>
              <a:rPr lang="cs-CZ" sz="1400" b="1" dirty="0">
                <a:solidFill>
                  <a:srgbClr val="000000"/>
                </a:solidFill>
              </a:rPr>
              <a:t>Provádět protiopatření</a:t>
            </a:r>
          </a:p>
          <a:p>
            <a:pPr lvl="1"/>
            <a:r>
              <a:rPr lang="cs-CZ" sz="1400" b="1" dirty="0">
                <a:solidFill>
                  <a:srgbClr val="000000"/>
                </a:solidFill>
              </a:rPr>
              <a:t>Uplatnit pravidla lokalizace dat v případě vyššího režimu</a:t>
            </a:r>
          </a:p>
          <a:p>
            <a:pPr lvl="1"/>
            <a:r>
              <a:rPr lang="cs-CZ" sz="1400" b="1" dirty="0">
                <a:solidFill>
                  <a:srgbClr val="000000"/>
                </a:solidFill>
              </a:rPr>
              <a:t>Plnit povinnosti z Mechanismu řízení bezpečnosti dodavatelského řetězce</a:t>
            </a:r>
          </a:p>
          <a:p>
            <a:pPr lvl="1"/>
            <a:r>
              <a:rPr lang="cs-CZ" sz="1400" b="1" dirty="0">
                <a:solidFill>
                  <a:srgbClr val="000000"/>
                </a:solidFill>
              </a:rPr>
              <a:t>Podřídit se výkonu kontroly inspektorem v případě nižších povinností</a:t>
            </a:r>
          </a:p>
          <a:p>
            <a:r>
              <a:rPr lang="cs-CZ" sz="1800" dirty="0">
                <a:solidFill>
                  <a:srgbClr val="000000"/>
                </a:solidFill>
              </a:rPr>
              <a:t>Specifické situace – poskytování informací, stav kybernetického nebezpečí </a:t>
            </a:r>
          </a:p>
          <a:p>
            <a:r>
              <a:rPr lang="cs-CZ" sz="1800" dirty="0">
                <a:solidFill>
                  <a:srgbClr val="000000"/>
                </a:solidFill>
              </a:rPr>
              <a:t>Úprava institucí – NÚKIB, CERT a jejich pravomoci</a:t>
            </a:r>
          </a:p>
          <a:p>
            <a:r>
              <a:rPr lang="cs-CZ" sz="1800" b="0" i="0" dirty="0">
                <a:solidFill>
                  <a:srgbClr val="000000"/>
                </a:solidFill>
                <a:effectLst/>
              </a:rPr>
              <a:t>Sankce – úprava horních limitů, změna přestupků</a:t>
            </a:r>
          </a:p>
          <a:p>
            <a:pPr>
              <a:spcBef>
                <a:spcPts val="6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</a:pPr>
            <a:endParaRPr lang="cs-CZ" sz="1400" b="1" i="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7824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13DE6F9B-8FE0-4D2F-B05D-C3D5017D3E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963" y="105956"/>
            <a:ext cx="10800000" cy="610200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Nový ZKB – povinné osoby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B7748D71-E24B-467B-BF5F-E883CFBE41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507" y="816672"/>
            <a:ext cx="11522075" cy="5224656"/>
          </a:xfrm>
        </p:spPr>
        <p:txBody>
          <a:bodyPr/>
          <a:lstStyle/>
          <a:p>
            <a:pPr>
              <a:spcAft>
                <a:spcPts val="600"/>
              </a:spcAft>
              <a:buClr>
                <a:schemeClr val="tx1"/>
              </a:buClr>
            </a:pPr>
            <a:r>
              <a:rPr lang="cs-CZ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Poskytovatel regulované služby</a:t>
            </a:r>
          </a:p>
          <a:p>
            <a:pPr lvl="1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cs-CZ" dirty="0">
                <a:solidFill>
                  <a:srgbClr val="000000"/>
                </a:solidFill>
              </a:rPr>
              <a:t>Jediná povinná osoba</a:t>
            </a:r>
          </a:p>
          <a:p>
            <a:pPr lvl="1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cs-CZ" b="1" dirty="0">
                <a:solidFill>
                  <a:srgbClr val="000000"/>
                </a:solidFill>
              </a:rPr>
              <a:t>Poskytuje regulovanou službu = služba splňující kritéria stanovená vyhláškou</a:t>
            </a:r>
            <a:endParaRPr lang="cs-CZ" sz="1100" b="1" dirty="0">
              <a:solidFill>
                <a:srgbClr val="000000"/>
              </a:solidFill>
            </a:endParaRPr>
          </a:p>
          <a:p>
            <a:pPr>
              <a:spcAft>
                <a:spcPts val="600"/>
              </a:spcAft>
              <a:buClr>
                <a:schemeClr val="tx1"/>
              </a:buClr>
            </a:pPr>
            <a:r>
              <a:rPr lang="cs-CZ" b="1" dirty="0">
                <a:solidFill>
                  <a:srgbClr val="000000"/>
                </a:solidFill>
              </a:rPr>
              <a:t>Režim poskytovatele regulované služby</a:t>
            </a:r>
          </a:p>
          <a:p>
            <a:pPr lvl="1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cs-CZ" dirty="0">
                <a:solidFill>
                  <a:srgbClr val="000000"/>
                </a:solidFill>
              </a:rPr>
              <a:t>Stanovuje míru povinností – vyšší režim / nižší režim </a:t>
            </a:r>
          </a:p>
          <a:p>
            <a:pPr lvl="1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cs-CZ" dirty="0">
                <a:solidFill>
                  <a:srgbClr val="000000"/>
                </a:solidFill>
              </a:rPr>
              <a:t>Ke každému režimu bude vyhláška, která bude definovat povinnosti</a:t>
            </a:r>
          </a:p>
          <a:p>
            <a:pPr>
              <a:spcAft>
                <a:spcPts val="600"/>
              </a:spcAft>
              <a:buClr>
                <a:schemeClr val="tx1"/>
              </a:buClr>
            </a:pPr>
            <a:r>
              <a:rPr lang="cs-CZ" b="1" dirty="0">
                <a:solidFill>
                  <a:srgbClr val="000000"/>
                </a:solidFill>
              </a:rPr>
              <a:t>Pokud bude jeden subjekt poskytovat služby v různých režimech – přednost má vyšší režim na všechny služby (tedy služby, které by byly v nižším režimu budou povýšeny do vyššího)</a:t>
            </a:r>
          </a:p>
          <a:p>
            <a:pPr>
              <a:spcAft>
                <a:spcPts val="600"/>
              </a:spcAft>
              <a:buClr>
                <a:schemeClr val="tx1"/>
              </a:buClr>
            </a:pPr>
            <a:r>
              <a:rPr lang="cs-CZ" b="1" dirty="0">
                <a:solidFill>
                  <a:srgbClr val="000000"/>
                </a:solidFill>
              </a:rPr>
              <a:t>Naplnění kritérií je povinen hlásit poskytovatel služby = každý si musí vyhodnotit kritéria sám</a:t>
            </a:r>
          </a:p>
          <a:p>
            <a:pPr lvl="1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cs-CZ" dirty="0">
                <a:solidFill>
                  <a:srgbClr val="000000"/>
                </a:solidFill>
              </a:rPr>
              <a:t>Do 30 dnů od doby, kdy naplnění zjistí, nejpozději do 90 kdy k naplnění došlo</a:t>
            </a:r>
          </a:p>
          <a:p>
            <a:pPr>
              <a:spcAft>
                <a:spcPts val="600"/>
              </a:spcAft>
              <a:buClr>
                <a:schemeClr val="tx1"/>
              </a:buClr>
            </a:pPr>
            <a:r>
              <a:rPr lang="cs-CZ" b="1" dirty="0">
                <a:solidFill>
                  <a:srgbClr val="000000"/>
                </a:solidFill>
              </a:rPr>
              <a:t>V případě naplnění kritérií se zaregistruje u NÚKIB</a:t>
            </a:r>
          </a:p>
          <a:p>
            <a:pPr>
              <a:spcAft>
                <a:spcPts val="600"/>
              </a:spcAft>
              <a:buClr>
                <a:schemeClr val="tx1"/>
              </a:buClr>
            </a:pPr>
            <a:r>
              <a:rPr lang="cs-CZ" b="1" dirty="0">
                <a:solidFill>
                  <a:srgbClr val="000000"/>
                </a:solidFill>
              </a:rPr>
              <a:t>NÚKIB muže zaregistrovat i sám dozví-li se o naplnění kritérií</a:t>
            </a:r>
          </a:p>
          <a:p>
            <a:pPr lvl="1">
              <a:spcAft>
                <a:spcPts val="600"/>
              </a:spcAft>
              <a:buClr>
                <a:schemeClr val="accent1"/>
              </a:buClr>
            </a:pPr>
            <a:endParaRPr lang="cs-CZ" dirty="0">
              <a:solidFill>
                <a:srgbClr val="000000"/>
              </a:solidFill>
            </a:endParaRPr>
          </a:p>
          <a:p>
            <a:pPr lvl="1">
              <a:spcAft>
                <a:spcPts val="600"/>
              </a:spcAft>
              <a:buClr>
                <a:schemeClr val="accent1"/>
              </a:buClr>
            </a:pPr>
            <a:endParaRPr lang="cs-CZ" b="0" i="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endParaRPr lang="cs-CZ" b="0" i="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0BFDF0BC-23B7-4070-8F79-C33D8968498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cs-CZ" dirty="0"/>
              <a:t>Národní úřad pro kybernetickou a informační bezpečnost, TLP: CLEAR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D03658BB-7A0A-4829-A851-EA0D7B8D33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68141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13DE6F9B-8FE0-4D2F-B05D-C3D5017D3E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963" y="105956"/>
            <a:ext cx="10800000" cy="610200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Poskytovatel regulované služby ve veřejné správě</a:t>
            </a:r>
          </a:p>
        </p:txBody>
      </p:sp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70AC2D82-7C9D-439F-B771-56463C34FCB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cs-CZ" dirty="0"/>
              <a:t>Národní úřad pro kybernetickou a informační bezpečnost, TLP: CLEAR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23A57D65-F8B8-4909-91E1-9449DF7DF2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 smtClean="0"/>
              <a:t>9</a:t>
            </a:fld>
            <a:endParaRPr lang="cs-CZ"/>
          </a:p>
        </p:txBody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819764CC-FAD1-4816-A798-1AF0A78093A9}"/>
              </a:ext>
            </a:extLst>
          </p:cNvPr>
          <p:cNvSpPr/>
          <p:nvPr/>
        </p:nvSpPr>
        <p:spPr>
          <a:xfrm>
            <a:off x="3179428" y="2046914"/>
            <a:ext cx="880844" cy="19467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747F669D-E953-4A94-8D57-C455E59289CF}"/>
              </a:ext>
            </a:extLst>
          </p:cNvPr>
          <p:cNvSpPr/>
          <p:nvPr/>
        </p:nvSpPr>
        <p:spPr>
          <a:xfrm>
            <a:off x="1627464" y="2785145"/>
            <a:ext cx="2432806" cy="12085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2" name="Obdélník 11">
            <a:extLst>
              <a:ext uri="{FF2B5EF4-FFF2-40B4-BE49-F238E27FC236}">
                <a16:creationId xmlns:a16="http://schemas.microsoft.com/office/drawing/2014/main" id="{CF5180F3-6DD5-461C-B051-17DDCC6025BE}"/>
              </a:ext>
            </a:extLst>
          </p:cNvPr>
          <p:cNvSpPr/>
          <p:nvPr/>
        </p:nvSpPr>
        <p:spPr>
          <a:xfrm>
            <a:off x="4060270" y="1022687"/>
            <a:ext cx="2432806" cy="4820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23EE6051-FF96-4AC5-B927-8F638281BE43}"/>
              </a:ext>
            </a:extLst>
          </p:cNvPr>
          <p:cNvSpPr/>
          <p:nvPr/>
        </p:nvSpPr>
        <p:spPr>
          <a:xfrm>
            <a:off x="4110603" y="1802863"/>
            <a:ext cx="775983" cy="2141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" name="Obdélník 13">
            <a:extLst>
              <a:ext uri="{FF2B5EF4-FFF2-40B4-BE49-F238E27FC236}">
                <a16:creationId xmlns:a16="http://schemas.microsoft.com/office/drawing/2014/main" id="{665A9B0C-3A52-446E-B054-D3167093C3B8}"/>
              </a:ext>
            </a:extLst>
          </p:cNvPr>
          <p:cNvSpPr/>
          <p:nvPr/>
        </p:nvSpPr>
        <p:spPr>
          <a:xfrm>
            <a:off x="3289879" y="1795872"/>
            <a:ext cx="775983" cy="2141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7E6B0F5C-70D8-40D0-BEF6-849CEBDAA2A3}"/>
              </a:ext>
            </a:extLst>
          </p:cNvPr>
          <p:cNvSpPr/>
          <p:nvPr/>
        </p:nvSpPr>
        <p:spPr>
          <a:xfrm>
            <a:off x="3739389" y="1545464"/>
            <a:ext cx="775983" cy="2141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6" name="Obdélník 15">
            <a:extLst>
              <a:ext uri="{FF2B5EF4-FFF2-40B4-BE49-F238E27FC236}">
                <a16:creationId xmlns:a16="http://schemas.microsoft.com/office/drawing/2014/main" id="{E246F934-C381-4EE4-95FE-50EA9B35F8E2}"/>
              </a:ext>
            </a:extLst>
          </p:cNvPr>
          <p:cNvSpPr/>
          <p:nvPr/>
        </p:nvSpPr>
        <p:spPr>
          <a:xfrm>
            <a:off x="8532999" y="6012436"/>
            <a:ext cx="775983" cy="2141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19" name="Obrázek 18">
            <a:extLst>
              <a:ext uri="{FF2B5EF4-FFF2-40B4-BE49-F238E27FC236}">
                <a16:creationId xmlns:a16="http://schemas.microsoft.com/office/drawing/2014/main" id="{5B7E0911-978C-44F1-8CE1-E9E77997E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3421" y="1010769"/>
            <a:ext cx="7029450" cy="1952625"/>
          </a:xfrm>
          <a:prstGeom prst="rect">
            <a:avLst/>
          </a:prstGeom>
        </p:spPr>
      </p:pic>
      <p:pic>
        <p:nvPicPr>
          <p:cNvPr id="17" name="Obrázek 16">
            <a:extLst>
              <a:ext uri="{FF2B5EF4-FFF2-40B4-BE49-F238E27FC236}">
                <a16:creationId xmlns:a16="http://schemas.microsoft.com/office/drawing/2014/main" id="{B5452AAD-1271-4C90-AEB1-057FDA6302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06911"/>
            <a:ext cx="70104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707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/>
          <p:cNvSpPr txBox="1">
            <a:spLocks noGrp="1"/>
          </p:cNvSpPr>
          <p:nvPr>
            <p:ph type="ctrTitle"/>
          </p:nvPr>
        </p:nvSpPr>
        <p:spPr>
          <a:xfrm>
            <a:off x="1102822" y="1049223"/>
            <a:ext cx="9986356" cy="244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cs-CZ" sz="5400" dirty="0">
                <a:solidFill>
                  <a:schemeClr val="tx1"/>
                </a:solidFill>
              </a:rPr>
              <a:t>Zodpovídání dotazů a diskuze</a:t>
            </a:r>
            <a:br>
              <a:rPr lang="cs-CZ" sz="5400" dirty="0">
                <a:solidFill>
                  <a:schemeClr val="tx1"/>
                </a:solidFill>
              </a:rPr>
            </a:br>
            <a:endParaRPr lang="cs-CZ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8813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13DE6F9B-8FE0-4D2F-B05D-C3D5017D3E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963" y="105956"/>
            <a:ext cx="10800000" cy="610200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Nový ZKB – zaslané dotazy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B7748D71-E24B-467B-BF5F-E883CFBE41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2" y="716155"/>
            <a:ext cx="11522075" cy="5675119"/>
          </a:xfrm>
        </p:spPr>
        <p:txBody>
          <a:bodyPr/>
          <a:lstStyle/>
          <a:p>
            <a:pPr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cs-CZ" b="0" i="1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Stručné vyjádření k bodům 89, 90 a 101 Akčního plánu k národní strategii kybernetické bezpečnosti České republiky na období let 2021 až 2025, v kterých se zavazují vytvořit do půlky letošního roku vzdělávací platformu a kurzy, které budou součástí nástupního vzdělávání úředníků veřejné správy a součástí průběžného vzdělávání úředníků.</a:t>
            </a:r>
          </a:p>
          <a:p>
            <a:pPr lvl="1">
              <a:spcAft>
                <a:spcPts val="600"/>
              </a:spcAft>
              <a:buClr>
                <a:schemeClr val="accent1"/>
              </a:buClr>
            </a:pPr>
            <a:r>
              <a:rPr lang="cs-CZ" dirty="0"/>
              <a:t>Vypracovat národní plán vzdělávání v oblasti kybernetické bezpečnosti (89)</a:t>
            </a:r>
          </a:p>
          <a:p>
            <a:pPr lvl="2">
              <a:spcAft>
                <a:spcPts val="600"/>
              </a:spcAft>
              <a:buClr>
                <a:schemeClr val="accent1"/>
              </a:buClr>
            </a:pPr>
            <a:r>
              <a:rPr lang="cs-CZ" dirty="0"/>
              <a:t>Měl by být předložen BRS letos na podzim.</a:t>
            </a:r>
          </a:p>
          <a:p>
            <a:pPr lvl="1">
              <a:spcAft>
                <a:spcPts val="600"/>
              </a:spcAft>
              <a:buClr>
                <a:schemeClr val="accent1"/>
              </a:buClr>
            </a:pPr>
            <a:r>
              <a:rPr lang="cs-CZ" dirty="0"/>
              <a:t>Aktivně nabízet e-learningový kurz kybernetické bezpečnosti všem úředníkům a zařadit jej mezi povinné vstupní vzdělávání. Nabízet e-learningový kurz i dalším zájemcům veřejného i soukromého sektoru (90)</a:t>
            </a:r>
          </a:p>
          <a:p>
            <a:pPr lvl="2">
              <a:spcAft>
                <a:spcPts val="600"/>
              </a:spcAft>
              <a:buClr>
                <a:schemeClr val="accent1"/>
              </a:buClr>
            </a:pPr>
            <a:r>
              <a:rPr lang="cs-CZ" dirty="0"/>
              <a:t>V roce 2016 byl zprovozněn kurz pro úředníky obecně a v současné době lze objednat i kurz pro úředníky v samosprávě na následujícím webu.</a:t>
            </a:r>
          </a:p>
          <a:p>
            <a:pPr lvl="2">
              <a:spcAft>
                <a:spcPts val="600"/>
              </a:spcAft>
              <a:buClr>
                <a:schemeClr val="accent1"/>
              </a:buClr>
            </a:pPr>
            <a:r>
              <a:rPr lang="cs-CZ" dirty="0"/>
              <a:t>https://osveta.nukib.cz/local/dashboard/</a:t>
            </a:r>
          </a:p>
          <a:p>
            <a:pPr lvl="1">
              <a:spcAft>
                <a:spcPts val="600"/>
              </a:spcAft>
              <a:buClr>
                <a:schemeClr val="accent1"/>
              </a:buClr>
            </a:pPr>
            <a:r>
              <a:rPr lang="cs-CZ" dirty="0"/>
              <a:t>S ohledem na dostupné kapacity školit nové a stávající zaměstnance veřejné správy v oblasti kybernetické bezpečnosti včetně orgánů a osob povinných dle ZKB (101)</a:t>
            </a:r>
          </a:p>
          <a:p>
            <a:pPr lvl="2">
              <a:spcAft>
                <a:spcPts val="600"/>
              </a:spcAft>
              <a:buClr>
                <a:schemeClr val="accent1"/>
              </a:buClr>
            </a:pPr>
            <a:r>
              <a:rPr lang="cs-CZ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NÚKIB </a:t>
            </a:r>
            <a:r>
              <a:rPr lang="cs-CZ" dirty="0">
                <a:solidFill>
                  <a:srgbClr val="000000"/>
                </a:solidFill>
              </a:rPr>
              <a:t>pořádá osvětové akce, komunitu manažerů KB pro ministerstva, množství různých cvičení, kterých se postupně mohou povinné osoby zúčastnit a zpřístupňuje e-learningy zdarma.</a:t>
            </a:r>
            <a:endParaRPr lang="cs-CZ" b="0" i="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endParaRPr lang="cs-CZ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endParaRPr lang="cs-CZ" b="0" i="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9662BA00-7EE0-4289-A7DA-6EAAA584DDC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cs-CZ" dirty="0"/>
              <a:t>Národní úřad pro kybernetickou a informační bezpečnost, TLP: CLEAR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9D5879B5-C3B7-4EB1-AAB4-8CE1BD8A84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 smtClean="0"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30682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13DE6F9B-8FE0-4D2F-B05D-C3D5017D3E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963" y="105956"/>
            <a:ext cx="10800000" cy="610200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Nový ZKB – zaslané dotazy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B7748D71-E24B-467B-BF5F-E883CFBE41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3" y="816671"/>
            <a:ext cx="11522075" cy="5424239"/>
          </a:xfrm>
        </p:spPr>
        <p:txBody>
          <a:bodyPr/>
          <a:lstStyle/>
          <a:p>
            <a:pPr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cs-CZ" b="0" i="1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Bude u územně členěných měst stačit jeden Výbor KB na úrovni města, nebo bude nutné, aby každý úřad s místní působností (městské části) měl vlastní ekvivalent VKB?</a:t>
            </a:r>
          </a:p>
          <a:p>
            <a:pPr lvl="1">
              <a:spcAft>
                <a:spcPts val="600"/>
              </a:spcAft>
              <a:buClr>
                <a:schemeClr val="accent1"/>
              </a:buClr>
            </a:pPr>
            <a:r>
              <a:rPr lang="cs-CZ" b="0" i="0" dirty="0">
                <a:effectLst/>
                <a:latin typeface="Calibri" panose="020F0502020204030204" pitchFamily="34" charset="0"/>
              </a:rPr>
              <a:t>Nebude nutné mít vlastní ekvivalent</a:t>
            </a:r>
            <a:r>
              <a:rPr lang="cs-CZ" dirty="0"/>
              <a:t>, VKB jako takový není pro osoby v nižším režimu povinný. Pokud se jedná o obce ve vyšším režimu, u těch je toto možné.</a:t>
            </a:r>
            <a:endParaRPr lang="cs-CZ" b="0" i="0" dirty="0">
              <a:effectLst/>
              <a:latin typeface="Calibri" panose="020F0502020204030204" pitchFamily="34" charset="0"/>
            </a:endParaRPr>
          </a:p>
          <a:p>
            <a:pPr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cs-CZ" b="0" i="1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Jak se bude řešit postavení VKB měst ve vztahu k Zákonu o obcích? Bude nově povinné, aby byl například jmenovaný člen rady města, který bude odpovědný za informatiku? Nebo bude starosta/primátor zároveň automaticky členem VKB?</a:t>
            </a:r>
          </a:p>
          <a:p>
            <a:pPr lvl="1">
              <a:spcAft>
                <a:spcPts val="600"/>
              </a:spcAft>
              <a:buClr>
                <a:schemeClr val="accent1"/>
              </a:buClr>
            </a:pPr>
            <a:r>
              <a:rPr lang="cs-CZ" b="0" i="0" dirty="0">
                <a:effectLst/>
                <a:latin typeface="Calibri" panose="020F0502020204030204" pitchFamily="34" charset="0"/>
              </a:rPr>
              <a:t>Opět toto se </a:t>
            </a:r>
            <a:r>
              <a:rPr lang="cs-CZ" dirty="0"/>
              <a:t>neuplatní u nižšího režimu, pro který VKB není nutné. Pro VKB ve vyšším režimu se s propojením nepočítá tak jako tomu není u ostatních povinných osob – neměnila se jejich legislativa – jedná se o volbu implementace daných povinných osob – Vyhláška vyššího režimu je v tomto ohledu velmi variabilní.</a:t>
            </a:r>
            <a:endParaRPr lang="cs-CZ" b="0" i="0" dirty="0">
              <a:effectLst/>
              <a:latin typeface="Calibri" panose="020F0502020204030204" pitchFamily="34" charset="0"/>
            </a:endParaRPr>
          </a:p>
          <a:p>
            <a:pPr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endParaRPr lang="cs-CZ" b="0" i="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endParaRPr lang="cs-CZ" b="0" i="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9662BA00-7EE0-4289-A7DA-6EAAA584DDC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cs-CZ" dirty="0"/>
              <a:t>Národní úřad pro kybernetickou a informační bezpečnost, TLP: CLEAR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9D5879B5-C3B7-4EB1-AAB4-8CE1BD8A84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 smtClean="0"/>
              <a:t>12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730879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13DE6F9B-8FE0-4D2F-B05D-C3D5017D3E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963" y="105956"/>
            <a:ext cx="10800000" cy="610200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Nový ZKB – zaslané dotazy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B7748D71-E24B-467B-BF5F-E883CFBE41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3" y="816671"/>
            <a:ext cx="11522075" cy="5424239"/>
          </a:xfrm>
        </p:spPr>
        <p:txBody>
          <a:bodyPr/>
          <a:lstStyle/>
          <a:p>
            <a:pPr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cs-CZ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Jak se do budoucna počítá s možností využívat externí zajištění určených rolí? Bude možné, aby se města spojily například do dobrovolného svazku obcí, a v jeho rámci sdíleli výkon určených rolí, jako je Manažer KB, Architekt KB a další?</a:t>
            </a:r>
          </a:p>
          <a:p>
            <a:pPr lvl="1">
              <a:spcAft>
                <a:spcPts val="600"/>
              </a:spcAft>
              <a:buClr>
                <a:schemeClr val="accent1"/>
              </a:buClr>
            </a:pPr>
            <a:r>
              <a:rPr lang="cs-CZ" dirty="0"/>
              <a:t>Toto je neustále možné tak jako tomu bylo doposud – jde o volbu dané organizace.</a:t>
            </a:r>
            <a:endParaRPr lang="cs-CZ" b="0" i="0" dirty="0">
              <a:effectLst/>
              <a:latin typeface="Calibri" panose="020F0502020204030204" pitchFamily="34" charset="0"/>
            </a:endParaRPr>
          </a:p>
          <a:p>
            <a:pPr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cs-CZ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Jaký bude vztah měst a jejich koncernů? Bude platit, že pokud je určené město v určité úrovni, budou automaticky v této úrovni i všechny jím vlastněné / zřizované organizace?</a:t>
            </a:r>
          </a:p>
          <a:p>
            <a:pPr lvl="1">
              <a:spcAft>
                <a:spcPts val="600"/>
              </a:spcAft>
              <a:buClr>
                <a:schemeClr val="accent1"/>
              </a:buClr>
            </a:pPr>
            <a:r>
              <a:rPr lang="cs-CZ" dirty="0">
                <a:solidFill>
                  <a:srgbClr val="000000"/>
                </a:solidFill>
              </a:rPr>
              <a:t>Ne, tak tomu nebylo ani doposud (kraje, které jsou často zřizovateli např. nemocnic automaticky nenatahovali do regulace své zřizované organizace) – orientace je primárně na IČO</a:t>
            </a:r>
            <a:endParaRPr lang="cs-CZ" b="0" i="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endParaRPr lang="cs-CZ" b="0" i="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9662BA00-7EE0-4289-A7DA-6EAAA584DDC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cs-CZ" dirty="0"/>
              <a:t>Národní úřad pro kybernetickou a informační bezpečnost, TLP: CLEAR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9D5879B5-C3B7-4EB1-AAB4-8CE1BD8A84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 smtClean="0"/>
              <a:t>13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19344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 smtClean="0"/>
              <a:t>14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cs-CZ" dirty="0"/>
              <a:t>Národní úřad pro kybernetickou a informační bezpečnost, TLP: CLEAR</a:t>
            </a:r>
          </a:p>
        </p:txBody>
      </p:sp>
      <p:sp>
        <p:nvSpPr>
          <p:cNvPr id="10" name="Google Shape;396;p46">
            <a:extLst>
              <a:ext uri="{FF2B5EF4-FFF2-40B4-BE49-F238E27FC236}">
                <a16:creationId xmlns:a16="http://schemas.microsoft.com/office/drawing/2014/main" id="{B1AAA168-8037-4187-9B9A-D176572F846A}"/>
              </a:ext>
            </a:extLst>
          </p:cNvPr>
          <p:cNvSpPr txBox="1">
            <a:spLocks/>
          </p:cNvSpPr>
          <p:nvPr/>
        </p:nvSpPr>
        <p:spPr>
          <a:xfrm>
            <a:off x="458700" y="1992654"/>
            <a:ext cx="11274600" cy="333491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763" marR="0" lvl="0" indent="-476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20000" marR="0" lvl="1" indent="-360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ourier New" panose="02070309020205020404" pitchFamily="49" charset="0"/>
              <a:buNone/>
              <a:defRPr sz="2800" b="0" i="0" u="none" strike="noStrike" cap="none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marL="1080000" marR="0" lvl="2" indent="-360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Wingdings" panose="05000000000000000000" pitchFamily="2" charset="2"/>
              <a:buNone/>
              <a:defRPr sz="2800" b="0" i="0" u="none" strike="noStrike" cap="none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marL="1440000" marR="0" lvl="3" indent="-360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None/>
              <a:defRPr sz="2800" b="0" i="0" u="none" strike="noStrike" cap="none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marL="1800000" marR="0" lvl="4" indent="-360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None/>
              <a:defRPr sz="2800" b="0" i="0" u="none" strike="noStrike" cap="none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pPr marL="0" indent="0" algn="ctr">
              <a:lnSpc>
                <a:spcPct val="115000"/>
              </a:lnSpc>
            </a:pPr>
            <a:r>
              <a:rPr lang="cs-CZ" sz="5400" b="1" dirty="0">
                <a:latin typeface="Calibri" panose="020F0502020204030204" pitchFamily="34" charset="0"/>
                <a:cs typeface="Calibri" panose="020F0502020204030204" pitchFamily="34" charset="0"/>
              </a:rPr>
              <a:t>Děkuji za pozornost</a:t>
            </a:r>
            <a:endParaRPr lang="cs-CZ" sz="1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lnSpc>
                <a:spcPct val="115000"/>
              </a:lnSpc>
            </a:pPr>
            <a:endParaRPr lang="cs-CZ" sz="1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lnSpc>
                <a:spcPct val="115000"/>
              </a:lnSpc>
            </a:pPr>
            <a:endParaRPr lang="cs-CZ" sz="1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lnSpc>
                <a:spcPct val="115000"/>
              </a:lnSpc>
            </a:pPr>
            <a:r>
              <a:rPr lang="cs-CZ" sz="1800" b="1" dirty="0">
                <a:latin typeface="Calibri" panose="020F0502020204030204" pitchFamily="34" charset="0"/>
                <a:cs typeface="Calibri" panose="020F0502020204030204" pitchFamily="34" charset="0"/>
              </a:rPr>
              <a:t>Dotazy k návrhům nových předpisů je možné zasílat na:</a:t>
            </a:r>
          </a:p>
          <a:p>
            <a:pPr marL="0" indent="0" algn="ctr">
              <a:lnSpc>
                <a:spcPct val="115000"/>
              </a:lnSpc>
            </a:pPr>
            <a:endParaRPr lang="cs-CZ" sz="1400" b="1" dirty="0">
              <a:latin typeface="Calibri" panose="020F0502020204030204" pitchFamily="34" charset="0"/>
              <a:cs typeface="Calibri" panose="020F0502020204030204" pitchFamily="34" charset="0"/>
              <a:hlinkClick r:id="rId2"/>
            </a:endParaRPr>
          </a:p>
          <a:p>
            <a:pPr marL="0" indent="0" algn="ctr"/>
            <a:r>
              <a:rPr lang="cs-CZ" sz="1800" b="1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regulace@nukib.cz</a:t>
            </a:r>
            <a:r>
              <a:rPr lang="cs-CZ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indent="0" algn="just">
              <a:lnSpc>
                <a:spcPct val="115000"/>
              </a:lnSpc>
            </a:pPr>
            <a:endParaRPr lang="cs-CZ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115000"/>
              </a:lnSpc>
            </a:pPr>
            <a:endParaRPr lang="cs-CZ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6079874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 Theme">
      <a:dk1>
        <a:srgbClr val="111111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2_Prezentace_v1.4.potx" id="{939B2CF0-BED0-4D6D-9C4F-668EF0940E7D}" vid="{1C359BF5-3A9C-44F7-9CC5-2CB0817F2FB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4F458CE-B7ED-4A94-A708-2BC61785CF9F}"/>
</file>

<file path=customXml/itemProps2.xml><?xml version="1.0" encoding="utf-8"?>
<ds:datastoreItem xmlns:ds="http://schemas.openxmlformats.org/officeDocument/2006/customXml" ds:itemID="{FA02ACBC-41C1-4108-ABE3-6E71E1AE5B89}"/>
</file>

<file path=docProps/app.xml><?xml version="1.0" encoding="utf-8"?>
<Properties xmlns="http://schemas.openxmlformats.org/officeDocument/2006/extended-properties" xmlns:vt="http://schemas.openxmlformats.org/officeDocument/2006/docPropsVTypes">
  <Template>12_Prezentace_v1.4</Template>
  <TotalTime>4719</TotalTime>
  <Words>1287</Words>
  <Application>Microsoft Office PowerPoint</Application>
  <PresentationFormat>Širokoúhlá obrazovka</PresentationFormat>
  <Paragraphs>120</Paragraphs>
  <Slides>14</Slides>
  <Notes>12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14</vt:i4>
      </vt:variant>
    </vt:vector>
  </HeadingPairs>
  <TitlesOfParts>
    <vt:vector size="20" baseType="lpstr">
      <vt:lpstr>Arial</vt:lpstr>
      <vt:lpstr>Courier New</vt:lpstr>
      <vt:lpstr>Wingdings</vt:lpstr>
      <vt:lpstr>Calibri</vt:lpstr>
      <vt:lpstr>Ubuntu</vt:lpstr>
      <vt:lpstr>Motiv Office</vt:lpstr>
      <vt:lpstr>Kybernetická bezpečnost a veřejná správa v kontextu směrnice NIS2</vt:lpstr>
      <vt:lpstr>Co si říci na začátek</vt:lpstr>
      <vt:lpstr>Stav směrnice NIS2</vt:lpstr>
      <vt:lpstr>Nová směrnice NIS2</vt:lpstr>
      <vt:lpstr>Návrh nového  zákona o kybernetické bezpečnosti </vt:lpstr>
      <vt:lpstr>Nový zákon o kybernetické bezpečnosti (NZKB)</vt:lpstr>
      <vt:lpstr>Nový zákon o kybernetické bezpečnosti – shrnutí</vt:lpstr>
      <vt:lpstr>Nový ZKB – povinné osoby</vt:lpstr>
      <vt:lpstr>Poskytovatel regulované služby ve veřejné správě</vt:lpstr>
      <vt:lpstr>Zodpovídání dotazů a diskuze </vt:lpstr>
      <vt:lpstr>Nový ZKB – zaslané dotazy</vt:lpstr>
      <vt:lpstr>Nový ZKB – zaslané dotazy</vt:lpstr>
      <vt:lpstr>Nový ZKB – zaslané dotazy</vt:lpstr>
      <vt:lpstr>Prezentace aplikace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NÁZEV PREZENTACE</dc:title>
  <dc:creator>Pekař Tomáš</dc:creator>
  <cp:lastModifiedBy>Prochazkova Daniela</cp:lastModifiedBy>
  <cp:revision>451</cp:revision>
  <dcterms:created xsi:type="dcterms:W3CDTF">2020-12-07T14:34:08Z</dcterms:created>
  <dcterms:modified xsi:type="dcterms:W3CDTF">2023-03-20T12:52:04Z</dcterms:modified>
</cp:coreProperties>
</file>
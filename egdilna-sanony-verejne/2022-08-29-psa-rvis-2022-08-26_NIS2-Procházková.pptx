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fntdata" ContentType="application/x-fontdata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 bookmarkIdSeed="2">
  <p:sldMasterIdLst>
    <p:sldMasterId id="2147483648" r:id="rId1"/>
  </p:sldMasterIdLst>
  <p:notesMasterIdLst>
    <p:notesMasterId r:id="rId15"/>
  </p:notesMasterIdLst>
  <p:sldIdLst>
    <p:sldId id="257" r:id="rId2"/>
    <p:sldId id="306" r:id="rId3"/>
    <p:sldId id="312" r:id="rId4"/>
    <p:sldId id="328" r:id="rId5"/>
    <p:sldId id="297" r:id="rId6"/>
    <p:sldId id="334" r:id="rId7"/>
    <p:sldId id="330" r:id="rId8"/>
    <p:sldId id="335" r:id="rId9"/>
    <p:sldId id="331" r:id="rId10"/>
    <p:sldId id="333" r:id="rId11"/>
    <p:sldId id="336" r:id="rId12"/>
    <p:sldId id="337" r:id="rId13"/>
    <p:sldId id="282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Ubuntu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Výchozí oddíl" id="{FA34C379-BD98-4D6E-9465-5F2C55450E37}">
          <p14:sldIdLst>
            <p14:sldId id="257"/>
            <p14:sldId id="306"/>
            <p14:sldId id="312"/>
            <p14:sldId id="328"/>
            <p14:sldId id="297"/>
            <p14:sldId id="334"/>
            <p14:sldId id="330"/>
            <p14:sldId id="335"/>
            <p14:sldId id="331"/>
            <p14:sldId id="333"/>
            <p14:sldId id="336"/>
            <p14:sldId id="337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0" roundtripDataSignature="AMtx7mgrLXKN4zmBplXAmZppfXa+rPN5E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kova Vladena" initials="SV" lastIdx="1" clrIdx="0">
    <p:extLst>
      <p:ext uri="{19B8F6BF-5375-455C-9EA6-DF929625EA0E}">
        <p15:presenceInfo xmlns:p15="http://schemas.microsoft.com/office/powerpoint/2012/main" userId="S::v.saskova@nukibonline.cz::c31a9149-c749-4049-b69e-9db4f6cd54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Střední styl 1 – zvýraznění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26" autoAdjust="0"/>
  </p:normalViewPr>
  <p:slideViewPr>
    <p:cSldViewPr snapToGrid="0" showGuides="1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50" Type="http://customschemas.google.com/relationships/presentationmetadata" Target="meta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56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2001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219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1198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5316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645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4008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6292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71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037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hite">
  <p:cSld name="Title White"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17350" y="3358800"/>
            <a:ext cx="2357276" cy="316569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5"/>
          <p:cNvSpPr txBox="1">
            <a:spLocks noGrp="1"/>
          </p:cNvSpPr>
          <p:nvPr>
            <p:ph type="ctrTitle"/>
          </p:nvPr>
        </p:nvSpPr>
        <p:spPr>
          <a:xfrm>
            <a:off x="1524000" y="522198"/>
            <a:ext cx="9144000" cy="19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Calibri"/>
              <a:buNone/>
              <a:defRPr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6000"/>
              <a:buFont typeface="Ubuntu"/>
              <a:buNone/>
              <a:defRPr sz="600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lze upravit styl.</a:t>
            </a:r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1523988" y="2521398"/>
            <a:ext cx="91440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Font typeface="Calibri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cs-CZ"/>
              <a:t>Kliknutím můžete upravit styl předlohy.</a:t>
            </a:r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body" idx="2"/>
          </p:nvPr>
        </p:nvSpPr>
        <p:spPr>
          <a:xfrm>
            <a:off x="7274634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763" lvl="0" indent="-476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22" name="Google Shape;22;p25"/>
          <p:cNvSpPr txBox="1">
            <a:spLocks noGrp="1"/>
          </p:cNvSpPr>
          <p:nvPr>
            <p:ph type="body" idx="3"/>
          </p:nvPr>
        </p:nvSpPr>
        <p:spPr>
          <a:xfrm>
            <a:off x="335317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blue strip">
  <p:cSld name="Title and text blue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/>
          <p:nvPr/>
        </p:nvSpPr>
        <p:spPr>
          <a:xfrm>
            <a:off x="0" y="0"/>
            <a:ext cx="12192000" cy="876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8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/>
              <a:t>Národní úřad pro kybernetickou a informační bezpečnost, John Doe, TLP: AMBER</a:t>
            </a:r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ctrTitle"/>
          </p:nvPr>
        </p:nvSpPr>
        <p:spPr>
          <a:xfrm>
            <a:off x="334962" y="144000"/>
            <a:ext cx="108000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None/>
              <a:defRPr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Ubuntu"/>
              <a:buNone/>
              <a:defRPr sz="36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lze upravit styl.</a:t>
            </a:r>
            <a:endParaRPr dirty="0"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1"/>
          </p:nvPr>
        </p:nvSpPr>
        <p:spPr>
          <a:xfrm>
            <a:off x="334963" y="1016255"/>
            <a:ext cx="11522075" cy="49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60000" lvl="0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0000" lvl="1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Courier New" panose="02070309020205020404" pitchFamily="49" charset="0"/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2pPr>
            <a:lvl3pPr marL="1080000" lvl="2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3pPr>
            <a:lvl4pPr marL="1440000" lvl="3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4pPr>
            <a:lvl5pPr marL="1800000" lvl="4" indent="-360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5pPr>
            <a:lvl6pPr marL="2743200" lvl="5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●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○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Po kliknutí můžete upravovat styly textu v předloze.</a:t>
            </a:r>
          </a:p>
          <a:p>
            <a:pPr lvl="2"/>
            <a:r>
              <a:rPr lang="cs-CZ" dirty="0"/>
              <a:t>Po kliknutí můžete upravovat styly textu v předloze.</a:t>
            </a:r>
          </a:p>
          <a:p>
            <a:pPr lvl="3"/>
            <a:r>
              <a:rPr lang="cs-CZ" dirty="0"/>
              <a:t>Po kliknutí můžete upravovat styly textu v předloze.</a:t>
            </a:r>
          </a:p>
          <a:p>
            <a:pPr lvl="4"/>
            <a:r>
              <a:rPr lang="cs-CZ" dirty="0"/>
              <a:t>Po kliknutí můžete upravovat styly textu v předloze.</a:t>
            </a:r>
          </a:p>
        </p:txBody>
      </p:sp>
      <p:pic>
        <p:nvPicPr>
          <p:cNvPr id="8" name="Obrázek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302" y="170902"/>
            <a:ext cx="531736" cy="534796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2" pos="746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white">
  <p:cSld name="Contact white"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6"/>
          <p:cNvSpPr txBox="1">
            <a:spLocks noGrp="1"/>
          </p:cNvSpPr>
          <p:nvPr>
            <p:ph type="ctrTitle"/>
          </p:nvPr>
        </p:nvSpPr>
        <p:spPr>
          <a:xfrm>
            <a:off x="334962" y="3682725"/>
            <a:ext cx="11522076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None/>
              <a:defRPr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/>
              <a:t>Kliknutím lze upravit styl.</a:t>
            </a:r>
            <a:endParaRPr/>
          </a:p>
        </p:txBody>
      </p:sp>
      <p:sp>
        <p:nvSpPr>
          <p:cNvPr id="92" name="Google Shape;92;p36"/>
          <p:cNvSpPr txBox="1">
            <a:spLocks noGrp="1"/>
          </p:cNvSpPr>
          <p:nvPr>
            <p:ph type="subTitle" idx="1"/>
          </p:nvPr>
        </p:nvSpPr>
        <p:spPr>
          <a:xfrm>
            <a:off x="334963" y="4298804"/>
            <a:ext cx="11522074" cy="16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763" lvl="0" indent="-476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r>
              <a:rPr lang="cs-CZ"/>
              <a:t>Kliknutím můžete upravit styl předlohy.</a:t>
            </a:r>
            <a:endParaRPr dirty="0"/>
          </a:p>
        </p:txBody>
      </p:sp>
      <p:sp>
        <p:nvSpPr>
          <p:cNvPr id="93" name="Google Shape;93;p36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94" name="Google Shape;94;p36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cs-CZ"/>
              <a:t>Národní úřad pro kybernetickou a informační bezpečnost, John Doe, TLP: AMBER</a:t>
            </a:r>
            <a:endParaRPr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3277" y="170902"/>
            <a:ext cx="535786" cy="536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sldNum" idx="12"/>
          </p:nvPr>
        </p:nvSpPr>
        <p:spPr>
          <a:xfrm>
            <a:off x="11202417" y="6352093"/>
            <a:ext cx="62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/>
              <a:t>‹#›</a:t>
            </a:fld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dt" idx="10"/>
          </p:nvPr>
        </p:nvSpPr>
        <p:spPr>
          <a:xfrm>
            <a:off x="8269793" y="635209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ftr" idx="11"/>
          </p:nvPr>
        </p:nvSpPr>
        <p:spPr>
          <a:xfrm>
            <a:off x="334963" y="6356350"/>
            <a:ext cx="77454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cs-CZ"/>
              <a:t>Národní úřad pro kybernetickou a informační bezpečnost, John Doe, TLP: AMBER</a:t>
            </a:r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title"/>
          </p:nvPr>
        </p:nvSpPr>
        <p:spPr>
          <a:xfrm>
            <a:off x="334962" y="225984"/>
            <a:ext cx="11522075" cy="6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Zástupný text 1">
            <a:extLst>
              <a:ext uri="{FF2B5EF4-FFF2-40B4-BE49-F238E27FC236}">
                <a16:creationId xmlns:a16="http://schemas.microsoft.com/office/drawing/2014/main" id="{C76F6BD6-3AC7-4D70-BB55-8EDC8975B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1" y="1074198"/>
            <a:ext cx="11490255" cy="51027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První úroveň.</a:t>
            </a:r>
          </a:p>
          <a:p>
            <a:pPr lvl="1"/>
            <a:r>
              <a:rPr lang="cs-CZ" dirty="0"/>
              <a:t>Druhá úroveň.</a:t>
            </a:r>
          </a:p>
          <a:p>
            <a:pPr lvl="2"/>
            <a:r>
              <a:rPr lang="cs-CZ" dirty="0"/>
              <a:t>Třetí úroveň.</a:t>
            </a:r>
          </a:p>
          <a:p>
            <a:pPr lvl="3"/>
            <a:r>
              <a:rPr lang="cs-CZ" dirty="0"/>
              <a:t>Čtvrtá úroveň.</a:t>
            </a:r>
          </a:p>
          <a:p>
            <a:pPr lvl="4"/>
            <a:r>
              <a:rPr lang="cs-CZ" dirty="0"/>
              <a:t>Pátá úroveň.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1" r:id="rId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60000" marR="0" lvl="0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2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L="720000" marR="0" lvl="1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80000"/>
        <a:buFont typeface="Courier New" panose="02070309020205020404" pitchFamily="49" charset="0"/>
        <a:buChar char="o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2pPr>
      <a:lvl3pPr marL="1080000" marR="0" lvl="2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3pPr>
      <a:lvl4pPr marL="1440000" marR="0" lvl="3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4pPr>
      <a:lvl5pPr marL="1800000" marR="0" lvl="4" indent="-36000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2000" b="0" i="0" u="none" strike="noStrike" cap="none">
          <a:solidFill>
            <a:srgbClr val="000000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gital-strategy.ec.europa.eu/en/library/revised-directive-security-network-and-information-systems-nis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osveta.nukib.cz/course/view.php?id=145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nukib.cz/cs/kyberneticka-bezpecnost/regulace-a-kontrola/podpurne-materialy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regulace@nukib.cz" TargetMode="External"/><Relationship Id="rId2" Type="http://schemas.openxmlformats.org/officeDocument/2006/relationships/hyperlink" Target="mailto:v.saskova@nukib.cz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ctrTitle"/>
          </p:nvPr>
        </p:nvSpPr>
        <p:spPr>
          <a:xfrm>
            <a:off x="1102822" y="755608"/>
            <a:ext cx="9986356" cy="244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/>
            <a:r>
              <a:rPr lang="cs-CZ" sz="5400" dirty="0"/>
              <a:t>NIS2</a:t>
            </a:r>
            <a:br>
              <a:rPr lang="cs-CZ" sz="3600" dirty="0"/>
            </a:br>
            <a:r>
              <a:rPr lang="cs-CZ" sz="3200" dirty="0"/>
              <a:t>Představení navrhované úpravy regulace kybernetické bezpečnosti v EU</a:t>
            </a:r>
            <a:br>
              <a:rPr lang="cs-CZ" sz="3200" dirty="0"/>
            </a:br>
            <a:r>
              <a:rPr lang="cs-CZ" sz="3200" dirty="0"/>
              <a:t>Dopady do budoucí regulace veřejné správy</a:t>
            </a:r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2"/>
          </p:nvPr>
        </p:nvSpPr>
        <p:spPr>
          <a:xfrm>
            <a:off x="7274634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tx1"/>
                </a:solidFill>
              </a:rPr>
              <a:t>Daniela Procházková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NÚKIB</a:t>
            </a:r>
          </a:p>
        </p:txBody>
      </p:sp>
      <p:sp>
        <p:nvSpPr>
          <p:cNvPr id="118" name="Google Shape;118;p2"/>
          <p:cNvSpPr txBox="1">
            <a:spLocks noGrp="1"/>
          </p:cNvSpPr>
          <p:nvPr>
            <p:ph type="body" idx="3"/>
          </p:nvPr>
        </p:nvSpPr>
        <p:spPr>
          <a:xfrm>
            <a:off x="335317" y="5446206"/>
            <a:ext cx="4582048" cy="1210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>
                <a:solidFill>
                  <a:schemeClr val="tx1"/>
                </a:solidFill>
              </a:rPr>
              <a:t>26. srpna 2022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TLP: WHITE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2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1" name="Google Shape;141;p5"/>
          <p:cNvSpPr txBox="1">
            <a:spLocks noGrp="1"/>
          </p:cNvSpPr>
          <p:nvPr>
            <p:ph type="ctrTitle"/>
          </p:nvPr>
        </p:nvSpPr>
        <p:spPr>
          <a:xfrm>
            <a:off x="334963" y="144000"/>
            <a:ext cx="9090391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pl-PL" dirty="0"/>
              <a:t>Struktura NIS2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192948" y="922789"/>
            <a:ext cx="4169327" cy="51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44" indent="-285744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dirty="0"/>
              <a:t>Na konci roku 2020 zahájena </a:t>
            </a:r>
            <a:br>
              <a:rPr lang="cs-CZ" dirty="0"/>
            </a:br>
            <a:r>
              <a:rPr lang="cs-CZ" dirty="0"/>
              <a:t>z podnětu Evropské Komise revize směrnice NIS </a:t>
            </a:r>
            <a:br>
              <a:rPr lang="cs-CZ" dirty="0"/>
            </a:br>
            <a:r>
              <a:rPr lang="cs-CZ" b="1" dirty="0"/>
              <a:t>– tzv. směrnice NIS2.</a:t>
            </a:r>
          </a:p>
          <a:p>
            <a:pPr marL="285744" indent="-285744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dirty="0"/>
              <a:t>Návrh zachovává původní strukturu a mnoho institutů z původní směrnice NIS, většinu z nich však prohlubuje (</a:t>
            </a:r>
            <a:r>
              <a:rPr lang="cs-CZ" dirty="0">
                <a:solidFill>
                  <a:srgbClr val="00B050"/>
                </a:solidFill>
              </a:rPr>
              <a:t>směrem k ZKB</a:t>
            </a:r>
            <a:r>
              <a:rPr lang="cs-CZ" dirty="0"/>
              <a:t>)</a:t>
            </a:r>
          </a:p>
          <a:p>
            <a:pPr marL="285744" indent="-285744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dirty="0"/>
              <a:t>NIS2 </a:t>
            </a:r>
            <a:r>
              <a:rPr lang="cs-CZ" dirty="0">
                <a:sym typeface="Wingdings" panose="05000000000000000000" pitchFamily="2" charset="2"/>
              </a:rPr>
              <a:t></a:t>
            </a:r>
            <a:r>
              <a:rPr lang="cs-CZ" dirty="0"/>
              <a:t> ZKB, VKB jednotné pro EU i non-EU regulované subjekty (obdobně jako dnes)</a:t>
            </a:r>
          </a:p>
          <a:p>
            <a:pPr marL="285744" indent="-285744"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marL="285744" indent="-285744"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564FEDEE-1686-4231-8A0D-0AD888B03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01" y="880844"/>
            <a:ext cx="7243092" cy="5385889"/>
          </a:xfrm>
          <a:prstGeom prst="rect">
            <a:avLst/>
          </a:prstGeom>
          <a:ln>
            <a:solidFill>
              <a:srgbClr val="00B0F0"/>
            </a:solidFill>
          </a:ln>
        </p:spPr>
      </p:pic>
      <p:sp>
        <p:nvSpPr>
          <p:cNvPr id="3" name="Šipka: doprava 2">
            <a:extLst>
              <a:ext uri="{FF2B5EF4-FFF2-40B4-BE49-F238E27FC236}">
                <a16:creationId xmlns:a16="http://schemas.microsoft.com/office/drawing/2014/main" id="{A4D6778B-795B-4F93-B5FE-31CB783832CF}"/>
              </a:ext>
            </a:extLst>
          </p:cNvPr>
          <p:cNvSpPr/>
          <p:nvPr/>
        </p:nvSpPr>
        <p:spPr>
          <a:xfrm>
            <a:off x="4034230" y="2827511"/>
            <a:ext cx="486561" cy="310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D478462-610F-4EAE-87F5-1A3A04C296EA}"/>
              </a:ext>
            </a:extLst>
          </p:cNvPr>
          <p:cNvSpPr/>
          <p:nvPr/>
        </p:nvSpPr>
        <p:spPr>
          <a:xfrm>
            <a:off x="334963" y="5881258"/>
            <a:ext cx="42538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cs-CZ" sz="1000" dirty="0"/>
              <a:t>Zdroj schématu: </a:t>
            </a:r>
            <a:r>
              <a:rPr lang="en-US" sz="1000" dirty="0">
                <a:hlinkClick r:id="rId4"/>
              </a:rPr>
              <a:t>Revised Directive on Security of Network and Information Systems (NIS2) | Shaping Europe’s digital future (europa.eu)</a:t>
            </a:r>
            <a:r>
              <a:rPr lang="cs-CZ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9634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kupina 3">
            <a:extLst>
              <a:ext uri="{FF2B5EF4-FFF2-40B4-BE49-F238E27FC236}">
                <a16:creationId xmlns:a16="http://schemas.microsoft.com/office/drawing/2014/main" id="{CCDA8EFC-452B-485D-87C0-1FA6EF69D358}"/>
              </a:ext>
            </a:extLst>
          </p:cNvPr>
          <p:cNvGrpSpPr/>
          <p:nvPr/>
        </p:nvGrpSpPr>
        <p:grpSpPr>
          <a:xfrm>
            <a:off x="-1" y="1387715"/>
            <a:ext cx="12193527" cy="3731696"/>
            <a:chOff x="-1" y="1387715"/>
            <a:chExt cx="12193527" cy="3731696"/>
          </a:xfrm>
        </p:grpSpPr>
        <p:pic>
          <p:nvPicPr>
            <p:cNvPr id="2" name="Obrázek 1">
              <a:extLst>
                <a:ext uri="{FF2B5EF4-FFF2-40B4-BE49-F238E27FC236}">
                  <a16:creationId xmlns:a16="http://schemas.microsoft.com/office/drawing/2014/main" id="{0D3614A5-D27D-42D7-B247-84B5CFF3F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1387715"/>
              <a:ext cx="12193527" cy="3090957"/>
            </a:xfrm>
            <a:prstGeom prst="rect">
              <a:avLst/>
            </a:prstGeom>
          </p:spPr>
        </p:pic>
        <p:sp>
          <p:nvSpPr>
            <p:cNvPr id="3" name="Obdélník 2">
              <a:extLst>
                <a:ext uri="{FF2B5EF4-FFF2-40B4-BE49-F238E27FC236}">
                  <a16:creationId xmlns:a16="http://schemas.microsoft.com/office/drawing/2014/main" id="{77697DF4-245C-492B-9B19-3FABA11F9250}"/>
                </a:ext>
              </a:extLst>
            </p:cNvPr>
            <p:cNvSpPr/>
            <p:nvPr/>
          </p:nvSpPr>
          <p:spPr>
            <a:xfrm>
              <a:off x="637564" y="2087810"/>
              <a:ext cx="385893" cy="343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0" name="Obdélník 9">
              <a:extLst>
                <a:ext uri="{FF2B5EF4-FFF2-40B4-BE49-F238E27FC236}">
                  <a16:creationId xmlns:a16="http://schemas.microsoft.com/office/drawing/2014/main" id="{3B0EC1B3-DB94-4ABF-9DCA-89AC55C76DF7}"/>
                </a:ext>
              </a:extLst>
            </p:cNvPr>
            <p:cNvSpPr/>
            <p:nvPr/>
          </p:nvSpPr>
          <p:spPr>
            <a:xfrm>
              <a:off x="142015" y="1387715"/>
              <a:ext cx="2173346" cy="3439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1" name="Obdélník 10">
              <a:extLst>
                <a:ext uri="{FF2B5EF4-FFF2-40B4-BE49-F238E27FC236}">
                  <a16:creationId xmlns:a16="http://schemas.microsoft.com/office/drawing/2014/main" id="{8C8A7F89-91C1-469F-B960-EE3F17ADEF25}"/>
                </a:ext>
              </a:extLst>
            </p:cNvPr>
            <p:cNvSpPr/>
            <p:nvPr/>
          </p:nvSpPr>
          <p:spPr>
            <a:xfrm>
              <a:off x="142015" y="3195157"/>
              <a:ext cx="2475349" cy="12835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3" name="Obdélník 12">
              <a:extLst>
                <a:ext uri="{FF2B5EF4-FFF2-40B4-BE49-F238E27FC236}">
                  <a16:creationId xmlns:a16="http://schemas.microsoft.com/office/drawing/2014/main" id="{5085DFB5-EE48-46B2-B880-7943B03C944E}"/>
                </a:ext>
              </a:extLst>
            </p:cNvPr>
            <p:cNvSpPr/>
            <p:nvPr/>
          </p:nvSpPr>
          <p:spPr>
            <a:xfrm>
              <a:off x="5903053" y="1668361"/>
              <a:ext cx="385893" cy="26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4" name="Obdélník 13">
              <a:extLst>
                <a:ext uri="{FF2B5EF4-FFF2-40B4-BE49-F238E27FC236}">
                  <a16:creationId xmlns:a16="http://schemas.microsoft.com/office/drawing/2014/main" id="{CA249278-69F4-415D-9C50-FE996F6ADBA8}"/>
                </a:ext>
              </a:extLst>
            </p:cNvPr>
            <p:cNvSpPr/>
            <p:nvPr/>
          </p:nvSpPr>
          <p:spPr>
            <a:xfrm>
              <a:off x="4352488" y="4185058"/>
              <a:ext cx="278235" cy="3187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5" name="Obdélník 14">
              <a:extLst>
                <a:ext uri="{FF2B5EF4-FFF2-40B4-BE49-F238E27FC236}">
                  <a16:creationId xmlns:a16="http://schemas.microsoft.com/office/drawing/2014/main" id="{2FA0C36E-AE7C-4CD9-8B74-74768D7499F9}"/>
                </a:ext>
              </a:extLst>
            </p:cNvPr>
            <p:cNvSpPr/>
            <p:nvPr/>
          </p:nvSpPr>
          <p:spPr>
            <a:xfrm>
              <a:off x="7850697" y="2166735"/>
              <a:ext cx="385893" cy="26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6" name="Obdélník 15">
              <a:extLst>
                <a:ext uri="{FF2B5EF4-FFF2-40B4-BE49-F238E27FC236}">
                  <a16:creationId xmlns:a16="http://schemas.microsoft.com/office/drawing/2014/main" id="{6E009C6E-611C-4A37-BE84-BBA8C07C3306}"/>
                </a:ext>
              </a:extLst>
            </p:cNvPr>
            <p:cNvSpPr/>
            <p:nvPr/>
          </p:nvSpPr>
          <p:spPr>
            <a:xfrm>
              <a:off x="11232020" y="3195157"/>
              <a:ext cx="385893" cy="26502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19" name="Šipka: dolů 18">
              <a:extLst>
                <a:ext uri="{FF2B5EF4-FFF2-40B4-BE49-F238E27FC236}">
                  <a16:creationId xmlns:a16="http://schemas.microsoft.com/office/drawing/2014/main" id="{7A33FB51-D6C5-4B87-995F-5C2DBFAE6DE3}"/>
                </a:ext>
              </a:extLst>
            </p:cNvPr>
            <p:cNvSpPr/>
            <p:nvPr/>
          </p:nvSpPr>
          <p:spPr>
            <a:xfrm rot="10800000">
              <a:off x="7003315" y="4388616"/>
              <a:ext cx="419449" cy="723175"/>
            </a:xfrm>
            <a:prstGeom prst="downArrow">
              <a:avLst/>
            </a:prstGeom>
            <a:solidFill>
              <a:srgbClr val="00B0F0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2" name="Šipka: dolů 21">
              <a:extLst>
                <a:ext uri="{FF2B5EF4-FFF2-40B4-BE49-F238E27FC236}">
                  <a16:creationId xmlns:a16="http://schemas.microsoft.com/office/drawing/2014/main" id="{AD3294C2-16F4-4361-87D7-6813812A2A64}"/>
                </a:ext>
              </a:extLst>
            </p:cNvPr>
            <p:cNvSpPr/>
            <p:nvPr/>
          </p:nvSpPr>
          <p:spPr>
            <a:xfrm rot="10800000">
              <a:off x="3685768" y="4388616"/>
              <a:ext cx="419449" cy="723175"/>
            </a:xfrm>
            <a:prstGeom prst="downArrow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3" name="Šipka: dolů 22">
              <a:extLst>
                <a:ext uri="{FF2B5EF4-FFF2-40B4-BE49-F238E27FC236}">
                  <a16:creationId xmlns:a16="http://schemas.microsoft.com/office/drawing/2014/main" id="{423F62B1-A796-4546-9825-2621A7D3C2D0}"/>
                </a:ext>
              </a:extLst>
            </p:cNvPr>
            <p:cNvSpPr/>
            <p:nvPr/>
          </p:nvSpPr>
          <p:spPr>
            <a:xfrm rot="10800000">
              <a:off x="2878047" y="3374961"/>
              <a:ext cx="419449" cy="1744450"/>
            </a:xfrm>
            <a:prstGeom prst="down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4" name="Šipka: dolů 23">
              <a:extLst>
                <a:ext uri="{FF2B5EF4-FFF2-40B4-BE49-F238E27FC236}">
                  <a16:creationId xmlns:a16="http://schemas.microsoft.com/office/drawing/2014/main" id="{3938D0B9-3839-4022-B6BA-6FDAE3BA71BB}"/>
                </a:ext>
              </a:extLst>
            </p:cNvPr>
            <p:cNvSpPr/>
            <p:nvPr/>
          </p:nvSpPr>
          <p:spPr>
            <a:xfrm rot="10800000">
              <a:off x="9113073" y="3291141"/>
              <a:ext cx="419449" cy="1609059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5" name="Šipka: dolů 24">
              <a:extLst>
                <a:ext uri="{FF2B5EF4-FFF2-40B4-BE49-F238E27FC236}">
                  <a16:creationId xmlns:a16="http://schemas.microsoft.com/office/drawing/2014/main" id="{17BCEABE-C46C-4DF6-90F9-7970C774689A}"/>
                </a:ext>
              </a:extLst>
            </p:cNvPr>
            <p:cNvSpPr/>
            <p:nvPr/>
          </p:nvSpPr>
          <p:spPr>
            <a:xfrm rot="10800000">
              <a:off x="11095254" y="3291141"/>
              <a:ext cx="419449" cy="1828270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1" name="Šipka: dolů 20">
              <a:extLst>
                <a:ext uri="{FF2B5EF4-FFF2-40B4-BE49-F238E27FC236}">
                  <a16:creationId xmlns:a16="http://schemas.microsoft.com/office/drawing/2014/main" id="{C857D53B-BCF0-4D54-B20B-006B066CBC52}"/>
                </a:ext>
              </a:extLst>
            </p:cNvPr>
            <p:cNvSpPr/>
            <p:nvPr/>
          </p:nvSpPr>
          <p:spPr>
            <a:xfrm rot="9207093">
              <a:off x="8416583" y="3254485"/>
              <a:ext cx="419449" cy="1828270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26" name="Šipka: dolů 25">
              <a:extLst>
                <a:ext uri="{FF2B5EF4-FFF2-40B4-BE49-F238E27FC236}">
                  <a16:creationId xmlns:a16="http://schemas.microsoft.com/office/drawing/2014/main" id="{F79EF365-8363-4E45-8F9F-4B65EC76FAA5}"/>
                </a:ext>
              </a:extLst>
            </p:cNvPr>
            <p:cNvSpPr/>
            <p:nvPr/>
          </p:nvSpPr>
          <p:spPr>
            <a:xfrm rot="12392907" flipH="1">
              <a:off x="9818944" y="3255883"/>
              <a:ext cx="419449" cy="1828270"/>
            </a:xfrm>
            <a:prstGeom prst="downArrow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</p:grp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966187"/>
            <a:ext cx="11522075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dirty="0"/>
              <a:t>Aktuální stav a časový odhad legislativního procesu: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endParaRPr lang="cs-CZ" sz="600" dirty="0"/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2000" dirty="0"/>
              <a:t>		      </a:t>
            </a:r>
            <a:r>
              <a:rPr lang="cs-CZ" sz="2000" b="1" dirty="0"/>
              <a:t>12/2020   2021                                             12/2021                         </a:t>
            </a:r>
            <a:r>
              <a:rPr lang="cs-CZ" sz="2000" b="1" dirty="0">
                <a:solidFill>
                  <a:srgbClr val="FF0000"/>
                </a:solidFill>
              </a:rPr>
              <a:t>2022</a:t>
            </a:r>
            <a:r>
              <a:rPr lang="cs-CZ" sz="2000" b="1" dirty="0"/>
              <a:t>                         2024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dirty="0"/>
          </a:p>
          <a:p>
            <a:pPr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dirty="0"/>
              <a:t>Shoda nalezena, finalizován text, </a:t>
            </a:r>
            <a:r>
              <a:rPr lang="cs-CZ" b="1" dirty="0"/>
              <a:t>publikace listopad/prosinec 2022 </a:t>
            </a:r>
            <a:r>
              <a:rPr lang="cs-CZ" sz="1800" dirty="0"/>
              <a:t>(transpoziční lhůta 21 měsíců)</a:t>
            </a:r>
            <a:endParaRPr lang="cs-CZ" dirty="0"/>
          </a:p>
        </p:txBody>
      </p:sp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3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16805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Vývoj vyjednávání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028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4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895240"/>
            <a:ext cx="11522075" cy="596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1600" b="1" dirty="0">
                <a:solidFill>
                  <a:srgbClr val="00B050"/>
                </a:solidFill>
              </a:rPr>
              <a:t>Rozdíly </a:t>
            </a:r>
            <a:r>
              <a:rPr lang="cs-CZ" sz="1600" dirty="0">
                <a:solidFill>
                  <a:srgbClr val="00B050"/>
                </a:solidFill>
              </a:rPr>
              <a:t>(aktuální návrh) </a:t>
            </a:r>
            <a:r>
              <a:rPr lang="cs-CZ" sz="1600" b="1" dirty="0">
                <a:solidFill>
                  <a:srgbClr val="00B050"/>
                </a:solidFill>
              </a:rPr>
              <a:t>oproti NIS, část v ZKB/VKB již dnes:</a:t>
            </a:r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1600" b="1" dirty="0"/>
              <a:t>Minimální rozdíly oproti ZKB/VKB: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Větší pravomoci dozorových orgánů (NÚKIB)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Větší pravomoci CSIRT týmů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Smysluplnější hlášení incidentů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Podrobnější bezpečnostní opatření, risk-</a:t>
            </a:r>
            <a:r>
              <a:rPr lang="cs-CZ" sz="1400" dirty="0" err="1"/>
              <a:t>based</a:t>
            </a:r>
            <a:r>
              <a:rPr lang="cs-CZ" sz="1400" dirty="0"/>
              <a:t> </a:t>
            </a:r>
            <a:r>
              <a:rPr lang="cs-CZ" sz="1400" dirty="0" err="1"/>
              <a:t>approach</a:t>
            </a:r>
            <a:endParaRPr lang="cs-CZ" sz="1400" dirty="0"/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1600" b="1" dirty="0"/>
              <a:t>Novinky: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Dvě skupiny povinných osob, způsob identifikace povinné osoby 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Rozsah regulovaných systémů 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Dobrovolné hlášení relevantních událostí a hrozeb, sdílení informací o zranitelnostech (registr ENISA)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Povinné vzdělávání managementu, větší odpovědnost (+ dočasný zákaz výkonu </a:t>
            </a:r>
            <a:r>
              <a:rPr lang="cs-CZ" sz="1400" dirty="0" err="1"/>
              <a:t>fce</a:t>
            </a:r>
            <a:r>
              <a:rPr lang="cs-CZ" sz="1400" dirty="0"/>
              <a:t>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Vyšší pokuty za porušení povinností (inspirace GDPR; EE: 2 % z obratu / 10 mil. EUR, IE: 1,4 % z obratu / 7 mil. EUR)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Spolupráce členských států na kontrolách a na výměně informací (i ve vztahu k „</a:t>
            </a:r>
            <a:r>
              <a:rPr lang="cs-CZ" sz="1400" dirty="0" err="1"/>
              <a:t>DSPs</a:t>
            </a:r>
            <a:r>
              <a:rPr lang="cs-CZ" sz="1400" dirty="0"/>
              <a:t>“)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Sdílení informací mezi povinnými subjekty (stát má zajistit platformu)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Užší spolupráce NÚKIB s dozorovými orgány z jiných oblastí (ÚOOÚ, ČTÚ, …)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Do budoucna možnost povinných certifikací produktů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Cloud </a:t>
            </a:r>
            <a:r>
              <a:rPr lang="cs-CZ" sz="1400" dirty="0" err="1"/>
              <a:t>computing</a:t>
            </a:r>
            <a:r>
              <a:rPr lang="cs-CZ" sz="1400" dirty="0"/>
              <a:t> = standardní povinná osoba (</a:t>
            </a:r>
            <a:r>
              <a:rPr lang="cs-CZ" sz="1400" b="1" dirty="0">
                <a:solidFill>
                  <a:srgbClr val="FF0000"/>
                </a:solidFill>
              </a:rPr>
              <a:t>!</a:t>
            </a:r>
            <a:r>
              <a:rPr lang="cs-CZ" sz="1400" dirty="0"/>
              <a:t> výlučná jurisdikce)</a:t>
            </a:r>
          </a:p>
          <a:p>
            <a:pPr marL="285744" indent="-285744" algn="just">
              <a:spcBef>
                <a:spcPts val="6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00" dirty="0"/>
              <a:t>Rozšíření působnosti NIS2, zahrnutí veřejné správy </a:t>
            </a:r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2" y="141814"/>
            <a:ext cx="11522075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sz="3000" dirty="0"/>
              <a:t>Návrh NIS2 z pohledu regulace povinných osob</a:t>
            </a: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55317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5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275897" y="863708"/>
            <a:ext cx="11581141" cy="918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44" indent="-285744" algn="just">
              <a:spcBef>
                <a:spcPts val="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50" dirty="0"/>
              <a:t>Původní směrnice NIS vycházela z předpokladu, že některé organizace nejsou na ICT závislé nebo ICT </a:t>
            </a:r>
          </a:p>
          <a:p>
            <a:pPr marL="269875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450" dirty="0"/>
              <a:t>ovlivnitelné – návrh NIS2 toto opouští</a:t>
            </a:r>
          </a:p>
          <a:p>
            <a:pPr marL="285744" indent="-285744" algn="just">
              <a:spcBef>
                <a:spcPts val="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50" dirty="0">
                <a:solidFill>
                  <a:schemeClr val="tx1"/>
                </a:solidFill>
              </a:rPr>
              <a:t>Unifikovaný způsob regulace = </a:t>
            </a:r>
            <a:r>
              <a:rPr lang="cs-CZ" sz="1450" b="1" dirty="0">
                <a:solidFill>
                  <a:srgbClr val="00B050"/>
                </a:solidFill>
              </a:rPr>
              <a:t>konec odvětvových a dopadových kritérií systému</a:t>
            </a:r>
          </a:p>
          <a:p>
            <a:pPr marL="285744" indent="-285744" algn="just">
              <a:spcBef>
                <a:spcPts val="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50" b="1" dirty="0">
                <a:solidFill>
                  <a:srgbClr val="00B050"/>
                </a:solidFill>
              </a:rPr>
              <a:t>Základní mechanismus</a:t>
            </a:r>
            <a:r>
              <a:rPr lang="cs-CZ" sz="1450" b="1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>
                <a:solidFill>
                  <a:schemeClr val="tx1"/>
                </a:solidFill>
              </a:rPr>
              <a:t>Subjekt vykonává činnost v regulovaném odvětví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Subjekt je střední nebo velký podnik ve smyslu Doporučení Komise ze dne 6. března 2003 = </a:t>
            </a:r>
            <a:r>
              <a:rPr lang="cs-CZ" sz="1450" b="1" dirty="0"/>
              <a:t>50 a více zaměstnanců nebo </a:t>
            </a:r>
            <a:r>
              <a:rPr lang="pl-PL" sz="1450" b="1" dirty="0"/>
              <a:t>roční obrat nebo rozvaha </a:t>
            </a:r>
            <a:r>
              <a:rPr lang="cs-CZ" sz="1450" b="1" dirty="0"/>
              <a:t>více než 10 mil. EUR</a:t>
            </a:r>
          </a:p>
          <a:p>
            <a:pPr marL="285744" indent="-285744" algn="just">
              <a:spcBef>
                <a:spcPts val="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50" b="1" dirty="0">
                <a:solidFill>
                  <a:srgbClr val="00B050"/>
                </a:solidFill>
              </a:rPr>
              <a:t>Bez ohledu na velikost</a:t>
            </a:r>
            <a:r>
              <a:rPr lang="cs-CZ" sz="145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poskytovatelé sítí elektronických nebo veřejně dostupných služeb elektronických komunikací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poskytovatelé služeb poskytujících důvěru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registry internetových domén nejvyšší úrovně (TLD)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orgány veřejné správy (ústřední orgány, volitelně regionální/lokální)</a:t>
            </a:r>
          </a:p>
          <a:p>
            <a:pPr marL="285744" indent="-285744" algn="just">
              <a:spcBef>
                <a:spcPts val="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1450" dirty="0">
                <a:solidFill>
                  <a:srgbClr val="00B050"/>
                </a:solidFill>
              </a:rPr>
              <a:t>Dodatečný mechanismus (určení státem)</a:t>
            </a:r>
            <a:r>
              <a:rPr lang="cs-CZ" sz="1450" dirty="0">
                <a:solidFill>
                  <a:schemeClr val="tx1"/>
                </a:solidFill>
              </a:rPr>
              <a:t>: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výhradní dodavatelé služeb v členském státě nezbytných pro zajištění základních společenských nebo ekonomických činností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subjekty, u kterých by narušení jimi poskytovaných služeb mohlo mít vliv na veřejný pořádek, veřejnou bezpečnost nebo ochranu zdraví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subjekty, u kterých by narušení jimi poskytovaných služeb mohlo vyvolat systémová rizika, zejména pro ta odvětví, kde by takové narušení mohlo mít přeshraniční dopad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subjekty kritické vzhledem ke svému specifickému významu na regionální nebo vnitrostátní úrovni pro konkrétní odvětví nebo druh služby nebo pro jiná vzájemně závislá odvětví v členském státě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subjekty označené za kritické podle směrnice CER nebo za subjekty rovnocenné kritickým subjektům podle národní úpravy (banky, </a:t>
            </a:r>
            <a:r>
              <a:rPr lang="cs-CZ" sz="1450" dirty="0" err="1"/>
              <a:t>digi</a:t>
            </a:r>
            <a:r>
              <a:rPr lang="cs-CZ" sz="1450" dirty="0"/>
              <a:t> služby)</a:t>
            </a:r>
          </a:p>
          <a:p>
            <a:pPr lvl="1" algn="just">
              <a:spcBef>
                <a:spcPts val="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450" dirty="0"/>
              <a:t>vzdělávací instituce</a:t>
            </a:r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16805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Návrh NIS2 – proces určování </a:t>
            </a:r>
            <a:endParaRPr dirty="0"/>
          </a:p>
        </p:txBody>
      </p:sp>
      <p:sp>
        <p:nvSpPr>
          <p:cNvPr id="11" name="Ovál 10">
            <a:extLst>
              <a:ext uri="{FF2B5EF4-FFF2-40B4-BE49-F238E27FC236}">
                <a16:creationId xmlns:a16="http://schemas.microsoft.com/office/drawing/2014/main" id="{7D0726D7-408C-488F-B988-8BD555E846E3}"/>
              </a:ext>
            </a:extLst>
          </p:cNvPr>
          <p:cNvSpPr/>
          <p:nvPr/>
        </p:nvSpPr>
        <p:spPr>
          <a:xfrm>
            <a:off x="10194252" y="1020081"/>
            <a:ext cx="1436515" cy="11385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b="1" dirty="0"/>
              <a:t>5-6 tis.</a:t>
            </a:r>
            <a:endParaRPr lang="cs-CZ" sz="1000" b="1" dirty="0"/>
          </a:p>
        </p:txBody>
      </p:sp>
    </p:spTree>
    <p:extLst>
      <p:ext uri="{BB962C8B-B14F-4D97-AF65-F5344CB8AC3E}">
        <p14:creationId xmlns:p14="http://schemas.microsoft.com/office/powerpoint/2010/main" val="537377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6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275898" y="1046588"/>
            <a:ext cx="6888228" cy="918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600" b="1" dirty="0">
                <a:solidFill>
                  <a:srgbClr val="FF0000"/>
                </a:solidFill>
              </a:rPr>
              <a:t>!</a:t>
            </a:r>
            <a:r>
              <a:rPr lang="cs-CZ" sz="1600" dirty="0">
                <a:solidFill>
                  <a:schemeClr val="tx1"/>
                </a:solidFill>
              </a:rPr>
              <a:t> Opouští se princip určení informačního systému</a:t>
            </a: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endParaRPr lang="cs-CZ" sz="1600" b="1" dirty="0">
              <a:solidFill>
                <a:schemeClr val="tx1"/>
              </a:solidFill>
            </a:endParaRP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600" b="1" dirty="0">
                <a:solidFill>
                  <a:schemeClr val="tx1"/>
                </a:solidFill>
              </a:rPr>
              <a:t>Identifikace</a:t>
            </a:r>
            <a:r>
              <a:rPr lang="cs-CZ" sz="1600" dirty="0">
                <a:solidFill>
                  <a:schemeClr val="tx1"/>
                </a:solidFill>
              </a:rPr>
              <a:t> = </a:t>
            </a:r>
            <a:r>
              <a:rPr lang="cs-CZ" sz="1600" b="1" dirty="0">
                <a:solidFill>
                  <a:srgbClr val="00B050"/>
                </a:solidFill>
              </a:rPr>
              <a:t>celá entita</a:t>
            </a:r>
            <a:r>
              <a:rPr lang="cs-CZ" sz="1600" dirty="0">
                <a:solidFill>
                  <a:schemeClr val="tx1"/>
                </a:solidFill>
              </a:rPr>
              <a:t>, která vykonává regulovanou činnost v regulovaném odvětví</a:t>
            </a: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600" b="1" dirty="0">
                <a:solidFill>
                  <a:schemeClr val="tx1"/>
                </a:solidFill>
              </a:rPr>
              <a:t>Regulace</a:t>
            </a:r>
            <a:r>
              <a:rPr lang="cs-CZ" sz="1600" dirty="0">
                <a:solidFill>
                  <a:schemeClr val="tx1"/>
                </a:solidFill>
              </a:rPr>
              <a:t> = </a:t>
            </a:r>
            <a:r>
              <a:rPr lang="cs-CZ" sz="1600" b="1" dirty="0">
                <a:solidFill>
                  <a:srgbClr val="00B050"/>
                </a:solidFill>
              </a:rPr>
              <a:t>celá organizace</a:t>
            </a:r>
            <a:r>
              <a:rPr lang="cs-CZ" sz="1600" dirty="0"/>
              <a:t>, nikoli systém, na němž je závislé fungování základní služby („ČEZ peče chleba“)</a:t>
            </a: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endParaRPr lang="cs-CZ" sz="1600" dirty="0"/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16805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Návrh NIS2 – proces určování </a:t>
            </a:r>
            <a:endParaRPr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BBADDE8C-44BC-4D21-88F3-8AF7710C6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714" y="1235129"/>
            <a:ext cx="4647756" cy="4387742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4042AC4E-3A8D-4467-B714-FA786195A5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8523" y="2916153"/>
            <a:ext cx="4575603" cy="332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81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7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966187"/>
            <a:ext cx="11522075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1800" b="1" dirty="0" err="1"/>
              <a:t>Essential</a:t>
            </a:r>
            <a:r>
              <a:rPr lang="cs-CZ" sz="1800" dirty="0"/>
              <a:t> (základní) (cca stovky) vs. </a:t>
            </a:r>
            <a:r>
              <a:rPr lang="cs-CZ" sz="1800" b="1" dirty="0" err="1"/>
              <a:t>important</a:t>
            </a:r>
            <a:r>
              <a:rPr lang="cs-CZ" sz="1800" dirty="0"/>
              <a:t> (důležité) </a:t>
            </a:r>
            <a:r>
              <a:rPr lang="cs-CZ" sz="1800" dirty="0" err="1"/>
              <a:t>entities</a:t>
            </a:r>
            <a:r>
              <a:rPr lang="cs-CZ" sz="1800" dirty="0"/>
              <a:t> (cca tisíce)</a:t>
            </a:r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endParaRPr lang="cs-CZ" sz="1800" dirty="0"/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r>
              <a:rPr lang="cs-CZ" sz="1800" b="1" dirty="0"/>
              <a:t>Rozdíly v regulaci: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</a:pPr>
            <a:r>
              <a:rPr lang="cs-CZ" sz="1800" dirty="0"/>
              <a:t>Rozsah bezpečnostních opatření 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</a:pPr>
            <a:r>
              <a:rPr lang="cs-CZ" sz="1800" dirty="0"/>
              <a:t>Kontrola (NÚKIB nemůže kontrolovat </a:t>
            </a:r>
            <a:r>
              <a:rPr lang="cs-CZ" sz="1800" dirty="0" err="1"/>
              <a:t>essential</a:t>
            </a:r>
            <a:r>
              <a:rPr lang="cs-CZ" sz="1800" dirty="0"/>
              <a:t> i </a:t>
            </a:r>
            <a:r>
              <a:rPr lang="cs-CZ" sz="1800" dirty="0" err="1"/>
              <a:t>important</a:t>
            </a:r>
            <a:r>
              <a:rPr lang="cs-CZ" sz="1800" dirty="0"/>
              <a:t>)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</a:pPr>
            <a:r>
              <a:rPr lang="cs-CZ" sz="1800" dirty="0"/>
              <a:t>Dozorové pravomoci (zvýšení minimální úrovně finančních sankcí, rozsah vyžádaných informací, pozastavení platnosti certifikace, pozastavení výkonu manažerské funkce)</a:t>
            </a:r>
          </a:p>
          <a:p>
            <a:pPr algn="just">
              <a:spcBef>
                <a:spcPts val="600"/>
              </a:spcBef>
              <a:buClr>
                <a:srgbClr val="00B0F0"/>
              </a:buClr>
            </a:pPr>
            <a:endParaRPr lang="cs-CZ" sz="1800" dirty="0"/>
          </a:p>
          <a:p>
            <a:pPr marL="0" indent="0" algn="just">
              <a:spcBef>
                <a:spcPts val="600"/>
              </a:spcBef>
              <a:buClr>
                <a:srgbClr val="00B0F0"/>
              </a:buClr>
              <a:buNone/>
            </a:pPr>
            <a:endParaRPr lang="cs-CZ" sz="1800" dirty="0"/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2" y="141814"/>
            <a:ext cx="11522075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Návrh NIS2 – dvourychlostní regulace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600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8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275897" y="990925"/>
            <a:ext cx="5918169" cy="326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Identifikace povinných osob: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 err="1"/>
              <a:t>Samoidentifikace</a:t>
            </a:r>
            <a:r>
              <a:rPr lang="cs-CZ" sz="1800" dirty="0"/>
              <a:t> (</a:t>
            </a:r>
            <a:r>
              <a:rPr lang="cs-CZ" sz="1800" dirty="0" err="1"/>
              <a:t>samonahlášení</a:t>
            </a:r>
            <a:r>
              <a:rPr lang="cs-CZ" sz="1800" dirty="0"/>
              <a:t>) – subjekty podle velikosti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Rozhodnutí NÚKIB – subjekty podle dodatečných kritérií</a:t>
            </a: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endParaRPr lang="cs-CZ" sz="1800" dirty="0"/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Rozsah regulace (zavádění BO, hlášení incidentů):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ISMS pro celou organizaci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Cíle ISMS = služby, pro které byl subjekt určen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endParaRPr lang="cs-CZ" sz="1800" dirty="0"/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Kategorizace povinných osob: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 err="1"/>
              <a:t>Essential</a:t>
            </a:r>
            <a:r>
              <a:rPr lang="cs-CZ" sz="1800" dirty="0"/>
              <a:t> </a:t>
            </a:r>
            <a:r>
              <a:rPr lang="cs-CZ" sz="1800" dirty="0" err="1"/>
              <a:t>entities</a:t>
            </a:r>
            <a:r>
              <a:rPr lang="cs-CZ" sz="1800" dirty="0"/>
              <a:t> (zde zbytek KII, PZS, část VIS)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 err="1"/>
              <a:t>Important</a:t>
            </a:r>
            <a:r>
              <a:rPr lang="cs-CZ" sz="1800" dirty="0"/>
              <a:t> </a:t>
            </a:r>
            <a:r>
              <a:rPr lang="cs-CZ" sz="1800" dirty="0" err="1"/>
              <a:t>entites</a:t>
            </a:r>
            <a:r>
              <a:rPr lang="cs-CZ" sz="1800" dirty="0"/>
              <a:t> (zde patrně zbytek VIS + obce s rozšířenou působností)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endParaRPr lang="cs-CZ" sz="1800" dirty="0"/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endParaRPr lang="cs-CZ" sz="1800" dirty="0"/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endParaRPr lang="cs-CZ" sz="1800" dirty="0"/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endParaRPr lang="cs-CZ" sz="1800" dirty="0"/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3" y="141814"/>
            <a:ext cx="10657934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sz="3200" dirty="0"/>
              <a:t>Návrh NIS2 – </a:t>
            </a:r>
            <a:r>
              <a:rPr lang="cs-CZ" sz="3200" dirty="0">
                <a:solidFill>
                  <a:srgbClr val="FF0000"/>
                </a:solidFill>
              </a:rPr>
              <a:t>předpokládaná podoba </a:t>
            </a:r>
            <a:r>
              <a:rPr lang="cs-CZ" sz="3200" dirty="0"/>
              <a:t>národní transpozice</a:t>
            </a:r>
            <a:endParaRPr sz="3200" dirty="0"/>
          </a:p>
        </p:txBody>
      </p:sp>
      <p:sp>
        <p:nvSpPr>
          <p:cNvPr id="7" name="Google Shape;142;p5">
            <a:extLst>
              <a:ext uri="{FF2B5EF4-FFF2-40B4-BE49-F238E27FC236}">
                <a16:creationId xmlns:a16="http://schemas.microsoft.com/office/drawing/2014/main" id="{14B4BD0A-BAEA-44E8-822F-A53643379C84}"/>
              </a:ext>
            </a:extLst>
          </p:cNvPr>
          <p:cNvSpPr txBox="1">
            <a:spLocks/>
          </p:cNvSpPr>
          <p:nvPr/>
        </p:nvSpPr>
        <p:spPr>
          <a:xfrm>
            <a:off x="6379597" y="990925"/>
            <a:ext cx="5918169" cy="91868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60000" marR="0" lvl="0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0000" marR="0" lvl="1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80000"/>
              <a:buFont typeface="Courier New" panose="02070309020205020404" pitchFamily="49" charset="0"/>
              <a:buChar char="o"/>
              <a:defRPr sz="2000" b="0" i="0" u="none" strike="noStrike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2pPr>
            <a:lvl3pPr marL="1080000" marR="0" lvl="2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3pPr>
            <a:lvl4pPr marL="1440000" marR="0" lvl="3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4pPr>
            <a:lvl5pPr marL="1800000" marR="0" lvl="4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§"/>
              <a:defRPr sz="2000" b="0" i="0" u="none" strike="noStrike" cap="none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Ubuntu"/>
              </a:defRPr>
            </a:lvl5pPr>
            <a:lvl6pPr marL="2743200" marR="0" lvl="5" indent="-4572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 b="0" i="0" u="none" strike="noStrike" cap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marR="0" lvl="6" indent="-4572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●"/>
              <a:defRPr sz="3600" b="0" i="0" u="none" strike="noStrike" cap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marR="0" lvl="7" indent="-4572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○"/>
              <a:defRPr sz="3600" b="0" i="0" u="none" strike="noStrike" cap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marR="0" lvl="8" indent="-457200" algn="l" rtl="0" ea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Ubuntu"/>
              <a:buChar char="■"/>
              <a:defRPr sz="3600" b="0" i="0" u="none" strike="noStrike" cap="none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Rozsah služeb NÚKIB: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Plný rozsah - </a:t>
            </a:r>
            <a:r>
              <a:rPr lang="cs-CZ" sz="1800" dirty="0" err="1"/>
              <a:t>essential</a:t>
            </a:r>
            <a:r>
              <a:rPr lang="cs-CZ" sz="1800" dirty="0"/>
              <a:t> </a:t>
            </a:r>
            <a:r>
              <a:rPr lang="cs-CZ" sz="1800" dirty="0" err="1"/>
              <a:t>ent</a:t>
            </a:r>
            <a:r>
              <a:rPr lang="cs-CZ" sz="1800" dirty="0"/>
              <a:t>. 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Omezený rozsah – </a:t>
            </a:r>
            <a:r>
              <a:rPr lang="cs-CZ" sz="1800" dirty="0" err="1"/>
              <a:t>important</a:t>
            </a:r>
            <a:r>
              <a:rPr lang="cs-CZ" sz="1800" dirty="0"/>
              <a:t> </a:t>
            </a:r>
            <a:r>
              <a:rPr lang="cs-CZ" sz="1800" dirty="0" err="1"/>
              <a:t>ent</a:t>
            </a:r>
            <a:r>
              <a:rPr lang="cs-CZ" sz="1800" dirty="0"/>
              <a:t>.</a:t>
            </a:r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endParaRPr lang="cs-CZ" sz="1800" b="1" dirty="0"/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Bezpečnostní opatření, obsah ISMS: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VKB –</a:t>
            </a:r>
            <a:r>
              <a:rPr lang="cs-CZ" sz="1800" dirty="0" err="1"/>
              <a:t>essential</a:t>
            </a:r>
            <a:r>
              <a:rPr lang="cs-CZ" sz="1800" dirty="0"/>
              <a:t> </a:t>
            </a:r>
            <a:r>
              <a:rPr lang="cs-CZ" sz="1800" dirty="0" err="1"/>
              <a:t>ent</a:t>
            </a:r>
            <a:r>
              <a:rPr lang="cs-CZ" sz="1800" dirty="0"/>
              <a:t>.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„Minimální bezpečnostní standard“ – pro </a:t>
            </a:r>
            <a:r>
              <a:rPr lang="cs-CZ" sz="1800" dirty="0" err="1"/>
              <a:t>important</a:t>
            </a:r>
            <a:r>
              <a:rPr lang="cs-CZ" sz="1800" dirty="0"/>
              <a:t> </a:t>
            </a:r>
            <a:r>
              <a:rPr lang="cs-CZ" sz="1800" dirty="0" err="1"/>
              <a:t>ent</a:t>
            </a:r>
            <a:r>
              <a:rPr lang="cs-CZ" sz="1800" dirty="0"/>
              <a:t>.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endParaRPr lang="cs-CZ" sz="1800" b="1" dirty="0"/>
          </a:p>
          <a:p>
            <a:pPr marL="0" indent="0" algn="just">
              <a:spcBef>
                <a:spcPts val="200"/>
              </a:spcBef>
              <a:buClr>
                <a:srgbClr val="00B0F0"/>
              </a:buClr>
              <a:buNone/>
            </a:pPr>
            <a:r>
              <a:rPr lang="cs-CZ" sz="1800" b="1" dirty="0"/>
              <a:t>Kontrola dodržování VKB: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Plná kontrola NÚKIB ex-ante / ex-post</a:t>
            </a:r>
          </a:p>
          <a:p>
            <a:pPr algn="just">
              <a:spcBef>
                <a:spcPts val="200"/>
              </a:spcBef>
              <a:buClr>
                <a:srgbClr val="00B0F0"/>
              </a:buClr>
            </a:pPr>
            <a:r>
              <a:rPr lang="cs-CZ" sz="1800" dirty="0"/>
              <a:t>Plná kontrola jinou autoritou</a:t>
            </a:r>
          </a:p>
        </p:txBody>
      </p:sp>
    </p:spTree>
    <p:extLst>
      <p:ext uri="{BB962C8B-B14F-4D97-AF65-F5344CB8AC3E}">
        <p14:creationId xmlns:p14="http://schemas.microsoft.com/office/powerpoint/2010/main" val="3269900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9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22771" y="978379"/>
            <a:ext cx="11534266" cy="530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spcCol="360000" anchor="t" anchorCtr="0">
            <a:noAutofit/>
          </a:bodyPr>
          <a:lstStyle/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/>
              <a:t>Určené subjekty zůstanou určeny </a:t>
            </a:r>
            <a:r>
              <a:rPr lang="cs-CZ" sz="2000" dirty="0"/>
              <a:t>(kromě bank</a:t>
            </a:r>
            <a:r>
              <a:rPr lang="cs-CZ" sz="2000" dirty="0">
                <a:sym typeface="Wingdings" panose="05000000000000000000" pitchFamily="2" charset="2"/>
              </a:rPr>
              <a:t>)</a:t>
            </a:r>
            <a:r>
              <a:rPr lang="cs-CZ" sz="2000" dirty="0"/>
              <a:t> </a:t>
            </a:r>
          </a:p>
          <a:p>
            <a:pPr lvl="1" algn="just">
              <a:spcBef>
                <a:spcPts val="1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800" dirty="0"/>
              <a:t>kritérium velikosti organizace</a:t>
            </a:r>
          </a:p>
          <a:p>
            <a:pPr lvl="1" algn="just">
              <a:spcBef>
                <a:spcPts val="1200"/>
              </a:spcBef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cs-CZ" sz="1800" dirty="0"/>
              <a:t>kritérium důležitosti pro sektor (bez ohledu na obrat nebo počet zaměstnanců)</a:t>
            </a: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/>
              <a:t>Dosavadní PZS, VIS a KII </a:t>
            </a:r>
            <a:r>
              <a:rPr lang="cs-CZ" sz="2000" dirty="0"/>
              <a:t>– primárně snaha o zachování dosavadní úrovně regulace</a:t>
            </a: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/>
              <a:t>Rozsah zabezpečení informačních systémů se rozšíří na celou organizaci</a:t>
            </a:r>
            <a:r>
              <a:rPr lang="cs-CZ" sz="2000" dirty="0"/>
              <a:t>, nejen na systém používaný pro výkon základní služby</a:t>
            </a:r>
          </a:p>
          <a:p>
            <a:pPr marL="1258888" indent="0" algn="just">
              <a:spcBef>
                <a:spcPts val="1200"/>
              </a:spcBef>
              <a:buClr>
                <a:srgbClr val="00B0F0"/>
              </a:buClr>
              <a:buNone/>
            </a:pPr>
            <a:r>
              <a:rPr lang="cs-CZ" sz="2000" b="1" dirty="0">
                <a:solidFill>
                  <a:srgbClr val="FF0000"/>
                </a:solidFill>
              </a:rPr>
              <a:t>x</a:t>
            </a:r>
            <a:r>
              <a:rPr lang="cs-CZ" sz="2000" dirty="0"/>
              <a:t>  risk-</a:t>
            </a:r>
            <a:r>
              <a:rPr lang="cs-CZ" sz="2000" dirty="0" err="1"/>
              <a:t>based</a:t>
            </a:r>
            <a:r>
              <a:rPr lang="cs-CZ" sz="2000" dirty="0"/>
              <a:t> </a:t>
            </a:r>
            <a:r>
              <a:rPr lang="cs-CZ" sz="2000" dirty="0" err="1"/>
              <a:t>approach</a:t>
            </a:r>
            <a:endParaRPr lang="cs-CZ" sz="2000" dirty="0"/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/>
              <a:t>Větší zapojení Evropské komise</a:t>
            </a:r>
            <a:r>
              <a:rPr lang="cs-CZ" sz="2000" dirty="0"/>
              <a:t> – prováděcí akty Komise – bezpečnostní opatření, hlášení incidentů</a:t>
            </a:r>
          </a:p>
          <a:p>
            <a:pPr marL="1260475" indent="0" algn="just">
              <a:spcBef>
                <a:spcPts val="1200"/>
              </a:spcBef>
              <a:buClr>
                <a:srgbClr val="00B0F0"/>
              </a:buClr>
              <a:buNone/>
            </a:pPr>
            <a:r>
              <a:rPr lang="cs-CZ" sz="2000" b="1" dirty="0">
                <a:solidFill>
                  <a:srgbClr val="00B050"/>
                </a:solidFill>
              </a:rPr>
              <a:t>!</a:t>
            </a:r>
            <a:r>
              <a:rPr lang="cs-CZ" sz="2000" dirty="0"/>
              <a:t> ISO 27k </a:t>
            </a:r>
            <a:r>
              <a:rPr lang="cs-CZ" sz="2000" dirty="0">
                <a:sym typeface="Wingdings" panose="05000000000000000000" pitchFamily="2" charset="2"/>
              </a:rPr>
              <a:t> VKB</a:t>
            </a: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>
                <a:sym typeface="Wingdings" panose="05000000000000000000" pitchFamily="2" charset="2"/>
              </a:rPr>
              <a:t>Vyšší pokuty</a:t>
            </a:r>
            <a:r>
              <a:rPr lang="cs-CZ" sz="2000" dirty="0">
                <a:sym typeface="Wingdings" panose="05000000000000000000" pitchFamily="2" charset="2"/>
              </a:rPr>
              <a:t> za neplnění bezpečnostních opatření (dnes max. 5 mil. Kč)</a:t>
            </a: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>
                <a:sym typeface="Wingdings" panose="05000000000000000000" pitchFamily="2" charset="2"/>
              </a:rPr>
              <a:t>Větší důraz</a:t>
            </a:r>
            <a:r>
              <a:rPr lang="cs-CZ" sz="2000" dirty="0">
                <a:sym typeface="Wingdings" panose="05000000000000000000" pitchFamily="2" charset="2"/>
              </a:rPr>
              <a:t> na sdílení informací mezi určenými subjekty</a:t>
            </a: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>
                <a:sym typeface="Wingdings" panose="05000000000000000000" pitchFamily="2" charset="2"/>
              </a:rPr>
              <a:t>Rozsah služeb NÚKIB </a:t>
            </a:r>
            <a:r>
              <a:rPr lang="cs-CZ" sz="2000" dirty="0">
                <a:sym typeface="Wingdings" panose="05000000000000000000" pitchFamily="2" charset="2"/>
              </a:rPr>
              <a:t>– VIP klub – </a:t>
            </a:r>
            <a:r>
              <a:rPr lang="cs-CZ" sz="2000" dirty="0" err="1">
                <a:sym typeface="Wingdings" panose="05000000000000000000" pitchFamily="2" charset="2"/>
              </a:rPr>
              <a:t>essential</a:t>
            </a:r>
            <a:endParaRPr lang="cs-CZ" sz="2000" dirty="0">
              <a:sym typeface="Wingdings" panose="05000000000000000000" pitchFamily="2" charset="2"/>
            </a:endParaRPr>
          </a:p>
          <a:p>
            <a:pPr marL="285744" indent="-285744"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b="1" dirty="0">
                <a:sym typeface="Wingdings" panose="05000000000000000000" pitchFamily="2" charset="2"/>
              </a:rPr>
              <a:t>Konec přezkumů/</a:t>
            </a:r>
            <a:r>
              <a:rPr lang="cs-CZ" sz="2000" b="1" dirty="0" err="1">
                <a:sym typeface="Wingdings" panose="05000000000000000000" pitchFamily="2" charset="2"/>
              </a:rPr>
              <a:t>přeurčování</a:t>
            </a:r>
            <a:endParaRPr lang="cs-CZ" sz="2000" b="1" dirty="0">
              <a:sym typeface="Wingdings" panose="05000000000000000000" pitchFamily="2" charset="2"/>
            </a:endParaRPr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2" y="141814"/>
            <a:ext cx="11255675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Důsledky přijetí NIS2 pro regulované subjekty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446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sldNum" idx="12"/>
          </p:nvPr>
        </p:nvSpPr>
        <p:spPr>
          <a:xfrm>
            <a:off x="10992897" y="6240911"/>
            <a:ext cx="864141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s-CZ"/>
              <a:t>10</a:t>
            </a:fld>
            <a:endParaRPr dirty="0"/>
          </a:p>
        </p:txBody>
      </p:sp>
      <p:sp>
        <p:nvSpPr>
          <p:cNvPr id="140" name="Google Shape;140;p5"/>
          <p:cNvSpPr txBox="1">
            <a:spLocks noGrp="1"/>
          </p:cNvSpPr>
          <p:nvPr>
            <p:ph type="ftr" idx="11"/>
          </p:nvPr>
        </p:nvSpPr>
        <p:spPr>
          <a:xfrm>
            <a:off x="334963" y="6240911"/>
            <a:ext cx="10577547" cy="47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s-CZ" dirty="0"/>
              <a:t>Národní úřad pro kybernetickou a informační bezpečnost, TLP: WHITE</a:t>
            </a:r>
            <a:endParaRPr dirty="0"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334963" y="966187"/>
            <a:ext cx="11522075" cy="52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dirty="0"/>
              <a:t>Požadavek směrnice NIS2:</a:t>
            </a:r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r>
              <a:rPr lang="cs-CZ" sz="2000" dirty="0"/>
              <a:t>Směrnice CER + Směrnice NIS2</a:t>
            </a:r>
          </a:p>
          <a:p>
            <a:pPr marL="0" indent="0" algn="just">
              <a:spcBef>
                <a:spcPts val="1200"/>
              </a:spcBef>
              <a:buClr>
                <a:srgbClr val="00B0F0"/>
              </a:buClr>
              <a:buNone/>
            </a:pPr>
            <a:endParaRPr lang="cs-CZ" sz="2000" dirty="0"/>
          </a:p>
          <a:p>
            <a:pPr algn="just">
              <a:spcBef>
                <a:spcPts val="1200"/>
              </a:spcBef>
              <a:buClr>
                <a:srgbClr val="00B0F0"/>
              </a:buClr>
              <a:buFont typeface="Courier New" panose="02070309020205020404" pitchFamily="49" charset="0"/>
              <a:buChar char="o"/>
            </a:pPr>
            <a:endParaRPr lang="cs-CZ" sz="2000" b="1" dirty="0"/>
          </a:p>
          <a:p>
            <a:pPr marL="0" indent="0" algn="just">
              <a:spcBef>
                <a:spcPts val="1200"/>
              </a:spcBef>
              <a:buClr>
                <a:srgbClr val="00B0F0"/>
              </a:buClr>
              <a:buNone/>
            </a:pPr>
            <a:endParaRPr lang="cs-CZ" sz="2000" dirty="0"/>
          </a:p>
        </p:txBody>
      </p:sp>
      <p:sp>
        <p:nvSpPr>
          <p:cNvPr id="8" name="Google Shape;141;p5">
            <a:extLst>
              <a:ext uri="{FF2B5EF4-FFF2-40B4-BE49-F238E27FC236}">
                <a16:creationId xmlns:a16="http://schemas.microsoft.com/office/drawing/2014/main" id="{56FA07EE-D604-4FA3-B20B-73A409201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34962" y="141814"/>
            <a:ext cx="11522075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cs-CZ" dirty="0"/>
              <a:t>Regulace veřejné správy</a:t>
            </a:r>
            <a:endParaRPr dirty="0"/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7F39EA1D-04E1-42CE-AB2B-9DA78E9E4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62871"/>
              </p:ext>
            </p:extLst>
          </p:nvPr>
        </p:nvGraphicFramePr>
        <p:xfrm>
          <a:off x="3729038" y="1235862"/>
          <a:ext cx="8127999" cy="226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5949539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7859279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117074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cs-CZ" dirty="0" err="1"/>
                        <a:t>Sector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 err="1"/>
                        <a:t>Subsector</a:t>
                      </a:r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Type </a:t>
                      </a:r>
                      <a:r>
                        <a:rPr lang="cs-CZ" dirty="0" err="1"/>
                        <a:t>of</a:t>
                      </a:r>
                      <a:r>
                        <a:rPr lang="cs-CZ" dirty="0"/>
                        <a:t> entity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4933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dirty="0"/>
                        <a:t>9. Public administration entities excluding the judiciary, parliaments and central banks</a:t>
                      </a:r>
                      <a:endParaRPr lang="cs-CZ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cs-CZ" dirty="0"/>
                        <a:t>- </a:t>
                      </a:r>
                      <a:r>
                        <a:rPr lang="en-US" dirty="0"/>
                        <a:t>Public administration entities of central governments as defined by a Member State in accordance with national law</a:t>
                      </a:r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5350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— Public administration entities at regional level as defined by a Member State in accordance</a:t>
                      </a:r>
                      <a:r>
                        <a:rPr lang="cs-CZ" dirty="0"/>
                        <a:t> </a:t>
                      </a:r>
                      <a:r>
                        <a:rPr lang="cs-CZ" dirty="0" err="1"/>
                        <a:t>with</a:t>
                      </a:r>
                      <a:r>
                        <a:rPr lang="cs-CZ" dirty="0"/>
                        <a:t> </a:t>
                      </a:r>
                      <a:r>
                        <a:rPr lang="cs-CZ" dirty="0" err="1"/>
                        <a:t>national</a:t>
                      </a:r>
                      <a:r>
                        <a:rPr lang="cs-CZ" dirty="0"/>
                        <a:t> </a:t>
                      </a:r>
                      <a:r>
                        <a:rPr lang="cs-CZ" dirty="0" err="1"/>
                        <a:t>law</a:t>
                      </a:r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83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842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B9B22B74-3C35-4213-85F2-3AF978070B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9AB1657-0322-4A41-9004-8C65D97446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WHITE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B797B32-C34E-4A99-BCB2-72F9BC786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Web NÚKIB k směrnici NIS2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32489612-B34B-4D3D-93F1-FB650D8FE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Spuštěn web – dostupný zde: </a:t>
            </a:r>
            <a:r>
              <a:rPr lang="cs-CZ" dirty="0">
                <a:hlinkClick r:id="rId2"/>
              </a:rPr>
              <a:t>https://osveta.nukib.cz/course/view.php?id=145</a:t>
            </a: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ED5916B8-AD99-4FB9-91AE-E4166FB4D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80" y="1448629"/>
            <a:ext cx="7860266" cy="2515633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63206691-2DE0-47A7-9E8D-22E4ED07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182" y="2986833"/>
            <a:ext cx="5900387" cy="342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23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9DBD919-CBCB-40CA-B9B5-A205EBD8C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94F256E-0D59-4881-A67F-D233AE5367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WHITE</a:t>
            </a:r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7951421-D389-4D1B-AF04-65103B0260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Aktualita z NÚKIB na závěr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F16FC98-BD03-49BF-ADF8-7BFA34D56A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Průvodce řízením aktiv a rizik dle vyhlášky o kybernetické bezpečnosti, který je dostupný zde: </a:t>
            </a:r>
            <a:r>
              <a:rPr lang="cs-CZ" dirty="0">
                <a:hlinkClick r:id="rId2"/>
              </a:rPr>
              <a:t>https://www.nukib.cz/cs/kyberneticka-bezpecnost/regulace-a-kontrola/podpurne-materialy/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3DB9C9A-54A8-4491-B164-7F362F985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50" y="1871051"/>
            <a:ext cx="6638925" cy="2562225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9E3B72B1-52D3-4163-9DA1-2D2834857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198" y="3102305"/>
            <a:ext cx="6724650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821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-CZ" smtClean="0"/>
              <a:t>13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cs-CZ" dirty="0"/>
              <a:t>Národní úřad pro kybernetickou a informační bezpečnost, TLP: WHITE</a:t>
            </a:r>
          </a:p>
        </p:txBody>
      </p:sp>
      <p:sp>
        <p:nvSpPr>
          <p:cNvPr id="10" name="Google Shape;396;p46">
            <a:extLst>
              <a:ext uri="{FF2B5EF4-FFF2-40B4-BE49-F238E27FC236}">
                <a16:creationId xmlns:a16="http://schemas.microsoft.com/office/drawing/2014/main" id="{B1AAA168-8037-4187-9B9A-D176572F846A}"/>
              </a:ext>
            </a:extLst>
          </p:cNvPr>
          <p:cNvSpPr txBox="1">
            <a:spLocks/>
          </p:cNvSpPr>
          <p:nvPr/>
        </p:nvSpPr>
        <p:spPr>
          <a:xfrm>
            <a:off x="458700" y="1748814"/>
            <a:ext cx="11274600" cy="33349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763" marR="0" lvl="0" indent="-476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20000" marR="0" lvl="1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ourier New" panose="02070309020205020404" pitchFamily="49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080000" marR="0" lvl="2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ingdings" panose="05000000000000000000" pitchFamily="2" charset="2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440000" marR="0" lvl="3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1800000" marR="0" lvl="4" indent="-360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pPr marL="0" indent="0" algn="ctr">
              <a:lnSpc>
                <a:spcPct val="115000"/>
              </a:lnSpc>
            </a:pPr>
            <a:r>
              <a:rPr lang="cs-CZ" sz="6600" b="1" dirty="0">
                <a:latin typeface="Calibri" panose="020F0502020204030204" pitchFamily="34" charset="0"/>
                <a:cs typeface="Calibri" panose="020F0502020204030204" pitchFamily="34" charset="0"/>
              </a:rPr>
              <a:t>Dotazy?</a:t>
            </a:r>
          </a:p>
          <a:p>
            <a:pPr marL="0" indent="0" algn="ctr">
              <a:lnSpc>
                <a:spcPct val="115000"/>
              </a:lnSpc>
            </a:pPr>
            <a:r>
              <a:rPr lang="cs-CZ" sz="5400" b="1" dirty="0">
                <a:latin typeface="Calibri" panose="020F0502020204030204" pitchFamily="34" charset="0"/>
                <a:cs typeface="Calibri" panose="020F0502020204030204" pitchFamily="34" charset="0"/>
              </a:rPr>
              <a:t>Děkuji za pozornost!</a:t>
            </a:r>
          </a:p>
          <a:p>
            <a:pPr marL="0" indent="0" algn="ctr">
              <a:lnSpc>
                <a:spcPct val="115000"/>
              </a:lnSpc>
            </a:pPr>
            <a:endParaRPr lang="cs-CZ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115000"/>
              </a:lnSpc>
            </a:pPr>
            <a:endParaRPr lang="cs-CZ" sz="1400" b="1" dirty="0">
              <a:latin typeface="Calibri" panose="020F0502020204030204" pitchFamily="34" charset="0"/>
              <a:cs typeface="Calibri" panose="020F0502020204030204" pitchFamily="34" charset="0"/>
              <a:hlinkClick r:id="rId2"/>
            </a:endParaRPr>
          </a:p>
          <a:p>
            <a:pPr marL="0" indent="0" algn="ctr"/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regulace@nukib.cz</a:t>
            </a:r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indent="0" algn="ctr"/>
            <a:r>
              <a:rPr lang="cs-CZ" sz="1800" b="1" dirty="0">
                <a:latin typeface="Calibri" panose="020F0502020204030204" pitchFamily="34" charset="0"/>
                <a:cs typeface="Calibri" panose="020F0502020204030204" pitchFamily="34" charset="0"/>
              </a:rPr>
              <a:t>d.prochazkova@nukib.cz</a:t>
            </a:r>
          </a:p>
          <a:p>
            <a:pPr marL="0" indent="0" algn="just">
              <a:lnSpc>
                <a:spcPct val="115000"/>
              </a:lnSpc>
            </a:pPr>
            <a:endParaRPr lang="cs-CZ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07987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 Theme">
      <a:dk1>
        <a:srgbClr val="111111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2_Prezentace_v1.4.potx" id="{939B2CF0-BED0-4D6D-9C4F-668EF0940E7D}" vid="{1C359BF5-3A9C-44F7-9CC5-2CB0817F2FB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D3AD2E-06C5-4C2C-A5DB-F5701901CFA4}"/>
</file>

<file path=customXml/itemProps2.xml><?xml version="1.0" encoding="utf-8"?>
<ds:datastoreItem xmlns:ds="http://schemas.openxmlformats.org/officeDocument/2006/customXml" ds:itemID="{D8E786C7-D8AF-46D9-88B3-D4006B36C479}"/>
</file>

<file path=customXml/itemProps3.xml><?xml version="1.0" encoding="utf-8"?>
<ds:datastoreItem xmlns:ds="http://schemas.openxmlformats.org/officeDocument/2006/customXml" ds:itemID="{15ACB0D3-ECED-43BC-8A60-AB18DA464E3B}"/>
</file>

<file path=docProps/app.xml><?xml version="1.0" encoding="utf-8"?>
<Properties xmlns="http://schemas.openxmlformats.org/officeDocument/2006/extended-properties" xmlns:vt="http://schemas.openxmlformats.org/officeDocument/2006/docPropsVTypes">
  <Template>12_Prezentace_v1.4</Template>
  <TotalTime>2428</TotalTime>
  <Words>1224</Words>
  <Application>Microsoft Office PowerPoint</Application>
  <PresentationFormat>Širokoúhlá obrazovka</PresentationFormat>
  <Paragraphs>163</Paragraphs>
  <Slides>13</Slides>
  <Notes>10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13</vt:i4>
      </vt:variant>
    </vt:vector>
  </HeadingPairs>
  <TitlesOfParts>
    <vt:vector size="19" baseType="lpstr">
      <vt:lpstr>Calibri</vt:lpstr>
      <vt:lpstr>Courier New</vt:lpstr>
      <vt:lpstr>Wingdings</vt:lpstr>
      <vt:lpstr>Arial</vt:lpstr>
      <vt:lpstr>Ubuntu</vt:lpstr>
      <vt:lpstr>Motiv Office</vt:lpstr>
      <vt:lpstr>NIS2 Představení navrhované úpravy regulace kybernetické bezpečnosti v EU Dopady do budoucí regulace veřejné správy</vt:lpstr>
      <vt:lpstr>Struktura NIS2</vt:lpstr>
      <vt:lpstr>Vývoj vyjednávání</vt:lpstr>
      <vt:lpstr>Návrh NIS2 z pohledu regulace povinných osob</vt:lpstr>
      <vt:lpstr>Návrh NIS2 – proces určování </vt:lpstr>
      <vt:lpstr>Návrh NIS2 – proces určování </vt:lpstr>
      <vt:lpstr>Návrh NIS2 – dvourychlostní regulace</vt:lpstr>
      <vt:lpstr>Návrh NIS2 – předpokládaná podoba národní transpozice</vt:lpstr>
      <vt:lpstr>Důsledky přijetí NIS2 pro regulované subjekty</vt:lpstr>
      <vt:lpstr>Regulace veřejné správy</vt:lpstr>
      <vt:lpstr>Web NÚKIB k směrnici NIS2</vt:lpstr>
      <vt:lpstr>Aktualita z NÚKIB na závěr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Pekař Tomáš</dc:creator>
  <cp:lastModifiedBy>Prochazkova Daniela</cp:lastModifiedBy>
  <cp:revision>262</cp:revision>
  <dcterms:created xsi:type="dcterms:W3CDTF">2020-12-07T14:34:08Z</dcterms:created>
  <dcterms:modified xsi:type="dcterms:W3CDTF">2022-08-26T15:28:54Z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0x010100B7636834349BDE4785976B8F50EC4529</vt:lpwstr>
  </property>
</Properties>
</file>
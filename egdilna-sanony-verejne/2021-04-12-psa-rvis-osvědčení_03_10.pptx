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19"/>
  </p:notesMasterIdLst>
  <p:sldIdLst>
    <p:sldId id="256" r:id="rId5"/>
    <p:sldId id="294" r:id="rId6"/>
    <p:sldId id="295" r:id="rId7"/>
    <p:sldId id="297" r:id="rId8"/>
    <p:sldId id="305" r:id="rId9"/>
    <p:sldId id="298" r:id="rId10"/>
    <p:sldId id="296" r:id="rId11"/>
    <p:sldId id="299" r:id="rId12"/>
    <p:sldId id="300" r:id="rId13"/>
    <p:sldId id="301" r:id="rId14"/>
    <p:sldId id="302" r:id="rId15"/>
    <p:sldId id="303" r:id="rId16"/>
    <p:sldId id="304" r:id="rId17"/>
    <p:sldId id="291" r:id="rId18"/>
  </p:sldIdLst>
  <p:sldSz cx="12192000" cy="6858000"/>
  <p:notesSz cx="6858000" cy="9144000"/>
  <p:defaultTextStyle>
    <a:defPPr>
      <a:defRPr lang="cs-CZ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Jiří Valášek" initials="JV" lastIdx="1" clrIdx="0"/>
  <p:cmAuthor id="2" name="PEKU" initials="P" lastIdx="1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F81BD"/>
    <a:srgbClr val="000000"/>
    <a:srgbClr val="FFFFFF"/>
    <a:srgbClr val="FF9393"/>
    <a:srgbClr val="00A9E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řední styl 2 – zvýraznění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5624" autoAdjust="0"/>
    <p:restoredTop sz="50000" autoAdjust="0"/>
  </p:normalViewPr>
  <p:slideViewPr>
    <p:cSldViewPr>
      <p:cViewPr varScale="1">
        <p:scale>
          <a:sx n="77" d="100"/>
          <a:sy n="77" d="100"/>
        </p:scale>
        <p:origin x="708" y="90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" Type="http://schemas.openxmlformats.org/officeDocument/2006/relationships/customXml" Target="../customXml/item3.xml"/><Relationship Id="rId21" Type="http://schemas.openxmlformats.org/officeDocument/2006/relationships/presProps" Target="pres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commentAuthors" Target="commentAuthor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záhlaví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Zástupný symbol pro datum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F416E4B-5671-403B-B91E-16698A050570}" type="datetimeFigureOut">
              <a:rPr lang="cs-CZ" smtClean="0"/>
              <a:t>03.10.2021</a:t>
            </a:fld>
            <a:endParaRPr lang="cs-CZ"/>
          </a:p>
        </p:txBody>
      </p:sp>
      <p:sp>
        <p:nvSpPr>
          <p:cNvPr id="4" name="Zástupný symbol pro obrázek snímku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Zástupný symbol pro poznámky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cs-CZ"/>
              <a:t>Kliknutím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6" name="Zástupný symbol pro zápatí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Zástupný symbol pro číslo snímku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A180BF2-CA21-4D5B-9E8A-0EF4925B073C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00303825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Úvodní sníme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ctrTitle"/>
          </p:nvPr>
        </p:nvSpPr>
        <p:spPr>
          <a:xfrm>
            <a:off x="190459" y="1428737"/>
            <a:ext cx="10363200" cy="1470025"/>
          </a:xfrm>
        </p:spPr>
        <p:txBody>
          <a:bodyPr/>
          <a:lstStyle>
            <a:lvl1pPr algn="l">
              <a:defRPr>
                <a:solidFill>
                  <a:srgbClr val="00A9E2"/>
                </a:solidFill>
              </a:defRPr>
            </a:lvl1pPr>
          </a:lstStyle>
          <a:p>
            <a:r>
              <a:rPr lang="cs-CZ"/>
              <a:t>Kliknutím lze upravit styl.</a:t>
            </a:r>
            <a:endParaRPr lang="cs-CZ" dirty="0"/>
          </a:p>
        </p:txBody>
      </p:sp>
      <p:sp>
        <p:nvSpPr>
          <p:cNvPr id="3" name="Podnadpis 2"/>
          <p:cNvSpPr>
            <a:spLocks noGrp="1"/>
          </p:cNvSpPr>
          <p:nvPr>
            <p:ph type="subTitle" idx="1"/>
          </p:nvPr>
        </p:nvSpPr>
        <p:spPr>
          <a:xfrm>
            <a:off x="190459" y="3857628"/>
            <a:ext cx="8534400" cy="1752600"/>
          </a:xfrm>
        </p:spPr>
        <p:txBody>
          <a:bodyPr>
            <a:normAutofit/>
          </a:bodyPr>
          <a:lstStyle>
            <a:lvl1pPr marL="0" indent="0" algn="l">
              <a:buNone/>
              <a:defRPr lang="cs-CZ" sz="3200" kern="1200" dirty="0" smtClean="0">
                <a:solidFill>
                  <a:srgbClr val="00A9E2"/>
                </a:solidFill>
                <a:latin typeface="Arial" pitchFamily="34" charset="0"/>
                <a:ea typeface="+mj-ea"/>
                <a:cs typeface="Arial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cs-CZ"/>
              <a:t>Kliknutím lze upravit styl předlohy.</a:t>
            </a:r>
            <a:endParaRPr lang="cs-CZ" dirty="0"/>
          </a:p>
        </p:txBody>
      </p:sp>
      <p:sp>
        <p:nvSpPr>
          <p:cNvPr id="4" name="Zástupný symbol pro datum 3"/>
          <p:cNvSpPr>
            <a:spLocks noGrp="1"/>
          </p:cNvSpPr>
          <p:nvPr>
            <p:ph type="dt" sz="half" idx="10"/>
          </p:nvPr>
        </p:nvSpPr>
        <p:spPr>
          <a:xfrm>
            <a:off x="190459" y="6357959"/>
            <a:ext cx="2844800" cy="365125"/>
          </a:xfrm>
        </p:spPr>
        <p:txBody>
          <a:bodyPr/>
          <a:lstStyle/>
          <a:p>
            <a:fld id="{7516EB83-090E-473B-B959-92A4B5275361}" type="datetimeFigureOut">
              <a:rPr lang="cs-CZ" smtClean="0"/>
              <a:pPr/>
              <a:t>03.10.2021</a:t>
            </a:fld>
            <a:endParaRPr lang="cs-CZ" dirty="0"/>
          </a:p>
        </p:txBody>
      </p:sp>
      <p:sp>
        <p:nvSpPr>
          <p:cNvPr id="5" name="Zástupný symbol pro zápatí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03F0DB-9040-4F31-8D2D-42639AAB2BE5}" type="slidenum">
              <a:rPr lang="cs-CZ" smtClean="0"/>
              <a:pPr/>
              <a:t>‹#›</a:t>
            </a:fld>
            <a:endParaRPr lang="cs-CZ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Nadpis a obsa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3809984" y="274638"/>
            <a:ext cx="7772416" cy="1143000"/>
          </a:xfrm>
        </p:spPr>
        <p:txBody>
          <a:bodyPr>
            <a:no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lang="cs-CZ" sz="3200" kern="1200" dirty="0" smtClean="0">
                <a:solidFill>
                  <a:srgbClr val="00A9E2"/>
                </a:solidFill>
                <a:latin typeface="Arial" pitchFamily="34" charset="0"/>
                <a:ea typeface="+mj-ea"/>
                <a:cs typeface="Arial" pitchFamily="34" charset="0"/>
              </a:defRPr>
            </a:lvl1pPr>
          </a:lstStyle>
          <a:p>
            <a:r>
              <a:rPr lang="cs-CZ"/>
              <a:t>Kliknutím lze upravit styl.</a:t>
            </a:r>
            <a:endParaRPr lang="cs-CZ" dirty="0"/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>
          <a:xfrm>
            <a:off x="285709" y="1600201"/>
            <a:ext cx="11296691" cy="4525963"/>
          </a:xfrm>
        </p:spPr>
        <p:txBody>
          <a:bodyPr/>
          <a:lstStyle/>
          <a:p>
            <a:pPr lvl="0"/>
            <a:r>
              <a:rPr lang="cs-CZ"/>
              <a:t>Kliknutím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cs-CZ" dirty="0"/>
          </a:p>
        </p:txBody>
      </p:sp>
      <p:sp>
        <p:nvSpPr>
          <p:cNvPr id="4" name="Zástupný symbol pro datum 3"/>
          <p:cNvSpPr>
            <a:spLocks noGrp="1"/>
          </p:cNvSpPr>
          <p:nvPr>
            <p:ph type="dt" sz="half" idx="10"/>
          </p:nvPr>
        </p:nvSpPr>
        <p:spPr>
          <a:xfrm>
            <a:off x="285709" y="6357959"/>
            <a:ext cx="2844800" cy="365125"/>
          </a:xfrm>
        </p:spPr>
        <p:txBody>
          <a:bodyPr/>
          <a:lstStyle/>
          <a:p>
            <a:fld id="{7516EB83-090E-473B-B959-92A4B5275361}" type="datetimeFigureOut">
              <a:rPr lang="cs-CZ" smtClean="0"/>
              <a:pPr/>
              <a:t>03.10.2021</a:t>
            </a:fld>
            <a:endParaRPr lang="cs-CZ" dirty="0"/>
          </a:p>
        </p:txBody>
      </p:sp>
      <p:sp>
        <p:nvSpPr>
          <p:cNvPr id="5" name="Zástupný symbol pro zápatí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03F0DB-9040-4F31-8D2D-42639AAB2BE5}" type="slidenum">
              <a:rPr lang="cs-CZ" smtClean="0"/>
              <a:pPr/>
              <a:t>‹#›</a:t>
            </a:fld>
            <a:endParaRPr lang="cs-CZ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Záhlaví čás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285709" y="4357695"/>
            <a:ext cx="10363200" cy="1362075"/>
          </a:xfrm>
        </p:spPr>
        <p:txBody>
          <a:bodyPr anchor="t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lang="cs-CZ" sz="3200" kern="1200" dirty="0" smtClean="0">
                <a:solidFill>
                  <a:srgbClr val="00A9E2"/>
                </a:solidFill>
                <a:latin typeface="Arial" pitchFamily="34" charset="0"/>
                <a:ea typeface="+mj-ea"/>
                <a:cs typeface="Arial" pitchFamily="34" charset="0"/>
              </a:defRPr>
            </a:lvl1pPr>
          </a:lstStyle>
          <a:p>
            <a:r>
              <a:rPr lang="cs-CZ"/>
              <a:t>Kliknutím lze upravit styl.</a:t>
            </a:r>
            <a:endParaRPr lang="cs-CZ" dirty="0"/>
          </a:p>
        </p:txBody>
      </p:sp>
      <p:sp>
        <p:nvSpPr>
          <p:cNvPr id="3" name="Zástupný symbol pro text 2"/>
          <p:cNvSpPr>
            <a:spLocks noGrp="1"/>
          </p:cNvSpPr>
          <p:nvPr>
            <p:ph type="body" idx="1"/>
          </p:nvPr>
        </p:nvSpPr>
        <p:spPr>
          <a:xfrm>
            <a:off x="285709" y="2857496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  <a:latin typeface="Arial" pitchFamily="34" charset="0"/>
                <a:cs typeface="Arial" pitchFamily="34" charset="0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cs-CZ"/>
              <a:t>Kliknutím lze upravit styly předlohy textu.</a:t>
            </a:r>
          </a:p>
        </p:txBody>
      </p:sp>
      <p:sp>
        <p:nvSpPr>
          <p:cNvPr id="4" name="Zástupný symbol pro datum 3"/>
          <p:cNvSpPr>
            <a:spLocks noGrp="1"/>
          </p:cNvSpPr>
          <p:nvPr>
            <p:ph type="dt" sz="half" idx="10"/>
          </p:nvPr>
        </p:nvSpPr>
        <p:spPr>
          <a:xfrm>
            <a:off x="285709" y="6357959"/>
            <a:ext cx="2844800" cy="365125"/>
          </a:xfrm>
        </p:spPr>
        <p:txBody>
          <a:bodyPr/>
          <a:lstStyle/>
          <a:p>
            <a:fld id="{7516EB83-090E-473B-B959-92A4B5275361}" type="datetimeFigureOut">
              <a:rPr lang="cs-CZ" smtClean="0"/>
              <a:pPr/>
              <a:t>03.10.2021</a:t>
            </a:fld>
            <a:endParaRPr lang="cs-CZ"/>
          </a:p>
        </p:txBody>
      </p:sp>
      <p:sp>
        <p:nvSpPr>
          <p:cNvPr id="5" name="Zástupný symbol pro zápatí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03F0DB-9040-4F31-8D2D-42639AAB2BE5}" type="slidenum">
              <a:rPr lang="cs-CZ" smtClean="0"/>
              <a:pPr/>
              <a:t>‹#›</a:t>
            </a:fld>
            <a:endParaRPr lang="cs-CZ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va obsah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3809984" y="274638"/>
            <a:ext cx="7772416" cy="1143000"/>
          </a:xfrm>
        </p:spPr>
        <p:txBody>
          <a:bodyPr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lang="cs-CZ" sz="3200" kern="1200" dirty="0" smtClean="0">
                <a:solidFill>
                  <a:srgbClr val="00A9E2"/>
                </a:solidFill>
                <a:latin typeface="Arial" pitchFamily="34" charset="0"/>
                <a:ea typeface="+mj-ea"/>
                <a:cs typeface="Arial" pitchFamily="34" charset="0"/>
              </a:defRPr>
            </a:lvl1pPr>
          </a:lstStyle>
          <a:p>
            <a:r>
              <a:rPr lang="cs-CZ"/>
              <a:t>Kliknutím lze upravit styl.</a:t>
            </a:r>
            <a:endParaRPr lang="cs-CZ" dirty="0"/>
          </a:p>
        </p:txBody>
      </p:sp>
      <p:sp>
        <p:nvSpPr>
          <p:cNvPr id="3" name="Zástupný symbol pro obsah 2"/>
          <p:cNvSpPr>
            <a:spLocks noGrp="1"/>
          </p:cNvSpPr>
          <p:nvPr>
            <p:ph sz="half" idx="1"/>
          </p:nvPr>
        </p:nvSpPr>
        <p:spPr>
          <a:xfrm>
            <a:off x="285709" y="1571612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cs-CZ"/>
              <a:t>Kliknutím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obsah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cs-CZ"/>
              <a:t>Kliknutím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5" name="Zástupný symbol pro datum 4"/>
          <p:cNvSpPr>
            <a:spLocks noGrp="1"/>
          </p:cNvSpPr>
          <p:nvPr>
            <p:ph type="dt" sz="half" idx="10"/>
          </p:nvPr>
        </p:nvSpPr>
        <p:spPr>
          <a:xfrm>
            <a:off x="285709" y="6357959"/>
            <a:ext cx="2844800" cy="365125"/>
          </a:xfrm>
        </p:spPr>
        <p:txBody>
          <a:bodyPr/>
          <a:lstStyle/>
          <a:p>
            <a:fld id="{7516EB83-090E-473B-B959-92A4B5275361}" type="datetimeFigureOut">
              <a:rPr lang="cs-CZ" smtClean="0"/>
              <a:pPr/>
              <a:t>03.10.2021</a:t>
            </a:fld>
            <a:endParaRPr lang="cs-CZ"/>
          </a:p>
        </p:txBody>
      </p:sp>
      <p:sp>
        <p:nvSpPr>
          <p:cNvPr id="6" name="Zástupný symbol pro zápatí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Zástupný symbol pro číslo snímk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03F0DB-9040-4F31-8D2D-42639AAB2BE5}" type="slidenum">
              <a:rPr lang="cs-CZ" smtClean="0"/>
              <a:pPr/>
              <a:t>‹#›</a:t>
            </a:fld>
            <a:endParaRPr lang="cs-CZ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ovnání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3809984" y="274638"/>
            <a:ext cx="7772416" cy="1143000"/>
          </a:xfrm>
        </p:spPr>
        <p:txBody>
          <a:bodyPr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lang="cs-CZ" sz="3200" kern="1200" dirty="0" smtClean="0">
                <a:solidFill>
                  <a:srgbClr val="00A9E2"/>
                </a:solidFill>
                <a:latin typeface="Arial" pitchFamily="34" charset="0"/>
                <a:ea typeface="+mj-ea"/>
                <a:cs typeface="Arial" pitchFamily="34" charset="0"/>
              </a:defRPr>
            </a:lvl1pPr>
          </a:lstStyle>
          <a:p>
            <a:r>
              <a:rPr lang="cs-CZ"/>
              <a:t>Kliknutím lze upravit styl.</a:t>
            </a:r>
            <a:endParaRPr lang="cs-CZ" dirty="0"/>
          </a:p>
        </p:txBody>
      </p:sp>
      <p:sp>
        <p:nvSpPr>
          <p:cNvPr id="3" name="Zástupný symbol pro text 2"/>
          <p:cNvSpPr>
            <a:spLocks noGrp="1"/>
          </p:cNvSpPr>
          <p:nvPr>
            <p:ph type="body" idx="1"/>
          </p:nvPr>
        </p:nvSpPr>
        <p:spPr>
          <a:xfrm>
            <a:off x="285710" y="1503354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Kliknutím lze upravit styly předlohy textu.</a:t>
            </a:r>
          </a:p>
        </p:txBody>
      </p:sp>
      <p:sp>
        <p:nvSpPr>
          <p:cNvPr id="4" name="Zástupný symbol pro obsah 3"/>
          <p:cNvSpPr>
            <a:spLocks noGrp="1"/>
          </p:cNvSpPr>
          <p:nvPr>
            <p:ph sz="half" idx="2"/>
          </p:nvPr>
        </p:nvSpPr>
        <p:spPr>
          <a:xfrm>
            <a:off x="285710" y="2143116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cs-CZ"/>
              <a:t>Kliknutím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cs-CZ" dirty="0"/>
          </a:p>
        </p:txBody>
      </p:sp>
      <p:sp>
        <p:nvSpPr>
          <p:cNvPr id="5" name="Zástupný symbol pro text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Kliknutím lze upravit styly předlohy textu.</a:t>
            </a:r>
          </a:p>
        </p:txBody>
      </p:sp>
      <p:sp>
        <p:nvSpPr>
          <p:cNvPr id="6" name="Zástupný symbol pro obsah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cs-CZ"/>
              <a:t>Kliknutím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cs-CZ" dirty="0"/>
          </a:p>
        </p:txBody>
      </p:sp>
      <p:sp>
        <p:nvSpPr>
          <p:cNvPr id="7" name="Zástupný symbol pro datum 6"/>
          <p:cNvSpPr>
            <a:spLocks noGrp="1"/>
          </p:cNvSpPr>
          <p:nvPr>
            <p:ph type="dt" sz="half" idx="10"/>
          </p:nvPr>
        </p:nvSpPr>
        <p:spPr>
          <a:xfrm>
            <a:off x="285709" y="6324592"/>
            <a:ext cx="2844800" cy="365125"/>
          </a:xfrm>
        </p:spPr>
        <p:txBody>
          <a:bodyPr/>
          <a:lstStyle/>
          <a:p>
            <a:fld id="{7516EB83-090E-473B-B959-92A4B5275361}" type="datetimeFigureOut">
              <a:rPr lang="cs-CZ" smtClean="0"/>
              <a:pPr/>
              <a:t>03.10.2021</a:t>
            </a:fld>
            <a:endParaRPr lang="cs-CZ" dirty="0"/>
          </a:p>
        </p:txBody>
      </p:sp>
      <p:sp>
        <p:nvSpPr>
          <p:cNvPr id="8" name="Zástupný symbol pro zápatí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9" name="Zástupný symbol pro číslo snímku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03F0DB-9040-4F31-8D2D-42639AAB2BE5}" type="slidenum">
              <a:rPr lang="cs-CZ" smtClean="0"/>
              <a:pPr/>
              <a:t>‹#›</a:t>
            </a:fld>
            <a:endParaRPr lang="cs-CZ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Pouze nadp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3809984" y="274638"/>
            <a:ext cx="7772416" cy="1143000"/>
          </a:xfrm>
        </p:spPr>
        <p:txBody>
          <a:bodyPr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lang="cs-CZ" sz="3200" kern="1200" dirty="0" smtClean="0">
                <a:solidFill>
                  <a:srgbClr val="00A9E2"/>
                </a:solidFill>
                <a:latin typeface="Arial" pitchFamily="34" charset="0"/>
                <a:ea typeface="+mj-ea"/>
                <a:cs typeface="Arial" pitchFamily="34" charset="0"/>
              </a:defRPr>
            </a:lvl1pPr>
          </a:lstStyle>
          <a:p>
            <a:r>
              <a:rPr lang="cs-CZ"/>
              <a:t>Kliknutím lze upravit styl.</a:t>
            </a:r>
            <a:endParaRPr lang="cs-CZ" dirty="0"/>
          </a:p>
        </p:txBody>
      </p:sp>
      <p:sp>
        <p:nvSpPr>
          <p:cNvPr id="3" name="Zástupný symbol pro datum 2"/>
          <p:cNvSpPr>
            <a:spLocks noGrp="1"/>
          </p:cNvSpPr>
          <p:nvPr>
            <p:ph type="dt" sz="half" idx="10"/>
          </p:nvPr>
        </p:nvSpPr>
        <p:spPr>
          <a:xfrm>
            <a:off x="285709" y="6357959"/>
            <a:ext cx="2844800" cy="365125"/>
          </a:xfrm>
        </p:spPr>
        <p:txBody>
          <a:bodyPr/>
          <a:lstStyle/>
          <a:p>
            <a:fld id="{7516EB83-090E-473B-B959-92A4B5275361}" type="datetimeFigureOut">
              <a:rPr lang="cs-CZ" smtClean="0"/>
              <a:pPr/>
              <a:t>03.10.2021</a:t>
            </a:fld>
            <a:endParaRPr lang="cs-CZ"/>
          </a:p>
        </p:txBody>
      </p:sp>
      <p:sp>
        <p:nvSpPr>
          <p:cNvPr id="4" name="Zástupný symbol pro zápatí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5" name="Zástupný symbol pro číslo snímku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03F0DB-9040-4F31-8D2D-42639AAB2BE5}" type="slidenum">
              <a:rPr lang="cs-CZ" smtClean="0"/>
              <a:pPr/>
              <a:t>‹#›</a:t>
            </a:fld>
            <a:endParaRPr lang="cs-CZ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rázdn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datum 1"/>
          <p:cNvSpPr>
            <a:spLocks noGrp="1"/>
          </p:cNvSpPr>
          <p:nvPr>
            <p:ph type="dt" sz="half" idx="10"/>
          </p:nvPr>
        </p:nvSpPr>
        <p:spPr>
          <a:xfrm>
            <a:off x="285709" y="6357959"/>
            <a:ext cx="2844800" cy="365125"/>
          </a:xfrm>
        </p:spPr>
        <p:txBody>
          <a:bodyPr/>
          <a:lstStyle>
            <a:lvl1pPr>
              <a:defRPr>
                <a:latin typeface="Arial" pitchFamily="34" charset="0"/>
                <a:cs typeface="Arial" pitchFamily="34" charset="0"/>
              </a:defRPr>
            </a:lvl1pPr>
          </a:lstStyle>
          <a:p>
            <a:fld id="{7516EB83-090E-473B-B959-92A4B5275361}" type="datetimeFigureOut">
              <a:rPr lang="cs-CZ" smtClean="0"/>
              <a:pPr/>
              <a:t>03.10.2021</a:t>
            </a:fld>
            <a:endParaRPr lang="cs-CZ" dirty="0"/>
          </a:p>
        </p:txBody>
      </p:sp>
      <p:sp>
        <p:nvSpPr>
          <p:cNvPr id="3" name="Zástupný symbol pro zápatí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4" name="Zástupný symbol pro číslo snímku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03F0DB-9040-4F31-8D2D-42639AAB2BE5}" type="slidenum">
              <a:rPr lang="cs-CZ" smtClean="0"/>
              <a:pPr/>
              <a:t>‹#›</a:t>
            </a:fld>
            <a:endParaRPr lang="cs-CZ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Obsah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285710" y="1142984"/>
            <a:ext cx="4392087" cy="1285884"/>
          </a:xfrm>
        </p:spPr>
        <p:txBody>
          <a:bodyPr anchor="b">
            <a:no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lang="cs-CZ" sz="2800" kern="1200" dirty="0" smtClean="0">
                <a:solidFill>
                  <a:srgbClr val="00A9E2"/>
                </a:solidFill>
                <a:latin typeface="Arial" pitchFamily="34" charset="0"/>
                <a:ea typeface="+mj-ea"/>
                <a:cs typeface="Arial" pitchFamily="34" charset="0"/>
              </a:defRPr>
            </a:lvl1pPr>
          </a:lstStyle>
          <a:p>
            <a:r>
              <a:rPr lang="cs-CZ"/>
              <a:t>Kliknutím lze upravit styl.</a:t>
            </a:r>
            <a:endParaRPr lang="cs-CZ" dirty="0"/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cs-CZ"/>
              <a:t>Kliknutím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text 3"/>
          <p:cNvSpPr>
            <a:spLocks noGrp="1"/>
          </p:cNvSpPr>
          <p:nvPr>
            <p:ph type="body" sz="half" idx="2"/>
          </p:nvPr>
        </p:nvSpPr>
        <p:spPr>
          <a:xfrm>
            <a:off x="285710" y="2500307"/>
            <a:ext cx="4334975" cy="362585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cs-CZ"/>
              <a:t>Kliknutím lze upravit styly předlohy textu.</a:t>
            </a:r>
          </a:p>
        </p:txBody>
      </p:sp>
      <p:sp>
        <p:nvSpPr>
          <p:cNvPr id="5" name="Zástupný symbol pro datum 4"/>
          <p:cNvSpPr>
            <a:spLocks noGrp="1"/>
          </p:cNvSpPr>
          <p:nvPr>
            <p:ph type="dt" sz="half" idx="10"/>
          </p:nvPr>
        </p:nvSpPr>
        <p:spPr>
          <a:xfrm>
            <a:off x="285709" y="6357959"/>
            <a:ext cx="2844800" cy="365125"/>
          </a:xfrm>
        </p:spPr>
        <p:txBody>
          <a:bodyPr/>
          <a:lstStyle/>
          <a:p>
            <a:fld id="{7516EB83-090E-473B-B959-92A4B5275361}" type="datetimeFigureOut">
              <a:rPr lang="cs-CZ" smtClean="0"/>
              <a:pPr/>
              <a:t>03.10.2021</a:t>
            </a:fld>
            <a:endParaRPr lang="cs-CZ"/>
          </a:p>
        </p:txBody>
      </p:sp>
      <p:sp>
        <p:nvSpPr>
          <p:cNvPr id="6" name="Zástupný symbol pro zápatí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Zástupný symbol pro číslo snímk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03F0DB-9040-4F31-8D2D-42639AAB2BE5}" type="slidenum">
              <a:rPr lang="cs-CZ" smtClean="0"/>
              <a:pPr/>
              <a:t>‹#›</a:t>
            </a:fld>
            <a:endParaRPr lang="cs-CZ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brázek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cs-CZ"/>
              <a:t>Kliknutím lze upravit styl.</a:t>
            </a:r>
            <a:endParaRPr lang="cs-CZ" dirty="0"/>
          </a:p>
        </p:txBody>
      </p:sp>
      <p:sp>
        <p:nvSpPr>
          <p:cNvPr id="3" name="Zástupný symbol pro obrázek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cs-CZ"/>
              <a:t>Kliknutím na ikonu přidáte obrázek.</a:t>
            </a:r>
            <a:endParaRPr lang="cs-CZ" dirty="0"/>
          </a:p>
        </p:txBody>
      </p:sp>
      <p:sp>
        <p:nvSpPr>
          <p:cNvPr id="4" name="Zástupný symbol pro text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cs-CZ"/>
              <a:t>Kliknutím lze upravit styly předlohy textu.</a:t>
            </a:r>
          </a:p>
        </p:txBody>
      </p:sp>
      <p:sp>
        <p:nvSpPr>
          <p:cNvPr id="5" name="Zástupný symbol pro datum 4"/>
          <p:cNvSpPr>
            <a:spLocks noGrp="1"/>
          </p:cNvSpPr>
          <p:nvPr>
            <p:ph type="dt" sz="half" idx="10"/>
          </p:nvPr>
        </p:nvSpPr>
        <p:spPr>
          <a:xfrm>
            <a:off x="285709" y="6357959"/>
            <a:ext cx="2844800" cy="365125"/>
          </a:xfrm>
        </p:spPr>
        <p:txBody>
          <a:bodyPr/>
          <a:lstStyle/>
          <a:p>
            <a:fld id="{7516EB83-090E-473B-B959-92A4B5275361}" type="datetimeFigureOut">
              <a:rPr lang="cs-CZ" smtClean="0"/>
              <a:pPr/>
              <a:t>03.10.2021</a:t>
            </a:fld>
            <a:endParaRPr lang="cs-CZ"/>
          </a:p>
        </p:txBody>
      </p:sp>
      <p:sp>
        <p:nvSpPr>
          <p:cNvPr id="6" name="Zástupný symbol pro zápatí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Zástupný symbol pro číslo snímk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03F0DB-9040-4F31-8D2D-42639AAB2BE5}" type="slidenum">
              <a:rPr lang="cs-CZ" smtClean="0"/>
              <a:pPr/>
              <a:t>‹#›</a:t>
            </a:fld>
            <a:endParaRPr lang="cs-CZ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Nadpis a svislý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3809984" y="274638"/>
            <a:ext cx="7772416" cy="1143000"/>
          </a:xfrm>
        </p:spPr>
        <p:txBody>
          <a:bodyPr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lang="cs-CZ" sz="3200" kern="1200" dirty="0" smtClean="0">
                <a:solidFill>
                  <a:srgbClr val="00A9E2"/>
                </a:solidFill>
                <a:latin typeface="Arial" pitchFamily="34" charset="0"/>
                <a:ea typeface="+mj-ea"/>
                <a:cs typeface="Arial" pitchFamily="34" charset="0"/>
              </a:defRPr>
            </a:lvl1pPr>
          </a:lstStyle>
          <a:p>
            <a:r>
              <a:rPr lang="cs-CZ"/>
              <a:t>Kliknutím lze upravit styl.</a:t>
            </a:r>
            <a:endParaRPr lang="cs-CZ" dirty="0"/>
          </a:p>
        </p:txBody>
      </p:sp>
      <p:sp>
        <p:nvSpPr>
          <p:cNvPr id="3" name="Zástupný symbol pro svislý text 2"/>
          <p:cNvSpPr>
            <a:spLocks noGrp="1"/>
          </p:cNvSpPr>
          <p:nvPr>
            <p:ph type="body" orient="vert" idx="1"/>
          </p:nvPr>
        </p:nvSpPr>
        <p:spPr>
          <a:xfrm>
            <a:off x="380960" y="1600201"/>
            <a:ext cx="11201440" cy="4525963"/>
          </a:xfrm>
        </p:spPr>
        <p:txBody>
          <a:bodyPr vert="eaVert"/>
          <a:lstStyle/>
          <a:p>
            <a:pPr lvl="0"/>
            <a:r>
              <a:rPr lang="cs-CZ"/>
              <a:t>Kliknutím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cs-CZ" dirty="0"/>
          </a:p>
        </p:txBody>
      </p:sp>
      <p:sp>
        <p:nvSpPr>
          <p:cNvPr id="4" name="Zástupný symbol pro datum 3"/>
          <p:cNvSpPr>
            <a:spLocks noGrp="1"/>
          </p:cNvSpPr>
          <p:nvPr>
            <p:ph type="dt" sz="half" idx="10"/>
          </p:nvPr>
        </p:nvSpPr>
        <p:spPr>
          <a:xfrm>
            <a:off x="285709" y="6357959"/>
            <a:ext cx="2844800" cy="365125"/>
          </a:xfrm>
        </p:spPr>
        <p:txBody>
          <a:bodyPr/>
          <a:lstStyle/>
          <a:p>
            <a:fld id="{7516EB83-090E-473B-B959-92A4B5275361}" type="datetimeFigureOut">
              <a:rPr lang="cs-CZ" smtClean="0"/>
              <a:pPr/>
              <a:t>03.10.2021</a:t>
            </a:fld>
            <a:endParaRPr lang="cs-CZ"/>
          </a:p>
        </p:txBody>
      </p:sp>
      <p:sp>
        <p:nvSpPr>
          <p:cNvPr id="5" name="Zástupný symbol pro zápatí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03F0DB-9040-4F31-8D2D-42639AAB2BE5}" type="slidenum">
              <a:rPr lang="cs-CZ" smtClean="0"/>
              <a:pPr/>
              <a:t>‹#›</a:t>
            </a:fld>
            <a:endParaRPr lang="cs-CZ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Svislý nadpis a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vislý nadpis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>
            <a:lvl1pPr algn="l">
              <a:defRPr lang="cs-CZ" sz="3200" kern="1200" dirty="0" smtClean="0">
                <a:solidFill>
                  <a:srgbClr val="00A9E2"/>
                </a:solidFill>
                <a:latin typeface="Arial" pitchFamily="34" charset="0"/>
                <a:ea typeface="+mj-ea"/>
                <a:cs typeface="Arial" pitchFamily="34" charset="0"/>
              </a:defRPr>
            </a:lvl1pPr>
          </a:lstStyle>
          <a:p>
            <a:r>
              <a:rPr lang="cs-CZ"/>
              <a:t>Kliknutím lze upravit styl.</a:t>
            </a:r>
            <a:endParaRPr lang="cs-CZ" dirty="0"/>
          </a:p>
        </p:txBody>
      </p:sp>
      <p:sp>
        <p:nvSpPr>
          <p:cNvPr id="3" name="Zástupný symbol pro svislý text 2"/>
          <p:cNvSpPr>
            <a:spLocks noGrp="1"/>
          </p:cNvSpPr>
          <p:nvPr>
            <p:ph type="body" orient="vert" idx="1"/>
          </p:nvPr>
        </p:nvSpPr>
        <p:spPr>
          <a:xfrm>
            <a:off x="380960" y="1285861"/>
            <a:ext cx="8255040" cy="4840303"/>
          </a:xfrm>
        </p:spPr>
        <p:txBody>
          <a:bodyPr vert="eaVert"/>
          <a:lstStyle/>
          <a:p>
            <a:pPr lvl="0"/>
            <a:r>
              <a:rPr lang="cs-CZ"/>
              <a:t>Kliknutím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cs-CZ" dirty="0"/>
          </a:p>
        </p:txBody>
      </p:sp>
      <p:sp>
        <p:nvSpPr>
          <p:cNvPr id="4" name="Zástupný symbol pro datum 3"/>
          <p:cNvSpPr>
            <a:spLocks noGrp="1"/>
          </p:cNvSpPr>
          <p:nvPr>
            <p:ph type="dt" sz="half" idx="10"/>
          </p:nvPr>
        </p:nvSpPr>
        <p:spPr>
          <a:xfrm>
            <a:off x="285709" y="6357959"/>
            <a:ext cx="2844800" cy="365125"/>
          </a:xfrm>
        </p:spPr>
        <p:txBody>
          <a:bodyPr/>
          <a:lstStyle/>
          <a:p>
            <a:fld id="{7516EB83-090E-473B-B959-92A4B5275361}" type="datetimeFigureOut">
              <a:rPr lang="cs-CZ" smtClean="0"/>
              <a:pPr/>
              <a:t>03.10.2021</a:t>
            </a:fld>
            <a:endParaRPr lang="cs-CZ"/>
          </a:p>
        </p:txBody>
      </p:sp>
      <p:sp>
        <p:nvSpPr>
          <p:cNvPr id="5" name="Zástupný symbol pro zápatí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03F0DB-9040-4F31-8D2D-42639AAB2BE5}" type="slidenum">
              <a:rPr lang="cs-CZ" smtClean="0"/>
              <a:pPr/>
              <a:t>‹#›</a:t>
            </a:fld>
            <a:endParaRPr lang="cs-CZ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Obrázek 8" descr="velkybubli_CJ_1502_1.jpg"/>
          <p:cNvPicPr>
            <a:picLocks noChangeAspect="1"/>
          </p:cNvPicPr>
          <p:nvPr/>
        </p:nvPicPr>
        <p:blipFill>
          <a:blip r:embed="rId13" cstate="print"/>
          <a:stretch>
            <a:fillRect/>
          </a:stretch>
        </p:blipFill>
        <p:spPr>
          <a:xfrm>
            <a:off x="0" y="1522"/>
            <a:ext cx="12192000" cy="6854956"/>
          </a:xfrm>
          <a:prstGeom prst="rect">
            <a:avLst/>
          </a:prstGeom>
        </p:spPr>
      </p:pic>
      <p:sp>
        <p:nvSpPr>
          <p:cNvPr id="2" name="Zástupný symbol pro nadpis 1"/>
          <p:cNvSpPr>
            <a:spLocks noGrp="1"/>
          </p:cNvSpPr>
          <p:nvPr>
            <p:ph type="title"/>
          </p:nvPr>
        </p:nvSpPr>
        <p:spPr>
          <a:xfrm>
            <a:off x="3809984" y="274638"/>
            <a:ext cx="7772416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cs-CZ" dirty="0"/>
              <a:t>Klepnutím lze upravit styl předlohy nadpisů.</a:t>
            </a:r>
          </a:p>
        </p:txBody>
      </p:sp>
      <p:sp>
        <p:nvSpPr>
          <p:cNvPr id="3" name="Zástupný symbol pro text 2"/>
          <p:cNvSpPr>
            <a:spLocks noGrp="1"/>
          </p:cNvSpPr>
          <p:nvPr>
            <p:ph type="body" idx="1"/>
          </p:nvPr>
        </p:nvSpPr>
        <p:spPr>
          <a:xfrm>
            <a:off x="285709" y="1571612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cs-CZ" dirty="0"/>
              <a:t>Klepnutím lze upravit styly předlohy textu.</a:t>
            </a:r>
          </a:p>
          <a:p>
            <a:pPr lvl="1"/>
            <a:r>
              <a:rPr lang="cs-CZ" dirty="0"/>
              <a:t>Druhá úroveň</a:t>
            </a:r>
          </a:p>
          <a:p>
            <a:pPr lvl="2"/>
            <a:r>
              <a:rPr lang="cs-CZ" dirty="0"/>
              <a:t>Třetí úroveň</a:t>
            </a:r>
          </a:p>
          <a:p>
            <a:pPr lvl="3"/>
            <a:r>
              <a:rPr lang="cs-CZ" dirty="0"/>
              <a:t>Čtvrtá úroveň</a:t>
            </a:r>
          </a:p>
          <a:p>
            <a:pPr lvl="4"/>
            <a:r>
              <a:rPr lang="cs-CZ" dirty="0"/>
              <a:t>Pátá úroveň</a:t>
            </a:r>
          </a:p>
        </p:txBody>
      </p:sp>
      <p:sp>
        <p:nvSpPr>
          <p:cNvPr id="4" name="Zástupný symbol pro datum 3"/>
          <p:cNvSpPr>
            <a:spLocks noGrp="1"/>
          </p:cNvSpPr>
          <p:nvPr>
            <p:ph type="dt" sz="half" idx="2"/>
          </p:nvPr>
        </p:nvSpPr>
        <p:spPr>
          <a:xfrm>
            <a:off x="285709" y="6357959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fld id="{7516EB83-090E-473B-B959-92A4B5275361}" type="datetimeFigureOut">
              <a:rPr lang="cs-CZ" smtClean="0"/>
              <a:pPr/>
              <a:t>03.10.2021</a:t>
            </a:fld>
            <a:endParaRPr lang="cs-CZ" dirty="0"/>
          </a:p>
        </p:txBody>
      </p:sp>
      <p:sp>
        <p:nvSpPr>
          <p:cNvPr id="5" name="Zástupný symbol pro zápatí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cs-CZ"/>
          </a:p>
        </p:txBody>
      </p:sp>
      <p:sp>
        <p:nvSpPr>
          <p:cNvPr id="6" name="Zástupný symbol pro číslo snímku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F03F0DB-9040-4F31-8D2D-42639AAB2BE5}" type="slidenum">
              <a:rPr lang="cs-CZ" smtClean="0"/>
              <a:pPr/>
              <a:t>‹#›</a:t>
            </a:fld>
            <a:endParaRPr lang="cs-CZ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spcBef>
          <a:spcPct val="0"/>
        </a:spcBef>
        <a:buNone/>
        <a:defRPr lang="cs-CZ" sz="3600" kern="1200" dirty="0">
          <a:solidFill>
            <a:srgbClr val="00A9E2"/>
          </a:solidFill>
          <a:latin typeface="Arial" pitchFamily="34" charset="0"/>
          <a:ea typeface="+mj-ea"/>
          <a:cs typeface="Arial" pitchFamily="34" charset="0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cs-CZ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ctrTitle"/>
          </p:nvPr>
        </p:nvSpPr>
        <p:spPr>
          <a:xfrm>
            <a:off x="2185910" y="1751745"/>
            <a:ext cx="8173572" cy="3126209"/>
          </a:xfrm>
        </p:spPr>
        <p:txBody>
          <a:bodyPr/>
          <a:lstStyle/>
          <a:p>
            <a:pPr algn="ctr"/>
            <a:r>
              <a:rPr lang="cs-CZ" sz="5400" dirty="0"/>
              <a:t>Osvědčení o digitálním úkonu</a:t>
            </a:r>
            <a:br>
              <a:rPr lang="cs-CZ" sz="5400" dirty="0"/>
            </a:br>
            <a:r>
              <a:rPr lang="cs-CZ" sz="4000" dirty="0"/>
              <a:t>Současný stav poznání</a:t>
            </a:r>
            <a:br>
              <a:rPr lang="cs-CZ" sz="3490" b="1" dirty="0"/>
            </a:br>
            <a:endParaRPr lang="cs-CZ" sz="2400" b="1" dirty="0"/>
          </a:p>
        </p:txBody>
      </p:sp>
      <p:sp>
        <p:nvSpPr>
          <p:cNvPr id="3" name="Podnadpis 2"/>
          <p:cNvSpPr>
            <a:spLocks noGrp="1"/>
          </p:cNvSpPr>
          <p:nvPr>
            <p:ph type="subTitle" idx="1"/>
          </p:nvPr>
        </p:nvSpPr>
        <p:spPr>
          <a:xfrm>
            <a:off x="8328248" y="5836542"/>
            <a:ext cx="2016224" cy="432048"/>
          </a:xfrm>
        </p:spPr>
        <p:txBody>
          <a:bodyPr>
            <a:noAutofit/>
          </a:bodyPr>
          <a:lstStyle/>
          <a:p>
            <a:r>
              <a:rPr lang="cs-CZ" sz="1600" dirty="0">
                <a:solidFill>
                  <a:schemeClr val="tx1"/>
                </a:solidFill>
              </a:rPr>
              <a:t>04.10. 2021, Praha</a:t>
            </a:r>
          </a:p>
        </p:txBody>
      </p:sp>
      <p:sp>
        <p:nvSpPr>
          <p:cNvPr id="4" name="Podnadpis 2"/>
          <p:cNvSpPr txBox="1">
            <a:spLocks/>
          </p:cNvSpPr>
          <p:nvPr/>
        </p:nvSpPr>
        <p:spPr>
          <a:xfrm>
            <a:off x="2063552" y="5301208"/>
            <a:ext cx="5472608" cy="122413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lang="cs-CZ" sz="3200" kern="1200" dirty="0" smtClean="0">
                <a:solidFill>
                  <a:srgbClr val="00A9E2"/>
                </a:solidFill>
                <a:latin typeface="Arial" pitchFamily="34" charset="0"/>
                <a:ea typeface="+mj-ea"/>
                <a:cs typeface="Arial" pitchFamily="34" charset="0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Arial" pitchFamily="34" charset="0"/>
                <a:ea typeface="+mn-ea"/>
                <a:cs typeface="Arial" pitchFamily="34" charset="0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Arial" pitchFamily="34" charset="0"/>
                <a:ea typeface="+mn-ea"/>
                <a:cs typeface="Arial" pitchFamily="34" charset="0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Arial" pitchFamily="34" charset="0"/>
                <a:ea typeface="+mn-ea"/>
                <a:cs typeface="Arial" pitchFamily="34" charset="0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Arial" pitchFamily="34" charset="0"/>
                <a:ea typeface="+mn-ea"/>
                <a:cs typeface="Arial" pitchFamily="34" charset="0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cs-CZ" sz="2000" dirty="0">
                <a:solidFill>
                  <a:schemeClr val="tx1"/>
                </a:solidFill>
              </a:rPr>
              <a:t>RNDr. Petr Tiller</a:t>
            </a:r>
          </a:p>
          <a:p>
            <a:r>
              <a:rPr lang="cs-CZ" sz="1600" dirty="0">
                <a:solidFill>
                  <a:schemeClr val="tx1"/>
                </a:solidFill>
              </a:rPr>
              <a:t>Odbor Hlavního Architekta</a:t>
            </a:r>
          </a:p>
          <a:p>
            <a:r>
              <a:rPr lang="cs-CZ" sz="1600" dirty="0">
                <a:solidFill>
                  <a:schemeClr val="tx1"/>
                </a:solidFill>
              </a:rPr>
              <a:t>Ministerstvo vnitra ČR</a:t>
            </a:r>
          </a:p>
        </p:txBody>
      </p:sp>
    </p:spTree>
  </p:cSld>
  <p:clrMapOvr>
    <a:masterClrMapping/>
  </p:clrMapOvr>
  <p:transition spd="slow">
    <p:wip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CE90A008-B6A4-4BD9-A7C9-9AB7691D4C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79776" y="274638"/>
            <a:ext cx="6131024" cy="1143000"/>
          </a:xfrm>
        </p:spPr>
        <p:txBody>
          <a:bodyPr/>
          <a:lstStyle/>
          <a:p>
            <a:r>
              <a:rPr lang="cs-CZ" dirty="0"/>
              <a:t>Právní základ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7437697F-59DF-4E8A-AFEA-6AFDB882F29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lnSpc>
                <a:spcPct val="107000"/>
              </a:lnSpc>
              <a:spcAft>
                <a:spcPts val="800"/>
              </a:spcAft>
              <a:buNone/>
            </a:pPr>
            <a:r>
              <a:rPr lang="cs-CZ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§ 5 zákona č. 12/2020 Sb. o právu na digitální služby a o změně některých zákonů (dále jen </a:t>
            </a:r>
            <a:r>
              <a:rPr lang="cs-CZ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ZoPDS</a:t>
            </a:r>
            <a:r>
              <a:rPr lang="cs-CZ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</a:t>
            </a:r>
            <a:endParaRPr lang="cs-CZ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07000"/>
              </a:lnSpc>
              <a:spcAft>
                <a:spcPts val="800"/>
              </a:spcAft>
              <a:buNone/>
            </a:pPr>
            <a:r>
              <a:rPr lang="cs-CZ" sz="18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Právo na osvědčení digitálního úkonu</a:t>
            </a:r>
            <a:endParaRPr lang="cs-CZ" sz="1800" b="1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106680" indent="0" algn="just">
              <a:lnSpc>
                <a:spcPct val="107000"/>
              </a:lnSpc>
              <a:spcAft>
                <a:spcPts val="800"/>
              </a:spcAft>
              <a:buNone/>
            </a:pPr>
            <a:r>
              <a:rPr lang="cs-CZ" sz="1800" i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(1)</a:t>
            </a:r>
            <a:r>
              <a:rPr lang="cs-CZ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Uživatel služby </a:t>
            </a:r>
            <a:r>
              <a:rPr lang="cs-CZ" sz="18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má právo </a:t>
            </a:r>
            <a:r>
              <a:rPr lang="cs-CZ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na elektronické osvědčení digitálního úkonu.</a:t>
            </a:r>
            <a:endParaRPr lang="cs-CZ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106680" indent="0" algn="just">
              <a:lnSpc>
                <a:spcPct val="107000"/>
              </a:lnSpc>
              <a:spcAft>
                <a:spcPts val="800"/>
              </a:spcAft>
              <a:buNone/>
            </a:pPr>
            <a:r>
              <a:rPr lang="cs-CZ" sz="1800" i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(2)</a:t>
            </a:r>
            <a:r>
              <a:rPr lang="cs-CZ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Osvědčení o digitálním úkonu </a:t>
            </a:r>
            <a:r>
              <a:rPr lang="cs-CZ" sz="18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obsahuje důvěryhodné zachycení obsahu digitálního úkonu nebo jinou identifikaci digitálního úkonu, určení osoby, která jej učinila, adresáta digitálního úkonu a způsob, datum a čas provedení digitálního úkonu. Osvědčení musí být opatřeno kvalifikovanou elektronickou pečetí a kvalifikovaným elektronickým časovým razítkem orgánu veřejné moci</a:t>
            </a:r>
            <a:r>
              <a:rPr lang="cs-CZ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  <a:endParaRPr lang="cs-CZ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106680" indent="0" algn="just">
              <a:lnSpc>
                <a:spcPct val="107000"/>
              </a:lnSpc>
              <a:spcAft>
                <a:spcPts val="800"/>
              </a:spcAft>
              <a:buNone/>
            </a:pPr>
            <a:r>
              <a:rPr lang="cs-CZ" sz="1800" i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(3)</a:t>
            </a:r>
            <a:r>
              <a:rPr lang="cs-CZ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cs-CZ" sz="18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Orgán veřejné moci</a:t>
            </a:r>
            <a:r>
              <a:rPr lang="cs-CZ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který je veřejnoprávním původcem (</a:t>
            </a:r>
            <a:r>
              <a:rPr lang="cs-CZ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§ 3 odst. 1 zákona č. 499/2004 Sb.)</a:t>
            </a:r>
            <a:r>
              <a:rPr lang="cs-CZ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je povinen </a:t>
            </a:r>
            <a:r>
              <a:rPr lang="cs-CZ" sz="18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bezodkladně po učinění digitálního úkonu poskytnout uživateli služby osvědčení o digitálním úkonu</a:t>
            </a:r>
            <a:r>
              <a:rPr lang="cs-CZ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který vůči němu uživatel služby učinil.</a:t>
            </a:r>
            <a:endParaRPr lang="cs-CZ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cs-CZ" sz="1800" i="1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(4)</a:t>
            </a:r>
            <a:r>
              <a:rPr lang="cs-CZ" sz="180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 Osvědčení o digitálním úkonu </a:t>
            </a:r>
            <a:r>
              <a:rPr lang="cs-CZ" sz="1800" b="1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poskytuje </a:t>
            </a:r>
            <a:r>
              <a:rPr lang="cs-CZ" sz="180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orgán veřejné moci </a:t>
            </a:r>
            <a:r>
              <a:rPr lang="cs-CZ" sz="1800" b="1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podle volby uživatele služby zasláním do datové schránky, na kontaktní místo veřejné správy nebo </a:t>
            </a:r>
            <a:r>
              <a:rPr lang="cs-CZ" sz="1800" b="1" dirty="0">
                <a:solidFill>
                  <a:srgbClr val="FF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zpřístupněním</a:t>
            </a:r>
            <a:r>
              <a:rPr lang="cs-CZ" sz="1800" b="1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 prostřednictvím portálu veřejné správy.</a:t>
            </a:r>
            <a:r>
              <a:rPr lang="cs-CZ" dirty="0">
                <a:effectLst/>
              </a:rPr>
              <a:t> </a:t>
            </a:r>
            <a:r>
              <a:rPr lang="cs-CZ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Dále jen osvědčení.</a:t>
            </a:r>
          </a:p>
          <a:p>
            <a:pPr marL="0" indent="0">
              <a:buNone/>
            </a:pPr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194041687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9746FB05-247C-42C2-992D-7DED6048CB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Další relevantní předpisy, které jsme prozatím identifikovali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1613AA6B-ECB9-4423-AEDC-C72B1EB770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38282" y="1600200"/>
            <a:ext cx="8472518" cy="4983162"/>
          </a:xfrm>
        </p:spPr>
        <p:txBody>
          <a:bodyPr>
            <a:normAutofit/>
          </a:bodyPr>
          <a:lstStyle/>
          <a:p>
            <a:pPr marL="342900" lvl="0" indent="-342900" algn="just">
              <a:lnSpc>
                <a:spcPct val="107000"/>
              </a:lnSpc>
              <a:buFont typeface="Symbol" panose="05050102010706020507" pitchFamily="18" charset="2"/>
              <a:buChar char=""/>
            </a:pPr>
            <a:r>
              <a:rPr lang="cs-CZ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§ 64 odst. 2 zákona č. 499/2004 Sb., o archivnictví a spisové službě: „</a:t>
            </a:r>
            <a:r>
              <a:rPr lang="cs-CZ" sz="1800" i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dokumenty vytvořené určeným původcem se ... opatří Jednoznačným identifikátorem</a:t>
            </a:r>
            <a:r>
              <a:rPr lang="cs-CZ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“</a:t>
            </a:r>
            <a:endParaRPr lang="cs-CZ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 algn="just">
              <a:lnSpc>
                <a:spcPct val="107000"/>
              </a:lnSpc>
              <a:buFont typeface="Symbol" panose="05050102010706020507" pitchFamily="18" charset="2"/>
              <a:buChar char=""/>
            </a:pPr>
            <a:r>
              <a:rPr lang="cs-CZ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§ 567 zákona č. 89/2012 Sb., Občanský zákoník (nový): </a:t>
            </a:r>
            <a:r>
              <a:rPr lang="cs-CZ" sz="1800" i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„listina vydaná orgánem veřejné moci v mezích jeho pravomoci ... je Veřejná listina“</a:t>
            </a:r>
            <a:endParaRPr lang="cs-CZ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 algn="just">
              <a:lnSpc>
                <a:spcPct val="107000"/>
              </a:lnSpc>
              <a:buFont typeface="Symbol" panose="05050102010706020507" pitchFamily="18" charset="2"/>
              <a:buChar char=""/>
            </a:pPr>
            <a:r>
              <a:rPr lang="cs-CZ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§ 65 odst. 1 zákona č. 499/2004 Sb., o archivnictví a spisové službě: „</a:t>
            </a:r>
            <a:r>
              <a:rPr lang="cs-CZ" sz="1800" i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... se všechny dokumenty ... téže věci spojí ve spis ... dokumenty v digitální podobě ... prostřednictvím metadat“</a:t>
            </a:r>
            <a:endParaRPr lang="cs-CZ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 algn="just">
              <a:lnSpc>
                <a:spcPct val="107000"/>
              </a:lnSpc>
              <a:spcAft>
                <a:spcPts val="800"/>
              </a:spcAft>
              <a:buFont typeface="Symbol" panose="05050102010706020507" pitchFamily="18" charset="2"/>
              <a:buChar char=""/>
            </a:pPr>
            <a:r>
              <a:rPr lang="cs-CZ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§ 9 zákona č 365/2000 Sb., o informačních systémech veřejné správy: Z informačních systémů veřejné správy … vydávají orgány veřejné správy… na požádání úplný nebo částečný výpis …  - </a:t>
            </a:r>
            <a:r>
              <a:rPr lang="cs-CZ" sz="180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Výpis v listinné podobě, výstup z informačního systému veřejné správy a ověřený výstup … jsou veřejnými listinami. </a:t>
            </a:r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378915902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59FDE473-EA8E-4B0F-8C55-53496D9A09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 err="1"/>
              <a:t>Enterprise</a:t>
            </a:r>
            <a:r>
              <a:rPr lang="cs-CZ" dirty="0"/>
              <a:t> architektura - Jak se s osvědčení popasovat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380714FD-DAAD-4C1E-9980-818311D4391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cs-CZ" dirty="0"/>
              <a:t>Jak čteme zákon – okrajové podmínky</a:t>
            </a:r>
          </a:p>
          <a:p>
            <a:pPr lvl="1"/>
            <a:r>
              <a:rPr lang="cs-CZ" dirty="0"/>
              <a:t>Osvědčení se týká digitálního úkonu, který je definován § 2 písmeno c) </a:t>
            </a:r>
            <a:r>
              <a:rPr lang="cs-CZ" dirty="0" err="1"/>
              <a:t>ZoPDS</a:t>
            </a:r>
            <a:r>
              <a:rPr lang="cs-CZ" dirty="0"/>
              <a:t> =&gt; digitální úkon možné přesně specifikovat odkazem do katalogu služeb</a:t>
            </a:r>
          </a:p>
          <a:p>
            <a:pPr lvl="1"/>
            <a:r>
              <a:rPr lang="cs-CZ" dirty="0"/>
              <a:t>OVM poskytuje Osvědčení </a:t>
            </a:r>
            <a:r>
              <a:rPr lang="cs-CZ" b="1" dirty="0"/>
              <a:t>pouze</a:t>
            </a:r>
            <a:r>
              <a:rPr lang="cs-CZ" dirty="0"/>
              <a:t> vyjmenovanými kanály (ISDS, KMVS, prostřednictvím PVS)</a:t>
            </a:r>
          </a:p>
          <a:p>
            <a:pPr lvl="1"/>
            <a:r>
              <a:rPr lang="cs-CZ" dirty="0"/>
              <a:t>Uživatel služby nemusí o Osvědčení žádat, přesto je mu ho OVM povinen ze zákona poskytnou </a:t>
            </a:r>
            <a:r>
              <a:rPr lang="cs-CZ" b="1" dirty="0"/>
              <a:t>bezodkladně</a:t>
            </a:r>
            <a:r>
              <a:rPr lang="cs-CZ" dirty="0"/>
              <a:t> po provedení úkonu</a:t>
            </a:r>
          </a:p>
          <a:p>
            <a:pPr lvl="1"/>
            <a:r>
              <a:rPr lang="cs-CZ" dirty="0"/>
              <a:t>Osvědčení </a:t>
            </a:r>
            <a:r>
              <a:rPr lang="cs-CZ" b="1" dirty="0"/>
              <a:t>může</a:t>
            </a:r>
            <a:r>
              <a:rPr lang="cs-CZ" dirty="0"/>
              <a:t> být poskytnuto i později (vycházíme z komentářů a navíc to dává smysl. Zde jde však již o úkon na žádost</a:t>
            </a:r>
          </a:p>
          <a:p>
            <a:r>
              <a:rPr lang="cs-CZ" dirty="0"/>
              <a:t>Obsahem Osvědčení je pouze potvrzení o provedení  úkonu, nikoli o výsledcích či jiných procesních informacích. Osvědčení tedy nepotvrzuje správnost úkonu.</a:t>
            </a:r>
          </a:p>
          <a:p>
            <a:r>
              <a:rPr lang="cs-CZ" dirty="0"/>
              <a:t>Příjemcem osvědčení je </a:t>
            </a:r>
          </a:p>
          <a:p>
            <a:pPr lvl="1"/>
            <a:r>
              <a:rPr lang="cs-CZ" dirty="0"/>
              <a:t>Osoba, která úkon provádí - </a:t>
            </a:r>
            <a:r>
              <a:rPr lang="cs-CZ" b="1" dirty="0"/>
              <a:t>VŽDY</a:t>
            </a:r>
            <a:endParaRPr lang="cs-CZ" dirty="0"/>
          </a:p>
          <a:p>
            <a:pPr lvl="1"/>
            <a:r>
              <a:rPr lang="cs-CZ" dirty="0"/>
              <a:t>Beneficient digitálního úkonu (úkon prováděn v zastoupení) – </a:t>
            </a:r>
            <a:r>
              <a:rPr lang="cs-CZ" b="1" dirty="0"/>
              <a:t>UMOŽNÍME?</a:t>
            </a:r>
          </a:p>
        </p:txBody>
      </p:sp>
    </p:spTree>
    <p:extLst>
      <p:ext uri="{BB962C8B-B14F-4D97-AF65-F5344CB8AC3E}">
        <p14:creationId xmlns:p14="http://schemas.microsoft.com/office/powerpoint/2010/main" val="77968754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Obrázek 4">
            <a:extLst>
              <a:ext uri="{FF2B5EF4-FFF2-40B4-BE49-F238E27FC236}">
                <a16:creationId xmlns:a16="http://schemas.microsoft.com/office/drawing/2014/main" id="{E8AC8C33-7088-42F5-9E77-754DF54804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47528" y="877384"/>
            <a:ext cx="9044241" cy="54319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432772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20E9411C-EE78-48FC-B6B6-89EB78A881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Co tedy „úřad“ musí určitě udělat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6ECD3EF8-C4EA-4D31-B75F-F292D8E50C7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cs-CZ" dirty="0"/>
              <a:t>Pro splnění všech podmínek </a:t>
            </a:r>
            <a:r>
              <a:rPr lang="cs-CZ" b="1" dirty="0"/>
              <a:t>musí</a:t>
            </a:r>
            <a:r>
              <a:rPr lang="cs-CZ" dirty="0"/>
              <a:t> vést záznam o provedených digitálních úkonech (log)</a:t>
            </a:r>
          </a:p>
          <a:p>
            <a:pPr lvl="1"/>
            <a:r>
              <a:rPr lang="cs-CZ" dirty="0"/>
              <a:t>Obsahuje předepsané položky (příloha) o provedeném úkonu</a:t>
            </a:r>
          </a:p>
          <a:p>
            <a:pPr lvl="1"/>
            <a:r>
              <a:rPr lang="cs-CZ" dirty="0"/>
              <a:t>Obsahuje informaci o poskytnutí Osvědčení (komu, kdy , jakým kanálem)</a:t>
            </a:r>
          </a:p>
          <a:p>
            <a:r>
              <a:rPr lang="cs-CZ" dirty="0"/>
              <a:t>Úřad </a:t>
            </a:r>
            <a:r>
              <a:rPr lang="cs-CZ" b="1" dirty="0"/>
              <a:t>musí</a:t>
            </a:r>
            <a:r>
              <a:rPr lang="cs-CZ" dirty="0"/>
              <a:t> být schopen vytvořit </a:t>
            </a:r>
            <a:r>
              <a:rPr lang="cs-CZ" b="1" i="1" dirty="0"/>
              <a:t>vizualizovanou formu osvědčení</a:t>
            </a:r>
            <a:r>
              <a:rPr lang="cs-CZ" dirty="0"/>
              <a:t> (PDF/A) z výše uvedených dat opatřené kvalifikovanou elektronickou pečetí a kvalifikovaným elektronickým časovým razítkem</a:t>
            </a:r>
          </a:p>
          <a:p>
            <a:r>
              <a:rPr lang="cs-CZ" dirty="0"/>
              <a:t>Úřad </a:t>
            </a:r>
            <a:r>
              <a:rPr lang="cs-CZ" b="1" dirty="0"/>
              <a:t>musí</a:t>
            </a:r>
            <a:r>
              <a:rPr lang="cs-CZ" dirty="0"/>
              <a:t> zajistit bezodkladné poskytnutí PDF/A kanálem zvoleným uživatelem služby</a:t>
            </a:r>
          </a:p>
          <a:p>
            <a:r>
              <a:rPr lang="cs-CZ" dirty="0"/>
              <a:t>Úřad </a:t>
            </a:r>
            <a:r>
              <a:rPr lang="cs-CZ" b="1" dirty="0"/>
              <a:t>musí</a:t>
            </a:r>
            <a:r>
              <a:rPr lang="cs-CZ" dirty="0"/>
              <a:t> zajistit možnost získání potvrzení prostřednictvím PVS a </a:t>
            </a:r>
            <a:r>
              <a:rPr lang="cs-CZ" dirty="0" err="1"/>
              <a:t>CzechPoint</a:t>
            </a:r>
            <a:r>
              <a:rPr lang="cs-CZ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92681751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789CCE0B-2AAB-4A79-B4D4-230D53CF85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Konkrétní případy – nutné splnění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154F2E4F-76F5-46DF-883B-1EC94A81E2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38282" y="1600200"/>
            <a:ext cx="8472518" cy="4983162"/>
          </a:xfrm>
        </p:spPr>
        <p:txBody>
          <a:bodyPr>
            <a:normAutofit fontScale="62500" lnSpcReduction="20000"/>
          </a:bodyPr>
          <a:lstStyle/>
          <a:p>
            <a:r>
              <a:rPr lang="cs-CZ" dirty="0"/>
              <a:t>Služba poskytována portálem úřadu</a:t>
            </a:r>
          </a:p>
          <a:p>
            <a:pPr lvl="1"/>
            <a:r>
              <a:rPr lang="cs-CZ" dirty="0"/>
              <a:t>Po provedení digitálního úkonu je uživateli nabídnuta možnost stažení potvrzení či zaslání do DS (nabídnout DS uživatele služby s možností editace či přidání další DS)</a:t>
            </a:r>
          </a:p>
          <a:p>
            <a:pPr lvl="1"/>
            <a:r>
              <a:rPr lang="cs-CZ" dirty="0"/>
              <a:t>Je na uživateli zda tuto možnost využije – úkon je proveden i když nevyužije</a:t>
            </a:r>
          </a:p>
          <a:p>
            <a:pPr lvl="1"/>
            <a:endParaRPr lang="cs-CZ" dirty="0"/>
          </a:p>
          <a:p>
            <a:r>
              <a:rPr lang="cs-CZ" dirty="0"/>
              <a:t>Služba poskytována prostřednictvím DS – prostřednictvím DS činní uživatel úkon a vrací se mu výsledek</a:t>
            </a:r>
          </a:p>
          <a:p>
            <a:pPr lvl="1"/>
            <a:r>
              <a:rPr lang="cs-CZ" b="1" dirty="0"/>
              <a:t>Současný stav potvrzení o doručení je vcelku vyhovující. Nutné doplnit strukturu datové zprávy, doručenku a ošetřit pečeti</a:t>
            </a:r>
          </a:p>
          <a:p>
            <a:pPr marL="457200" lvl="1" indent="0">
              <a:buNone/>
            </a:pPr>
            <a:endParaRPr lang="cs-CZ" dirty="0"/>
          </a:p>
          <a:p>
            <a:r>
              <a:rPr lang="cs-CZ" dirty="0"/>
              <a:t>Služba poskytována prostřednictvím </a:t>
            </a:r>
            <a:r>
              <a:rPr lang="cs-CZ" dirty="0" err="1"/>
              <a:t>CzechPoint</a:t>
            </a:r>
            <a:endParaRPr lang="cs-CZ" dirty="0"/>
          </a:p>
          <a:p>
            <a:pPr lvl="1"/>
            <a:r>
              <a:rPr lang="cs-CZ" dirty="0"/>
              <a:t>Součástí služby musí být předání PDF/A osvědčení, které </a:t>
            </a:r>
            <a:r>
              <a:rPr lang="cs-CZ" dirty="0" err="1"/>
              <a:t>CzechPoint</a:t>
            </a:r>
            <a:r>
              <a:rPr lang="cs-CZ" dirty="0"/>
              <a:t> standardně předá</a:t>
            </a:r>
          </a:p>
          <a:p>
            <a:pPr lvl="1"/>
            <a:r>
              <a:rPr lang="cs-CZ" b="1" dirty="0"/>
              <a:t>V současné době je většinou předáván opis podání. Opět vcelku vyhovuje. Nutné doladit detaily</a:t>
            </a:r>
          </a:p>
        </p:txBody>
      </p:sp>
    </p:spTree>
    <p:extLst>
      <p:ext uri="{BB962C8B-B14F-4D97-AF65-F5344CB8AC3E}">
        <p14:creationId xmlns:p14="http://schemas.microsoft.com/office/powerpoint/2010/main" val="122044141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0B0B1F5F-6755-457F-87D3-45A20E42FB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Jak předávat na </a:t>
            </a:r>
            <a:r>
              <a:rPr lang="cs-CZ" dirty="0" err="1"/>
              <a:t>CzechPoint</a:t>
            </a:r>
            <a:r>
              <a:rPr lang="cs-CZ" dirty="0"/>
              <a:t> a PVS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92BE1702-CC53-49EF-B386-9CBF4CCFF45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>
              <a:spcBef>
                <a:spcPts val="0"/>
              </a:spcBef>
            </a:pPr>
            <a:r>
              <a:rPr lang="cs-CZ" dirty="0">
                <a:solidFill>
                  <a:srgbClr val="4D4D4D"/>
                </a:solidFill>
              </a:rPr>
              <a:t>Jednotný „jednoduchý“ kontext na ISSS (</a:t>
            </a:r>
            <a:r>
              <a:rPr lang="cs-CZ" dirty="0" err="1">
                <a:solidFill>
                  <a:srgbClr val="4D4D4D"/>
                </a:solidFill>
              </a:rPr>
              <a:t>eGSB</a:t>
            </a:r>
            <a:r>
              <a:rPr lang="cs-CZ" dirty="0">
                <a:solidFill>
                  <a:srgbClr val="4D4D4D"/>
                </a:solidFill>
              </a:rPr>
              <a:t>), který umožní</a:t>
            </a:r>
          </a:p>
          <a:p>
            <a:pPr lvl="1">
              <a:spcBef>
                <a:spcPts val="0"/>
              </a:spcBef>
            </a:pPr>
            <a:r>
              <a:rPr lang="cs-CZ" dirty="0">
                <a:solidFill>
                  <a:srgbClr val="4D4D4D"/>
                </a:solidFill>
              </a:rPr>
              <a:t>Pro identifikovanou osobu (AIFO/IČO) předat přehled dostupných Osvědčení ve zvolené době (obsahuje pouze popis úkonu a čas provedení – XML data)</a:t>
            </a:r>
          </a:p>
          <a:p>
            <a:pPr lvl="1">
              <a:spcBef>
                <a:spcPts val="0"/>
              </a:spcBef>
            </a:pPr>
            <a:r>
              <a:rPr lang="cs-CZ" dirty="0">
                <a:solidFill>
                  <a:srgbClr val="4D4D4D"/>
                </a:solidFill>
              </a:rPr>
              <a:t>Pro identifikovanou osobu (AIFO/IČO) předat konkrétní požadované Osvědčení v PDF/A formě</a:t>
            </a:r>
          </a:p>
          <a:p>
            <a:pPr lvl="1">
              <a:spcBef>
                <a:spcPts val="0"/>
              </a:spcBef>
            </a:pPr>
            <a:r>
              <a:rPr lang="cs-CZ" dirty="0">
                <a:solidFill>
                  <a:srgbClr val="4D4D4D"/>
                </a:solidFill>
              </a:rPr>
              <a:t>Každý úřad poskytující digitální službu </a:t>
            </a:r>
            <a:r>
              <a:rPr lang="cs-CZ" b="1" dirty="0">
                <a:solidFill>
                  <a:srgbClr val="4D4D4D"/>
                </a:solidFill>
              </a:rPr>
              <a:t>musí </a:t>
            </a:r>
            <a:r>
              <a:rPr lang="cs-CZ" dirty="0">
                <a:solidFill>
                  <a:srgbClr val="4D4D4D"/>
                </a:solidFill>
              </a:rPr>
              <a:t>publikovat</a:t>
            </a:r>
          </a:p>
          <a:p>
            <a:pPr lvl="1">
              <a:spcBef>
                <a:spcPts val="0"/>
              </a:spcBef>
            </a:pPr>
            <a:endParaRPr lang="cs-CZ" dirty="0">
              <a:solidFill>
                <a:srgbClr val="4D4D4D"/>
              </a:solidFill>
            </a:endParaRPr>
          </a:p>
          <a:p>
            <a:pPr marL="457200" lvl="1" indent="0">
              <a:spcBef>
                <a:spcPts val="0"/>
              </a:spcBef>
              <a:buNone/>
            </a:pPr>
            <a:r>
              <a:rPr lang="cs-CZ" b="1" dirty="0">
                <a:solidFill>
                  <a:srgbClr val="4D4D4D"/>
                </a:solidFill>
              </a:rPr>
              <a:t>V rámci úřadu musí být jednoznačná identifikace úkonu (ID úkonu), která je uvedena na Osvědčení a slouží jako „link“ na Osvědčení</a:t>
            </a:r>
          </a:p>
          <a:p>
            <a:pPr marL="457200" lvl="1" indent="0">
              <a:spcBef>
                <a:spcPts val="0"/>
              </a:spcBef>
              <a:buNone/>
            </a:pPr>
            <a:endParaRPr lang="cs-CZ" b="1" dirty="0">
              <a:solidFill>
                <a:srgbClr val="4D4D4D"/>
              </a:solidFill>
            </a:endParaRPr>
          </a:p>
          <a:p>
            <a:pPr>
              <a:spcBef>
                <a:spcPts val="0"/>
              </a:spcBef>
            </a:pPr>
            <a:r>
              <a:rPr lang="cs-CZ" dirty="0">
                <a:solidFill>
                  <a:srgbClr val="4D4D4D"/>
                </a:solidFill>
              </a:rPr>
              <a:t>Na obrazovkách </a:t>
            </a:r>
            <a:r>
              <a:rPr lang="cs-CZ" dirty="0" err="1">
                <a:solidFill>
                  <a:srgbClr val="4D4D4D"/>
                </a:solidFill>
              </a:rPr>
              <a:t>CzechPoint</a:t>
            </a:r>
            <a:r>
              <a:rPr lang="cs-CZ" dirty="0">
                <a:solidFill>
                  <a:srgbClr val="4D4D4D"/>
                </a:solidFill>
              </a:rPr>
              <a:t> musí být u každého úkonu minimálně doplněn link na stažení Osvědčení prostřednictvím výše uvedeného kontextu. Obsluha vytiskne a předá – </a:t>
            </a:r>
            <a:r>
              <a:rPr lang="cs-CZ" b="1" i="1" dirty="0">
                <a:solidFill>
                  <a:srgbClr val="4D4D4D"/>
                </a:solidFill>
              </a:rPr>
              <a:t>není otázka volby</a:t>
            </a:r>
            <a:r>
              <a:rPr lang="cs-CZ" dirty="0">
                <a:solidFill>
                  <a:srgbClr val="4D4D4D"/>
                </a:solidFill>
              </a:rPr>
              <a:t>, když uživatel služby ihned vyhodí, jeho problém …</a:t>
            </a:r>
          </a:p>
          <a:p>
            <a:pPr lvl="1">
              <a:spcBef>
                <a:spcPts val="0"/>
              </a:spcBef>
            </a:pPr>
            <a:r>
              <a:rPr lang="cs-CZ" b="1" dirty="0">
                <a:solidFill>
                  <a:srgbClr val="4D4D4D"/>
                </a:solidFill>
              </a:rPr>
              <a:t>Pokud již nyní předáván dokument potvrzující podání, jde o kontrolu, zda naplňuje požadavky </a:t>
            </a:r>
            <a:r>
              <a:rPr lang="cs-CZ" b="1" dirty="0" err="1">
                <a:solidFill>
                  <a:srgbClr val="4D4D4D"/>
                </a:solidFill>
              </a:rPr>
              <a:t>ZoPDS</a:t>
            </a:r>
            <a:r>
              <a:rPr lang="cs-CZ" b="1" dirty="0">
                <a:solidFill>
                  <a:srgbClr val="4D4D4D"/>
                </a:solidFill>
              </a:rPr>
              <a:t> a upravit ho</a:t>
            </a:r>
          </a:p>
          <a:p>
            <a:pPr lvl="1">
              <a:spcBef>
                <a:spcPts val="0"/>
              </a:spcBef>
            </a:pPr>
            <a:endParaRPr lang="cs-CZ" dirty="0"/>
          </a:p>
          <a:p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209804181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7B6718A5-C7B5-4120-AD60-A7F7CA77CD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Další kroky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EDF019AA-DF6E-469A-B37D-082065341F0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cs-CZ" dirty="0"/>
              <a:t>Implementace </a:t>
            </a:r>
            <a:r>
              <a:rPr lang="cs-CZ" b="1" dirty="0"/>
              <a:t>volby</a:t>
            </a:r>
            <a:r>
              <a:rPr lang="cs-CZ" dirty="0"/>
              <a:t> osvědčení do emailu (§4 </a:t>
            </a:r>
            <a:r>
              <a:rPr lang="cs-CZ" dirty="0" err="1"/>
              <a:t>odst</a:t>
            </a:r>
            <a:r>
              <a:rPr lang="cs-CZ" dirty="0"/>
              <a:t> 1) písmeno c) </a:t>
            </a:r>
            <a:r>
              <a:rPr lang="cs-CZ" dirty="0" err="1"/>
              <a:t>ZoPDS</a:t>
            </a:r>
            <a:r>
              <a:rPr lang="cs-CZ" dirty="0"/>
              <a:t>) a při „jiném“ </a:t>
            </a:r>
            <a:r>
              <a:rPr lang="cs-CZ" dirty="0" err="1"/>
              <a:t>způssobu</a:t>
            </a:r>
            <a:r>
              <a:rPr lang="cs-CZ" dirty="0"/>
              <a:t> – písmeno e) tamtéž – </a:t>
            </a:r>
            <a:r>
              <a:rPr lang="cs-CZ" b="1" dirty="0"/>
              <a:t>Není řízeno zákonem, není povinnost</a:t>
            </a:r>
          </a:p>
          <a:p>
            <a:r>
              <a:rPr lang="cs-CZ" dirty="0"/>
              <a:t>Implementace </a:t>
            </a:r>
            <a:r>
              <a:rPr lang="cs-CZ" b="1" dirty="0"/>
              <a:t>pozdějšího</a:t>
            </a:r>
            <a:r>
              <a:rPr lang="cs-CZ" dirty="0"/>
              <a:t> vyžádání Osvědčení</a:t>
            </a:r>
          </a:p>
          <a:p>
            <a:pPr lvl="1"/>
            <a:r>
              <a:rPr lang="cs-CZ" dirty="0"/>
              <a:t>Poznámka: Záznamy v logu musí mít </a:t>
            </a:r>
            <a:r>
              <a:rPr lang="cs-CZ" b="1" dirty="0"/>
              <a:t>perzistenci</a:t>
            </a:r>
            <a:r>
              <a:rPr lang="cs-CZ" dirty="0"/>
              <a:t> odpovídající skartovací době dle příslušné agendy. Minimálně dle správního řádu – </a:t>
            </a:r>
            <a:r>
              <a:rPr lang="cs-CZ" b="1" dirty="0"/>
              <a:t>V důvodové zprávě uveden termín 10 let …</a:t>
            </a:r>
            <a:endParaRPr lang="cs-CZ" dirty="0"/>
          </a:p>
          <a:p>
            <a:pPr lvl="1"/>
            <a:r>
              <a:rPr lang="cs-CZ" dirty="0"/>
              <a:t>K Osvědčení musí mít přístup osoba, která úkon provedla a beneficient služby (činnost v zastoupení). Ideálním je řešení v souladu se zákonem č. 250/2017 Sb. o elektronické identifikaci.</a:t>
            </a:r>
          </a:p>
        </p:txBody>
      </p:sp>
    </p:spTree>
    <p:extLst>
      <p:ext uri="{BB962C8B-B14F-4D97-AF65-F5344CB8AC3E}">
        <p14:creationId xmlns:p14="http://schemas.microsoft.com/office/powerpoint/2010/main" val="397050828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BFE42F61-4807-4DE7-B829-1446B80232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Občan má právo na opis dokumentů, které poskytl úřadu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BE79CEE2-0B45-4133-8A95-05BF0AF5B5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cs-CZ" b="1" dirty="0"/>
              <a:t>ANO</a:t>
            </a:r>
            <a:r>
              <a:rPr lang="cs-CZ" dirty="0"/>
              <a:t> – součástí Osvědčení musí být odkaz na č.j. ve spisové službě úřadu, pokud existuje</a:t>
            </a:r>
          </a:p>
          <a:p>
            <a:r>
              <a:rPr lang="cs-CZ" dirty="0"/>
              <a:t>Další řešení je klasický výpis ze spisové služby</a:t>
            </a:r>
          </a:p>
          <a:p>
            <a:r>
              <a:rPr lang="cs-CZ" dirty="0"/>
              <a:t>Podle současného přesvědčení OHA </a:t>
            </a:r>
            <a:r>
              <a:rPr lang="cs-CZ" b="1" dirty="0"/>
              <a:t>NENÍ</a:t>
            </a:r>
            <a:r>
              <a:rPr lang="cs-CZ" dirty="0"/>
              <a:t> opis podaných dokumentů součástí osvědčení</a:t>
            </a:r>
          </a:p>
          <a:p>
            <a:r>
              <a:rPr lang="cs-CZ" b="1" dirty="0"/>
              <a:t>Dobrou praxí (viz daňový portál)</a:t>
            </a:r>
            <a:r>
              <a:rPr lang="cs-CZ" dirty="0"/>
              <a:t> je možnost vedle osvědčení nabídnout i možnost stažení a uložení opisu toho co uživatel služby úřadu v rámci úkonu předal.</a:t>
            </a:r>
          </a:p>
          <a:p>
            <a:endParaRPr lang="cs-CZ" b="1" dirty="0"/>
          </a:p>
        </p:txBody>
      </p:sp>
    </p:spTree>
    <p:extLst>
      <p:ext uri="{BB962C8B-B14F-4D97-AF65-F5344CB8AC3E}">
        <p14:creationId xmlns:p14="http://schemas.microsoft.com/office/powerpoint/2010/main" val="322824003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EC4CBFBC-D57E-4587-939D-E28D0198B2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Otevřené otázky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47FB50E3-F1BF-4DDB-99AA-DEC0E4661FA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cs-CZ" dirty="0"/>
              <a:t>Možnost vytvoření centrálního úložiště metadat o osvědčení. Centrální úložiště by umožnilo vyhledání odpovídajících osvědčení bez nutnosti „vzdáleného prohledávání“ záznamů o  osvědčení. Osvědčení se ale vždy získává od „úřadu“, u kterého byl úkon proveden.</a:t>
            </a:r>
          </a:p>
          <a:p>
            <a:r>
              <a:rPr lang="cs-CZ" dirty="0"/>
              <a:t>Existují případy, kdy je po osobě vyžadováno osvědčení o provedení úkonu u jiné agendy/úřadu? Bude tedy kontext na </a:t>
            </a:r>
            <a:r>
              <a:rPr lang="cs-CZ" dirty="0" err="1"/>
              <a:t>eGSB</a:t>
            </a:r>
            <a:r>
              <a:rPr lang="cs-CZ" dirty="0"/>
              <a:t> využíván i jinými úřady?</a:t>
            </a:r>
          </a:p>
          <a:p>
            <a:r>
              <a:rPr lang="cs-CZ" dirty="0"/>
              <a:t>Je vizualizace PDF součástí záznamu ve „zjednodušené evidenci vydaných osvědčení“? - </a:t>
            </a:r>
            <a:r>
              <a:rPr lang="cs-CZ" b="1" dirty="0"/>
              <a:t>NE</a:t>
            </a:r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35196492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3903B671-5EAA-46FB-92AE-0C475C3A44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Přehled údajů v </a:t>
            </a:r>
            <a:r>
              <a:rPr lang="cs-CZ" dirty="0" err="1"/>
              <a:t>LOGu</a:t>
            </a:r>
            <a:endParaRPr lang="cs-CZ" dirty="0"/>
          </a:p>
        </p:txBody>
      </p:sp>
      <p:graphicFrame>
        <p:nvGraphicFramePr>
          <p:cNvPr id="4" name="Zástupný obsah 3">
            <a:extLst>
              <a:ext uri="{FF2B5EF4-FFF2-40B4-BE49-F238E27FC236}">
                <a16:creationId xmlns:a16="http://schemas.microsoft.com/office/drawing/2014/main" id="{728F617A-D8FB-4798-B11A-88DAA1B9E46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117320087"/>
              </p:ext>
            </p:extLst>
          </p:nvPr>
        </p:nvGraphicFramePr>
        <p:xfrm>
          <a:off x="911425" y="1268761"/>
          <a:ext cx="10585175" cy="382719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873004">
                  <a:extLst>
                    <a:ext uri="{9D8B030D-6E8A-4147-A177-3AD203B41FA5}">
                      <a16:colId xmlns:a16="http://schemas.microsoft.com/office/drawing/2014/main" val="778822270"/>
                    </a:ext>
                  </a:extLst>
                </a:gridCol>
                <a:gridCol w="4074019">
                  <a:extLst>
                    <a:ext uri="{9D8B030D-6E8A-4147-A177-3AD203B41FA5}">
                      <a16:colId xmlns:a16="http://schemas.microsoft.com/office/drawing/2014/main" val="1408847732"/>
                    </a:ext>
                  </a:extLst>
                </a:gridCol>
                <a:gridCol w="5638152">
                  <a:extLst>
                    <a:ext uri="{9D8B030D-6E8A-4147-A177-3AD203B41FA5}">
                      <a16:colId xmlns:a16="http://schemas.microsoft.com/office/drawing/2014/main" val="2889989165"/>
                    </a:ext>
                  </a:extLst>
                </a:gridCol>
              </a:tblGrid>
              <a:tr h="336754">
                <a:tc>
                  <a:txBody>
                    <a:bodyPr/>
                    <a:lstStyle/>
                    <a:p>
                      <a:pPr algn="l" fontAlgn="b"/>
                      <a:r>
                        <a:rPr lang="cs-CZ" sz="1800" u="none" strike="noStrike">
                          <a:effectLst/>
                        </a:rPr>
                        <a:t>ÚdajČíslo</a:t>
                      </a:r>
                      <a:endParaRPr lang="cs-CZ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cs-CZ" sz="1800" u="none" strike="noStrike">
                          <a:effectLst/>
                        </a:rPr>
                        <a:t>Údaj</a:t>
                      </a:r>
                      <a:endParaRPr lang="cs-CZ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cs-CZ" sz="1800" u="none" strike="noStrike">
                          <a:effectLst/>
                        </a:rPr>
                        <a:t>Popis</a:t>
                      </a:r>
                      <a:endParaRPr lang="cs-CZ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617080556"/>
                  </a:ext>
                </a:extLst>
              </a:tr>
              <a:tr h="336754">
                <a:tc>
                  <a:txBody>
                    <a:bodyPr/>
                    <a:lstStyle/>
                    <a:p>
                      <a:pPr algn="r" fontAlgn="b"/>
                      <a:r>
                        <a:rPr lang="cs-CZ" sz="1800" u="none" strike="noStrike">
                          <a:effectLst/>
                        </a:rPr>
                        <a:t>1</a:t>
                      </a:r>
                      <a:endParaRPr lang="cs-CZ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cs-CZ" sz="1800" u="none" strike="noStrike" dirty="0" err="1">
                          <a:effectLst/>
                        </a:rPr>
                        <a:t>podavajiciAIFO</a:t>
                      </a:r>
                      <a:endParaRPr lang="cs-CZ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cs-CZ" sz="1800" u="none" strike="noStrike">
                          <a:effectLst/>
                        </a:rPr>
                        <a:t>kdo úkon činil</a:t>
                      </a:r>
                      <a:endParaRPr lang="cs-CZ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324725206"/>
                  </a:ext>
                </a:extLst>
              </a:tr>
              <a:tr h="336754">
                <a:tc>
                  <a:txBody>
                    <a:bodyPr/>
                    <a:lstStyle/>
                    <a:p>
                      <a:pPr algn="r" fontAlgn="b"/>
                      <a:r>
                        <a:rPr lang="cs-CZ" sz="1800" u="none" strike="noStrike">
                          <a:effectLst/>
                        </a:rPr>
                        <a:t>2</a:t>
                      </a:r>
                      <a:endParaRPr lang="cs-CZ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cs-CZ" sz="1800" u="none" strike="noStrike">
                          <a:effectLst/>
                        </a:rPr>
                        <a:t>zadatelAIFO</a:t>
                      </a:r>
                      <a:endParaRPr lang="cs-CZ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cs-CZ" sz="1800" u="none" strike="noStrike">
                          <a:effectLst/>
                        </a:rPr>
                        <a:t>pro  koho bylo činěno</a:t>
                      </a:r>
                      <a:endParaRPr lang="cs-CZ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728988250"/>
                  </a:ext>
                </a:extLst>
              </a:tr>
              <a:tr h="336754">
                <a:tc>
                  <a:txBody>
                    <a:bodyPr/>
                    <a:lstStyle/>
                    <a:p>
                      <a:pPr algn="r" fontAlgn="b"/>
                      <a:r>
                        <a:rPr lang="cs-CZ" sz="1800" u="none" strike="noStrike">
                          <a:effectLst/>
                        </a:rPr>
                        <a:t>3</a:t>
                      </a:r>
                      <a:endParaRPr lang="cs-CZ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cs-CZ" sz="1800" u="none" strike="noStrike">
                          <a:effectLst/>
                        </a:rPr>
                        <a:t>datumCasUkonu</a:t>
                      </a:r>
                      <a:endParaRPr lang="cs-CZ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cs-CZ" sz="1800" u="none" strike="noStrike">
                          <a:effectLst/>
                        </a:rPr>
                        <a:t>kdy byl úkon proveden</a:t>
                      </a:r>
                      <a:endParaRPr lang="cs-CZ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117465144"/>
                  </a:ext>
                </a:extLst>
              </a:tr>
              <a:tr h="336754">
                <a:tc>
                  <a:txBody>
                    <a:bodyPr/>
                    <a:lstStyle/>
                    <a:p>
                      <a:pPr algn="r" fontAlgn="b"/>
                      <a:r>
                        <a:rPr lang="cs-CZ" sz="1800" u="none" strike="noStrike">
                          <a:effectLst/>
                        </a:rPr>
                        <a:t>4</a:t>
                      </a:r>
                      <a:endParaRPr lang="cs-CZ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cs-CZ" sz="1800" u="none" strike="noStrike">
                          <a:effectLst/>
                        </a:rPr>
                        <a:t>ukonID</a:t>
                      </a:r>
                      <a:endParaRPr lang="cs-CZ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l-PL" sz="1800" u="none" strike="noStrike">
                          <a:effectLst/>
                        </a:rPr>
                        <a:t>o jaký úkon se jednalo odkazem na číslo úkonu z katalogu služeb</a:t>
                      </a:r>
                      <a:endParaRPr lang="pl-PL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694546517"/>
                  </a:ext>
                </a:extLst>
              </a:tr>
              <a:tr h="336754">
                <a:tc>
                  <a:txBody>
                    <a:bodyPr/>
                    <a:lstStyle/>
                    <a:p>
                      <a:pPr algn="r" fontAlgn="b"/>
                      <a:r>
                        <a:rPr lang="cs-CZ" sz="1800" u="none" strike="noStrike">
                          <a:effectLst/>
                        </a:rPr>
                        <a:t>5</a:t>
                      </a:r>
                      <a:endParaRPr lang="cs-CZ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cs-CZ" sz="1800" u="none" strike="noStrike">
                          <a:effectLst/>
                        </a:rPr>
                        <a:t>popisUkonu</a:t>
                      </a:r>
                      <a:endParaRPr lang="cs-CZ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cs-CZ" sz="1800" u="none" strike="noStrike">
                          <a:effectLst/>
                        </a:rPr>
                        <a:t>o co se jednalo</a:t>
                      </a:r>
                      <a:endParaRPr lang="cs-CZ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439757844"/>
                  </a:ext>
                </a:extLst>
              </a:tr>
              <a:tr h="673507">
                <a:tc>
                  <a:txBody>
                    <a:bodyPr/>
                    <a:lstStyle/>
                    <a:p>
                      <a:pPr algn="r" fontAlgn="b"/>
                      <a:r>
                        <a:rPr lang="cs-CZ" sz="1800" u="none" strike="noStrike">
                          <a:effectLst/>
                        </a:rPr>
                        <a:t>6</a:t>
                      </a:r>
                      <a:endParaRPr lang="cs-CZ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cs-CZ" sz="1800" u="none" strike="noStrike">
                          <a:effectLst/>
                        </a:rPr>
                        <a:t>identifikaceZaznamuSystemuProvadejiciUkon</a:t>
                      </a:r>
                      <a:endParaRPr lang="cs-CZ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cs-CZ" sz="1800" u="none" strike="noStrike">
                          <a:effectLst/>
                        </a:rPr>
                        <a:t>číslo transakce daného záznamu, primární/jednoznačný identifikátor</a:t>
                      </a:r>
                      <a:endParaRPr lang="cs-CZ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514731363"/>
                  </a:ext>
                </a:extLst>
              </a:tr>
              <a:tr h="336754">
                <a:tc>
                  <a:txBody>
                    <a:bodyPr/>
                    <a:lstStyle/>
                    <a:p>
                      <a:pPr algn="r" fontAlgn="b"/>
                      <a:r>
                        <a:rPr lang="cs-CZ" sz="1800" u="none" strike="noStrike">
                          <a:effectLst/>
                        </a:rPr>
                        <a:t>7</a:t>
                      </a:r>
                      <a:endParaRPr lang="cs-CZ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cs-CZ" sz="1800" u="none" strike="noStrike">
                          <a:effectLst/>
                        </a:rPr>
                        <a:t>spisovaZnackaZadatale</a:t>
                      </a:r>
                      <a:endParaRPr lang="cs-CZ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l-PL" sz="1800" u="none" strike="noStrike" dirty="0">
                          <a:effectLst/>
                        </a:rPr>
                        <a:t>mozna spisova znacka zadatele o ukon</a:t>
                      </a:r>
                      <a:endParaRPr lang="pl-PL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551563333"/>
                  </a:ext>
                </a:extLst>
              </a:tr>
              <a:tr h="353591">
                <a:tc>
                  <a:txBody>
                    <a:bodyPr/>
                    <a:lstStyle/>
                    <a:p>
                      <a:pPr algn="r" fontAlgn="b"/>
                      <a:r>
                        <a:rPr lang="cs-CZ" sz="1800" u="none" strike="noStrike">
                          <a:effectLst/>
                        </a:rPr>
                        <a:t>8</a:t>
                      </a:r>
                      <a:endParaRPr lang="cs-CZ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cs-CZ" sz="1800" u="none" strike="noStrike">
                          <a:effectLst/>
                        </a:rPr>
                        <a:t>cisloJednaci</a:t>
                      </a:r>
                      <a:endParaRPr lang="cs-CZ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cs-CZ" sz="1800" u="none" strike="noStrike" dirty="0" err="1">
                          <a:effectLst/>
                        </a:rPr>
                        <a:t>cislo</a:t>
                      </a:r>
                      <a:r>
                        <a:rPr lang="cs-CZ" sz="1800" u="none" strike="noStrike" dirty="0">
                          <a:effectLst/>
                        </a:rPr>
                        <a:t> </a:t>
                      </a:r>
                      <a:r>
                        <a:rPr lang="cs-CZ" sz="1800" u="none" strike="noStrike" dirty="0" err="1">
                          <a:effectLst/>
                        </a:rPr>
                        <a:t>jednaci</a:t>
                      </a:r>
                      <a:r>
                        <a:rPr lang="cs-CZ" sz="1800" u="none" strike="noStrike" dirty="0">
                          <a:effectLst/>
                        </a:rPr>
                        <a:t> k úkonu </a:t>
                      </a:r>
                      <a:r>
                        <a:rPr lang="cs-CZ" sz="1800" u="none" strike="noStrike" dirty="0" err="1">
                          <a:effectLst/>
                        </a:rPr>
                        <a:t>podpořeneho</a:t>
                      </a:r>
                      <a:r>
                        <a:rPr lang="cs-CZ" sz="1800" u="none" strike="noStrike" dirty="0">
                          <a:effectLst/>
                        </a:rPr>
                        <a:t> IS a </a:t>
                      </a:r>
                      <a:r>
                        <a:rPr lang="cs-CZ" sz="1800" u="none" strike="noStrike" dirty="0" err="1">
                          <a:effectLst/>
                        </a:rPr>
                        <a:t>navazaneho</a:t>
                      </a:r>
                      <a:r>
                        <a:rPr lang="cs-CZ" sz="1800" u="none" strike="noStrike" dirty="0">
                          <a:effectLst/>
                        </a:rPr>
                        <a:t> na </a:t>
                      </a:r>
                      <a:r>
                        <a:rPr lang="cs-CZ" sz="1800" u="none" strike="noStrike" dirty="0" err="1">
                          <a:effectLst/>
                        </a:rPr>
                        <a:t>eSSL</a:t>
                      </a:r>
                      <a:endParaRPr lang="cs-CZ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67389053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5846207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E58061E4-D67B-4D04-864D-A82C7AF3B4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Údaje na PDF/A vizualizaci osvědčení</a:t>
            </a:r>
          </a:p>
        </p:txBody>
      </p:sp>
      <p:graphicFrame>
        <p:nvGraphicFramePr>
          <p:cNvPr id="4" name="Zástupný obsah 3">
            <a:extLst>
              <a:ext uri="{FF2B5EF4-FFF2-40B4-BE49-F238E27FC236}">
                <a16:creationId xmlns:a16="http://schemas.microsoft.com/office/drawing/2014/main" id="{2A4F3699-FE5C-4DBF-94AA-75E6DEF2BA6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034985045"/>
              </p:ext>
            </p:extLst>
          </p:nvPr>
        </p:nvGraphicFramePr>
        <p:xfrm>
          <a:off x="609600" y="1417638"/>
          <a:ext cx="10526960" cy="5165723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415802">
                  <a:extLst>
                    <a:ext uri="{9D8B030D-6E8A-4147-A177-3AD203B41FA5}">
                      <a16:colId xmlns:a16="http://schemas.microsoft.com/office/drawing/2014/main" val="577908568"/>
                    </a:ext>
                  </a:extLst>
                </a:gridCol>
                <a:gridCol w="6111158">
                  <a:extLst>
                    <a:ext uri="{9D8B030D-6E8A-4147-A177-3AD203B41FA5}">
                      <a16:colId xmlns:a16="http://schemas.microsoft.com/office/drawing/2014/main" val="3601569926"/>
                    </a:ext>
                  </a:extLst>
                </a:gridCol>
              </a:tblGrid>
              <a:tr h="303866">
                <a:tc>
                  <a:txBody>
                    <a:bodyPr/>
                    <a:lstStyle/>
                    <a:p>
                      <a:pPr algn="l" fontAlgn="b"/>
                      <a:r>
                        <a:rPr lang="cs-CZ" sz="1800" b="1" u="none" strike="noStrike">
                          <a:effectLst/>
                        </a:rPr>
                        <a:t>Údaj</a:t>
                      </a:r>
                      <a:endParaRPr lang="cs-CZ" sz="18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cs-CZ" sz="1800" b="1" u="none" strike="noStrike" dirty="0">
                          <a:effectLst/>
                        </a:rPr>
                        <a:t>Popis</a:t>
                      </a:r>
                      <a:endParaRPr lang="cs-CZ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900641218"/>
                  </a:ext>
                </a:extLst>
              </a:tr>
              <a:tr h="303866">
                <a:tc>
                  <a:txBody>
                    <a:bodyPr/>
                    <a:lstStyle/>
                    <a:p>
                      <a:pPr algn="l" fontAlgn="b"/>
                      <a:r>
                        <a:rPr lang="cs-CZ" sz="1800" u="none" strike="noStrike">
                          <a:effectLst/>
                        </a:rPr>
                        <a:t>podavajiciJmeno</a:t>
                      </a:r>
                      <a:endParaRPr lang="cs-CZ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cs-CZ" sz="1800" u="none" strike="noStrike">
                          <a:effectLst/>
                        </a:rPr>
                        <a:t>jméno</a:t>
                      </a:r>
                      <a:endParaRPr lang="cs-CZ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73572204"/>
                  </a:ext>
                </a:extLst>
              </a:tr>
              <a:tr h="303866">
                <a:tc>
                  <a:txBody>
                    <a:bodyPr/>
                    <a:lstStyle/>
                    <a:p>
                      <a:pPr algn="l" fontAlgn="b"/>
                      <a:r>
                        <a:rPr lang="cs-CZ" sz="1800" u="none" strike="noStrike">
                          <a:effectLst/>
                        </a:rPr>
                        <a:t>podavajiciPrijmeni</a:t>
                      </a:r>
                      <a:endParaRPr lang="cs-CZ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cs-CZ" sz="1800" u="none" strike="noStrike">
                          <a:effectLst/>
                        </a:rPr>
                        <a:t>příjmení</a:t>
                      </a:r>
                      <a:endParaRPr lang="cs-CZ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396529866"/>
                  </a:ext>
                </a:extLst>
              </a:tr>
              <a:tr h="303866">
                <a:tc>
                  <a:txBody>
                    <a:bodyPr/>
                    <a:lstStyle/>
                    <a:p>
                      <a:pPr algn="l" fontAlgn="b"/>
                      <a:r>
                        <a:rPr lang="cs-CZ" sz="1800" u="none" strike="noStrike">
                          <a:effectLst/>
                        </a:rPr>
                        <a:t>podavajiciDatumNarozeni</a:t>
                      </a:r>
                      <a:endParaRPr lang="cs-CZ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cs-CZ" sz="1800" u="none" strike="noStrike">
                          <a:effectLst/>
                        </a:rPr>
                        <a:t>datum narození</a:t>
                      </a:r>
                      <a:endParaRPr lang="cs-CZ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613382186"/>
                  </a:ext>
                </a:extLst>
              </a:tr>
              <a:tr h="303866">
                <a:tc>
                  <a:txBody>
                    <a:bodyPr/>
                    <a:lstStyle/>
                    <a:p>
                      <a:pPr algn="l" fontAlgn="b"/>
                      <a:endParaRPr lang="cs-CZ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cs-CZ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465467727"/>
                  </a:ext>
                </a:extLst>
              </a:tr>
              <a:tr h="303866">
                <a:tc>
                  <a:txBody>
                    <a:bodyPr/>
                    <a:lstStyle/>
                    <a:p>
                      <a:pPr algn="l" fontAlgn="b"/>
                      <a:r>
                        <a:rPr lang="cs-CZ" sz="1800" u="none" strike="noStrike">
                          <a:effectLst/>
                        </a:rPr>
                        <a:t>zadatelJmeno</a:t>
                      </a:r>
                      <a:endParaRPr lang="cs-CZ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cs-CZ" sz="1800" u="none" strike="noStrike">
                          <a:effectLst/>
                        </a:rPr>
                        <a:t>jméno</a:t>
                      </a:r>
                      <a:endParaRPr lang="cs-CZ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4224695042"/>
                  </a:ext>
                </a:extLst>
              </a:tr>
              <a:tr h="303866">
                <a:tc>
                  <a:txBody>
                    <a:bodyPr/>
                    <a:lstStyle/>
                    <a:p>
                      <a:pPr algn="l" fontAlgn="b"/>
                      <a:r>
                        <a:rPr lang="cs-CZ" sz="1800" u="none" strike="noStrike">
                          <a:effectLst/>
                        </a:rPr>
                        <a:t>zadatelPrijmeni</a:t>
                      </a:r>
                      <a:endParaRPr lang="cs-CZ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cs-CZ" sz="1800" u="none" strike="noStrike">
                          <a:effectLst/>
                        </a:rPr>
                        <a:t>příjmení</a:t>
                      </a:r>
                      <a:endParaRPr lang="cs-CZ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592496882"/>
                  </a:ext>
                </a:extLst>
              </a:tr>
              <a:tr h="303866">
                <a:tc>
                  <a:txBody>
                    <a:bodyPr/>
                    <a:lstStyle/>
                    <a:p>
                      <a:pPr algn="l" fontAlgn="b"/>
                      <a:r>
                        <a:rPr lang="cs-CZ" sz="1800" u="none" strike="noStrike">
                          <a:effectLst/>
                        </a:rPr>
                        <a:t>zadatelDatumNarozeni</a:t>
                      </a:r>
                      <a:endParaRPr lang="cs-CZ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cs-CZ" sz="1800" u="none" strike="noStrike">
                          <a:effectLst/>
                        </a:rPr>
                        <a:t>datum narození</a:t>
                      </a:r>
                      <a:endParaRPr lang="cs-CZ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4131778684"/>
                  </a:ext>
                </a:extLst>
              </a:tr>
              <a:tr h="303866">
                <a:tc>
                  <a:txBody>
                    <a:bodyPr/>
                    <a:lstStyle/>
                    <a:p>
                      <a:pPr algn="l" fontAlgn="b"/>
                      <a:endParaRPr lang="cs-CZ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cs-CZ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183097690"/>
                  </a:ext>
                </a:extLst>
              </a:tr>
              <a:tr h="303866">
                <a:tc>
                  <a:txBody>
                    <a:bodyPr/>
                    <a:lstStyle/>
                    <a:p>
                      <a:pPr algn="l" fontAlgn="b"/>
                      <a:r>
                        <a:rPr lang="cs-CZ" sz="1800" u="none" strike="noStrike">
                          <a:effectLst/>
                        </a:rPr>
                        <a:t>datumCasUkonu</a:t>
                      </a:r>
                      <a:endParaRPr lang="cs-CZ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cs-CZ" sz="1800" u="none" strike="noStrike">
                          <a:effectLst/>
                        </a:rPr>
                        <a:t>kdy byl úkon proveden</a:t>
                      </a:r>
                      <a:endParaRPr lang="cs-CZ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599753551"/>
                  </a:ext>
                </a:extLst>
              </a:tr>
              <a:tr h="303866">
                <a:tc>
                  <a:txBody>
                    <a:bodyPr/>
                    <a:lstStyle/>
                    <a:p>
                      <a:pPr algn="l" fontAlgn="b"/>
                      <a:r>
                        <a:rPr lang="cs-CZ" sz="1800" u="none" strike="noStrike">
                          <a:effectLst/>
                        </a:rPr>
                        <a:t>ukonID</a:t>
                      </a:r>
                      <a:endParaRPr lang="cs-CZ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l-PL" sz="1800" u="none" strike="noStrike">
                          <a:effectLst/>
                        </a:rPr>
                        <a:t>o jaký úkon se jednalo odkazem na číslo úkonu z katalogu služeb</a:t>
                      </a:r>
                      <a:endParaRPr lang="pl-PL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294909869"/>
                  </a:ext>
                </a:extLst>
              </a:tr>
              <a:tr h="303866">
                <a:tc>
                  <a:txBody>
                    <a:bodyPr/>
                    <a:lstStyle/>
                    <a:p>
                      <a:pPr algn="l" fontAlgn="b"/>
                      <a:r>
                        <a:rPr lang="cs-CZ" sz="1800" u="none" strike="noStrike">
                          <a:effectLst/>
                        </a:rPr>
                        <a:t>popisUkonu</a:t>
                      </a:r>
                      <a:endParaRPr lang="cs-CZ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cs-CZ" sz="1800" u="none" strike="noStrike">
                          <a:effectLst/>
                        </a:rPr>
                        <a:t>o co se jednalo</a:t>
                      </a:r>
                      <a:endParaRPr lang="cs-CZ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198693602"/>
                  </a:ext>
                </a:extLst>
              </a:tr>
              <a:tr h="607733">
                <a:tc>
                  <a:txBody>
                    <a:bodyPr/>
                    <a:lstStyle/>
                    <a:p>
                      <a:pPr algn="l" fontAlgn="b"/>
                      <a:r>
                        <a:rPr lang="cs-CZ" sz="1800" u="none" strike="noStrike">
                          <a:effectLst/>
                        </a:rPr>
                        <a:t>identifikaceZaznamuSystemuProvadejiciUkon</a:t>
                      </a:r>
                      <a:endParaRPr lang="cs-CZ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cs-CZ" sz="1800" u="none" strike="noStrike">
                          <a:effectLst/>
                        </a:rPr>
                        <a:t>číslo transakce daného záznamu, primární/jednoznačný identifikátor</a:t>
                      </a:r>
                      <a:endParaRPr lang="cs-CZ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480759768"/>
                  </a:ext>
                </a:extLst>
              </a:tr>
              <a:tr h="303866">
                <a:tc>
                  <a:txBody>
                    <a:bodyPr/>
                    <a:lstStyle/>
                    <a:p>
                      <a:pPr algn="l" fontAlgn="b"/>
                      <a:r>
                        <a:rPr lang="cs-CZ" sz="1800" u="none" strike="noStrike">
                          <a:effectLst/>
                        </a:rPr>
                        <a:t>spisovaZnackaZadatale</a:t>
                      </a:r>
                      <a:endParaRPr lang="cs-CZ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l-PL" sz="1800" u="none" strike="noStrike" dirty="0">
                          <a:effectLst/>
                        </a:rPr>
                        <a:t>mozna spisova znacka zadatele o ukon</a:t>
                      </a:r>
                      <a:endParaRPr lang="pl-PL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669498734"/>
                  </a:ext>
                </a:extLst>
              </a:tr>
              <a:tr h="303866">
                <a:tc>
                  <a:txBody>
                    <a:bodyPr/>
                    <a:lstStyle/>
                    <a:p>
                      <a:pPr algn="l" fontAlgn="b"/>
                      <a:r>
                        <a:rPr lang="cs-CZ" sz="1800" u="none" strike="noStrike">
                          <a:effectLst/>
                        </a:rPr>
                        <a:t>cisloJednaci</a:t>
                      </a:r>
                      <a:endParaRPr lang="cs-CZ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cs-CZ" sz="1800" u="none" strike="noStrike">
                          <a:effectLst/>
                        </a:rPr>
                        <a:t>cislo jednaci k úkonu podpořeneho IS a navazaneho na eSSL</a:t>
                      </a:r>
                      <a:endParaRPr lang="cs-CZ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11886016"/>
                  </a:ext>
                </a:extLst>
              </a:tr>
              <a:tr h="303866">
                <a:tc>
                  <a:txBody>
                    <a:bodyPr/>
                    <a:lstStyle/>
                    <a:p>
                      <a:pPr algn="l" fontAlgn="b"/>
                      <a:r>
                        <a:rPr lang="cs-CZ" sz="1800" u="none" strike="noStrike">
                          <a:effectLst/>
                        </a:rPr>
                        <a:t>datumVydaniOsvedceniUkonu</a:t>
                      </a:r>
                      <a:endParaRPr lang="cs-CZ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cs-CZ" sz="1800" u="none" strike="noStrike" dirty="0">
                          <a:effectLst/>
                        </a:rPr>
                        <a:t>kdy bylo osvědčení vydáno</a:t>
                      </a:r>
                      <a:endParaRPr lang="cs-CZ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44867903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7879715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ovéPole 1">
            <a:extLst>
              <a:ext uri="{FF2B5EF4-FFF2-40B4-BE49-F238E27FC236}">
                <a16:creationId xmlns:a16="http://schemas.microsoft.com/office/drawing/2014/main" id="{01DE4A2D-4738-4983-9877-7FE75C02E7CF}"/>
              </a:ext>
            </a:extLst>
          </p:cNvPr>
          <p:cNvSpPr txBox="1"/>
          <p:nvPr/>
        </p:nvSpPr>
        <p:spPr>
          <a:xfrm>
            <a:off x="2999656" y="2708920"/>
            <a:ext cx="597666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cs-CZ" sz="5400" dirty="0"/>
              <a:t>Dotazy – odpovědi ?</a:t>
            </a:r>
          </a:p>
        </p:txBody>
      </p:sp>
    </p:spTree>
    <p:extLst>
      <p:ext uri="{BB962C8B-B14F-4D97-AF65-F5344CB8AC3E}">
        <p14:creationId xmlns:p14="http://schemas.microsoft.com/office/powerpoint/2010/main" val="2325368997"/>
      </p:ext>
    </p:extLst>
  </p:cSld>
  <p:clrMapOvr>
    <a:masterClrMapping/>
  </p:clrMapOvr>
</p:sld>
</file>

<file path=ppt/theme/theme1.xml><?xml version="1.0" encoding="utf-8"?>
<a:theme xmlns:a="http://schemas.openxmlformats.org/drawingml/2006/main" name="MV_sablona1_2007">
  <a:themeElements>
    <a:clrScheme name="Kancelář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Kancelář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Kancelář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Motiv Office">
  <a:themeElements>
    <a:clrScheme name="Kancelář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Kancelář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Kancelář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B7636834349BDE4785976B8F50EC4529" ma:contentTypeVersion="3" ma:contentTypeDescription="Vytvoří nový dokument" ma:contentTypeScope="" ma:versionID="ecf94d19de82b3b341e2de8cfb48251b">
  <xsd:schema xmlns:xsd="http://www.w3.org/2001/XMLSchema" xmlns:xs="http://www.w3.org/2001/XMLSchema" xmlns:p="http://schemas.microsoft.com/office/2006/metadata/properties" xmlns:ns2="96a559f6-78cc-4fcb-80ce-aeceb24eab07" targetNamespace="http://schemas.microsoft.com/office/2006/metadata/properties" ma:root="true" ma:fieldsID="ad8f392e0f7f0843995144df8d801885" ns2:_="">
    <xsd:import namespace="96a559f6-78cc-4fcb-80ce-aeceb24eab07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6a559f6-78cc-4fcb-80ce-aeceb24eab07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 obsahu"/>
        <xsd:element ref="dc:title" minOccurs="0" maxOccurs="1" ma:index="4" ma:displayName="Nadpis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FB6BDB7A-B570-4493-B1C8-D6DA03A1E00B}"/>
</file>

<file path=customXml/itemProps2.xml><?xml version="1.0" encoding="utf-8"?>
<ds:datastoreItem xmlns:ds="http://schemas.openxmlformats.org/officeDocument/2006/customXml" ds:itemID="{83F2CD8C-1F57-4021-ADA7-82EA95C20947}">
  <ds:schemaRefs>
    <ds:schemaRef ds:uri="http://schemas.microsoft.com/office/2006/metadata/properties"/>
    <ds:schemaRef ds:uri="http://schemas.microsoft.com/office/2006/documentManagement/types"/>
    <ds:schemaRef ds:uri="http://www.w3.org/XML/1998/namespace"/>
    <ds:schemaRef ds:uri="http://purl.org/dc/elements/1.1/"/>
    <ds:schemaRef ds:uri="http://purl.org/dc/terms/"/>
    <ds:schemaRef ds:uri="http://purl.org/dc/dcmitype/"/>
    <ds:schemaRef ds:uri="http://schemas.microsoft.com/office/infopath/2007/PartnerControls"/>
    <ds:schemaRef ds:uri="http://schemas.openxmlformats.org/package/2006/metadata/core-properties"/>
  </ds:schemaRefs>
</ds:datastoreItem>
</file>

<file path=customXml/itemProps3.xml><?xml version="1.0" encoding="utf-8"?>
<ds:datastoreItem xmlns:ds="http://schemas.openxmlformats.org/officeDocument/2006/customXml" ds:itemID="{F4C5B2BF-E6B0-4F2D-9A6E-BA8D5EE8464F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MV_sablona1_2007</Template>
  <TotalTime>7592</TotalTime>
  <Words>1273</Words>
  <Application>Microsoft Office PowerPoint</Application>
  <PresentationFormat>Širokoúhlá obrazovka</PresentationFormat>
  <Paragraphs>127</Paragraphs>
  <Slides>14</Slides>
  <Notes>0</Notes>
  <HiddenSlides>0</HiddenSlides>
  <MMClips>0</MMClips>
  <ScaleCrop>false</ScaleCrop>
  <HeadingPairs>
    <vt:vector size="6" baseType="variant">
      <vt:variant>
        <vt:lpstr>Použitá písma</vt:lpstr>
      </vt:variant>
      <vt:variant>
        <vt:i4>3</vt:i4>
      </vt:variant>
      <vt:variant>
        <vt:lpstr>Motiv</vt:lpstr>
      </vt:variant>
      <vt:variant>
        <vt:i4>1</vt:i4>
      </vt:variant>
      <vt:variant>
        <vt:lpstr>Nadpisy snímků</vt:lpstr>
      </vt:variant>
      <vt:variant>
        <vt:i4>14</vt:i4>
      </vt:variant>
    </vt:vector>
  </HeadingPairs>
  <TitlesOfParts>
    <vt:vector size="18" baseType="lpstr">
      <vt:lpstr>Arial</vt:lpstr>
      <vt:lpstr>Calibri</vt:lpstr>
      <vt:lpstr>Symbol</vt:lpstr>
      <vt:lpstr>MV_sablona1_2007</vt:lpstr>
      <vt:lpstr>Osvědčení o digitálním úkonu Současný stav poznání </vt:lpstr>
      <vt:lpstr>Právní základ</vt:lpstr>
      <vt:lpstr>Další relevantní předpisy, které jsme prozatím identifikovali</vt:lpstr>
      <vt:lpstr>Enterprise architektura - Jak se s osvědčení popasovat</vt:lpstr>
      <vt:lpstr>Prezentace aplikace PowerPoint</vt:lpstr>
      <vt:lpstr>Co tedy „úřad“ musí určitě udělat</vt:lpstr>
      <vt:lpstr>Konkrétní případy – nutné splnění</vt:lpstr>
      <vt:lpstr>Jak předávat na CzechPoint a PVS</vt:lpstr>
      <vt:lpstr>Další kroky</vt:lpstr>
      <vt:lpstr>Občan má právo na opis dokumentů, které poskytl úřadu</vt:lpstr>
      <vt:lpstr>Otevřené otázky</vt:lpstr>
      <vt:lpstr>Přehled údajů v LOGu</vt:lpstr>
      <vt:lpstr>Údaje na PDF/A vizualizaci osvědčení</vt:lpstr>
      <vt:lpstr>Prezentace aplikace PowerPoint</vt:lpstr>
    </vt:vector>
  </TitlesOfParts>
  <Company>MV ČR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Návaznost projektu na architekturu eGovernmentu z pohledu OHA</dc:title>
  <dc:creator>Tomáš Šedivec</dc:creator>
  <cp:lastModifiedBy>Petr Tiller</cp:lastModifiedBy>
  <cp:revision>261</cp:revision>
  <dcterms:created xsi:type="dcterms:W3CDTF">2016-11-24T12:36:26Z</dcterms:created>
  <dcterms:modified xsi:type="dcterms:W3CDTF">2021-10-03T18:47:49Z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0x01010090B00F75BED7484DA544575FBD77AFF7</vt:lpwstr>
  </property>
  <property fmtid="{D5CDD505-2E9C-101B-9397-08002B2CF9AE}" pid="3" name="IsMyDocuments">
    <vt:bool>true</vt:bool>
  </property>
</Properties>
</file>
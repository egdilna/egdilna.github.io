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56" r:id="rId4"/>
  </p:sldMasterIdLst>
  <p:notesMasterIdLst>
    <p:notesMasterId r:id="rId14"/>
  </p:notesMasterIdLst>
  <p:sldIdLst>
    <p:sldId id="278" r:id="rId5"/>
    <p:sldId id="279" r:id="rId6"/>
    <p:sldId id="281" r:id="rId7"/>
    <p:sldId id="282" r:id="rId8"/>
    <p:sldId id="284" r:id="rId9"/>
    <p:sldId id="285" r:id="rId10"/>
    <p:sldId id="290" r:id="rId11"/>
    <p:sldId id="286" r:id="rId12"/>
    <p:sldId id="289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3292"/>
    <a:srgbClr val="000000"/>
    <a:srgbClr val="066E9F"/>
    <a:srgbClr val="97DBFB"/>
    <a:srgbClr val="B9E7FD"/>
    <a:srgbClr val="CDF8FF"/>
    <a:srgbClr val="FFFFFF"/>
    <a:srgbClr val="D9D9D9"/>
    <a:srgbClr val="F3D5F3"/>
    <a:srgbClr val="2362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54" autoAdjust="0"/>
    <p:restoredTop sz="93792" autoAdjust="0"/>
  </p:normalViewPr>
  <p:slideViewPr>
    <p:cSldViewPr snapToGrid="0">
      <p:cViewPr varScale="1">
        <p:scale>
          <a:sx n="123" d="100"/>
          <a:sy n="123" d="100"/>
        </p:scale>
        <p:origin x="1448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5C11F7-B32E-4947-8976-7072E8867E23}" type="datetimeFigureOut">
              <a:rPr lang="cs-CZ" smtClean="0"/>
              <a:t>04.04.2024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B7B94E-156E-4A5B-9F5A-4496BEE775B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25239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sz="1800" dirty="0">
                <a:effectLst/>
                <a:latin typeface="Calibri" panose="020F0502020204030204" pitchFamily="34" charset="0"/>
              </a:rPr>
              <a:t>Úkolem </a:t>
            </a:r>
            <a:r>
              <a:rPr lang="cs-CZ" sz="1800" dirty="0" err="1">
                <a:effectLst/>
                <a:latin typeface="Calibri" panose="020F0502020204030204" pitchFamily="34" charset="0"/>
              </a:rPr>
              <a:t>NAKITu</a:t>
            </a:r>
            <a:r>
              <a:rPr lang="cs-CZ" sz="1800" dirty="0">
                <a:effectLst/>
                <a:latin typeface="Calibri" panose="020F0502020204030204" pitchFamily="34" charset="0"/>
              </a:rPr>
              <a:t> v této aktivitě je dlouhodobě naplnit roli centrálního místa pro sběr dat z jednotlivých OVM a zajišťovat jejich validaci, transformaci, uložení ve formě vhodné pro následné využívání a poskytnout nástroje/podporu pro jejich využívání (tzn. pro prezentaci dat ve formě pravidelných předdefinovaných reportů a také pro zpracování ad-hoc analýz nad nimi). 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7B94E-156E-4A5B-9F5A-4496BEE775B3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47498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170514D-FC93-4D28-8512-1DDD84F9A980}" type="datetime1">
              <a:rPr lang="cs-CZ" noProof="0" smtClean="0"/>
              <a:t>04.04.2024</a:t>
            </a:fld>
            <a:endParaRPr lang="cs-CZ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cs-CZ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cs-CZ" noProof="0" smtClean="0"/>
              <a:pPr rtl="0"/>
              <a:t>‹#›</a:t>
            </a:fld>
            <a:endParaRPr lang="cs-CZ" noProof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2884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89FDF81-E4EF-4AAC-9D1D-11E9C57B41AB}" type="datetime1">
              <a:rPr lang="cs-CZ" noProof="0" smtClean="0"/>
              <a:t>04.04.2024</a:t>
            </a:fld>
            <a:endParaRPr lang="cs-CZ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cs-CZ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  <p:extLst>
      <p:ext uri="{BB962C8B-B14F-4D97-AF65-F5344CB8AC3E}">
        <p14:creationId xmlns:p14="http://schemas.microsoft.com/office/powerpoint/2010/main" val="2898405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oddíl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427FAD-506A-40B0-A7B4-2A8B4CEBE658}" type="datetime1">
              <a:rPr lang="cs-CZ" noProof="0" smtClean="0"/>
              <a:t>04.04.2024</a:t>
            </a:fld>
            <a:endParaRPr lang="cs-CZ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cs-CZ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cs-CZ" noProof="0" smtClean="0"/>
              <a:pPr rtl="0"/>
              <a:t>‹#›</a:t>
            </a:fld>
            <a:endParaRPr lang="cs-CZ" noProof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4566315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B49CC1E-99B5-4E7E-A589-226EA6D73DAA}" type="datetime1">
              <a:rPr lang="cs-CZ" noProof="0" smtClean="0"/>
              <a:t>04.04.2024</a:t>
            </a:fld>
            <a:endParaRPr lang="cs-CZ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cs-CZ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  <p:extLst>
      <p:ext uri="{BB962C8B-B14F-4D97-AF65-F5344CB8AC3E}">
        <p14:creationId xmlns:p14="http://schemas.microsoft.com/office/powerpoint/2010/main" val="199290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5402289-37B1-4C41-B191-C2CC3B7988A0}" type="datetime1">
              <a:rPr lang="cs-CZ" noProof="0" smtClean="0"/>
              <a:t>04.04.2024</a:t>
            </a:fld>
            <a:endParaRPr lang="cs-CZ" noProof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cs-CZ" noProof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  <p:extLst>
      <p:ext uri="{BB962C8B-B14F-4D97-AF65-F5344CB8AC3E}">
        <p14:creationId xmlns:p14="http://schemas.microsoft.com/office/powerpoint/2010/main" val="2914702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C95866C-626D-4013-99A5-7CB6938700C2}" type="datetime1">
              <a:rPr lang="cs-CZ" noProof="0" smtClean="0"/>
              <a:t>04.04.2024</a:t>
            </a:fld>
            <a:endParaRPr lang="cs-CZ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cs-CZ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  <p:extLst>
      <p:ext uri="{BB962C8B-B14F-4D97-AF65-F5344CB8AC3E}">
        <p14:creationId xmlns:p14="http://schemas.microsoft.com/office/powerpoint/2010/main" val="72018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3CB06FB-51C2-45EE-9FBD-9B339152EF7D}" type="datetime1">
              <a:rPr lang="cs-CZ" noProof="0" smtClean="0"/>
              <a:t>04.04.2024</a:t>
            </a:fld>
            <a:endParaRPr lang="cs-CZ" noProof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endParaRPr lang="cs-CZ" noProof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  <p:extLst>
      <p:ext uri="{BB962C8B-B14F-4D97-AF65-F5344CB8AC3E}">
        <p14:creationId xmlns:p14="http://schemas.microsoft.com/office/powerpoint/2010/main" val="1517699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pPr rtl="0"/>
            <a:fld id="{2F1A8575-839A-4766-A904-5287DAB997C1}" type="datetime1">
              <a:rPr lang="cs-CZ" noProof="0" smtClean="0"/>
              <a:t>04.04.2024</a:t>
            </a:fld>
            <a:endParaRPr lang="cs-CZ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cs-CZ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D57F1E4F-1CFF-5643-939E-217C01CDF565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  <p:extLst>
      <p:ext uri="{BB962C8B-B14F-4D97-AF65-F5344CB8AC3E}">
        <p14:creationId xmlns:p14="http://schemas.microsoft.com/office/powerpoint/2010/main" val="2541847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66233B1-5250-4FD1-AB31-B917E5747B61}" type="datetime1">
              <a:rPr lang="cs-CZ" noProof="0" smtClean="0"/>
              <a:t>04.04.2024</a:t>
            </a:fld>
            <a:endParaRPr lang="cs-CZ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cs-CZ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  <p:extLst>
      <p:ext uri="{BB962C8B-B14F-4D97-AF65-F5344CB8AC3E}">
        <p14:creationId xmlns:p14="http://schemas.microsoft.com/office/powerpoint/2010/main" val="1347598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ACB008C-DA7E-4C56-8714-8C00A506D6A2}" type="datetime1">
              <a:rPr lang="cs-CZ" noProof="0" smtClean="0"/>
              <a:t>04.04.2024</a:t>
            </a:fld>
            <a:endParaRPr lang="cs-CZ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cs-CZ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  <p:extLst>
      <p:ext uri="{BB962C8B-B14F-4D97-AF65-F5344CB8AC3E}">
        <p14:creationId xmlns:p14="http://schemas.microsoft.com/office/powerpoint/2010/main" val="2570507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5113D74-0E46-4DE4-B9FF-27CA909249B6}" type="datetime1">
              <a:rPr lang="cs-CZ" noProof="0" smtClean="0"/>
              <a:t>04.04.2024</a:t>
            </a:fld>
            <a:endParaRPr lang="cs-CZ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cs-CZ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  <p:extLst>
      <p:ext uri="{BB962C8B-B14F-4D97-AF65-F5344CB8AC3E}">
        <p14:creationId xmlns:p14="http://schemas.microsoft.com/office/powerpoint/2010/main" val="1489430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A3A43DF-04A3-4662-88CA-28FDED1CFC09}" type="datetimeFigureOut">
              <a:rPr lang="cs-CZ" smtClean="0"/>
              <a:t>04.04.2024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993E48A0-96BA-E124-4A28-0062C155160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123500" y="6642100"/>
            <a:ext cx="925512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cs-CZ" sz="1000">
                <a:solidFill>
                  <a:srgbClr val="008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Interní informace</a:t>
            </a:r>
          </a:p>
        </p:txBody>
      </p:sp>
    </p:spTree>
    <p:extLst>
      <p:ext uri="{BB962C8B-B14F-4D97-AF65-F5344CB8AC3E}">
        <p14:creationId xmlns:p14="http://schemas.microsoft.com/office/powerpoint/2010/main" val="3380848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5.png"/><Relationship Id="rId26" Type="http://schemas.openxmlformats.org/officeDocument/2006/relationships/image" Target="../media/image21.png"/><Relationship Id="rId3" Type="http://schemas.openxmlformats.org/officeDocument/2006/relationships/image" Target="../media/image2.jpeg"/><Relationship Id="rId21" Type="http://schemas.openxmlformats.org/officeDocument/2006/relationships/image" Target="../media/image18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microsoft.com/office/2007/relationships/hdphoto" Target="../media/hdphoto2.wdp"/><Relationship Id="rId25" Type="http://schemas.microsoft.com/office/2007/relationships/hdphoto" Target="../media/hdphoto4.wdp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7.png"/><Relationship Id="rId29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0.png"/><Relationship Id="rId5" Type="http://schemas.openxmlformats.org/officeDocument/2006/relationships/image" Target="../media/image4.jpeg"/><Relationship Id="rId15" Type="http://schemas.microsoft.com/office/2007/relationships/hdphoto" Target="../media/hdphoto1.wdp"/><Relationship Id="rId23" Type="http://schemas.openxmlformats.org/officeDocument/2006/relationships/image" Target="../media/image19.png"/><Relationship Id="rId28" Type="http://schemas.openxmlformats.org/officeDocument/2006/relationships/image" Target="../media/image23.svg"/><Relationship Id="rId10" Type="http://schemas.openxmlformats.org/officeDocument/2006/relationships/image" Target="../media/image9.png"/><Relationship Id="rId19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microsoft.com/office/2007/relationships/hdphoto" Target="../media/hdphoto3.wdp"/><Relationship Id="rId27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611C6E0-942E-4AD2-A0BE-CA2FD7AA6A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1888998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cs-CZ" sz="4800" b="1">
                <a:solidFill>
                  <a:schemeClr val="tx1"/>
                </a:solidFill>
              </a:rPr>
              <a:t>Naplňování principu IK ČR </a:t>
            </a:r>
            <a:br>
              <a:rPr lang="cs-CZ" sz="4800" b="1">
                <a:solidFill>
                  <a:schemeClr val="tx1"/>
                </a:solidFill>
              </a:rPr>
            </a:br>
            <a:r>
              <a:rPr lang="cs-CZ" sz="4800" b="1">
                <a:solidFill>
                  <a:schemeClr val="tx1"/>
                </a:solidFill>
              </a:rPr>
              <a:t>P20: Metriky digitálních služeb</a:t>
            </a:r>
            <a:endParaRPr lang="cs-CZ" sz="4800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F6381158-CF69-4D8B-91E8-DAEFC6E784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cs-CZ" sz="2000" cap="none" spc="-38">
                <a:solidFill>
                  <a:prstClr val="black"/>
                </a:solidFill>
                <a:latin typeface="Calibri Light" panose="020F0302020204030204"/>
              </a:rPr>
              <a:t>na základě Přílohy č. 2 k usnesení vlády 262/2022 k realizaci projektu Transformace řízení digitalizace z 6.4.2022</a:t>
            </a:r>
            <a:endParaRPr lang="cs-CZ" sz="2000" cap="none" spc="-38" dirty="0">
              <a:solidFill>
                <a:prstClr val="black"/>
              </a:solidFill>
              <a:latin typeface="Calibri Light" panose="020F0302020204030204"/>
            </a:endParaRPr>
          </a:p>
        </p:txBody>
      </p:sp>
      <p:graphicFrame>
        <p:nvGraphicFramePr>
          <p:cNvPr id="5" name="Objekt 4">
            <a:extLst>
              <a:ext uri="{FF2B5EF4-FFF2-40B4-BE49-F238E27FC236}">
                <a16:creationId xmlns:a16="http://schemas.microsoft.com/office/drawing/2014/main" id="{A3D491F7-10B9-A022-9AEC-BBFCB79397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6375091"/>
              </p:ext>
            </p:extLst>
          </p:nvPr>
        </p:nvGraphicFramePr>
        <p:xfrm>
          <a:off x="4128134" y="5490670"/>
          <a:ext cx="1110615" cy="9795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showAsIcon="1" r:id="rId2" imgW="914597" imgH="806406" progId="Acrobat.Document.DC">
                  <p:embed/>
                </p:oleObj>
              </mc:Choice>
              <mc:Fallback>
                <p:oleObj name="Acrobat Document" showAsIcon="1" r:id="rId2" imgW="914597" imgH="806406" progId="Acrobat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128134" y="5490670"/>
                        <a:ext cx="1110615" cy="9795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ovéPole 6">
            <a:extLst>
              <a:ext uri="{FF2B5EF4-FFF2-40B4-BE49-F238E27FC236}">
                <a16:creationId xmlns:a16="http://schemas.microsoft.com/office/drawing/2014/main" id="{4F5D9544-0348-DEF3-7502-DD6FBB69A52E}"/>
              </a:ext>
            </a:extLst>
          </p:cNvPr>
          <p:cNvSpPr txBox="1"/>
          <p:nvPr/>
        </p:nvSpPr>
        <p:spPr>
          <a:xfrm>
            <a:off x="1327785" y="2737767"/>
            <a:ext cx="65341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cs-CZ" i="1"/>
              <a:t>„Každý nový nebo podstatně změněný proces veřejné správy a každý nový nebo podstatně změněný informační systém na jeho podporu musí být navržen tak, aby umožňoval měřit využívání, výkon a efektivitu všech agend a služeb VS.“ </a:t>
            </a:r>
          </a:p>
        </p:txBody>
      </p:sp>
    </p:spTree>
    <p:extLst>
      <p:ext uri="{BB962C8B-B14F-4D97-AF65-F5344CB8AC3E}">
        <p14:creationId xmlns:p14="http://schemas.microsoft.com/office/powerpoint/2010/main" val="1632573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D57F1E4F-1CFF-5643-939E-217C01CDF565}" type="slidenum">
              <a:rPr lang="cs-CZ">
                <a:latin typeface="Calibri" panose="020F0502020204030204"/>
              </a:rPr>
              <a:pPr defTabSz="342900"/>
              <a:t>2</a:t>
            </a:fld>
            <a:endParaRPr lang="cs-CZ">
              <a:latin typeface="Calibri" panose="020F0502020204030204"/>
            </a:endParaRPr>
          </a:p>
        </p:txBody>
      </p:sp>
      <p:sp>
        <p:nvSpPr>
          <p:cNvPr id="7" name="Nadpis 1">
            <a:extLst>
              <a:ext uri="{FF2B5EF4-FFF2-40B4-BE49-F238E27FC236}">
                <a16:creationId xmlns:a16="http://schemas.microsoft.com/office/drawing/2014/main" id="{912D2763-5B07-4B84-A076-EB4688172923}"/>
              </a:ext>
            </a:extLst>
          </p:cNvPr>
          <p:cNvSpPr txBox="1">
            <a:spLocks/>
          </p:cNvSpPr>
          <p:nvPr/>
        </p:nvSpPr>
        <p:spPr>
          <a:xfrm>
            <a:off x="1" y="731"/>
            <a:ext cx="9144000" cy="5269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anchor="ctr"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000" defTabSz="685800"/>
            <a:r>
              <a:rPr lang="cs-CZ" sz="2800" b="1" spc="-38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</a:rPr>
              <a:t>OTÁZKY, které všechny zajímají...</a:t>
            </a:r>
          </a:p>
        </p:txBody>
      </p:sp>
      <p:sp>
        <p:nvSpPr>
          <p:cNvPr id="8" name="Myšlenková bublina: obláček 7">
            <a:extLst>
              <a:ext uri="{FF2B5EF4-FFF2-40B4-BE49-F238E27FC236}">
                <a16:creationId xmlns:a16="http://schemas.microsoft.com/office/drawing/2014/main" id="{1CA2A66A-3508-4E2B-9427-F2123315F088}"/>
              </a:ext>
            </a:extLst>
          </p:cNvPr>
          <p:cNvSpPr/>
          <p:nvPr/>
        </p:nvSpPr>
        <p:spPr>
          <a:xfrm>
            <a:off x="3861082" y="5188726"/>
            <a:ext cx="5223283" cy="1095375"/>
          </a:xfrm>
          <a:prstGeom prst="cloudCallout">
            <a:avLst>
              <a:gd name="adj1" fmla="val -41554"/>
              <a:gd name="adj2" fmla="val -48200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b="1" i="1" dirty="0">
                <a:latin typeface="+mj-lt"/>
              </a:rPr>
              <a:t>Proč (jen) tolik? Není to málo? </a:t>
            </a:r>
            <a:br>
              <a:rPr lang="cs-CZ" b="1" i="1" dirty="0">
                <a:latin typeface="+mj-lt"/>
              </a:rPr>
            </a:br>
            <a:r>
              <a:rPr lang="cs-CZ" b="1" i="1" dirty="0">
                <a:latin typeface="+mj-lt"/>
              </a:rPr>
              <a:t>Kolik bychom považovali za úspěch? </a:t>
            </a:r>
            <a:br>
              <a:rPr lang="cs-CZ" b="1" i="1" dirty="0">
                <a:latin typeface="+mj-lt"/>
              </a:rPr>
            </a:br>
            <a:r>
              <a:rPr lang="cs-CZ" b="1" i="1" dirty="0">
                <a:latin typeface="+mj-lt"/>
              </a:rPr>
              <a:t>A jak toho dosáhneme?</a:t>
            </a:r>
          </a:p>
        </p:txBody>
      </p:sp>
      <p:sp>
        <p:nvSpPr>
          <p:cNvPr id="9" name="TextovéPole 8">
            <a:extLst>
              <a:ext uri="{FF2B5EF4-FFF2-40B4-BE49-F238E27FC236}">
                <a16:creationId xmlns:a16="http://schemas.microsoft.com/office/drawing/2014/main" id="{CCA38F69-2BCC-4E59-A483-DEFE2CFE8421}"/>
              </a:ext>
            </a:extLst>
          </p:cNvPr>
          <p:cNvSpPr txBox="1"/>
          <p:nvPr/>
        </p:nvSpPr>
        <p:spPr>
          <a:xfrm>
            <a:off x="1708216" y="986079"/>
            <a:ext cx="55538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spcBef>
                <a:spcPts val="900"/>
              </a:spcBef>
              <a:spcAft>
                <a:spcPts val="150"/>
              </a:spcAft>
              <a:buClr>
                <a:srgbClr val="99CB38"/>
              </a:buClr>
            </a:pPr>
            <a:r>
              <a:rPr lang="cs-CZ" sz="1800" b="1" dirty="0">
                <a:solidFill>
                  <a:schemeClr val="accent6">
                    <a:lumMod val="50000"/>
                  </a:schemeClr>
                </a:solidFill>
                <a:latin typeface="+mj-lt"/>
                <a:ea typeface="+mn-lt"/>
                <a:cs typeface="Calibri" panose="020F0502020204030204"/>
              </a:rPr>
              <a:t>Jak jsou digitální služby využívané? </a:t>
            </a:r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4F576C00-B593-413E-96AD-5E1AEDFB2C1A}"/>
              </a:ext>
            </a:extLst>
          </p:cNvPr>
          <p:cNvSpPr txBox="1"/>
          <p:nvPr/>
        </p:nvSpPr>
        <p:spPr>
          <a:xfrm>
            <a:off x="4546917" y="1246215"/>
            <a:ext cx="44612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800" b="1" dirty="0">
                <a:solidFill>
                  <a:schemeClr val="accent5">
                    <a:lumMod val="75000"/>
                  </a:schemeClr>
                </a:solidFill>
                <a:latin typeface="+mj-lt"/>
                <a:ea typeface="+mn-lt"/>
                <a:cs typeface="Calibri" panose="020F0502020204030204"/>
              </a:rPr>
              <a:t>Jak jsou s nimi uživatelé spokojení?</a:t>
            </a:r>
            <a:endParaRPr lang="cs-CZ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EFBE3573-BBC6-4DE3-AB65-538033D20379}"/>
              </a:ext>
            </a:extLst>
          </p:cNvPr>
          <p:cNvSpPr txBox="1"/>
          <p:nvPr/>
        </p:nvSpPr>
        <p:spPr>
          <a:xfrm>
            <a:off x="801177" y="1555005"/>
            <a:ext cx="51280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600" dirty="0">
                <a:solidFill>
                  <a:schemeClr val="accent6">
                    <a:lumMod val="50000"/>
                  </a:schemeClr>
                </a:solidFill>
                <a:latin typeface="+mj-lt"/>
                <a:ea typeface="+mn-lt"/>
                <a:cs typeface="Calibri" panose="020F0502020204030204"/>
              </a:rPr>
              <a:t>Když máme službu digitalizovanou formou samoobslužného portálu, jaká část klientů ji využívá v této formě?</a:t>
            </a:r>
            <a:endParaRPr lang="cs-CZ" sz="16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C0DFD220-1133-4A50-8A6F-BDD83481F28F}"/>
              </a:ext>
            </a:extLst>
          </p:cNvPr>
          <p:cNvSpPr txBox="1"/>
          <p:nvPr/>
        </p:nvSpPr>
        <p:spPr>
          <a:xfrm>
            <a:off x="2538008" y="2111886"/>
            <a:ext cx="51958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accent6">
                    <a:lumMod val="75000"/>
                  </a:schemeClr>
                </a:solidFill>
                <a:latin typeface="+mj-lt"/>
                <a:ea typeface="+mn-lt"/>
                <a:cs typeface="Calibri" panose="020F0502020204030204"/>
              </a:defRPr>
            </a:lvl1pPr>
          </a:lstStyle>
          <a:p>
            <a:r>
              <a:rPr lang="cs-CZ" dirty="0">
                <a:solidFill>
                  <a:schemeClr val="accent5">
                    <a:lumMod val="75000"/>
                  </a:schemeClr>
                </a:solidFill>
              </a:rPr>
              <a:t>Jak jsou spokojeni ti, kteří ji v této formě využili?  </a:t>
            </a:r>
          </a:p>
        </p:txBody>
      </p:sp>
      <p:sp>
        <p:nvSpPr>
          <p:cNvPr id="15" name="Řečová bublina: oválný bublinový popisek 14">
            <a:extLst>
              <a:ext uri="{FF2B5EF4-FFF2-40B4-BE49-F238E27FC236}">
                <a16:creationId xmlns:a16="http://schemas.microsoft.com/office/drawing/2014/main" id="{EF4936D9-5386-41BE-A445-8EDA2FC56FEC}"/>
              </a:ext>
            </a:extLst>
          </p:cNvPr>
          <p:cNvSpPr/>
          <p:nvPr/>
        </p:nvSpPr>
        <p:spPr>
          <a:xfrm flipH="1">
            <a:off x="0" y="577448"/>
            <a:ext cx="8991594" cy="4542469"/>
          </a:xfrm>
          <a:prstGeom prst="wedgeEllipseCallout">
            <a:avLst>
              <a:gd name="adj1" fmla="val 42616"/>
              <a:gd name="adj2" fmla="val 52992"/>
            </a:avLst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D09D34E4-0541-4ACF-BA35-EF430E596DC5}"/>
              </a:ext>
            </a:extLst>
          </p:cNvPr>
          <p:cNvSpPr txBox="1"/>
          <p:nvPr/>
        </p:nvSpPr>
        <p:spPr>
          <a:xfrm>
            <a:off x="3861083" y="2440888"/>
            <a:ext cx="41362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accent5">
                    <a:lumMod val="75000"/>
                  </a:schemeClr>
                </a:solidFill>
                <a:latin typeface="+mj-lt"/>
                <a:ea typeface="+mn-lt"/>
                <a:cs typeface="Calibri" panose="020F0502020204030204"/>
              </a:defRPr>
            </a:lvl1pPr>
          </a:lstStyle>
          <a:p>
            <a:r>
              <a:rPr lang="cs-CZ" dirty="0"/>
              <a:t>U jaké části služeb spokojenost zjišťujeme? </a:t>
            </a:r>
          </a:p>
        </p:txBody>
      </p:sp>
      <p:sp>
        <p:nvSpPr>
          <p:cNvPr id="20" name="TextovéPole 19">
            <a:extLst>
              <a:ext uri="{FF2B5EF4-FFF2-40B4-BE49-F238E27FC236}">
                <a16:creationId xmlns:a16="http://schemas.microsoft.com/office/drawing/2014/main" id="{5C97FF10-0DE8-44BF-A574-638820ED83EB}"/>
              </a:ext>
            </a:extLst>
          </p:cNvPr>
          <p:cNvSpPr txBox="1"/>
          <p:nvPr/>
        </p:nvSpPr>
        <p:spPr>
          <a:xfrm>
            <a:off x="177483" y="2786315"/>
            <a:ext cx="49577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800" b="1" dirty="0">
                <a:solidFill>
                  <a:schemeClr val="accent5">
                    <a:lumMod val="50000"/>
                  </a:schemeClr>
                </a:solidFill>
                <a:latin typeface="+mj-lt"/>
                <a:ea typeface="+mn-lt"/>
                <a:cs typeface="Calibri" panose="020F0502020204030204"/>
              </a:rPr>
              <a:t>Kolik stát ušetřil v r. 2021 díky využívání digitálních služeb (s automatizovaným zpracováním)?</a:t>
            </a:r>
            <a:endParaRPr lang="cs-CZ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1" name="TextovéPole 20">
            <a:extLst>
              <a:ext uri="{FF2B5EF4-FFF2-40B4-BE49-F238E27FC236}">
                <a16:creationId xmlns:a16="http://schemas.microsoft.com/office/drawing/2014/main" id="{E1BA9930-F652-4B96-8A41-03477028BBBE}"/>
              </a:ext>
            </a:extLst>
          </p:cNvPr>
          <p:cNvSpPr txBox="1"/>
          <p:nvPr/>
        </p:nvSpPr>
        <p:spPr>
          <a:xfrm>
            <a:off x="1800326" y="3369883"/>
            <a:ext cx="34853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600" dirty="0">
                <a:solidFill>
                  <a:schemeClr val="accent5">
                    <a:lumMod val="50000"/>
                  </a:schemeClr>
                </a:solidFill>
                <a:latin typeface="+mj-lt"/>
                <a:ea typeface="+mn-lt"/>
                <a:cs typeface="Calibri" panose="020F0502020204030204"/>
              </a:rPr>
              <a:t>A kolik díky němu ušetří v r. 2025?</a:t>
            </a:r>
            <a:endParaRPr lang="cs-CZ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3" name="TextovéPole 22">
            <a:extLst>
              <a:ext uri="{FF2B5EF4-FFF2-40B4-BE49-F238E27FC236}">
                <a16:creationId xmlns:a16="http://schemas.microsoft.com/office/drawing/2014/main" id="{8CC98E03-58B3-4B7F-8AAC-AEAD011F178A}"/>
              </a:ext>
            </a:extLst>
          </p:cNvPr>
          <p:cNvSpPr txBox="1"/>
          <p:nvPr/>
        </p:nvSpPr>
        <p:spPr>
          <a:xfrm>
            <a:off x="2478879" y="6343384"/>
            <a:ext cx="66436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defTabSz="685800"/>
            <a:r>
              <a:rPr lang="cs-CZ" sz="2800" b="1" spc="-38" dirty="0">
                <a:solidFill>
                  <a:schemeClr val="bg1"/>
                </a:solidFill>
                <a:latin typeface="Calibri Light" panose="020F0302020204030204"/>
              </a:rPr>
              <a:t>...a neznáme na ně odpovědi</a:t>
            </a:r>
          </a:p>
        </p:txBody>
      </p:sp>
      <p:sp>
        <p:nvSpPr>
          <p:cNvPr id="29" name="TextovéPole 28">
            <a:extLst>
              <a:ext uri="{FF2B5EF4-FFF2-40B4-BE49-F238E27FC236}">
                <a16:creationId xmlns:a16="http://schemas.microsoft.com/office/drawing/2014/main" id="{B8EF925D-EF8B-4A0C-AA82-E6575209BE09}"/>
              </a:ext>
            </a:extLst>
          </p:cNvPr>
          <p:cNvSpPr txBox="1"/>
          <p:nvPr/>
        </p:nvSpPr>
        <p:spPr>
          <a:xfrm>
            <a:off x="5454959" y="3055990"/>
            <a:ext cx="30027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800" b="1" dirty="0">
                <a:solidFill>
                  <a:schemeClr val="accent5">
                    <a:lumMod val="50000"/>
                  </a:schemeClr>
                </a:solidFill>
                <a:latin typeface="+mj-lt"/>
                <a:ea typeface="+mn-lt"/>
                <a:cs typeface="Calibri" panose="020F0502020204030204"/>
              </a:rPr>
              <a:t>Jak se vyplácí úsilí vynaložené na digitální transformaci?</a:t>
            </a:r>
            <a:endParaRPr lang="cs-CZ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1" name="TextovéPole 30">
            <a:extLst>
              <a:ext uri="{FF2B5EF4-FFF2-40B4-BE49-F238E27FC236}">
                <a16:creationId xmlns:a16="http://schemas.microsoft.com/office/drawing/2014/main" id="{7B798292-8A8B-4020-B892-EDE348D7C7B0}"/>
              </a:ext>
            </a:extLst>
          </p:cNvPr>
          <p:cNvSpPr txBox="1"/>
          <p:nvPr/>
        </p:nvSpPr>
        <p:spPr>
          <a:xfrm>
            <a:off x="848688" y="3805185"/>
            <a:ext cx="77330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800" b="1" dirty="0">
                <a:solidFill>
                  <a:schemeClr val="accent4">
                    <a:lumMod val="50000"/>
                  </a:schemeClr>
                </a:solidFill>
                <a:latin typeface="+mj-lt"/>
                <a:ea typeface="+mn-lt"/>
                <a:cs typeface="Calibri" panose="020F0502020204030204"/>
              </a:rPr>
              <a:t>Kolik má stát kompetentních expertů v klíčových rolích pro digitální transformaci? </a:t>
            </a:r>
            <a:endParaRPr lang="cs-CZ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3" name="TextovéPole 32">
            <a:extLst>
              <a:ext uri="{FF2B5EF4-FFF2-40B4-BE49-F238E27FC236}">
                <a16:creationId xmlns:a16="http://schemas.microsoft.com/office/drawing/2014/main" id="{FD8C27E0-9804-46AF-8F3D-2111DF78FB56}"/>
              </a:ext>
            </a:extLst>
          </p:cNvPr>
          <p:cNvSpPr txBox="1"/>
          <p:nvPr/>
        </p:nvSpPr>
        <p:spPr>
          <a:xfrm>
            <a:off x="2286510" y="4181867"/>
            <a:ext cx="40546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lvl="1" defTabSz="685800">
              <a:spcBef>
                <a:spcPts val="900"/>
              </a:spcBef>
              <a:spcAft>
                <a:spcPts val="150"/>
              </a:spcAft>
              <a:buClr>
                <a:srgbClr val="99CB38"/>
              </a:buClr>
            </a:pPr>
            <a:r>
              <a:rPr lang="cs-CZ" sz="1600" dirty="0">
                <a:solidFill>
                  <a:schemeClr val="accent4">
                    <a:lumMod val="50000"/>
                  </a:schemeClr>
                </a:solidFill>
                <a:latin typeface="+mj-lt"/>
                <a:ea typeface="+mn-lt"/>
                <a:cs typeface="Calibri" panose="020F0502020204030204"/>
              </a:rPr>
              <a:t>Kolik se mu jich daří získávat a udržet? </a:t>
            </a:r>
          </a:p>
        </p:txBody>
      </p:sp>
    </p:spTree>
    <p:extLst>
      <p:ext uri="{BB962C8B-B14F-4D97-AF65-F5344CB8AC3E}">
        <p14:creationId xmlns:p14="http://schemas.microsoft.com/office/powerpoint/2010/main" val="3511595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9E55B08-AB3A-4D33-B329-F14C1A781E90}"/>
              </a:ext>
            </a:extLst>
          </p:cNvPr>
          <p:cNvSpPr txBox="1">
            <a:spLocks/>
          </p:cNvSpPr>
          <p:nvPr/>
        </p:nvSpPr>
        <p:spPr>
          <a:xfrm>
            <a:off x="423686" y="742950"/>
            <a:ext cx="8610599" cy="5324475"/>
          </a:xfrm>
          <a:prstGeom prst="rect">
            <a:avLst/>
          </a:prstGeom>
        </p:spPr>
        <p:txBody>
          <a:bodyPr lIns="68580" tIns="34290" rIns="68580" bIns="3429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85800">
              <a:spcBef>
                <a:spcPts val="900"/>
              </a:spcBef>
              <a:spcAft>
                <a:spcPts val="150"/>
              </a:spcAft>
              <a:buClr>
                <a:srgbClr val="99CB38"/>
              </a:buClr>
              <a:buNone/>
            </a:pPr>
            <a:r>
              <a:rPr lang="cs-CZ" sz="1800" b="1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ea typeface="+mn-lt"/>
                <a:cs typeface="Calibri" panose="020F0502020204030204"/>
              </a:rPr>
              <a:t>Pravidelné, automatizované, dlouhodobé </a:t>
            </a:r>
            <a:r>
              <a:rPr lang="cs-CZ" sz="180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ea typeface="+mn-lt"/>
                <a:cs typeface="Calibri" panose="020F0502020204030204"/>
              </a:rPr>
              <a:t>měření a </a:t>
            </a:r>
            <a:r>
              <a:rPr lang="cs-CZ" sz="1800" b="1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ea typeface="+mn-lt"/>
                <a:cs typeface="Calibri" panose="020F0502020204030204"/>
              </a:rPr>
              <a:t>vyhodnocování</a:t>
            </a:r>
            <a:r>
              <a:rPr lang="cs-CZ" sz="180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ea typeface="+mn-lt"/>
                <a:cs typeface="Calibri" panose="020F0502020204030204"/>
              </a:rPr>
              <a:t> výkonnostních metrik</a:t>
            </a:r>
          </a:p>
          <a:p>
            <a:pPr marL="292608" lvl="1" indent="0" defTabSz="685800">
              <a:spcBef>
                <a:spcPts val="900"/>
              </a:spcBef>
              <a:spcAft>
                <a:spcPts val="150"/>
              </a:spcAft>
              <a:buClr>
                <a:srgbClr val="99CB38"/>
              </a:buClr>
              <a:buNone/>
            </a:pPr>
            <a:r>
              <a:rPr lang="cs-CZ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ea typeface="+mn-lt"/>
                <a:cs typeface="Calibri" panose="020F0502020204030204"/>
              </a:rPr>
              <a:t>primárně nad „tvrdými“ daty o reálném využívání jednotlivých služeb klienty veřejné správy </a:t>
            </a:r>
          </a:p>
          <a:p>
            <a:pPr marL="577350" lvl="1" indent="-285750" defTabSz="685800">
              <a:spcBef>
                <a:spcPts val="900"/>
              </a:spcBef>
              <a:spcAft>
                <a:spcPts val="150"/>
              </a:spcAft>
              <a:buClr>
                <a:srgbClr val="99CB38"/>
              </a:buClr>
            </a:pPr>
            <a:r>
              <a:rPr lang="cs-CZ" sz="150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ea typeface="+mn-lt"/>
                <a:cs typeface="Calibri" panose="020F0502020204030204"/>
              </a:rPr>
              <a:t>např. tyto metriky nad daty sbíranými v pilotu (viz dále):</a:t>
            </a:r>
          </a:p>
          <a:p>
            <a:pPr marL="658368" lvl="3" indent="0" defTabSz="685800">
              <a:spcBef>
                <a:spcPts val="600"/>
              </a:spcBef>
              <a:spcAft>
                <a:spcPts val="150"/>
              </a:spcAft>
              <a:buClr>
                <a:srgbClr val="99CB38"/>
              </a:buClr>
              <a:buNone/>
            </a:pPr>
            <a:r>
              <a:rPr lang="cs-CZ" sz="1200" i="1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ea typeface="+mn-lt"/>
                <a:cs typeface="Calibri" panose="020F0502020204030204"/>
              </a:rPr>
              <a:t>Využití digitálních služeb	Zrychlení díky digitálním službám		Schopnost získávat zpětnou vazbu k klientů</a:t>
            </a:r>
            <a:br>
              <a:rPr lang="cs-CZ" sz="1200" i="1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ea typeface="+mn-lt"/>
                <a:cs typeface="Calibri" panose="020F0502020204030204"/>
              </a:rPr>
            </a:br>
            <a:br>
              <a:rPr lang="cs-CZ" sz="1200" i="1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ea typeface="+mn-lt"/>
                <a:cs typeface="Calibri" panose="020F0502020204030204"/>
              </a:rPr>
            </a:br>
            <a:r>
              <a:rPr lang="cs-CZ" sz="1200" i="1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ea typeface="+mn-lt"/>
                <a:cs typeface="Calibri" panose="020F0502020204030204"/>
              </a:rPr>
              <a:t>Spokojenost se službami 	Rychlost poskytnutí služeb 		Nedokončené služby </a:t>
            </a:r>
            <a:endParaRPr lang="cs-CZ" sz="1600" dirty="0">
              <a:solidFill>
                <a:prstClr val="black">
                  <a:lumMod val="75000"/>
                  <a:lumOff val="25000"/>
                </a:prstClr>
              </a:solidFill>
              <a:latin typeface="+mj-lt"/>
              <a:ea typeface="+mn-lt"/>
              <a:cs typeface="Calibri" panose="020F0502020204030204"/>
            </a:endParaRPr>
          </a:p>
          <a:p>
            <a:pPr marL="292608" lvl="1" indent="0" defTabSz="685800">
              <a:spcBef>
                <a:spcPts val="900"/>
              </a:spcBef>
              <a:spcAft>
                <a:spcPts val="150"/>
              </a:spcAft>
              <a:buClr>
                <a:srgbClr val="99CB38"/>
              </a:buClr>
              <a:buNone/>
            </a:pPr>
            <a:r>
              <a:rPr lang="cs-CZ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ea typeface="+mn-lt"/>
                <a:cs typeface="Calibri" panose="020F0502020204030204"/>
              </a:rPr>
              <a:t>nebo nad objektivně ověřitelnými fakty (s minimální mírou subjektivity)</a:t>
            </a:r>
          </a:p>
          <a:p>
            <a:pPr marL="577350" lvl="1" indent="-285750" defTabSz="685800">
              <a:spcBef>
                <a:spcPts val="900"/>
              </a:spcBef>
              <a:spcAft>
                <a:spcPts val="150"/>
              </a:spcAft>
              <a:buClr>
                <a:srgbClr val="99CB38"/>
              </a:buClr>
            </a:pPr>
            <a:r>
              <a:rPr lang="cs-CZ" sz="150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ea typeface="+mn-lt"/>
                <a:cs typeface="Calibri" panose="020F0502020204030204"/>
              </a:rPr>
              <a:t>např. metriky typu:</a:t>
            </a:r>
          </a:p>
          <a:p>
            <a:pPr marL="658368" lvl="3" indent="0" defTabSz="685800">
              <a:spcBef>
                <a:spcPts val="600"/>
              </a:spcBef>
              <a:spcAft>
                <a:spcPts val="150"/>
              </a:spcAft>
              <a:buClr>
                <a:srgbClr val="99CB38"/>
              </a:buClr>
              <a:buNone/>
            </a:pPr>
            <a:r>
              <a:rPr lang="cs-CZ" sz="1200" i="1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ea typeface="+mn-lt"/>
                <a:cs typeface="Calibri" panose="020F0502020204030204"/>
              </a:rPr>
              <a:t>Dostupnost digitálních služeb ve formě samoobslužného portálu		Předvyplněná data ve formulářích</a:t>
            </a:r>
            <a:endParaRPr lang="cs-CZ" sz="1800" dirty="0">
              <a:solidFill>
                <a:prstClr val="black">
                  <a:lumMod val="75000"/>
                  <a:lumOff val="25000"/>
                </a:prstClr>
              </a:solidFill>
              <a:latin typeface="+mj-lt"/>
              <a:ea typeface="+mn-lt"/>
              <a:cs typeface="Calibri" panose="020F0502020204030204"/>
            </a:endParaRPr>
          </a:p>
          <a:p>
            <a:pPr marL="0" indent="0" defTabSz="685800">
              <a:spcBef>
                <a:spcPts val="900"/>
              </a:spcBef>
              <a:spcAft>
                <a:spcPts val="150"/>
              </a:spcAft>
              <a:buClr>
                <a:srgbClr val="99CB38"/>
              </a:buClr>
              <a:buNone/>
            </a:pPr>
            <a:endParaRPr lang="cs-CZ" sz="1800" dirty="0">
              <a:solidFill>
                <a:prstClr val="black">
                  <a:lumMod val="75000"/>
                  <a:lumOff val="25000"/>
                </a:prstClr>
              </a:solidFill>
              <a:latin typeface="+mj-lt"/>
              <a:ea typeface="+mn-lt"/>
              <a:cs typeface="Calibri" panose="020F0502020204030204"/>
            </a:endParaRPr>
          </a:p>
          <a:p>
            <a:pPr marL="0" indent="0" defTabSz="685800">
              <a:spcBef>
                <a:spcPts val="900"/>
              </a:spcBef>
              <a:spcAft>
                <a:spcPts val="150"/>
              </a:spcAft>
              <a:buClr>
                <a:srgbClr val="99CB38"/>
              </a:buClr>
              <a:buNone/>
            </a:pPr>
            <a:endParaRPr lang="cs-CZ" sz="1800" dirty="0">
              <a:solidFill>
                <a:prstClr val="black">
                  <a:lumMod val="75000"/>
                  <a:lumOff val="25000"/>
                </a:prstClr>
              </a:solidFill>
              <a:latin typeface="+mj-lt"/>
              <a:ea typeface="+mn-lt"/>
              <a:cs typeface="Calibri" panose="020F0502020204030204"/>
            </a:endParaRPr>
          </a:p>
          <a:p>
            <a:pPr marL="0" indent="0" defTabSz="685800">
              <a:spcBef>
                <a:spcPts val="900"/>
              </a:spcBef>
              <a:spcAft>
                <a:spcPts val="150"/>
              </a:spcAft>
              <a:buClr>
                <a:srgbClr val="99CB38"/>
              </a:buClr>
              <a:buNone/>
            </a:pPr>
            <a:r>
              <a:rPr lang="cs-CZ" sz="180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ea typeface="+mn-lt"/>
                <a:cs typeface="Calibri" panose="020F0502020204030204"/>
              </a:rPr>
              <a:t>Pro </a:t>
            </a:r>
          </a:p>
          <a:p>
            <a:pPr marL="0" indent="0" defTabSz="685800">
              <a:spcBef>
                <a:spcPts val="900"/>
              </a:spcBef>
              <a:spcAft>
                <a:spcPts val="150"/>
              </a:spcAft>
              <a:buClr>
                <a:srgbClr val="99CB38"/>
              </a:buClr>
              <a:buNone/>
            </a:pPr>
            <a:r>
              <a:rPr lang="cs-CZ" sz="180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ea typeface="+mn-lt"/>
                <a:cs typeface="Calibri" panose="020F0502020204030204"/>
              </a:rPr>
              <a:t>	(1.) lepší řízení (nejen) digitální transformace veřejné správy </a:t>
            </a:r>
          </a:p>
          <a:p>
            <a:pPr marL="0" indent="0" defTabSz="685800">
              <a:spcBef>
                <a:spcPts val="900"/>
              </a:spcBef>
              <a:spcAft>
                <a:spcPts val="150"/>
              </a:spcAft>
              <a:buClr>
                <a:srgbClr val="99CB38"/>
              </a:buClr>
              <a:buNone/>
            </a:pPr>
            <a:r>
              <a:rPr lang="cs-CZ" sz="180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ea typeface="+mn-lt"/>
                <a:cs typeface="Calibri" panose="020F0502020204030204"/>
              </a:rPr>
              <a:t>	(2.) komunikaci dosažených výsledků </a:t>
            </a:r>
          </a:p>
          <a:p>
            <a:pPr marL="292608" lvl="1" indent="0" defTabSz="685800">
              <a:spcBef>
                <a:spcPts val="900"/>
              </a:spcBef>
              <a:spcAft>
                <a:spcPts val="150"/>
              </a:spcAft>
              <a:buClr>
                <a:srgbClr val="99CB38"/>
              </a:buClr>
              <a:buNone/>
            </a:pPr>
            <a:r>
              <a:rPr lang="cs-CZ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ea typeface="+mn-lt"/>
                <a:cs typeface="Calibri" panose="020F0502020204030204"/>
              </a:rPr>
              <a:t>		</a:t>
            </a:r>
            <a:r>
              <a:rPr lang="cs-CZ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ea typeface="+mn-lt"/>
                <a:cs typeface="Calibri" panose="020F0502020204030204" pitchFamily="34" charset="0"/>
              </a:rPr>
              <a:t>→</a:t>
            </a:r>
            <a:r>
              <a:rPr 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ea typeface="+mn-lt"/>
                <a:cs typeface="Calibri" panose="020F0502020204030204"/>
              </a:rPr>
              <a:t> </a:t>
            </a:r>
            <a:r>
              <a:rPr lang="cs-CZ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ea typeface="+mn-lt"/>
                <a:cs typeface="Calibri" panose="020F0502020204030204"/>
              </a:rPr>
              <a:t>pozitivní vnímání veřejností </a:t>
            </a:r>
            <a:r>
              <a:rPr lang="cs-CZ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ea typeface="+mn-lt"/>
                <a:cs typeface="Calibri" panose="020F0502020204030204" pitchFamily="34" charset="0"/>
              </a:rPr>
              <a:t>→</a:t>
            </a:r>
            <a:r>
              <a:rPr lang="cs-CZ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ea typeface="+mn-lt"/>
                <a:cs typeface="Calibri" panose="020F0502020204030204"/>
              </a:rPr>
              <a:t> větší využívání digitálních služeb </a:t>
            </a:r>
            <a:r>
              <a:rPr lang="cs-CZ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ea typeface="+mn-lt"/>
                <a:cs typeface="Calibri" panose="020F0502020204030204" pitchFamily="34" charset="0"/>
              </a:rPr>
              <a:t>→</a:t>
            </a:r>
            <a:r>
              <a:rPr lang="cs-CZ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ea typeface="+mn-lt"/>
                <a:cs typeface="Calibri" panose="020F0502020204030204"/>
              </a:rPr>
              <a:t> lepší návratnost investic</a:t>
            </a:r>
            <a:endParaRPr lang="cs-CZ" sz="1600" dirty="0">
              <a:solidFill>
                <a:prstClr val="black">
                  <a:lumMod val="75000"/>
                  <a:lumOff val="25000"/>
                </a:prstClr>
              </a:solidFill>
              <a:latin typeface="+mj-lt"/>
              <a:ea typeface="+mn-lt"/>
              <a:cs typeface="Calibri" panose="020F0502020204030204"/>
            </a:endParaRPr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D57F1E4F-1CFF-5643-939E-217C01CDF565}" type="slidenum">
              <a:rPr lang="cs-CZ">
                <a:latin typeface="Calibri" panose="020F0502020204030204"/>
              </a:rPr>
              <a:pPr defTabSz="342900"/>
              <a:t>3</a:t>
            </a:fld>
            <a:endParaRPr lang="cs-CZ">
              <a:latin typeface="Calibri" panose="020F0502020204030204"/>
            </a:endParaRPr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D18C7315-71CC-4C80-96DD-29981365F2B2}"/>
              </a:ext>
            </a:extLst>
          </p:cNvPr>
          <p:cNvSpPr txBox="1"/>
          <p:nvPr/>
        </p:nvSpPr>
        <p:spPr>
          <a:xfrm>
            <a:off x="289560" y="5704980"/>
            <a:ext cx="8610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cs-CZ" b="1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„</a:t>
            </a:r>
            <a:r>
              <a:rPr lang="en-US" b="1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Co </a:t>
            </a:r>
            <a:r>
              <a:rPr lang="cs-CZ" b="1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neměříte, to neřídíte“ – pokud se chceme zlepšovat, potřebujeme měřit a řídit </a:t>
            </a:r>
            <a:br>
              <a:rPr lang="cs-CZ" b="1" i="1" dirty="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cs-CZ" b="1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všechno, co je důležité pro digitální transformaci veřejné správy</a:t>
            </a:r>
            <a:endParaRPr lang="cs-CZ" b="1" i="1" dirty="0">
              <a:effectLst/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" name="Nadpis 1">
            <a:extLst>
              <a:ext uri="{FF2B5EF4-FFF2-40B4-BE49-F238E27FC236}">
                <a16:creationId xmlns:a16="http://schemas.microsoft.com/office/drawing/2014/main" id="{0268E278-6001-4560-8AA8-47FB7FEC9FC8}"/>
              </a:ext>
            </a:extLst>
          </p:cNvPr>
          <p:cNvSpPr txBox="1">
            <a:spLocks/>
          </p:cNvSpPr>
          <p:nvPr/>
        </p:nvSpPr>
        <p:spPr>
          <a:xfrm>
            <a:off x="1" y="731"/>
            <a:ext cx="9144000" cy="5269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anchor="ctr"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000" defTabSz="685800"/>
            <a:r>
              <a:rPr lang="cs-CZ" sz="2800" b="1" spc="-38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</a:rPr>
              <a:t>CO chceme dělat</a:t>
            </a:r>
          </a:p>
        </p:txBody>
      </p:sp>
      <p:sp>
        <p:nvSpPr>
          <p:cNvPr id="10" name="Nadpis 1">
            <a:extLst>
              <a:ext uri="{FF2B5EF4-FFF2-40B4-BE49-F238E27FC236}">
                <a16:creationId xmlns:a16="http://schemas.microsoft.com/office/drawing/2014/main" id="{A6C2D4AB-5C58-426D-94CC-ECAF6224728B}"/>
              </a:ext>
            </a:extLst>
          </p:cNvPr>
          <p:cNvSpPr txBox="1">
            <a:spLocks/>
          </p:cNvSpPr>
          <p:nvPr/>
        </p:nvSpPr>
        <p:spPr>
          <a:xfrm>
            <a:off x="0" y="3560626"/>
            <a:ext cx="9144000" cy="5269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anchor="ctr"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000" defTabSz="685800"/>
            <a:r>
              <a:rPr lang="cs-CZ" sz="2800" b="1" spc="-38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</a:rPr>
              <a:t>PROČ</a:t>
            </a:r>
            <a:r>
              <a:rPr lang="en-US" sz="2800" b="1" spc="-38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</a:rPr>
              <a:t> je to </a:t>
            </a:r>
            <a:r>
              <a:rPr lang="cs-CZ" sz="2800" b="1" spc="-38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</a:rPr>
              <a:t>důležité</a:t>
            </a:r>
          </a:p>
        </p:txBody>
      </p:sp>
    </p:spTree>
    <p:extLst>
      <p:ext uri="{BB962C8B-B14F-4D97-AF65-F5344CB8AC3E}">
        <p14:creationId xmlns:p14="http://schemas.microsoft.com/office/powerpoint/2010/main" val="4070414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: se zakulacenými rohy 1">
            <a:extLst>
              <a:ext uri="{FF2B5EF4-FFF2-40B4-BE49-F238E27FC236}">
                <a16:creationId xmlns:a16="http://schemas.microsoft.com/office/drawing/2014/main" id="{D37937A0-227E-FA73-6871-C02B39D12292}"/>
              </a:ext>
            </a:extLst>
          </p:cNvPr>
          <p:cNvSpPr/>
          <p:nvPr/>
        </p:nvSpPr>
        <p:spPr>
          <a:xfrm>
            <a:off x="105139" y="3323307"/>
            <a:ext cx="8732130" cy="2928941"/>
          </a:xfrm>
          <a:prstGeom prst="roundRect">
            <a:avLst/>
          </a:prstGeom>
          <a:solidFill>
            <a:srgbClr val="CDF8FF"/>
          </a:solidFill>
          <a:ln>
            <a:solidFill>
              <a:schemeClr val="accent1">
                <a:lumMod val="20000"/>
                <a:lumOff val="80000"/>
              </a:schemeClr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377204927">
                  <a:custGeom>
                    <a:avLst/>
                    <a:gdLst>
                      <a:gd name="connsiteX0" fmla="*/ 0 w 1935960"/>
                      <a:gd name="connsiteY0" fmla="*/ 322666 h 2334259"/>
                      <a:gd name="connsiteX1" fmla="*/ 322666 w 1935960"/>
                      <a:gd name="connsiteY1" fmla="*/ 0 h 2334259"/>
                      <a:gd name="connsiteX2" fmla="*/ 942167 w 1935960"/>
                      <a:gd name="connsiteY2" fmla="*/ 0 h 2334259"/>
                      <a:gd name="connsiteX3" fmla="*/ 1613294 w 1935960"/>
                      <a:gd name="connsiteY3" fmla="*/ 0 h 2334259"/>
                      <a:gd name="connsiteX4" fmla="*/ 1935960 w 1935960"/>
                      <a:gd name="connsiteY4" fmla="*/ 322666 h 2334259"/>
                      <a:gd name="connsiteX5" fmla="*/ 1935960 w 1935960"/>
                      <a:gd name="connsiteY5" fmla="*/ 902531 h 2334259"/>
                      <a:gd name="connsiteX6" fmla="*/ 1935960 w 1935960"/>
                      <a:gd name="connsiteY6" fmla="*/ 1499285 h 2334259"/>
                      <a:gd name="connsiteX7" fmla="*/ 1935960 w 1935960"/>
                      <a:gd name="connsiteY7" fmla="*/ 2011593 h 2334259"/>
                      <a:gd name="connsiteX8" fmla="*/ 1613294 w 1935960"/>
                      <a:gd name="connsiteY8" fmla="*/ 2334259 h 2334259"/>
                      <a:gd name="connsiteX9" fmla="*/ 1006699 w 1935960"/>
                      <a:gd name="connsiteY9" fmla="*/ 2334259 h 2334259"/>
                      <a:gd name="connsiteX10" fmla="*/ 322666 w 1935960"/>
                      <a:gd name="connsiteY10" fmla="*/ 2334259 h 2334259"/>
                      <a:gd name="connsiteX11" fmla="*/ 0 w 1935960"/>
                      <a:gd name="connsiteY11" fmla="*/ 2011593 h 2334259"/>
                      <a:gd name="connsiteX12" fmla="*/ 0 w 1935960"/>
                      <a:gd name="connsiteY12" fmla="*/ 1448617 h 2334259"/>
                      <a:gd name="connsiteX13" fmla="*/ 0 w 1935960"/>
                      <a:gd name="connsiteY13" fmla="*/ 851863 h 2334259"/>
                      <a:gd name="connsiteX14" fmla="*/ 0 w 1935960"/>
                      <a:gd name="connsiteY14" fmla="*/ 322666 h 2334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1935960" h="2334259" extrusionOk="0">
                        <a:moveTo>
                          <a:pt x="0" y="322666"/>
                        </a:moveTo>
                        <a:cubicBezTo>
                          <a:pt x="30707" y="168285"/>
                          <a:pt x="129174" y="-3065"/>
                          <a:pt x="322666" y="0"/>
                        </a:cubicBezTo>
                        <a:cubicBezTo>
                          <a:pt x="561379" y="-13738"/>
                          <a:pt x="783337" y="-24509"/>
                          <a:pt x="942167" y="0"/>
                        </a:cubicBezTo>
                        <a:cubicBezTo>
                          <a:pt x="1100997" y="24509"/>
                          <a:pt x="1374474" y="-22976"/>
                          <a:pt x="1613294" y="0"/>
                        </a:cubicBezTo>
                        <a:cubicBezTo>
                          <a:pt x="1777274" y="847"/>
                          <a:pt x="1934496" y="165468"/>
                          <a:pt x="1935960" y="322666"/>
                        </a:cubicBezTo>
                        <a:cubicBezTo>
                          <a:pt x="1908345" y="475529"/>
                          <a:pt x="1907154" y="618084"/>
                          <a:pt x="1935960" y="902531"/>
                        </a:cubicBezTo>
                        <a:cubicBezTo>
                          <a:pt x="1964766" y="1186979"/>
                          <a:pt x="1916669" y="1273007"/>
                          <a:pt x="1935960" y="1499285"/>
                        </a:cubicBezTo>
                        <a:cubicBezTo>
                          <a:pt x="1955251" y="1725563"/>
                          <a:pt x="1954920" y="1848110"/>
                          <a:pt x="1935960" y="2011593"/>
                        </a:cubicBezTo>
                        <a:cubicBezTo>
                          <a:pt x="1931991" y="2200260"/>
                          <a:pt x="1759417" y="2325069"/>
                          <a:pt x="1613294" y="2334259"/>
                        </a:cubicBezTo>
                        <a:cubicBezTo>
                          <a:pt x="1369622" y="2362953"/>
                          <a:pt x="1241850" y="2348651"/>
                          <a:pt x="1006699" y="2334259"/>
                        </a:cubicBezTo>
                        <a:cubicBezTo>
                          <a:pt x="771548" y="2319867"/>
                          <a:pt x="586916" y="2323564"/>
                          <a:pt x="322666" y="2334259"/>
                        </a:cubicBezTo>
                        <a:cubicBezTo>
                          <a:pt x="116156" y="2304676"/>
                          <a:pt x="-12651" y="2211737"/>
                          <a:pt x="0" y="2011593"/>
                        </a:cubicBezTo>
                        <a:cubicBezTo>
                          <a:pt x="-5084" y="1740820"/>
                          <a:pt x="5515" y="1592750"/>
                          <a:pt x="0" y="1448617"/>
                        </a:cubicBezTo>
                        <a:cubicBezTo>
                          <a:pt x="-5515" y="1304484"/>
                          <a:pt x="6199" y="1120194"/>
                          <a:pt x="0" y="851863"/>
                        </a:cubicBezTo>
                        <a:cubicBezTo>
                          <a:pt x="-6199" y="583532"/>
                          <a:pt x="5986" y="475274"/>
                          <a:pt x="0" y="322666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vert="vert270" lIns="36000" rtlCol="0" anchor="t"/>
          <a:lstStyle/>
          <a:p>
            <a:pPr algn="ctr"/>
            <a:r>
              <a:rPr lang="cs-CZ" sz="1100" i="1" dirty="0">
                <a:solidFill>
                  <a:schemeClr val="accent6">
                    <a:lumMod val="50000"/>
                  </a:schemeClr>
                </a:solidFill>
              </a:rPr>
              <a:t>DATA</a:t>
            </a:r>
          </a:p>
        </p:txBody>
      </p:sp>
      <p:sp>
        <p:nvSpPr>
          <p:cNvPr id="3" name="Obdélník: se zakulacenými rohy 2">
            <a:extLst>
              <a:ext uri="{FF2B5EF4-FFF2-40B4-BE49-F238E27FC236}">
                <a16:creationId xmlns:a16="http://schemas.microsoft.com/office/drawing/2014/main" id="{B0EF64F5-A70C-8F69-B2D8-965E49A1A328}"/>
              </a:ext>
            </a:extLst>
          </p:cNvPr>
          <p:cNvSpPr/>
          <p:nvPr/>
        </p:nvSpPr>
        <p:spPr>
          <a:xfrm>
            <a:off x="1031904" y="1986541"/>
            <a:ext cx="5314651" cy="1578316"/>
          </a:xfrm>
          <a:prstGeom prst="roundRect">
            <a:avLst/>
          </a:prstGeom>
          <a:solidFill>
            <a:srgbClr val="FEFEB4">
              <a:alpha val="50196"/>
            </a:srgbClr>
          </a:solidFill>
          <a:ln>
            <a:solidFill>
              <a:srgbClr val="FFFF00"/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2593620535">
                  <a:custGeom>
                    <a:avLst/>
                    <a:gdLst>
                      <a:gd name="connsiteX0" fmla="*/ 0 w 6437828"/>
                      <a:gd name="connsiteY0" fmla="*/ 222597 h 1335554"/>
                      <a:gd name="connsiteX1" fmla="*/ 222597 w 6437828"/>
                      <a:gd name="connsiteY1" fmla="*/ 0 h 1335554"/>
                      <a:gd name="connsiteX2" fmla="*/ 888445 w 6437828"/>
                      <a:gd name="connsiteY2" fmla="*/ 0 h 1335554"/>
                      <a:gd name="connsiteX3" fmla="*/ 1554293 w 6437828"/>
                      <a:gd name="connsiteY3" fmla="*/ 0 h 1335554"/>
                      <a:gd name="connsiteX4" fmla="*/ 2280068 w 6437828"/>
                      <a:gd name="connsiteY4" fmla="*/ 0 h 1335554"/>
                      <a:gd name="connsiteX5" fmla="*/ 2826064 w 6437828"/>
                      <a:gd name="connsiteY5" fmla="*/ 0 h 1335554"/>
                      <a:gd name="connsiteX6" fmla="*/ 3491912 w 6437828"/>
                      <a:gd name="connsiteY6" fmla="*/ 0 h 1335554"/>
                      <a:gd name="connsiteX7" fmla="*/ 4037907 w 6437828"/>
                      <a:gd name="connsiteY7" fmla="*/ 0 h 1335554"/>
                      <a:gd name="connsiteX8" fmla="*/ 4823608 w 6437828"/>
                      <a:gd name="connsiteY8" fmla="*/ 0 h 1335554"/>
                      <a:gd name="connsiteX9" fmla="*/ 5369604 w 6437828"/>
                      <a:gd name="connsiteY9" fmla="*/ 0 h 1335554"/>
                      <a:gd name="connsiteX10" fmla="*/ 6215231 w 6437828"/>
                      <a:gd name="connsiteY10" fmla="*/ 0 h 1335554"/>
                      <a:gd name="connsiteX11" fmla="*/ 6437828 w 6437828"/>
                      <a:gd name="connsiteY11" fmla="*/ 222597 h 1335554"/>
                      <a:gd name="connsiteX12" fmla="*/ 6437828 w 6437828"/>
                      <a:gd name="connsiteY12" fmla="*/ 667777 h 1335554"/>
                      <a:gd name="connsiteX13" fmla="*/ 6437828 w 6437828"/>
                      <a:gd name="connsiteY13" fmla="*/ 1112957 h 1335554"/>
                      <a:gd name="connsiteX14" fmla="*/ 6215231 w 6437828"/>
                      <a:gd name="connsiteY14" fmla="*/ 1335554 h 1335554"/>
                      <a:gd name="connsiteX15" fmla="*/ 5549383 w 6437828"/>
                      <a:gd name="connsiteY15" fmla="*/ 1335554 h 1335554"/>
                      <a:gd name="connsiteX16" fmla="*/ 4763682 w 6437828"/>
                      <a:gd name="connsiteY16" fmla="*/ 1335554 h 1335554"/>
                      <a:gd name="connsiteX17" fmla="*/ 4037907 w 6437828"/>
                      <a:gd name="connsiteY17" fmla="*/ 1335554 h 1335554"/>
                      <a:gd name="connsiteX18" fmla="*/ 3491912 w 6437828"/>
                      <a:gd name="connsiteY18" fmla="*/ 1335554 h 1335554"/>
                      <a:gd name="connsiteX19" fmla="*/ 2885990 w 6437828"/>
                      <a:gd name="connsiteY19" fmla="*/ 1335554 h 1335554"/>
                      <a:gd name="connsiteX20" fmla="*/ 2399921 w 6437828"/>
                      <a:gd name="connsiteY20" fmla="*/ 1335554 h 1335554"/>
                      <a:gd name="connsiteX21" fmla="*/ 1913851 w 6437828"/>
                      <a:gd name="connsiteY21" fmla="*/ 1335554 h 1335554"/>
                      <a:gd name="connsiteX22" fmla="*/ 1307930 w 6437828"/>
                      <a:gd name="connsiteY22" fmla="*/ 1335554 h 1335554"/>
                      <a:gd name="connsiteX23" fmla="*/ 222597 w 6437828"/>
                      <a:gd name="connsiteY23" fmla="*/ 1335554 h 1335554"/>
                      <a:gd name="connsiteX24" fmla="*/ 0 w 6437828"/>
                      <a:gd name="connsiteY24" fmla="*/ 1112957 h 1335554"/>
                      <a:gd name="connsiteX25" fmla="*/ 0 w 6437828"/>
                      <a:gd name="connsiteY25" fmla="*/ 685584 h 1335554"/>
                      <a:gd name="connsiteX26" fmla="*/ 0 w 6437828"/>
                      <a:gd name="connsiteY26" fmla="*/ 222597 h 13355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6437828" h="1335554" extrusionOk="0">
                        <a:moveTo>
                          <a:pt x="0" y="222597"/>
                        </a:moveTo>
                        <a:cubicBezTo>
                          <a:pt x="13267" y="107523"/>
                          <a:pt x="92885" y="24328"/>
                          <a:pt x="222597" y="0"/>
                        </a:cubicBezTo>
                        <a:cubicBezTo>
                          <a:pt x="477051" y="-4186"/>
                          <a:pt x="673191" y="31572"/>
                          <a:pt x="888445" y="0"/>
                        </a:cubicBezTo>
                        <a:cubicBezTo>
                          <a:pt x="1103699" y="-31572"/>
                          <a:pt x="1367686" y="-9519"/>
                          <a:pt x="1554293" y="0"/>
                        </a:cubicBezTo>
                        <a:cubicBezTo>
                          <a:pt x="1740900" y="9519"/>
                          <a:pt x="2043757" y="-16346"/>
                          <a:pt x="2280068" y="0"/>
                        </a:cubicBezTo>
                        <a:cubicBezTo>
                          <a:pt x="2516379" y="16346"/>
                          <a:pt x="2649432" y="-7391"/>
                          <a:pt x="2826064" y="0"/>
                        </a:cubicBezTo>
                        <a:cubicBezTo>
                          <a:pt x="3002696" y="7391"/>
                          <a:pt x="3250667" y="-1808"/>
                          <a:pt x="3491912" y="0"/>
                        </a:cubicBezTo>
                        <a:cubicBezTo>
                          <a:pt x="3733157" y="1808"/>
                          <a:pt x="3859261" y="-15907"/>
                          <a:pt x="4037907" y="0"/>
                        </a:cubicBezTo>
                        <a:cubicBezTo>
                          <a:pt x="4216554" y="15907"/>
                          <a:pt x="4616266" y="-14226"/>
                          <a:pt x="4823608" y="0"/>
                        </a:cubicBezTo>
                        <a:cubicBezTo>
                          <a:pt x="5030950" y="14226"/>
                          <a:pt x="5170579" y="9498"/>
                          <a:pt x="5369604" y="0"/>
                        </a:cubicBezTo>
                        <a:cubicBezTo>
                          <a:pt x="5568629" y="-9498"/>
                          <a:pt x="5794748" y="-17664"/>
                          <a:pt x="6215231" y="0"/>
                        </a:cubicBezTo>
                        <a:cubicBezTo>
                          <a:pt x="6350284" y="-4551"/>
                          <a:pt x="6435641" y="103202"/>
                          <a:pt x="6437828" y="222597"/>
                        </a:cubicBezTo>
                        <a:cubicBezTo>
                          <a:pt x="6440221" y="425202"/>
                          <a:pt x="6427981" y="557017"/>
                          <a:pt x="6437828" y="667777"/>
                        </a:cubicBezTo>
                        <a:cubicBezTo>
                          <a:pt x="6447675" y="778537"/>
                          <a:pt x="6424277" y="1015336"/>
                          <a:pt x="6437828" y="1112957"/>
                        </a:cubicBezTo>
                        <a:cubicBezTo>
                          <a:pt x="6429875" y="1214908"/>
                          <a:pt x="6348267" y="1334180"/>
                          <a:pt x="6215231" y="1335554"/>
                        </a:cubicBezTo>
                        <a:cubicBezTo>
                          <a:pt x="5929755" y="1353179"/>
                          <a:pt x="5716820" y="1309131"/>
                          <a:pt x="5549383" y="1335554"/>
                        </a:cubicBezTo>
                        <a:cubicBezTo>
                          <a:pt x="5381946" y="1361977"/>
                          <a:pt x="5082914" y="1328701"/>
                          <a:pt x="4763682" y="1335554"/>
                        </a:cubicBezTo>
                        <a:cubicBezTo>
                          <a:pt x="4444450" y="1342407"/>
                          <a:pt x="4237191" y="1364057"/>
                          <a:pt x="4037907" y="1335554"/>
                        </a:cubicBezTo>
                        <a:cubicBezTo>
                          <a:pt x="3838624" y="1307051"/>
                          <a:pt x="3680861" y="1334891"/>
                          <a:pt x="3491912" y="1335554"/>
                        </a:cubicBezTo>
                        <a:cubicBezTo>
                          <a:pt x="3302964" y="1336217"/>
                          <a:pt x="3176375" y="1330079"/>
                          <a:pt x="2885990" y="1335554"/>
                        </a:cubicBezTo>
                        <a:cubicBezTo>
                          <a:pt x="2595605" y="1341029"/>
                          <a:pt x="2553506" y="1341774"/>
                          <a:pt x="2399921" y="1335554"/>
                        </a:cubicBezTo>
                        <a:cubicBezTo>
                          <a:pt x="2246336" y="1329334"/>
                          <a:pt x="2052340" y="1330094"/>
                          <a:pt x="1913851" y="1335554"/>
                        </a:cubicBezTo>
                        <a:cubicBezTo>
                          <a:pt x="1775362" y="1341015"/>
                          <a:pt x="1479597" y="1329917"/>
                          <a:pt x="1307930" y="1335554"/>
                        </a:cubicBezTo>
                        <a:cubicBezTo>
                          <a:pt x="1136263" y="1341191"/>
                          <a:pt x="461180" y="1372839"/>
                          <a:pt x="222597" y="1335554"/>
                        </a:cubicBezTo>
                        <a:cubicBezTo>
                          <a:pt x="93547" y="1339876"/>
                          <a:pt x="17658" y="1260011"/>
                          <a:pt x="0" y="1112957"/>
                        </a:cubicBezTo>
                        <a:cubicBezTo>
                          <a:pt x="4609" y="951091"/>
                          <a:pt x="-11364" y="786979"/>
                          <a:pt x="0" y="685584"/>
                        </a:cubicBezTo>
                        <a:cubicBezTo>
                          <a:pt x="11364" y="584189"/>
                          <a:pt x="22642" y="406237"/>
                          <a:pt x="0" y="22259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vert="vert270" rtlCol="0" anchor="t"/>
          <a:lstStyle/>
          <a:p>
            <a:pPr algn="ctr"/>
            <a:r>
              <a:rPr lang="cs-CZ" sz="1100" i="1" dirty="0">
                <a:solidFill>
                  <a:schemeClr val="accent6">
                    <a:lumMod val="50000"/>
                  </a:schemeClr>
                </a:solidFill>
              </a:rPr>
              <a:t>OBSLUŽNÉ KANÁLY</a:t>
            </a:r>
          </a:p>
        </p:txBody>
      </p:sp>
      <p:pic>
        <p:nvPicPr>
          <p:cNvPr id="5" name="Obrázek 4" descr="Obsah obrázku ruční vozík&#10;&#10;Popis byl vytvořen automaticky">
            <a:extLst>
              <a:ext uri="{FF2B5EF4-FFF2-40B4-BE49-F238E27FC236}">
                <a16:creationId xmlns:a16="http://schemas.microsoft.com/office/drawing/2014/main" id="{E611801B-8CAB-2E5C-EE72-9029581697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461426" y="1193129"/>
            <a:ext cx="936972" cy="936972"/>
          </a:xfrm>
          <a:prstGeom prst="rect">
            <a:avLst/>
          </a:prstGeom>
        </p:spPr>
      </p:pic>
      <p:grpSp>
        <p:nvGrpSpPr>
          <p:cNvPr id="6" name="Skupina 5">
            <a:extLst>
              <a:ext uri="{FF2B5EF4-FFF2-40B4-BE49-F238E27FC236}">
                <a16:creationId xmlns:a16="http://schemas.microsoft.com/office/drawing/2014/main" id="{ED57873C-4768-0E24-C313-2610F8A94EC8}"/>
              </a:ext>
            </a:extLst>
          </p:cNvPr>
          <p:cNvGrpSpPr/>
          <p:nvPr/>
        </p:nvGrpSpPr>
        <p:grpSpPr>
          <a:xfrm>
            <a:off x="1983542" y="5187343"/>
            <a:ext cx="1113306" cy="772256"/>
            <a:chOff x="2210892" y="4077868"/>
            <a:chExt cx="1014445" cy="772256"/>
          </a:xfrm>
          <a:noFill/>
        </p:grpSpPr>
        <p:sp>
          <p:nvSpPr>
            <p:cNvPr id="7" name="Obdélník: se zakulacenými rohy 6">
              <a:extLst>
                <a:ext uri="{FF2B5EF4-FFF2-40B4-BE49-F238E27FC236}">
                  <a16:creationId xmlns:a16="http://schemas.microsoft.com/office/drawing/2014/main" id="{7100CA63-83A7-5028-44D1-F9836AA39848}"/>
                </a:ext>
              </a:extLst>
            </p:cNvPr>
            <p:cNvSpPr/>
            <p:nvPr/>
          </p:nvSpPr>
          <p:spPr>
            <a:xfrm>
              <a:off x="2210892" y="4077868"/>
              <a:ext cx="1014445" cy="772256"/>
            </a:xfrm>
            <a:prstGeom prst="roundRect">
              <a:avLst/>
            </a:prstGeom>
            <a:grpFill/>
            <a:ln>
              <a:solidFill>
                <a:schemeClr val="accent6">
                  <a:lumMod val="60000"/>
                  <a:lumOff val="40000"/>
                </a:schemeClr>
              </a:solidFill>
              <a:prstDash val="dashDot"/>
              <a:extLst>
                <a:ext uri="{C807C97D-BFC1-408E-A445-0C87EB9F89A2}">
                  <ask:lineSketchStyleProps xmlns:ask="http://schemas.microsoft.com/office/drawing/2018/sketchyshapes" sd="3950963677">
                    <a:custGeom>
                      <a:avLst/>
                      <a:gdLst>
                        <a:gd name="connsiteX0" fmla="*/ 0 w 1113306"/>
                        <a:gd name="connsiteY0" fmla="*/ 128712 h 772256"/>
                        <a:gd name="connsiteX1" fmla="*/ 128712 w 1113306"/>
                        <a:gd name="connsiteY1" fmla="*/ 0 h 772256"/>
                        <a:gd name="connsiteX2" fmla="*/ 565212 w 1113306"/>
                        <a:gd name="connsiteY2" fmla="*/ 0 h 772256"/>
                        <a:gd name="connsiteX3" fmla="*/ 984594 w 1113306"/>
                        <a:gd name="connsiteY3" fmla="*/ 0 h 772256"/>
                        <a:gd name="connsiteX4" fmla="*/ 1113306 w 1113306"/>
                        <a:gd name="connsiteY4" fmla="*/ 128712 h 772256"/>
                        <a:gd name="connsiteX5" fmla="*/ 1113306 w 1113306"/>
                        <a:gd name="connsiteY5" fmla="*/ 643544 h 772256"/>
                        <a:gd name="connsiteX6" fmla="*/ 984594 w 1113306"/>
                        <a:gd name="connsiteY6" fmla="*/ 772256 h 772256"/>
                        <a:gd name="connsiteX7" fmla="*/ 565212 w 1113306"/>
                        <a:gd name="connsiteY7" fmla="*/ 772256 h 772256"/>
                        <a:gd name="connsiteX8" fmla="*/ 128712 w 1113306"/>
                        <a:gd name="connsiteY8" fmla="*/ 772256 h 772256"/>
                        <a:gd name="connsiteX9" fmla="*/ 0 w 1113306"/>
                        <a:gd name="connsiteY9" fmla="*/ 643544 h 772256"/>
                        <a:gd name="connsiteX10" fmla="*/ 0 w 1113306"/>
                        <a:gd name="connsiteY10" fmla="*/ 128712 h 77225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1113306" h="772256" fill="none" extrusionOk="0">
                          <a:moveTo>
                            <a:pt x="0" y="128712"/>
                          </a:moveTo>
                          <a:cubicBezTo>
                            <a:pt x="9071" y="53897"/>
                            <a:pt x="53811" y="-2156"/>
                            <a:pt x="128712" y="0"/>
                          </a:cubicBezTo>
                          <a:cubicBezTo>
                            <a:pt x="304824" y="-8245"/>
                            <a:pt x="393597" y="-10574"/>
                            <a:pt x="565212" y="0"/>
                          </a:cubicBezTo>
                          <a:cubicBezTo>
                            <a:pt x="736827" y="10574"/>
                            <a:pt x="789182" y="3200"/>
                            <a:pt x="984594" y="0"/>
                          </a:cubicBezTo>
                          <a:cubicBezTo>
                            <a:pt x="1053597" y="17616"/>
                            <a:pt x="1112878" y="69159"/>
                            <a:pt x="1113306" y="128712"/>
                          </a:cubicBezTo>
                          <a:cubicBezTo>
                            <a:pt x="1138530" y="333289"/>
                            <a:pt x="1097300" y="389210"/>
                            <a:pt x="1113306" y="643544"/>
                          </a:cubicBezTo>
                          <a:cubicBezTo>
                            <a:pt x="1114207" y="713297"/>
                            <a:pt x="1066215" y="769584"/>
                            <a:pt x="984594" y="772256"/>
                          </a:cubicBezTo>
                          <a:cubicBezTo>
                            <a:pt x="814797" y="792322"/>
                            <a:pt x="655454" y="787590"/>
                            <a:pt x="565212" y="772256"/>
                          </a:cubicBezTo>
                          <a:cubicBezTo>
                            <a:pt x="474970" y="756922"/>
                            <a:pt x="252242" y="750916"/>
                            <a:pt x="128712" y="772256"/>
                          </a:cubicBezTo>
                          <a:cubicBezTo>
                            <a:pt x="53625" y="772691"/>
                            <a:pt x="-5182" y="709798"/>
                            <a:pt x="0" y="643544"/>
                          </a:cubicBezTo>
                          <a:cubicBezTo>
                            <a:pt x="-5037" y="430506"/>
                            <a:pt x="-24245" y="293381"/>
                            <a:pt x="0" y="128712"/>
                          </a:cubicBezTo>
                          <a:close/>
                        </a:path>
                        <a:path w="1113306" h="772256" stroke="0" extrusionOk="0">
                          <a:moveTo>
                            <a:pt x="0" y="128712"/>
                          </a:moveTo>
                          <a:cubicBezTo>
                            <a:pt x="-2287" y="74636"/>
                            <a:pt x="72189" y="4218"/>
                            <a:pt x="128712" y="0"/>
                          </a:cubicBezTo>
                          <a:cubicBezTo>
                            <a:pt x="225690" y="-12761"/>
                            <a:pt x="348092" y="9932"/>
                            <a:pt x="530977" y="0"/>
                          </a:cubicBezTo>
                          <a:cubicBezTo>
                            <a:pt x="713863" y="-9932"/>
                            <a:pt x="808400" y="16990"/>
                            <a:pt x="984594" y="0"/>
                          </a:cubicBezTo>
                          <a:cubicBezTo>
                            <a:pt x="1050542" y="-4778"/>
                            <a:pt x="1123433" y="65227"/>
                            <a:pt x="1113306" y="128712"/>
                          </a:cubicBezTo>
                          <a:cubicBezTo>
                            <a:pt x="1100518" y="313477"/>
                            <a:pt x="1112487" y="530781"/>
                            <a:pt x="1113306" y="643544"/>
                          </a:cubicBezTo>
                          <a:cubicBezTo>
                            <a:pt x="1103035" y="706648"/>
                            <a:pt x="1053810" y="773867"/>
                            <a:pt x="984594" y="772256"/>
                          </a:cubicBezTo>
                          <a:cubicBezTo>
                            <a:pt x="877763" y="762297"/>
                            <a:pt x="688883" y="754364"/>
                            <a:pt x="556653" y="772256"/>
                          </a:cubicBezTo>
                          <a:cubicBezTo>
                            <a:pt x="424423" y="790148"/>
                            <a:pt x="253182" y="787543"/>
                            <a:pt x="128712" y="772256"/>
                          </a:cubicBezTo>
                          <a:cubicBezTo>
                            <a:pt x="72888" y="779058"/>
                            <a:pt x="-6187" y="722596"/>
                            <a:pt x="0" y="643544"/>
                          </a:cubicBezTo>
                          <a:cubicBezTo>
                            <a:pt x="-12030" y="446524"/>
                            <a:pt x="24357" y="241984"/>
                            <a:pt x="0" y="128712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cs-CZ" sz="1100" b="1" i="1" dirty="0">
                  <a:solidFill>
                    <a:schemeClr val="accent6">
                      <a:lumMod val="50000"/>
                    </a:schemeClr>
                  </a:solidFill>
                </a:rPr>
                <a:t>Veřejný datový fond</a:t>
              </a:r>
            </a:p>
          </p:txBody>
        </p:sp>
        <p:pic>
          <p:nvPicPr>
            <p:cNvPr id="8" name="Obrázek 7">
              <a:extLst>
                <a:ext uri="{FF2B5EF4-FFF2-40B4-BE49-F238E27FC236}">
                  <a16:creationId xmlns:a16="http://schemas.microsoft.com/office/drawing/2014/main" id="{CD278C8F-305E-5717-1763-DB66AA195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73637" y="4593550"/>
              <a:ext cx="888954" cy="152789"/>
            </a:xfrm>
            <a:prstGeom prst="rect">
              <a:avLst/>
            </a:prstGeom>
            <a:grpFill/>
            <a:ln>
              <a:noFill/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9" name="Skupina 8">
            <a:extLst>
              <a:ext uri="{FF2B5EF4-FFF2-40B4-BE49-F238E27FC236}">
                <a16:creationId xmlns:a16="http://schemas.microsoft.com/office/drawing/2014/main" id="{E1A26C31-5F5F-BABE-1059-E32CB7C2D202}"/>
              </a:ext>
            </a:extLst>
          </p:cNvPr>
          <p:cNvGrpSpPr/>
          <p:nvPr/>
        </p:nvGrpSpPr>
        <p:grpSpPr>
          <a:xfrm>
            <a:off x="1943955" y="3716232"/>
            <a:ext cx="1289318" cy="982551"/>
            <a:chOff x="3281968" y="3117322"/>
            <a:chExt cx="1397710" cy="1079053"/>
          </a:xfrm>
        </p:grpSpPr>
        <p:sp>
          <p:nvSpPr>
            <p:cNvPr id="12" name="TextovéPole 11">
              <a:extLst>
                <a:ext uri="{FF2B5EF4-FFF2-40B4-BE49-F238E27FC236}">
                  <a16:creationId xmlns:a16="http://schemas.microsoft.com/office/drawing/2014/main" id="{E6E60B68-0195-BAB3-7F90-5204B6DFB798}"/>
                </a:ext>
              </a:extLst>
            </p:cNvPr>
            <p:cNvSpPr txBox="1"/>
            <p:nvPr/>
          </p:nvSpPr>
          <p:spPr>
            <a:xfrm>
              <a:off x="3281968" y="3756968"/>
              <a:ext cx="1397710" cy="4394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1000" dirty="0">
                  <a:solidFill>
                    <a:schemeClr val="accent6">
                      <a:lumMod val="50000"/>
                    </a:schemeClr>
                  </a:solidFill>
                </a:rPr>
                <a:t>Sdílení dat mezi úřady (</a:t>
              </a:r>
              <a:r>
                <a:rPr lang="cs-CZ" sz="1000" dirty="0" err="1">
                  <a:solidFill>
                    <a:schemeClr val="accent6">
                      <a:lumMod val="50000"/>
                    </a:schemeClr>
                  </a:solidFill>
                </a:rPr>
                <a:t>eGSB</a:t>
              </a:r>
              <a:r>
                <a:rPr lang="cs-CZ" sz="1000" dirty="0">
                  <a:solidFill>
                    <a:schemeClr val="accent6">
                      <a:lumMod val="50000"/>
                    </a:schemeClr>
                  </a:solidFill>
                </a:rPr>
                <a:t> / ISSS)</a:t>
              </a:r>
            </a:p>
          </p:txBody>
        </p:sp>
        <p:pic>
          <p:nvPicPr>
            <p:cNvPr id="39" name="Obrázek 38">
              <a:extLst>
                <a:ext uri="{FF2B5EF4-FFF2-40B4-BE49-F238E27FC236}">
                  <a16:creationId xmlns:a16="http://schemas.microsoft.com/office/drawing/2014/main" id="{AF49341B-4A30-D157-B36E-C259B27FFE1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clrChange>
                <a:clrFrom>
                  <a:srgbClr val="F6F6F6"/>
                </a:clrFrom>
                <a:clrTo>
                  <a:srgbClr val="F6F6F6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49221" y="3117322"/>
              <a:ext cx="1197170" cy="690563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pic>
        <p:nvPicPr>
          <p:cNvPr id="60" name="Obrázek 59">
            <a:extLst>
              <a:ext uri="{FF2B5EF4-FFF2-40B4-BE49-F238E27FC236}">
                <a16:creationId xmlns:a16="http://schemas.microsoft.com/office/drawing/2014/main" id="{9E231DAC-C14D-199E-122D-42E6B15A3040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35000"/>
          </a:blip>
          <a:stretch>
            <a:fillRect/>
          </a:stretch>
        </p:blipFill>
        <p:spPr>
          <a:xfrm>
            <a:off x="5185718" y="1331236"/>
            <a:ext cx="210173" cy="642882"/>
          </a:xfrm>
          <a:prstGeom prst="rect">
            <a:avLst/>
          </a:prstGeom>
        </p:spPr>
      </p:pic>
      <p:pic>
        <p:nvPicPr>
          <p:cNvPr id="75" name="Obrázek 74">
            <a:extLst>
              <a:ext uri="{FF2B5EF4-FFF2-40B4-BE49-F238E27FC236}">
                <a16:creationId xmlns:a16="http://schemas.microsoft.com/office/drawing/2014/main" id="{F15150DE-6306-A30D-0AE2-A7DFA87C67D6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</a:blip>
          <a:stretch>
            <a:fillRect/>
          </a:stretch>
        </p:blipFill>
        <p:spPr>
          <a:xfrm>
            <a:off x="2095606" y="1182916"/>
            <a:ext cx="491001" cy="636584"/>
          </a:xfrm>
          <a:prstGeom prst="rect">
            <a:avLst/>
          </a:prstGeom>
        </p:spPr>
      </p:pic>
      <p:sp>
        <p:nvSpPr>
          <p:cNvPr id="76" name="Obdélník: se zakulacenými rohy 75">
            <a:extLst>
              <a:ext uri="{FF2B5EF4-FFF2-40B4-BE49-F238E27FC236}">
                <a16:creationId xmlns:a16="http://schemas.microsoft.com/office/drawing/2014/main" id="{4A5D34FE-9687-ED4B-A954-56C06D67D914}"/>
              </a:ext>
            </a:extLst>
          </p:cNvPr>
          <p:cNvSpPr/>
          <p:nvPr/>
        </p:nvSpPr>
        <p:spPr>
          <a:xfrm>
            <a:off x="3172062" y="3326820"/>
            <a:ext cx="3337126" cy="2461248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77204927">
                  <a:custGeom>
                    <a:avLst/>
                    <a:gdLst>
                      <a:gd name="connsiteX0" fmla="*/ 0 w 3749972"/>
                      <a:gd name="connsiteY0" fmla="*/ 436444 h 2618614"/>
                      <a:gd name="connsiteX1" fmla="*/ 436444 w 3749972"/>
                      <a:gd name="connsiteY1" fmla="*/ 0 h 2618614"/>
                      <a:gd name="connsiteX2" fmla="*/ 954319 w 3749972"/>
                      <a:gd name="connsiteY2" fmla="*/ 0 h 2618614"/>
                      <a:gd name="connsiteX3" fmla="*/ 1500965 w 3749972"/>
                      <a:gd name="connsiteY3" fmla="*/ 0 h 2618614"/>
                      <a:gd name="connsiteX4" fmla="*/ 2076382 w 3749972"/>
                      <a:gd name="connsiteY4" fmla="*/ 0 h 2618614"/>
                      <a:gd name="connsiteX5" fmla="*/ 2623028 w 3749972"/>
                      <a:gd name="connsiteY5" fmla="*/ 0 h 2618614"/>
                      <a:gd name="connsiteX6" fmla="*/ 3313528 w 3749972"/>
                      <a:gd name="connsiteY6" fmla="*/ 0 h 2618614"/>
                      <a:gd name="connsiteX7" fmla="*/ 3749972 w 3749972"/>
                      <a:gd name="connsiteY7" fmla="*/ 436444 h 2618614"/>
                      <a:gd name="connsiteX8" fmla="*/ 3749972 w 3749972"/>
                      <a:gd name="connsiteY8" fmla="*/ 1018353 h 2618614"/>
                      <a:gd name="connsiteX9" fmla="*/ 3749972 w 3749972"/>
                      <a:gd name="connsiteY9" fmla="*/ 1600261 h 2618614"/>
                      <a:gd name="connsiteX10" fmla="*/ 3749972 w 3749972"/>
                      <a:gd name="connsiteY10" fmla="*/ 2182170 h 2618614"/>
                      <a:gd name="connsiteX11" fmla="*/ 3313528 w 3749972"/>
                      <a:gd name="connsiteY11" fmla="*/ 2618614 h 2618614"/>
                      <a:gd name="connsiteX12" fmla="*/ 2738111 w 3749972"/>
                      <a:gd name="connsiteY12" fmla="*/ 2618614 h 2618614"/>
                      <a:gd name="connsiteX13" fmla="*/ 2133924 w 3749972"/>
                      <a:gd name="connsiteY13" fmla="*/ 2618614 h 2618614"/>
                      <a:gd name="connsiteX14" fmla="*/ 1500965 w 3749972"/>
                      <a:gd name="connsiteY14" fmla="*/ 2618614 h 2618614"/>
                      <a:gd name="connsiteX15" fmla="*/ 436444 w 3749972"/>
                      <a:gd name="connsiteY15" fmla="*/ 2618614 h 2618614"/>
                      <a:gd name="connsiteX16" fmla="*/ 0 w 3749972"/>
                      <a:gd name="connsiteY16" fmla="*/ 2182170 h 2618614"/>
                      <a:gd name="connsiteX17" fmla="*/ 0 w 3749972"/>
                      <a:gd name="connsiteY17" fmla="*/ 1635176 h 2618614"/>
                      <a:gd name="connsiteX18" fmla="*/ 0 w 3749972"/>
                      <a:gd name="connsiteY18" fmla="*/ 1105639 h 2618614"/>
                      <a:gd name="connsiteX19" fmla="*/ 0 w 3749972"/>
                      <a:gd name="connsiteY19" fmla="*/ 436444 h 26186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</a:cxnLst>
                    <a:rect l="l" t="t" r="r" b="b"/>
                    <a:pathLst>
                      <a:path w="3749972" h="2618614" extrusionOk="0">
                        <a:moveTo>
                          <a:pt x="0" y="436444"/>
                        </a:moveTo>
                        <a:cubicBezTo>
                          <a:pt x="17121" y="208685"/>
                          <a:pt x="166282" y="-5838"/>
                          <a:pt x="436444" y="0"/>
                        </a:cubicBezTo>
                        <a:cubicBezTo>
                          <a:pt x="619619" y="-15630"/>
                          <a:pt x="840292" y="13945"/>
                          <a:pt x="954319" y="0"/>
                        </a:cubicBezTo>
                        <a:cubicBezTo>
                          <a:pt x="1068347" y="-13945"/>
                          <a:pt x="1266404" y="-13102"/>
                          <a:pt x="1500965" y="0"/>
                        </a:cubicBezTo>
                        <a:cubicBezTo>
                          <a:pt x="1735526" y="13102"/>
                          <a:pt x="1822721" y="-4249"/>
                          <a:pt x="2076382" y="0"/>
                        </a:cubicBezTo>
                        <a:cubicBezTo>
                          <a:pt x="2330043" y="4249"/>
                          <a:pt x="2387230" y="-16075"/>
                          <a:pt x="2623028" y="0"/>
                        </a:cubicBezTo>
                        <a:cubicBezTo>
                          <a:pt x="2858826" y="16075"/>
                          <a:pt x="3071371" y="-17961"/>
                          <a:pt x="3313528" y="0"/>
                        </a:cubicBezTo>
                        <a:cubicBezTo>
                          <a:pt x="3541265" y="-11927"/>
                          <a:pt x="3781639" y="211914"/>
                          <a:pt x="3749972" y="436444"/>
                        </a:cubicBezTo>
                        <a:cubicBezTo>
                          <a:pt x="3735724" y="555682"/>
                          <a:pt x="3771053" y="844441"/>
                          <a:pt x="3749972" y="1018353"/>
                        </a:cubicBezTo>
                        <a:cubicBezTo>
                          <a:pt x="3728891" y="1192265"/>
                          <a:pt x="3721960" y="1455765"/>
                          <a:pt x="3749972" y="1600261"/>
                        </a:cubicBezTo>
                        <a:cubicBezTo>
                          <a:pt x="3777984" y="1744757"/>
                          <a:pt x="3737762" y="2030445"/>
                          <a:pt x="3749972" y="2182170"/>
                        </a:cubicBezTo>
                        <a:cubicBezTo>
                          <a:pt x="3776331" y="2394891"/>
                          <a:pt x="3565858" y="2652746"/>
                          <a:pt x="3313528" y="2618614"/>
                        </a:cubicBezTo>
                        <a:cubicBezTo>
                          <a:pt x="3033209" y="2614172"/>
                          <a:pt x="2859258" y="2639984"/>
                          <a:pt x="2738111" y="2618614"/>
                        </a:cubicBezTo>
                        <a:cubicBezTo>
                          <a:pt x="2616964" y="2597244"/>
                          <a:pt x="2333143" y="2590120"/>
                          <a:pt x="2133924" y="2618614"/>
                        </a:cubicBezTo>
                        <a:cubicBezTo>
                          <a:pt x="1934705" y="2647108"/>
                          <a:pt x="1814104" y="2628389"/>
                          <a:pt x="1500965" y="2618614"/>
                        </a:cubicBezTo>
                        <a:cubicBezTo>
                          <a:pt x="1187826" y="2608839"/>
                          <a:pt x="715736" y="2572206"/>
                          <a:pt x="436444" y="2618614"/>
                        </a:cubicBezTo>
                        <a:cubicBezTo>
                          <a:pt x="198393" y="2602242"/>
                          <a:pt x="22784" y="2380422"/>
                          <a:pt x="0" y="2182170"/>
                        </a:cubicBezTo>
                        <a:cubicBezTo>
                          <a:pt x="26751" y="1997812"/>
                          <a:pt x="24217" y="1790289"/>
                          <a:pt x="0" y="1635176"/>
                        </a:cubicBezTo>
                        <a:cubicBezTo>
                          <a:pt x="-24217" y="1480063"/>
                          <a:pt x="6787" y="1325067"/>
                          <a:pt x="0" y="1105639"/>
                        </a:cubicBezTo>
                        <a:cubicBezTo>
                          <a:pt x="-6787" y="886211"/>
                          <a:pt x="25235" y="655403"/>
                          <a:pt x="0" y="43644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t"/>
          <a:lstStyle/>
          <a:p>
            <a:r>
              <a:rPr lang="cs-CZ" sz="1600" b="1" i="1" dirty="0">
                <a:solidFill>
                  <a:schemeClr val="tx1"/>
                </a:solidFill>
              </a:rPr>
              <a:t>          </a:t>
            </a:r>
          </a:p>
        </p:txBody>
      </p:sp>
      <p:grpSp>
        <p:nvGrpSpPr>
          <p:cNvPr id="77" name="Skupina 76">
            <a:extLst>
              <a:ext uri="{FF2B5EF4-FFF2-40B4-BE49-F238E27FC236}">
                <a16:creationId xmlns:a16="http://schemas.microsoft.com/office/drawing/2014/main" id="{A096A277-9E0A-DAE1-D6F7-E07CF67830E2}"/>
              </a:ext>
            </a:extLst>
          </p:cNvPr>
          <p:cNvGrpSpPr/>
          <p:nvPr/>
        </p:nvGrpSpPr>
        <p:grpSpPr>
          <a:xfrm>
            <a:off x="1628459" y="1673558"/>
            <a:ext cx="604653" cy="995695"/>
            <a:chOff x="3794410" y="961252"/>
            <a:chExt cx="604653" cy="995695"/>
          </a:xfrm>
        </p:grpSpPr>
        <p:sp>
          <p:nvSpPr>
            <p:cNvPr id="78" name="TextovéPole 77">
              <a:extLst>
                <a:ext uri="{FF2B5EF4-FFF2-40B4-BE49-F238E27FC236}">
                  <a16:creationId xmlns:a16="http://schemas.microsoft.com/office/drawing/2014/main" id="{7772FF07-4B63-7FDF-3D12-9054A24C2941}"/>
                </a:ext>
              </a:extLst>
            </p:cNvPr>
            <p:cNvSpPr txBox="1"/>
            <p:nvPr/>
          </p:nvSpPr>
          <p:spPr>
            <a:xfrm>
              <a:off x="3794410" y="1402949"/>
              <a:ext cx="604653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cs-CZ" sz="1000" b="1" dirty="0">
                  <a:solidFill>
                    <a:schemeClr val="accent6">
                      <a:lumMod val="50000"/>
                    </a:schemeClr>
                  </a:solidFill>
                </a:rPr>
                <a:t>Identita</a:t>
              </a:r>
              <a:br>
                <a:rPr lang="cs-CZ" sz="1000" b="1" dirty="0">
                  <a:solidFill>
                    <a:schemeClr val="accent6">
                      <a:lumMod val="50000"/>
                    </a:schemeClr>
                  </a:solidFill>
                </a:rPr>
              </a:br>
              <a:r>
                <a:rPr lang="cs-CZ" sz="1000" b="1" dirty="0">
                  <a:solidFill>
                    <a:schemeClr val="accent6">
                      <a:lumMod val="50000"/>
                    </a:schemeClr>
                  </a:solidFill>
                </a:rPr>
                <a:t>občana </a:t>
              </a:r>
              <a:br>
                <a:rPr lang="cs-CZ" sz="1000" b="1" dirty="0">
                  <a:solidFill>
                    <a:schemeClr val="accent6">
                      <a:lumMod val="50000"/>
                    </a:schemeClr>
                  </a:solidFill>
                </a:rPr>
              </a:br>
              <a:r>
                <a:rPr lang="cs-CZ" sz="1000" b="1" dirty="0">
                  <a:solidFill>
                    <a:schemeClr val="accent6">
                      <a:lumMod val="50000"/>
                    </a:schemeClr>
                  </a:solidFill>
                </a:rPr>
                <a:t>(NIA)</a:t>
              </a:r>
            </a:p>
          </p:txBody>
        </p:sp>
        <p:pic>
          <p:nvPicPr>
            <p:cNvPr id="83" name="Picture 11" descr="Identita občana &#10;Využijte bankovní ider ">
              <a:extLst>
                <a:ext uri="{FF2B5EF4-FFF2-40B4-BE49-F238E27FC236}">
                  <a16:creationId xmlns:a16="http://schemas.microsoft.com/office/drawing/2014/main" id="{BAF8C5DC-E913-8F16-D5E3-5A6A7129E8C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4750"/>
            <a:stretch/>
          </p:blipFill>
          <p:spPr bwMode="auto">
            <a:xfrm>
              <a:off x="3863096" y="961252"/>
              <a:ext cx="503041" cy="5197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4" name="Volný tvar: obrazec 83">
            <a:extLst>
              <a:ext uri="{FF2B5EF4-FFF2-40B4-BE49-F238E27FC236}">
                <a16:creationId xmlns:a16="http://schemas.microsoft.com/office/drawing/2014/main" id="{BD33EA24-6E6F-E76B-3DCF-72B68B38FDE2}"/>
              </a:ext>
            </a:extLst>
          </p:cNvPr>
          <p:cNvSpPr/>
          <p:nvPr/>
        </p:nvSpPr>
        <p:spPr>
          <a:xfrm>
            <a:off x="1899739" y="1673554"/>
            <a:ext cx="1740573" cy="1517344"/>
          </a:xfrm>
          <a:custGeom>
            <a:avLst/>
            <a:gdLst>
              <a:gd name="connsiteX0" fmla="*/ 193042 w 1711522"/>
              <a:gd name="connsiteY0" fmla="*/ 0 h 1612100"/>
              <a:gd name="connsiteX1" fmla="*/ 78742 w 1711522"/>
              <a:gd name="connsiteY1" fmla="*/ 550333 h 1612100"/>
              <a:gd name="connsiteX2" fmla="*/ 1225976 w 1711522"/>
              <a:gd name="connsiteY2" fmla="*/ 1380067 h 1612100"/>
              <a:gd name="connsiteX3" fmla="*/ 1662009 w 1711522"/>
              <a:gd name="connsiteY3" fmla="*/ 1591733 h 1612100"/>
              <a:gd name="connsiteX4" fmla="*/ 1683176 w 1711522"/>
              <a:gd name="connsiteY4" fmla="*/ 1591733 h 1612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11522" h="1612100">
                <a:moveTo>
                  <a:pt x="193042" y="0"/>
                </a:moveTo>
                <a:cubicBezTo>
                  <a:pt x="49814" y="160161"/>
                  <a:pt x="-93414" y="320322"/>
                  <a:pt x="78742" y="550333"/>
                </a:cubicBezTo>
                <a:cubicBezTo>
                  <a:pt x="250898" y="780344"/>
                  <a:pt x="962098" y="1206500"/>
                  <a:pt x="1225976" y="1380067"/>
                </a:cubicBezTo>
                <a:cubicBezTo>
                  <a:pt x="1489854" y="1553634"/>
                  <a:pt x="1585809" y="1556455"/>
                  <a:pt x="1662009" y="1591733"/>
                </a:cubicBezTo>
                <a:cubicBezTo>
                  <a:pt x="1738209" y="1627011"/>
                  <a:pt x="1710692" y="1609372"/>
                  <a:pt x="1683176" y="1591733"/>
                </a:cubicBezTo>
              </a:path>
            </a:pathLst>
          </a:custGeom>
          <a:ln w="15875">
            <a:solidFill>
              <a:schemeClr val="accent6">
                <a:lumMod val="60000"/>
                <a:lumOff val="4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6" name="Volný tvar: obrazec 85">
            <a:extLst>
              <a:ext uri="{FF2B5EF4-FFF2-40B4-BE49-F238E27FC236}">
                <a16:creationId xmlns:a16="http://schemas.microsoft.com/office/drawing/2014/main" id="{B7CD1C44-470F-6B0D-0B31-38483C608A19}"/>
              </a:ext>
            </a:extLst>
          </p:cNvPr>
          <p:cNvSpPr/>
          <p:nvPr/>
        </p:nvSpPr>
        <p:spPr>
          <a:xfrm>
            <a:off x="2499186" y="1805094"/>
            <a:ext cx="1145091" cy="1233804"/>
          </a:xfrm>
          <a:custGeom>
            <a:avLst/>
            <a:gdLst>
              <a:gd name="connsiteX0" fmla="*/ 0 w 1109133"/>
              <a:gd name="connsiteY0" fmla="*/ 0 h 1248834"/>
              <a:gd name="connsiteX1" fmla="*/ 169333 w 1109133"/>
              <a:gd name="connsiteY1" fmla="*/ 283634 h 1248834"/>
              <a:gd name="connsiteX2" fmla="*/ 584200 w 1109133"/>
              <a:gd name="connsiteY2" fmla="*/ 529167 h 1248834"/>
              <a:gd name="connsiteX3" fmla="*/ 893233 w 1109133"/>
              <a:gd name="connsiteY3" fmla="*/ 859367 h 1248834"/>
              <a:gd name="connsiteX4" fmla="*/ 1109133 w 1109133"/>
              <a:gd name="connsiteY4" fmla="*/ 1248834 h 124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9133" h="1248834">
                <a:moveTo>
                  <a:pt x="0" y="0"/>
                </a:moveTo>
                <a:cubicBezTo>
                  <a:pt x="35983" y="97720"/>
                  <a:pt x="71967" y="195440"/>
                  <a:pt x="169333" y="283634"/>
                </a:cubicBezTo>
                <a:cubicBezTo>
                  <a:pt x="266699" y="371828"/>
                  <a:pt x="463550" y="433212"/>
                  <a:pt x="584200" y="529167"/>
                </a:cubicBezTo>
                <a:cubicBezTo>
                  <a:pt x="704850" y="625123"/>
                  <a:pt x="805744" y="739423"/>
                  <a:pt x="893233" y="859367"/>
                </a:cubicBezTo>
                <a:cubicBezTo>
                  <a:pt x="980722" y="979312"/>
                  <a:pt x="1044927" y="1114073"/>
                  <a:pt x="1109133" y="1248834"/>
                </a:cubicBezTo>
              </a:path>
            </a:pathLst>
          </a:custGeom>
          <a:ln w="15875">
            <a:solidFill>
              <a:schemeClr val="accent6">
                <a:lumMod val="60000"/>
                <a:lumOff val="4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8" name="Volný tvar: obrazec 87">
            <a:extLst>
              <a:ext uri="{FF2B5EF4-FFF2-40B4-BE49-F238E27FC236}">
                <a16:creationId xmlns:a16="http://schemas.microsoft.com/office/drawing/2014/main" id="{57014100-CFE2-A102-3F11-B83AD67BCF86}"/>
              </a:ext>
            </a:extLst>
          </p:cNvPr>
          <p:cNvSpPr/>
          <p:nvPr/>
        </p:nvSpPr>
        <p:spPr>
          <a:xfrm>
            <a:off x="2440103" y="1781616"/>
            <a:ext cx="591630" cy="1137636"/>
          </a:xfrm>
          <a:custGeom>
            <a:avLst/>
            <a:gdLst>
              <a:gd name="connsiteX0" fmla="*/ 0 w 529167"/>
              <a:gd name="connsiteY0" fmla="*/ 0 h 1202267"/>
              <a:gd name="connsiteX1" fmla="*/ 25400 w 529167"/>
              <a:gd name="connsiteY1" fmla="*/ 228600 h 1202267"/>
              <a:gd name="connsiteX2" fmla="*/ 93133 w 529167"/>
              <a:gd name="connsiteY2" fmla="*/ 436034 h 1202267"/>
              <a:gd name="connsiteX3" fmla="*/ 258233 w 529167"/>
              <a:gd name="connsiteY3" fmla="*/ 897467 h 1202267"/>
              <a:gd name="connsiteX4" fmla="*/ 529167 w 529167"/>
              <a:gd name="connsiteY4" fmla="*/ 1202267 h 1202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167" h="1202267">
                <a:moveTo>
                  <a:pt x="0" y="0"/>
                </a:moveTo>
                <a:cubicBezTo>
                  <a:pt x="4939" y="77964"/>
                  <a:pt x="9878" y="155928"/>
                  <a:pt x="25400" y="228600"/>
                </a:cubicBezTo>
                <a:cubicBezTo>
                  <a:pt x="40922" y="301272"/>
                  <a:pt x="54328" y="324556"/>
                  <a:pt x="93133" y="436034"/>
                </a:cubicBezTo>
                <a:cubicBezTo>
                  <a:pt x="131938" y="547512"/>
                  <a:pt x="185561" y="769762"/>
                  <a:pt x="258233" y="897467"/>
                </a:cubicBezTo>
                <a:cubicBezTo>
                  <a:pt x="330905" y="1025172"/>
                  <a:pt x="430036" y="1113719"/>
                  <a:pt x="529167" y="1202267"/>
                </a:cubicBezTo>
              </a:path>
            </a:pathLst>
          </a:custGeom>
          <a:ln w="15875">
            <a:solidFill>
              <a:schemeClr val="accent6">
                <a:lumMod val="60000"/>
                <a:lumOff val="4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grpSp>
        <p:nvGrpSpPr>
          <p:cNvPr id="92" name="Skupina 91">
            <a:extLst>
              <a:ext uri="{FF2B5EF4-FFF2-40B4-BE49-F238E27FC236}">
                <a16:creationId xmlns:a16="http://schemas.microsoft.com/office/drawing/2014/main" id="{4387ED63-D522-471C-7D49-7DFEBD125577}"/>
              </a:ext>
            </a:extLst>
          </p:cNvPr>
          <p:cNvGrpSpPr/>
          <p:nvPr/>
        </p:nvGrpSpPr>
        <p:grpSpPr>
          <a:xfrm>
            <a:off x="2233589" y="1806460"/>
            <a:ext cx="657551" cy="690666"/>
            <a:chOff x="4674711" y="1094158"/>
            <a:chExt cx="657551" cy="690666"/>
          </a:xfrm>
        </p:grpSpPr>
        <p:sp>
          <p:nvSpPr>
            <p:cNvPr id="97" name="TextovéPole 96">
              <a:extLst>
                <a:ext uri="{FF2B5EF4-FFF2-40B4-BE49-F238E27FC236}">
                  <a16:creationId xmlns:a16="http://schemas.microsoft.com/office/drawing/2014/main" id="{33DE9B6B-B9A3-008F-ECCE-22DA4EEAE373}"/>
                </a:ext>
              </a:extLst>
            </p:cNvPr>
            <p:cNvSpPr txBox="1"/>
            <p:nvPr/>
          </p:nvSpPr>
          <p:spPr>
            <a:xfrm>
              <a:off x="4674711" y="1384714"/>
              <a:ext cx="65755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cs-CZ" sz="1000" b="1" dirty="0">
                  <a:solidFill>
                    <a:schemeClr val="accent6">
                      <a:lumMod val="50000"/>
                    </a:schemeClr>
                  </a:solidFill>
                </a:rPr>
                <a:t>Datová </a:t>
              </a:r>
              <a:br>
                <a:rPr lang="cs-CZ" sz="1000" b="1" dirty="0">
                  <a:solidFill>
                    <a:schemeClr val="accent6">
                      <a:lumMod val="50000"/>
                    </a:schemeClr>
                  </a:solidFill>
                </a:rPr>
              </a:br>
              <a:r>
                <a:rPr lang="cs-CZ" sz="1000" b="1" dirty="0">
                  <a:solidFill>
                    <a:schemeClr val="accent6">
                      <a:lumMod val="50000"/>
                    </a:schemeClr>
                  </a:solidFill>
                </a:rPr>
                <a:t>schránka</a:t>
              </a:r>
            </a:p>
          </p:txBody>
        </p:sp>
        <p:pic>
          <p:nvPicPr>
            <p:cNvPr id="98" name="Picture 12" descr="Datová schránka &#10;Využijte přihlašovací údi ">
              <a:extLst>
                <a:ext uri="{FF2B5EF4-FFF2-40B4-BE49-F238E27FC236}">
                  <a16:creationId xmlns:a16="http://schemas.microsoft.com/office/drawing/2014/main" id="{7E47B9B6-B427-80A1-A97B-DF4E4947562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3922" b="11837"/>
            <a:stretch/>
          </p:blipFill>
          <p:spPr bwMode="auto">
            <a:xfrm>
              <a:off x="4776238" y="1094158"/>
              <a:ext cx="479209" cy="3476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0" name="Volný tvar: obrazec 99">
            <a:extLst>
              <a:ext uri="{FF2B5EF4-FFF2-40B4-BE49-F238E27FC236}">
                <a16:creationId xmlns:a16="http://schemas.microsoft.com/office/drawing/2014/main" id="{0B05AF59-5D92-EF7E-E9FD-3778C563FF6F}"/>
              </a:ext>
            </a:extLst>
          </p:cNvPr>
          <p:cNvSpPr/>
          <p:nvPr/>
        </p:nvSpPr>
        <p:spPr>
          <a:xfrm>
            <a:off x="3568346" y="1838370"/>
            <a:ext cx="329591" cy="1153406"/>
          </a:xfrm>
          <a:custGeom>
            <a:avLst/>
            <a:gdLst>
              <a:gd name="connsiteX0" fmla="*/ 56903 w 310345"/>
              <a:gd name="connsiteY0" fmla="*/ 0 h 1126066"/>
              <a:gd name="connsiteX1" fmla="*/ 14569 w 310345"/>
              <a:gd name="connsiteY1" fmla="*/ 368300 h 1126066"/>
              <a:gd name="connsiteX2" fmla="*/ 277036 w 310345"/>
              <a:gd name="connsiteY2" fmla="*/ 804333 h 1126066"/>
              <a:gd name="connsiteX3" fmla="*/ 298203 w 310345"/>
              <a:gd name="connsiteY3" fmla="*/ 1126066 h 1126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0345" h="1126066">
                <a:moveTo>
                  <a:pt x="56903" y="0"/>
                </a:moveTo>
                <a:cubicBezTo>
                  <a:pt x="17391" y="117122"/>
                  <a:pt x="-22120" y="234245"/>
                  <a:pt x="14569" y="368300"/>
                </a:cubicBezTo>
                <a:cubicBezTo>
                  <a:pt x="51258" y="502355"/>
                  <a:pt x="229764" y="678039"/>
                  <a:pt x="277036" y="804333"/>
                </a:cubicBezTo>
                <a:cubicBezTo>
                  <a:pt x="324308" y="930627"/>
                  <a:pt x="311255" y="1028346"/>
                  <a:pt x="298203" y="1126066"/>
                </a:cubicBezTo>
              </a:path>
            </a:pathLst>
          </a:custGeom>
          <a:ln w="15875">
            <a:solidFill>
              <a:schemeClr val="accent6">
                <a:lumMod val="60000"/>
                <a:lumOff val="4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2" name="Volný tvar: obrazec 101">
            <a:extLst>
              <a:ext uri="{FF2B5EF4-FFF2-40B4-BE49-F238E27FC236}">
                <a16:creationId xmlns:a16="http://schemas.microsoft.com/office/drawing/2014/main" id="{C4DF9332-D223-2D9A-8B9C-942D38DB5F93}"/>
              </a:ext>
            </a:extLst>
          </p:cNvPr>
          <p:cNvSpPr/>
          <p:nvPr/>
        </p:nvSpPr>
        <p:spPr>
          <a:xfrm>
            <a:off x="4200980" y="1859534"/>
            <a:ext cx="1455561" cy="1172672"/>
          </a:xfrm>
          <a:custGeom>
            <a:avLst/>
            <a:gdLst>
              <a:gd name="connsiteX0" fmla="*/ 1244600 w 1455561"/>
              <a:gd name="connsiteY0" fmla="*/ 0 h 1198033"/>
              <a:gd name="connsiteX1" fmla="*/ 1452034 w 1455561"/>
              <a:gd name="connsiteY1" fmla="*/ 279400 h 1198033"/>
              <a:gd name="connsiteX2" fmla="*/ 1337734 w 1455561"/>
              <a:gd name="connsiteY2" fmla="*/ 613833 h 1198033"/>
              <a:gd name="connsiteX3" fmla="*/ 884767 w 1455561"/>
              <a:gd name="connsiteY3" fmla="*/ 999067 h 1198033"/>
              <a:gd name="connsiteX4" fmla="*/ 270934 w 1455561"/>
              <a:gd name="connsiteY4" fmla="*/ 1079500 h 1198033"/>
              <a:gd name="connsiteX5" fmla="*/ 0 w 1455561"/>
              <a:gd name="connsiteY5" fmla="*/ 1198033 h 1198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61" h="1198033">
                <a:moveTo>
                  <a:pt x="1244600" y="0"/>
                </a:moveTo>
                <a:cubicBezTo>
                  <a:pt x="1340556" y="88547"/>
                  <a:pt x="1436512" y="177095"/>
                  <a:pt x="1452034" y="279400"/>
                </a:cubicBezTo>
                <a:cubicBezTo>
                  <a:pt x="1467556" y="381705"/>
                  <a:pt x="1432278" y="493889"/>
                  <a:pt x="1337734" y="613833"/>
                </a:cubicBezTo>
                <a:cubicBezTo>
                  <a:pt x="1243190" y="733777"/>
                  <a:pt x="1062567" y="921456"/>
                  <a:pt x="884767" y="999067"/>
                </a:cubicBezTo>
                <a:cubicBezTo>
                  <a:pt x="706967" y="1076678"/>
                  <a:pt x="418395" y="1046339"/>
                  <a:pt x="270934" y="1079500"/>
                </a:cubicBezTo>
                <a:cubicBezTo>
                  <a:pt x="123473" y="1112661"/>
                  <a:pt x="61736" y="1155347"/>
                  <a:pt x="0" y="1198033"/>
                </a:cubicBezTo>
              </a:path>
            </a:pathLst>
          </a:custGeom>
          <a:ln w="15875">
            <a:solidFill>
              <a:srgbClr val="97DBFB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3" name="Volný tvar: obrazec 102">
            <a:extLst>
              <a:ext uri="{FF2B5EF4-FFF2-40B4-BE49-F238E27FC236}">
                <a16:creationId xmlns:a16="http://schemas.microsoft.com/office/drawing/2014/main" id="{6169431A-44F5-D182-217C-913639B33B09}"/>
              </a:ext>
            </a:extLst>
          </p:cNvPr>
          <p:cNvSpPr/>
          <p:nvPr/>
        </p:nvSpPr>
        <p:spPr>
          <a:xfrm>
            <a:off x="4270705" y="2462272"/>
            <a:ext cx="1779292" cy="688707"/>
          </a:xfrm>
          <a:custGeom>
            <a:avLst/>
            <a:gdLst>
              <a:gd name="connsiteX0" fmla="*/ 1409700 w 1830106"/>
              <a:gd name="connsiteY0" fmla="*/ 0 h 1178092"/>
              <a:gd name="connsiteX1" fmla="*/ 1790700 w 1830106"/>
              <a:gd name="connsiteY1" fmla="*/ 579967 h 1178092"/>
              <a:gd name="connsiteX2" fmla="*/ 1786466 w 1830106"/>
              <a:gd name="connsiteY2" fmla="*/ 1011767 h 1178092"/>
              <a:gd name="connsiteX3" fmla="*/ 1511300 w 1830106"/>
              <a:gd name="connsiteY3" fmla="*/ 1176867 h 1178092"/>
              <a:gd name="connsiteX4" fmla="*/ 1007533 w 1830106"/>
              <a:gd name="connsiteY4" fmla="*/ 939800 h 1178092"/>
              <a:gd name="connsiteX5" fmla="*/ 613833 w 1830106"/>
              <a:gd name="connsiteY5" fmla="*/ 787400 h 1178092"/>
              <a:gd name="connsiteX6" fmla="*/ 283633 w 1830106"/>
              <a:gd name="connsiteY6" fmla="*/ 757767 h 1178092"/>
              <a:gd name="connsiteX7" fmla="*/ 0 w 1830106"/>
              <a:gd name="connsiteY7" fmla="*/ 880533 h 1178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30106" h="1178092">
                <a:moveTo>
                  <a:pt x="1409700" y="0"/>
                </a:moveTo>
                <a:cubicBezTo>
                  <a:pt x="1568803" y="205669"/>
                  <a:pt x="1727906" y="411339"/>
                  <a:pt x="1790700" y="579967"/>
                </a:cubicBezTo>
                <a:cubicBezTo>
                  <a:pt x="1853494" y="748595"/>
                  <a:pt x="1833033" y="912284"/>
                  <a:pt x="1786466" y="1011767"/>
                </a:cubicBezTo>
                <a:cubicBezTo>
                  <a:pt x="1739899" y="1111250"/>
                  <a:pt x="1641122" y="1188862"/>
                  <a:pt x="1511300" y="1176867"/>
                </a:cubicBezTo>
                <a:cubicBezTo>
                  <a:pt x="1381478" y="1164873"/>
                  <a:pt x="1157111" y="1004711"/>
                  <a:pt x="1007533" y="939800"/>
                </a:cubicBezTo>
                <a:cubicBezTo>
                  <a:pt x="857955" y="874889"/>
                  <a:pt x="734483" y="817739"/>
                  <a:pt x="613833" y="787400"/>
                </a:cubicBezTo>
                <a:cubicBezTo>
                  <a:pt x="493183" y="757061"/>
                  <a:pt x="385938" y="742245"/>
                  <a:pt x="283633" y="757767"/>
                </a:cubicBezTo>
                <a:cubicBezTo>
                  <a:pt x="181328" y="773289"/>
                  <a:pt x="90664" y="826911"/>
                  <a:pt x="0" y="880533"/>
                </a:cubicBezTo>
              </a:path>
            </a:pathLst>
          </a:custGeom>
          <a:ln w="15875">
            <a:solidFill>
              <a:schemeClr val="accent6">
                <a:lumMod val="60000"/>
                <a:lumOff val="4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4" name="Obdélník 103">
            <a:extLst>
              <a:ext uri="{FF2B5EF4-FFF2-40B4-BE49-F238E27FC236}">
                <a16:creationId xmlns:a16="http://schemas.microsoft.com/office/drawing/2014/main" id="{1DFAFD01-496B-398E-DD8F-C5125B65836A}"/>
              </a:ext>
            </a:extLst>
          </p:cNvPr>
          <p:cNvSpPr/>
          <p:nvPr/>
        </p:nvSpPr>
        <p:spPr>
          <a:xfrm>
            <a:off x="2587017" y="3088702"/>
            <a:ext cx="816086" cy="393986"/>
          </a:xfrm>
          <a:prstGeom prst="rect">
            <a:avLst/>
          </a:prstGeom>
          <a:solidFill>
            <a:srgbClr val="2362A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cs-CZ" sz="1500" dirty="0">
                <a:latin typeface="+mj-lt"/>
              </a:rPr>
              <a:t>Portál</a:t>
            </a:r>
          </a:p>
          <a:p>
            <a:pPr algn="r"/>
            <a:r>
              <a:rPr lang="cs-CZ" sz="1400" dirty="0">
                <a:solidFill>
                  <a:srgbClr val="FFFFFF"/>
                </a:solidFill>
                <a:latin typeface="+mj-lt"/>
              </a:rPr>
              <a:t>OVS</a:t>
            </a:r>
          </a:p>
        </p:txBody>
      </p:sp>
      <p:pic>
        <p:nvPicPr>
          <p:cNvPr id="105" name="Picture 10" descr="Portál &#10;občana ">
            <a:extLst>
              <a:ext uri="{FF2B5EF4-FFF2-40B4-BE49-F238E27FC236}">
                <a16:creationId xmlns:a16="http://schemas.microsoft.com/office/drawing/2014/main" id="{58507FDD-A3E0-3EFF-AD34-3199C593FC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895" y="2863789"/>
            <a:ext cx="1032763" cy="40894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" name="Volný tvar: obrazec 105">
            <a:extLst>
              <a:ext uri="{FF2B5EF4-FFF2-40B4-BE49-F238E27FC236}">
                <a16:creationId xmlns:a16="http://schemas.microsoft.com/office/drawing/2014/main" id="{992DFAD6-3351-D7C0-9B41-FB5CA74E2E05}"/>
              </a:ext>
            </a:extLst>
          </p:cNvPr>
          <p:cNvSpPr/>
          <p:nvPr/>
        </p:nvSpPr>
        <p:spPr>
          <a:xfrm>
            <a:off x="3982954" y="1959915"/>
            <a:ext cx="502564" cy="1047397"/>
          </a:xfrm>
          <a:custGeom>
            <a:avLst/>
            <a:gdLst>
              <a:gd name="connsiteX0" fmla="*/ 232717 w 436823"/>
              <a:gd name="connsiteY0" fmla="*/ 0 h 969466"/>
              <a:gd name="connsiteX1" fmla="*/ 431683 w 436823"/>
              <a:gd name="connsiteY1" fmla="*/ 241300 h 969466"/>
              <a:gd name="connsiteX2" fmla="*/ 46450 w 436823"/>
              <a:gd name="connsiteY2" fmla="*/ 867833 h 969466"/>
              <a:gd name="connsiteX3" fmla="*/ 21050 w 436823"/>
              <a:gd name="connsiteY3" fmla="*/ 960966 h 969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6823" h="969466">
                <a:moveTo>
                  <a:pt x="232717" y="0"/>
                </a:moveTo>
                <a:cubicBezTo>
                  <a:pt x="347722" y="48330"/>
                  <a:pt x="462727" y="96661"/>
                  <a:pt x="431683" y="241300"/>
                </a:cubicBezTo>
                <a:cubicBezTo>
                  <a:pt x="400639" y="385939"/>
                  <a:pt x="114889" y="747889"/>
                  <a:pt x="46450" y="867833"/>
                </a:cubicBezTo>
                <a:cubicBezTo>
                  <a:pt x="-21989" y="987777"/>
                  <a:pt x="-470" y="974371"/>
                  <a:pt x="21050" y="960966"/>
                </a:cubicBezTo>
              </a:path>
            </a:pathLst>
          </a:custGeom>
          <a:ln w="15875">
            <a:solidFill>
              <a:schemeClr val="accent6">
                <a:lumMod val="60000"/>
                <a:lumOff val="4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7" name="Volný tvar: obrazec 106">
            <a:extLst>
              <a:ext uri="{FF2B5EF4-FFF2-40B4-BE49-F238E27FC236}">
                <a16:creationId xmlns:a16="http://schemas.microsoft.com/office/drawing/2014/main" id="{05326FF8-4C7A-C6D4-4A6E-64EF389AEA93}"/>
              </a:ext>
            </a:extLst>
          </p:cNvPr>
          <p:cNvSpPr/>
          <p:nvPr/>
        </p:nvSpPr>
        <p:spPr>
          <a:xfrm>
            <a:off x="1899739" y="3898939"/>
            <a:ext cx="3133375" cy="463342"/>
          </a:xfrm>
          <a:custGeom>
            <a:avLst/>
            <a:gdLst>
              <a:gd name="connsiteX0" fmla="*/ 3479800 w 3479800"/>
              <a:gd name="connsiteY0" fmla="*/ 369362 h 463342"/>
              <a:gd name="connsiteX1" fmla="*/ 2915920 w 3479800"/>
              <a:gd name="connsiteY1" fmla="*/ 232202 h 463342"/>
              <a:gd name="connsiteX2" fmla="*/ 2169160 w 3479800"/>
              <a:gd name="connsiteY2" fmla="*/ 410002 h 463342"/>
              <a:gd name="connsiteX3" fmla="*/ 1397000 w 3479800"/>
              <a:gd name="connsiteY3" fmla="*/ 211882 h 463342"/>
              <a:gd name="connsiteX4" fmla="*/ 914400 w 3479800"/>
              <a:gd name="connsiteY4" fmla="*/ 3602 h 463342"/>
              <a:gd name="connsiteX5" fmla="*/ 335280 w 3479800"/>
              <a:gd name="connsiteY5" fmla="*/ 394762 h 463342"/>
              <a:gd name="connsiteX6" fmla="*/ 0 w 3479800"/>
              <a:gd name="connsiteY6" fmla="*/ 460802 h 463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79800" h="463342">
                <a:moveTo>
                  <a:pt x="3479800" y="369362"/>
                </a:moveTo>
                <a:cubicBezTo>
                  <a:pt x="3307080" y="297395"/>
                  <a:pt x="3134360" y="225429"/>
                  <a:pt x="2915920" y="232202"/>
                </a:cubicBezTo>
                <a:cubicBezTo>
                  <a:pt x="2697480" y="238975"/>
                  <a:pt x="2422313" y="413389"/>
                  <a:pt x="2169160" y="410002"/>
                </a:cubicBezTo>
                <a:cubicBezTo>
                  <a:pt x="1916007" y="406615"/>
                  <a:pt x="1606127" y="279615"/>
                  <a:pt x="1397000" y="211882"/>
                </a:cubicBezTo>
                <a:cubicBezTo>
                  <a:pt x="1187873" y="144149"/>
                  <a:pt x="1091353" y="-26878"/>
                  <a:pt x="914400" y="3602"/>
                </a:cubicBezTo>
                <a:cubicBezTo>
                  <a:pt x="737447" y="34082"/>
                  <a:pt x="487680" y="318562"/>
                  <a:pt x="335280" y="394762"/>
                </a:cubicBezTo>
                <a:cubicBezTo>
                  <a:pt x="182880" y="470962"/>
                  <a:pt x="91440" y="465882"/>
                  <a:pt x="0" y="460802"/>
                </a:cubicBezTo>
              </a:path>
            </a:pathLst>
          </a:custGeom>
          <a:ln w="15875">
            <a:solidFill>
              <a:srgbClr val="97DBFB"/>
            </a:solidFill>
            <a:prstDash val="sys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108" name="Obrázek 107">
            <a:extLst>
              <a:ext uri="{FF2B5EF4-FFF2-40B4-BE49-F238E27FC236}">
                <a16:creationId xmlns:a16="http://schemas.microsoft.com/office/drawing/2014/main" id="{868DE6E4-B076-2490-37DC-380C1A50DCB7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43277" y="2964995"/>
            <a:ext cx="588343" cy="594881"/>
          </a:xfrm>
          <a:prstGeom prst="rect">
            <a:avLst/>
          </a:prstGeom>
        </p:spPr>
      </p:pic>
      <p:grpSp>
        <p:nvGrpSpPr>
          <p:cNvPr id="109" name="Skupina 108">
            <a:extLst>
              <a:ext uri="{FF2B5EF4-FFF2-40B4-BE49-F238E27FC236}">
                <a16:creationId xmlns:a16="http://schemas.microsoft.com/office/drawing/2014/main" id="{7D2EF822-7C22-2F05-0CFB-836466BE978F}"/>
              </a:ext>
            </a:extLst>
          </p:cNvPr>
          <p:cNvGrpSpPr/>
          <p:nvPr/>
        </p:nvGrpSpPr>
        <p:grpSpPr>
          <a:xfrm>
            <a:off x="4625897" y="2071997"/>
            <a:ext cx="1642122" cy="871545"/>
            <a:chOff x="5539416" y="1485596"/>
            <a:chExt cx="1642122" cy="871545"/>
          </a:xfrm>
        </p:grpSpPr>
        <p:pic>
          <p:nvPicPr>
            <p:cNvPr id="110" name="Obrázek 109">
              <a:extLst>
                <a:ext uri="{FF2B5EF4-FFF2-40B4-BE49-F238E27FC236}">
                  <a16:creationId xmlns:a16="http://schemas.microsoft.com/office/drawing/2014/main" id="{6243A6EC-D833-4FAB-04EF-17E1B36565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flipH="1">
              <a:off x="5763104" y="1485596"/>
              <a:ext cx="1222511" cy="766275"/>
            </a:xfrm>
            <a:prstGeom prst="rect">
              <a:avLst/>
            </a:prstGeom>
            <a:ln>
              <a:noFill/>
            </a:ln>
          </p:spPr>
        </p:pic>
        <p:sp>
          <p:nvSpPr>
            <p:cNvPr id="111" name="TextovéPole 110">
              <a:extLst>
                <a:ext uri="{FF2B5EF4-FFF2-40B4-BE49-F238E27FC236}">
                  <a16:creationId xmlns:a16="http://schemas.microsoft.com/office/drawing/2014/main" id="{549930E5-0791-CAF4-BE80-493866B412F6}"/>
                </a:ext>
              </a:extLst>
            </p:cNvPr>
            <p:cNvSpPr txBox="1"/>
            <p:nvPr/>
          </p:nvSpPr>
          <p:spPr>
            <a:xfrm>
              <a:off x="5539416" y="2110920"/>
              <a:ext cx="1642122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endParaRPr lang="cs-CZ" sz="1000" i="1" dirty="0">
                <a:solidFill>
                  <a:schemeClr val="accent1"/>
                </a:solidFill>
              </a:endParaRPr>
            </a:p>
          </p:txBody>
        </p:sp>
      </p:grpSp>
      <p:pic>
        <p:nvPicPr>
          <p:cNvPr id="112" name="Obrázek 111">
            <a:extLst>
              <a:ext uri="{FF2B5EF4-FFF2-40B4-BE49-F238E27FC236}">
                <a16:creationId xmlns:a16="http://schemas.microsoft.com/office/drawing/2014/main" id="{0018B43D-816E-A5E1-97BB-8058982EDD7C}"/>
              </a:ext>
            </a:extLst>
          </p:cNvPr>
          <p:cNvPicPr>
            <a:picLocks noChangeAspect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445647" y="2081459"/>
            <a:ext cx="936971" cy="434755"/>
          </a:xfrm>
          <a:prstGeom prst="rect">
            <a:avLst/>
          </a:prstGeom>
        </p:spPr>
      </p:pic>
      <p:sp>
        <p:nvSpPr>
          <p:cNvPr id="113" name="Volný tvar: obrazec 112">
            <a:extLst>
              <a:ext uri="{FF2B5EF4-FFF2-40B4-BE49-F238E27FC236}">
                <a16:creationId xmlns:a16="http://schemas.microsoft.com/office/drawing/2014/main" id="{559E42F5-3D40-4FAD-04E9-AA2765C9BC3E}"/>
              </a:ext>
            </a:extLst>
          </p:cNvPr>
          <p:cNvSpPr/>
          <p:nvPr/>
        </p:nvSpPr>
        <p:spPr>
          <a:xfrm>
            <a:off x="2547864" y="1767787"/>
            <a:ext cx="1234805" cy="1229705"/>
          </a:xfrm>
          <a:custGeom>
            <a:avLst/>
            <a:gdLst>
              <a:gd name="connsiteX0" fmla="*/ 0 w 1231900"/>
              <a:gd name="connsiteY0" fmla="*/ 0 h 1219200"/>
              <a:gd name="connsiteX1" fmla="*/ 338666 w 1231900"/>
              <a:gd name="connsiteY1" fmla="*/ 42334 h 1219200"/>
              <a:gd name="connsiteX2" fmla="*/ 541866 w 1231900"/>
              <a:gd name="connsiteY2" fmla="*/ 177800 h 1219200"/>
              <a:gd name="connsiteX3" fmla="*/ 732366 w 1231900"/>
              <a:gd name="connsiteY3" fmla="*/ 381000 h 1219200"/>
              <a:gd name="connsiteX4" fmla="*/ 922866 w 1231900"/>
              <a:gd name="connsiteY4" fmla="*/ 690034 h 1219200"/>
              <a:gd name="connsiteX5" fmla="*/ 1231900 w 1231900"/>
              <a:gd name="connsiteY5" fmla="*/ 1219200 h 121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31900" h="1219200">
                <a:moveTo>
                  <a:pt x="0" y="0"/>
                </a:moveTo>
                <a:cubicBezTo>
                  <a:pt x="124177" y="6350"/>
                  <a:pt x="248355" y="12701"/>
                  <a:pt x="338666" y="42334"/>
                </a:cubicBezTo>
                <a:cubicBezTo>
                  <a:pt x="428977" y="71967"/>
                  <a:pt x="476249" y="121356"/>
                  <a:pt x="541866" y="177800"/>
                </a:cubicBezTo>
                <a:cubicBezTo>
                  <a:pt x="607483" y="234244"/>
                  <a:pt x="668866" y="295628"/>
                  <a:pt x="732366" y="381000"/>
                </a:cubicBezTo>
                <a:cubicBezTo>
                  <a:pt x="795866" y="466372"/>
                  <a:pt x="839610" y="550334"/>
                  <a:pt x="922866" y="690034"/>
                </a:cubicBezTo>
                <a:cubicBezTo>
                  <a:pt x="1006122" y="829734"/>
                  <a:pt x="1119011" y="1024467"/>
                  <a:pt x="1231900" y="1219200"/>
                </a:cubicBezTo>
              </a:path>
            </a:pathLst>
          </a:custGeom>
          <a:ln w="15875">
            <a:solidFill>
              <a:schemeClr val="accent6">
                <a:lumMod val="60000"/>
                <a:lumOff val="4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grpSp>
        <p:nvGrpSpPr>
          <p:cNvPr id="114" name="Skupina 113">
            <a:extLst>
              <a:ext uri="{FF2B5EF4-FFF2-40B4-BE49-F238E27FC236}">
                <a16:creationId xmlns:a16="http://schemas.microsoft.com/office/drawing/2014/main" id="{664E2154-283C-F737-C389-4E2169731DF8}"/>
              </a:ext>
            </a:extLst>
          </p:cNvPr>
          <p:cNvGrpSpPr/>
          <p:nvPr/>
        </p:nvGrpSpPr>
        <p:grpSpPr>
          <a:xfrm>
            <a:off x="3006773" y="1819607"/>
            <a:ext cx="324300" cy="297693"/>
            <a:chOff x="3604279" y="1199052"/>
            <a:chExt cx="324300" cy="297693"/>
          </a:xfrm>
        </p:grpSpPr>
        <p:pic>
          <p:nvPicPr>
            <p:cNvPr id="115" name="Obrázek 114">
              <a:extLst>
                <a:ext uri="{FF2B5EF4-FFF2-40B4-BE49-F238E27FC236}">
                  <a16:creationId xmlns:a16="http://schemas.microsoft.com/office/drawing/2014/main" id="{8F0ABCA4-3097-84EA-5DBB-2D992DADBE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alphaModFix/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brightnessContrast bright="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604279" y="1246470"/>
              <a:ext cx="324300" cy="250275"/>
            </a:xfrm>
            <a:prstGeom prst="rect">
              <a:avLst/>
            </a:prstGeom>
          </p:spPr>
        </p:pic>
        <p:sp>
          <p:nvSpPr>
            <p:cNvPr id="116" name="TextovéPole 115">
              <a:extLst>
                <a:ext uri="{FF2B5EF4-FFF2-40B4-BE49-F238E27FC236}">
                  <a16:creationId xmlns:a16="http://schemas.microsoft.com/office/drawing/2014/main" id="{439E4A2C-66E1-1D0B-8E05-2D1A1285DA2B}"/>
                </a:ext>
              </a:extLst>
            </p:cNvPr>
            <p:cNvSpPr txBox="1"/>
            <p:nvPr/>
          </p:nvSpPr>
          <p:spPr>
            <a:xfrm>
              <a:off x="3624921" y="1199052"/>
              <a:ext cx="264816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700" b="1" dirty="0">
                  <a:solidFill>
                    <a:schemeClr val="accent1"/>
                  </a:solidFill>
                </a:rPr>
                <a:t>@</a:t>
              </a:r>
              <a:endParaRPr lang="cs-CZ" sz="700" b="1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17" name="Volný tvar: obrazec 116">
            <a:extLst>
              <a:ext uri="{FF2B5EF4-FFF2-40B4-BE49-F238E27FC236}">
                <a16:creationId xmlns:a16="http://schemas.microsoft.com/office/drawing/2014/main" id="{C470AD1D-3B11-8459-8AE7-789F65229008}"/>
              </a:ext>
            </a:extLst>
          </p:cNvPr>
          <p:cNvSpPr/>
          <p:nvPr/>
        </p:nvSpPr>
        <p:spPr>
          <a:xfrm>
            <a:off x="4110458" y="1839755"/>
            <a:ext cx="649905" cy="1167557"/>
          </a:xfrm>
          <a:custGeom>
            <a:avLst/>
            <a:gdLst>
              <a:gd name="connsiteX0" fmla="*/ 63500 w 576626"/>
              <a:gd name="connsiteY0" fmla="*/ 0 h 1151467"/>
              <a:gd name="connsiteX1" fmla="*/ 444500 w 576626"/>
              <a:gd name="connsiteY1" fmla="*/ 76200 h 1151467"/>
              <a:gd name="connsiteX2" fmla="*/ 571500 w 576626"/>
              <a:gd name="connsiteY2" fmla="*/ 262467 h 1151467"/>
              <a:gd name="connsiteX3" fmla="*/ 508000 w 576626"/>
              <a:gd name="connsiteY3" fmla="*/ 537633 h 1151467"/>
              <a:gd name="connsiteX4" fmla="*/ 122766 w 576626"/>
              <a:gd name="connsiteY4" fmla="*/ 1011767 h 1151467"/>
              <a:gd name="connsiteX5" fmla="*/ 0 w 576626"/>
              <a:gd name="connsiteY5" fmla="*/ 1151467 h 115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6626" h="1151467">
                <a:moveTo>
                  <a:pt x="63500" y="0"/>
                </a:moveTo>
                <a:cubicBezTo>
                  <a:pt x="211666" y="16227"/>
                  <a:pt x="359833" y="32455"/>
                  <a:pt x="444500" y="76200"/>
                </a:cubicBezTo>
                <a:cubicBezTo>
                  <a:pt x="529167" y="119945"/>
                  <a:pt x="560917" y="185562"/>
                  <a:pt x="571500" y="262467"/>
                </a:cubicBezTo>
                <a:cubicBezTo>
                  <a:pt x="582083" y="339372"/>
                  <a:pt x="582789" y="412750"/>
                  <a:pt x="508000" y="537633"/>
                </a:cubicBezTo>
                <a:cubicBezTo>
                  <a:pt x="433211" y="662516"/>
                  <a:pt x="207433" y="909461"/>
                  <a:pt x="122766" y="1011767"/>
                </a:cubicBezTo>
                <a:cubicBezTo>
                  <a:pt x="38099" y="1114073"/>
                  <a:pt x="19049" y="1132770"/>
                  <a:pt x="0" y="1151467"/>
                </a:cubicBezTo>
              </a:path>
            </a:pathLst>
          </a:custGeom>
          <a:ln w="15875">
            <a:solidFill>
              <a:schemeClr val="accent6">
                <a:lumMod val="60000"/>
                <a:lumOff val="4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118" name="Obrázek 117">
            <a:extLst>
              <a:ext uri="{FF2B5EF4-FFF2-40B4-BE49-F238E27FC236}">
                <a16:creationId xmlns:a16="http://schemas.microsoft.com/office/drawing/2014/main" id="{57A24316-8204-A1FF-1F86-E20660F7D3E9}"/>
              </a:ext>
            </a:extLst>
          </p:cNvPr>
          <p:cNvPicPr>
            <a:picLocks noChangeAspect="1"/>
          </p:cNvPicPr>
          <p:nvPr/>
        </p:nvPicPr>
        <p:blipFill rotWithShape="1"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r="2170"/>
          <a:stretch/>
        </p:blipFill>
        <p:spPr>
          <a:xfrm>
            <a:off x="3478730" y="3772086"/>
            <a:ext cx="3133375" cy="2001792"/>
          </a:xfrm>
          <a:prstGeom prst="rect">
            <a:avLst/>
          </a:prstGeom>
        </p:spPr>
      </p:pic>
      <p:sp>
        <p:nvSpPr>
          <p:cNvPr id="119" name="TextovéPole 118">
            <a:extLst>
              <a:ext uri="{FF2B5EF4-FFF2-40B4-BE49-F238E27FC236}">
                <a16:creationId xmlns:a16="http://schemas.microsoft.com/office/drawing/2014/main" id="{2DA9CC1D-4BFC-EDD9-68DA-124009C5B0F2}"/>
              </a:ext>
            </a:extLst>
          </p:cNvPr>
          <p:cNvSpPr txBox="1"/>
          <p:nvPr/>
        </p:nvSpPr>
        <p:spPr>
          <a:xfrm>
            <a:off x="5315737" y="3874273"/>
            <a:ext cx="8739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400" b="1" i="1" dirty="0"/>
              <a:t>DATA</a:t>
            </a:r>
          </a:p>
        </p:txBody>
      </p:sp>
      <p:sp>
        <p:nvSpPr>
          <p:cNvPr id="120" name="TextovéPole 119">
            <a:extLst>
              <a:ext uri="{FF2B5EF4-FFF2-40B4-BE49-F238E27FC236}">
                <a16:creationId xmlns:a16="http://schemas.microsoft.com/office/drawing/2014/main" id="{E57B6C36-E167-0627-7A47-E07789694CDD}"/>
              </a:ext>
            </a:extLst>
          </p:cNvPr>
          <p:cNvSpPr txBox="1"/>
          <p:nvPr/>
        </p:nvSpPr>
        <p:spPr>
          <a:xfrm>
            <a:off x="4580300" y="3310421"/>
            <a:ext cx="10402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2400" b="1" i="1" dirty="0"/>
              <a:t>OVS</a:t>
            </a:r>
            <a:endParaRPr lang="cs-CZ" sz="2400" dirty="0"/>
          </a:p>
        </p:txBody>
      </p:sp>
      <p:grpSp>
        <p:nvGrpSpPr>
          <p:cNvPr id="121" name="Skupina 120">
            <a:extLst>
              <a:ext uri="{FF2B5EF4-FFF2-40B4-BE49-F238E27FC236}">
                <a16:creationId xmlns:a16="http://schemas.microsoft.com/office/drawing/2014/main" id="{A077E4CB-8158-2A59-221E-7B4C4E84FF70}"/>
              </a:ext>
            </a:extLst>
          </p:cNvPr>
          <p:cNvGrpSpPr/>
          <p:nvPr/>
        </p:nvGrpSpPr>
        <p:grpSpPr>
          <a:xfrm>
            <a:off x="3329211" y="2999352"/>
            <a:ext cx="1159210" cy="1152724"/>
            <a:chOff x="6768610" y="2107661"/>
            <a:chExt cx="1123635" cy="1117347"/>
          </a:xfrm>
          <a:noFill/>
        </p:grpSpPr>
        <p:pic>
          <p:nvPicPr>
            <p:cNvPr id="122" name="Obrázek 121">
              <a:extLst>
                <a:ext uri="{FF2B5EF4-FFF2-40B4-BE49-F238E27FC236}">
                  <a16:creationId xmlns:a16="http://schemas.microsoft.com/office/drawing/2014/main" id="{40CD3D60-F577-9623-24CF-35E2F8323F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768610" y="2107661"/>
              <a:ext cx="1123635" cy="969061"/>
            </a:xfrm>
            <a:prstGeom prst="rect">
              <a:avLst/>
            </a:prstGeom>
            <a:grpFill/>
          </p:spPr>
        </p:pic>
        <p:sp>
          <p:nvSpPr>
            <p:cNvPr id="123" name="TextovéPole 122">
              <a:extLst>
                <a:ext uri="{FF2B5EF4-FFF2-40B4-BE49-F238E27FC236}">
                  <a16:creationId xmlns:a16="http://schemas.microsoft.com/office/drawing/2014/main" id="{6708F486-CB8F-3B73-C571-D628B4C04197}"/>
                </a:ext>
              </a:extLst>
            </p:cNvPr>
            <p:cNvSpPr txBox="1"/>
            <p:nvPr/>
          </p:nvSpPr>
          <p:spPr>
            <a:xfrm>
              <a:off x="7005513" y="2932620"/>
              <a:ext cx="685572" cy="292388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1300" b="1" i="1" dirty="0"/>
                <a:t>SLUŽBY</a:t>
              </a:r>
            </a:p>
          </p:txBody>
        </p:sp>
      </p:grpSp>
      <p:grpSp>
        <p:nvGrpSpPr>
          <p:cNvPr id="124" name="Skupina 123">
            <a:extLst>
              <a:ext uri="{FF2B5EF4-FFF2-40B4-BE49-F238E27FC236}">
                <a16:creationId xmlns:a16="http://schemas.microsoft.com/office/drawing/2014/main" id="{3D017205-F2A3-9AF9-9D0E-38EAE2333810}"/>
              </a:ext>
            </a:extLst>
          </p:cNvPr>
          <p:cNvGrpSpPr/>
          <p:nvPr/>
        </p:nvGrpSpPr>
        <p:grpSpPr>
          <a:xfrm>
            <a:off x="4540855" y="1834523"/>
            <a:ext cx="269132" cy="269132"/>
            <a:chOff x="5099490" y="1223911"/>
            <a:chExt cx="243840" cy="243840"/>
          </a:xfrm>
        </p:grpSpPr>
        <p:pic>
          <p:nvPicPr>
            <p:cNvPr id="125" name="Obrázek 124">
              <a:extLst>
                <a:ext uri="{FF2B5EF4-FFF2-40B4-BE49-F238E27FC236}">
                  <a16:creationId xmlns:a16="http://schemas.microsoft.com/office/drawing/2014/main" id="{48261CA2-D16F-9039-7491-71E33E62B6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print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99490" y="1223911"/>
              <a:ext cx="243840" cy="243840"/>
            </a:xfrm>
            <a:prstGeom prst="rect">
              <a:avLst/>
            </a:prstGeom>
          </p:spPr>
        </p:pic>
        <p:pic>
          <p:nvPicPr>
            <p:cNvPr id="126" name="Obrázek 125">
              <a:extLst>
                <a:ext uri="{FF2B5EF4-FFF2-40B4-BE49-F238E27FC236}">
                  <a16:creationId xmlns:a16="http://schemas.microsoft.com/office/drawing/2014/main" id="{17AAD713-1CE6-3797-F177-8D26F36BB2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clrChange>
                <a:clrFrom>
                  <a:srgbClr val="FDDB00"/>
                </a:clrFrom>
                <a:clrTo>
                  <a:srgbClr val="FDDB00">
                    <a:alpha val="0"/>
                  </a:srgbClr>
                </a:clrTo>
              </a:clrChange>
              <a:alphaModFix amt="50000"/>
            </a:blip>
            <a:stretch>
              <a:fillRect/>
            </a:stretch>
          </p:blipFill>
          <p:spPr>
            <a:xfrm>
              <a:off x="5163276" y="1271442"/>
              <a:ext cx="122503" cy="69273"/>
            </a:xfrm>
            <a:prstGeom prst="rect">
              <a:avLst/>
            </a:prstGeom>
          </p:spPr>
        </p:pic>
      </p:grpSp>
      <p:sp>
        <p:nvSpPr>
          <p:cNvPr id="127" name="Zástupný symbol pro číslo snímku 4">
            <a:extLst>
              <a:ext uri="{FF2B5EF4-FFF2-40B4-BE49-F238E27FC236}">
                <a16:creationId xmlns:a16="http://schemas.microsoft.com/office/drawing/2014/main" id="{1C616EA8-124D-6606-2972-7EDAC074B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pPr defTabSz="342900"/>
            <a:fld id="{D57F1E4F-1CFF-5643-939E-217C01CDF565}" type="slidenum">
              <a:rPr lang="cs-CZ">
                <a:latin typeface="Calibri" panose="020F0502020204030204"/>
              </a:rPr>
              <a:pPr defTabSz="342900"/>
              <a:t>4</a:t>
            </a:fld>
            <a:endParaRPr lang="cs-CZ">
              <a:latin typeface="Calibri" panose="020F0502020204030204"/>
            </a:endParaRPr>
          </a:p>
        </p:txBody>
      </p:sp>
      <p:grpSp>
        <p:nvGrpSpPr>
          <p:cNvPr id="128" name="Skupina 127">
            <a:extLst>
              <a:ext uri="{FF2B5EF4-FFF2-40B4-BE49-F238E27FC236}">
                <a16:creationId xmlns:a16="http://schemas.microsoft.com/office/drawing/2014/main" id="{CBCC8054-40B7-2D60-0978-B52C6ACCCFF3}"/>
              </a:ext>
            </a:extLst>
          </p:cNvPr>
          <p:cNvGrpSpPr/>
          <p:nvPr/>
        </p:nvGrpSpPr>
        <p:grpSpPr>
          <a:xfrm>
            <a:off x="6903800" y="3482688"/>
            <a:ext cx="1794809" cy="2467346"/>
            <a:chOff x="6835154" y="3209459"/>
            <a:chExt cx="1794809" cy="2710077"/>
          </a:xfrm>
        </p:grpSpPr>
        <p:sp>
          <p:nvSpPr>
            <p:cNvPr id="129" name="Obdélník: se zakulacenými rohy 128">
              <a:extLst>
                <a:ext uri="{FF2B5EF4-FFF2-40B4-BE49-F238E27FC236}">
                  <a16:creationId xmlns:a16="http://schemas.microsoft.com/office/drawing/2014/main" id="{F74E7B4A-4FE8-2EB7-3637-C8831181AA57}"/>
                </a:ext>
              </a:extLst>
            </p:cNvPr>
            <p:cNvSpPr/>
            <p:nvPr/>
          </p:nvSpPr>
          <p:spPr>
            <a:xfrm>
              <a:off x="6835154" y="3209459"/>
              <a:ext cx="1794809" cy="2710077"/>
            </a:xfrm>
            <a:prstGeom prst="roundRect">
              <a:avLst/>
            </a:prstGeom>
            <a:noFill/>
            <a:ln w="38100">
              <a:solidFill>
                <a:schemeClr val="accent6">
                  <a:lumMod val="50000"/>
                </a:schemeClr>
              </a:solidFill>
              <a:prstDash val="sysDash"/>
              <a:extLst>
                <a:ext uri="{C807C97D-BFC1-408E-A445-0C87EB9F89A2}">
                  <ask:lineSketchStyleProps xmlns:ask="http://schemas.microsoft.com/office/drawing/2018/sketchyshapes" sd="377204927">
                    <a:custGeom>
                      <a:avLst/>
                      <a:gdLst>
                        <a:gd name="connsiteX0" fmla="*/ 0 w 3749972"/>
                        <a:gd name="connsiteY0" fmla="*/ 436444 h 2618614"/>
                        <a:gd name="connsiteX1" fmla="*/ 436444 w 3749972"/>
                        <a:gd name="connsiteY1" fmla="*/ 0 h 2618614"/>
                        <a:gd name="connsiteX2" fmla="*/ 954319 w 3749972"/>
                        <a:gd name="connsiteY2" fmla="*/ 0 h 2618614"/>
                        <a:gd name="connsiteX3" fmla="*/ 1500965 w 3749972"/>
                        <a:gd name="connsiteY3" fmla="*/ 0 h 2618614"/>
                        <a:gd name="connsiteX4" fmla="*/ 2076382 w 3749972"/>
                        <a:gd name="connsiteY4" fmla="*/ 0 h 2618614"/>
                        <a:gd name="connsiteX5" fmla="*/ 2623028 w 3749972"/>
                        <a:gd name="connsiteY5" fmla="*/ 0 h 2618614"/>
                        <a:gd name="connsiteX6" fmla="*/ 3313528 w 3749972"/>
                        <a:gd name="connsiteY6" fmla="*/ 0 h 2618614"/>
                        <a:gd name="connsiteX7" fmla="*/ 3749972 w 3749972"/>
                        <a:gd name="connsiteY7" fmla="*/ 436444 h 2618614"/>
                        <a:gd name="connsiteX8" fmla="*/ 3749972 w 3749972"/>
                        <a:gd name="connsiteY8" fmla="*/ 1018353 h 2618614"/>
                        <a:gd name="connsiteX9" fmla="*/ 3749972 w 3749972"/>
                        <a:gd name="connsiteY9" fmla="*/ 1600261 h 2618614"/>
                        <a:gd name="connsiteX10" fmla="*/ 3749972 w 3749972"/>
                        <a:gd name="connsiteY10" fmla="*/ 2182170 h 2618614"/>
                        <a:gd name="connsiteX11" fmla="*/ 3313528 w 3749972"/>
                        <a:gd name="connsiteY11" fmla="*/ 2618614 h 2618614"/>
                        <a:gd name="connsiteX12" fmla="*/ 2738111 w 3749972"/>
                        <a:gd name="connsiteY12" fmla="*/ 2618614 h 2618614"/>
                        <a:gd name="connsiteX13" fmla="*/ 2133924 w 3749972"/>
                        <a:gd name="connsiteY13" fmla="*/ 2618614 h 2618614"/>
                        <a:gd name="connsiteX14" fmla="*/ 1500965 w 3749972"/>
                        <a:gd name="connsiteY14" fmla="*/ 2618614 h 2618614"/>
                        <a:gd name="connsiteX15" fmla="*/ 436444 w 3749972"/>
                        <a:gd name="connsiteY15" fmla="*/ 2618614 h 2618614"/>
                        <a:gd name="connsiteX16" fmla="*/ 0 w 3749972"/>
                        <a:gd name="connsiteY16" fmla="*/ 2182170 h 2618614"/>
                        <a:gd name="connsiteX17" fmla="*/ 0 w 3749972"/>
                        <a:gd name="connsiteY17" fmla="*/ 1635176 h 2618614"/>
                        <a:gd name="connsiteX18" fmla="*/ 0 w 3749972"/>
                        <a:gd name="connsiteY18" fmla="*/ 1105639 h 2618614"/>
                        <a:gd name="connsiteX19" fmla="*/ 0 w 3749972"/>
                        <a:gd name="connsiteY19" fmla="*/ 436444 h 261861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</a:cxnLst>
                      <a:rect l="l" t="t" r="r" b="b"/>
                      <a:pathLst>
                        <a:path w="3749972" h="2618614" extrusionOk="0">
                          <a:moveTo>
                            <a:pt x="0" y="436444"/>
                          </a:moveTo>
                          <a:cubicBezTo>
                            <a:pt x="17121" y="208685"/>
                            <a:pt x="166282" y="-5838"/>
                            <a:pt x="436444" y="0"/>
                          </a:cubicBezTo>
                          <a:cubicBezTo>
                            <a:pt x="619619" y="-15630"/>
                            <a:pt x="840292" y="13945"/>
                            <a:pt x="954319" y="0"/>
                          </a:cubicBezTo>
                          <a:cubicBezTo>
                            <a:pt x="1068347" y="-13945"/>
                            <a:pt x="1266404" y="-13102"/>
                            <a:pt x="1500965" y="0"/>
                          </a:cubicBezTo>
                          <a:cubicBezTo>
                            <a:pt x="1735526" y="13102"/>
                            <a:pt x="1822721" y="-4249"/>
                            <a:pt x="2076382" y="0"/>
                          </a:cubicBezTo>
                          <a:cubicBezTo>
                            <a:pt x="2330043" y="4249"/>
                            <a:pt x="2387230" y="-16075"/>
                            <a:pt x="2623028" y="0"/>
                          </a:cubicBezTo>
                          <a:cubicBezTo>
                            <a:pt x="2858826" y="16075"/>
                            <a:pt x="3071371" y="-17961"/>
                            <a:pt x="3313528" y="0"/>
                          </a:cubicBezTo>
                          <a:cubicBezTo>
                            <a:pt x="3541265" y="-11927"/>
                            <a:pt x="3781639" y="211914"/>
                            <a:pt x="3749972" y="436444"/>
                          </a:cubicBezTo>
                          <a:cubicBezTo>
                            <a:pt x="3735724" y="555682"/>
                            <a:pt x="3771053" y="844441"/>
                            <a:pt x="3749972" y="1018353"/>
                          </a:cubicBezTo>
                          <a:cubicBezTo>
                            <a:pt x="3728891" y="1192265"/>
                            <a:pt x="3721960" y="1455765"/>
                            <a:pt x="3749972" y="1600261"/>
                          </a:cubicBezTo>
                          <a:cubicBezTo>
                            <a:pt x="3777984" y="1744757"/>
                            <a:pt x="3737762" y="2030445"/>
                            <a:pt x="3749972" y="2182170"/>
                          </a:cubicBezTo>
                          <a:cubicBezTo>
                            <a:pt x="3776331" y="2394891"/>
                            <a:pt x="3565858" y="2652746"/>
                            <a:pt x="3313528" y="2618614"/>
                          </a:cubicBezTo>
                          <a:cubicBezTo>
                            <a:pt x="3033209" y="2614172"/>
                            <a:pt x="2859258" y="2639984"/>
                            <a:pt x="2738111" y="2618614"/>
                          </a:cubicBezTo>
                          <a:cubicBezTo>
                            <a:pt x="2616964" y="2597244"/>
                            <a:pt x="2333143" y="2590120"/>
                            <a:pt x="2133924" y="2618614"/>
                          </a:cubicBezTo>
                          <a:cubicBezTo>
                            <a:pt x="1934705" y="2647108"/>
                            <a:pt x="1814104" y="2628389"/>
                            <a:pt x="1500965" y="2618614"/>
                          </a:cubicBezTo>
                          <a:cubicBezTo>
                            <a:pt x="1187826" y="2608839"/>
                            <a:pt x="715736" y="2572206"/>
                            <a:pt x="436444" y="2618614"/>
                          </a:cubicBezTo>
                          <a:cubicBezTo>
                            <a:pt x="198393" y="2602242"/>
                            <a:pt x="22784" y="2380422"/>
                            <a:pt x="0" y="2182170"/>
                          </a:cubicBezTo>
                          <a:cubicBezTo>
                            <a:pt x="26751" y="1997812"/>
                            <a:pt x="24217" y="1790289"/>
                            <a:pt x="0" y="1635176"/>
                          </a:cubicBezTo>
                          <a:cubicBezTo>
                            <a:pt x="-24217" y="1480063"/>
                            <a:pt x="6787" y="1325067"/>
                            <a:pt x="0" y="1105639"/>
                          </a:cubicBezTo>
                          <a:cubicBezTo>
                            <a:pt x="-6787" y="886211"/>
                            <a:pt x="25235" y="655403"/>
                            <a:pt x="0" y="436444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t"/>
            <a:lstStyle/>
            <a:p>
              <a:r>
                <a:rPr lang="cs-CZ" sz="1600" b="1" i="1" dirty="0">
                  <a:solidFill>
                    <a:schemeClr val="tx1"/>
                  </a:solidFill>
                </a:rPr>
                <a:t>          </a:t>
              </a:r>
            </a:p>
          </p:txBody>
        </p:sp>
        <p:sp>
          <p:nvSpPr>
            <p:cNvPr id="130" name="TextovéPole 129">
              <a:extLst>
                <a:ext uri="{FF2B5EF4-FFF2-40B4-BE49-F238E27FC236}">
                  <a16:creationId xmlns:a16="http://schemas.microsoft.com/office/drawing/2014/main" id="{AD379EDB-3079-2D9B-2E63-F8BE0ACB8327}"/>
                </a:ext>
              </a:extLst>
            </p:cNvPr>
            <p:cNvSpPr txBox="1"/>
            <p:nvPr/>
          </p:nvSpPr>
          <p:spPr>
            <a:xfrm>
              <a:off x="7245376" y="5468378"/>
              <a:ext cx="1040288" cy="439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cs-CZ" sz="2000" b="1" i="1">
                  <a:solidFill>
                    <a:schemeClr val="accent6">
                      <a:lumMod val="50000"/>
                    </a:schemeClr>
                  </a:solidFill>
                </a:rPr>
                <a:t>(NAKIT)</a:t>
              </a:r>
              <a:endParaRPr lang="cs-CZ" sz="2000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  <p:sp>
        <p:nvSpPr>
          <p:cNvPr id="131" name="Nadpis 1">
            <a:extLst>
              <a:ext uri="{FF2B5EF4-FFF2-40B4-BE49-F238E27FC236}">
                <a16:creationId xmlns:a16="http://schemas.microsoft.com/office/drawing/2014/main" id="{B005B357-B6D3-D972-85C0-5C19F93CDE1B}"/>
              </a:ext>
            </a:extLst>
          </p:cNvPr>
          <p:cNvSpPr txBox="1">
            <a:spLocks/>
          </p:cNvSpPr>
          <p:nvPr/>
        </p:nvSpPr>
        <p:spPr>
          <a:xfrm>
            <a:off x="0" y="-1687"/>
            <a:ext cx="9144000" cy="5269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anchor="ctr"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000" defTabSz="685800"/>
            <a:r>
              <a:rPr lang="cs-CZ" sz="2800" b="1" spc="-38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</a:rPr>
              <a:t>JAK to budeme dělat</a:t>
            </a:r>
          </a:p>
        </p:txBody>
      </p:sp>
      <p:sp>
        <p:nvSpPr>
          <p:cNvPr id="132" name="TextovéPole 131">
            <a:extLst>
              <a:ext uri="{FF2B5EF4-FFF2-40B4-BE49-F238E27FC236}">
                <a16:creationId xmlns:a16="http://schemas.microsoft.com/office/drawing/2014/main" id="{C89F371F-5317-6879-3878-C67A8CA6E6CC}"/>
              </a:ext>
            </a:extLst>
          </p:cNvPr>
          <p:cNvSpPr txBox="1"/>
          <p:nvPr/>
        </p:nvSpPr>
        <p:spPr>
          <a:xfrm>
            <a:off x="4234236" y="761372"/>
            <a:ext cx="44707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600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Anonymizovaná detailní data o využívání služeb budou předávána do centrálního místa pro sběr </a:t>
            </a:r>
            <a:r>
              <a:rPr lang="cs-CZ" sz="160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 </a:t>
            </a:r>
            <a:endParaRPr lang="cs-CZ" sz="1600" dirty="0">
              <a:solidFill>
                <a:prstClr val="black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33" name="TextovéPole 132">
            <a:extLst>
              <a:ext uri="{FF2B5EF4-FFF2-40B4-BE49-F238E27FC236}">
                <a16:creationId xmlns:a16="http://schemas.microsoft.com/office/drawing/2014/main" id="{B45161A9-3880-C2BB-4CD6-BBC44737E003}"/>
              </a:ext>
            </a:extLst>
          </p:cNvPr>
          <p:cNvSpPr txBox="1"/>
          <p:nvPr/>
        </p:nvSpPr>
        <p:spPr>
          <a:xfrm>
            <a:off x="6336067" y="1621120"/>
            <a:ext cx="281745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600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 z OVS budou (spolu s daty z veřejného a propojeného datového fondu</a:t>
            </a:r>
            <a:r>
              <a:rPr lang="cs-CZ" sz="160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) zpracována </a:t>
            </a:r>
            <a:r>
              <a:rPr lang="cs-CZ" sz="1600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do podoby vhodné pro další použití v reportech </a:t>
            </a:r>
            <a:br>
              <a:rPr lang="cs-CZ" sz="1600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cs-CZ" sz="1600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 analýzách</a:t>
            </a:r>
          </a:p>
        </p:txBody>
      </p:sp>
      <p:sp>
        <p:nvSpPr>
          <p:cNvPr id="134" name="Obdélník 133">
            <a:extLst>
              <a:ext uri="{FF2B5EF4-FFF2-40B4-BE49-F238E27FC236}">
                <a16:creationId xmlns:a16="http://schemas.microsoft.com/office/drawing/2014/main" id="{FAAAA7B9-C5FC-4435-B399-9F2BBF0A623F}"/>
              </a:ext>
            </a:extLst>
          </p:cNvPr>
          <p:cNvSpPr/>
          <p:nvPr/>
        </p:nvSpPr>
        <p:spPr>
          <a:xfrm>
            <a:off x="6640151" y="5300302"/>
            <a:ext cx="484563" cy="401487"/>
          </a:xfrm>
          <a:prstGeom prst="rect">
            <a:avLst/>
          </a:prstGeom>
          <a:solidFill>
            <a:srgbClr val="CDF8FF"/>
          </a:solidFill>
          <a:ln>
            <a:solidFill>
              <a:srgbClr val="CDF8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grpSp>
        <p:nvGrpSpPr>
          <p:cNvPr id="135" name="Skupina 134">
            <a:extLst>
              <a:ext uri="{FF2B5EF4-FFF2-40B4-BE49-F238E27FC236}">
                <a16:creationId xmlns:a16="http://schemas.microsoft.com/office/drawing/2014/main" id="{4E523A1D-2264-933C-DCF1-C4A47B66F8A6}"/>
              </a:ext>
            </a:extLst>
          </p:cNvPr>
          <p:cNvGrpSpPr/>
          <p:nvPr/>
        </p:nvGrpSpPr>
        <p:grpSpPr>
          <a:xfrm>
            <a:off x="6443876" y="4845048"/>
            <a:ext cx="913429" cy="648421"/>
            <a:chOff x="7035939" y="4537177"/>
            <a:chExt cx="1289318" cy="933981"/>
          </a:xfrm>
        </p:grpSpPr>
        <p:pic>
          <p:nvPicPr>
            <p:cNvPr id="136" name="Obrázek 135">
              <a:extLst>
                <a:ext uri="{FF2B5EF4-FFF2-40B4-BE49-F238E27FC236}">
                  <a16:creationId xmlns:a16="http://schemas.microsoft.com/office/drawing/2014/main" id="{EF2B4D09-7A82-D61C-98A9-737BD7D7E1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 cstate="print">
              <a:extLst>
                <a:ext uri="{BEBA8EAE-BF5A-486C-A8C5-ECC9F3942E4B}">
                  <a14:imgProps xmlns:a14="http://schemas.microsoft.com/office/drawing/2010/main">
                    <a14:imgLayer r:embed="rId22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46877" y="4537177"/>
              <a:ext cx="986973" cy="866227"/>
            </a:xfrm>
            <a:prstGeom prst="rect">
              <a:avLst/>
            </a:prstGeom>
          </p:spPr>
        </p:pic>
        <p:sp>
          <p:nvSpPr>
            <p:cNvPr id="137" name="TextovéPole 136">
              <a:extLst>
                <a:ext uri="{FF2B5EF4-FFF2-40B4-BE49-F238E27FC236}">
                  <a16:creationId xmlns:a16="http://schemas.microsoft.com/office/drawing/2014/main" id="{BE8D96D5-687C-F195-D2D0-99FE4699D1C2}"/>
                </a:ext>
              </a:extLst>
            </p:cNvPr>
            <p:cNvSpPr txBox="1"/>
            <p:nvPr/>
          </p:nvSpPr>
          <p:spPr>
            <a:xfrm>
              <a:off x="7035939" y="5224937"/>
              <a:ext cx="128931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1000" b="1" dirty="0">
                  <a:solidFill>
                    <a:schemeClr val="accent6">
                      <a:lumMod val="50000"/>
                    </a:schemeClr>
                  </a:solidFill>
                </a:rPr>
                <a:t>Azure </a:t>
              </a:r>
              <a:r>
                <a:rPr lang="cs-CZ" sz="1000" b="1" dirty="0" err="1">
                  <a:solidFill>
                    <a:schemeClr val="accent6">
                      <a:lumMod val="50000"/>
                    </a:schemeClr>
                  </a:solidFill>
                </a:rPr>
                <a:t>Storage</a:t>
              </a:r>
              <a:endParaRPr lang="cs-CZ" sz="1000" b="1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  <p:sp>
        <p:nvSpPr>
          <p:cNvPr id="138" name="Volný tvar: obrazec 137">
            <a:extLst>
              <a:ext uri="{FF2B5EF4-FFF2-40B4-BE49-F238E27FC236}">
                <a16:creationId xmlns:a16="http://schemas.microsoft.com/office/drawing/2014/main" id="{53ACF859-3A62-6769-1903-5628C9A507B8}"/>
              </a:ext>
            </a:extLst>
          </p:cNvPr>
          <p:cNvSpPr/>
          <p:nvPr/>
        </p:nvSpPr>
        <p:spPr>
          <a:xfrm>
            <a:off x="6121400" y="4295194"/>
            <a:ext cx="641380" cy="609600"/>
          </a:xfrm>
          <a:custGeom>
            <a:avLst/>
            <a:gdLst>
              <a:gd name="connsiteX0" fmla="*/ 0 w 1149350"/>
              <a:gd name="connsiteY0" fmla="*/ 0 h 609600"/>
              <a:gd name="connsiteX1" fmla="*/ 793750 w 1149350"/>
              <a:gd name="connsiteY1" fmla="*/ 266700 h 609600"/>
              <a:gd name="connsiteX2" fmla="*/ 1149350 w 1149350"/>
              <a:gd name="connsiteY2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49350" h="609600">
                <a:moveTo>
                  <a:pt x="0" y="0"/>
                </a:moveTo>
                <a:cubicBezTo>
                  <a:pt x="301096" y="82550"/>
                  <a:pt x="602192" y="165100"/>
                  <a:pt x="793750" y="266700"/>
                </a:cubicBezTo>
                <a:cubicBezTo>
                  <a:pt x="985308" y="368300"/>
                  <a:pt x="1067329" y="488950"/>
                  <a:pt x="1149350" y="609600"/>
                </a:cubicBezTo>
              </a:path>
            </a:pathLst>
          </a:custGeom>
          <a:ln w="15875">
            <a:solidFill>
              <a:schemeClr val="accent6">
                <a:lumMod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>
              <a:solidFill>
                <a:schemeClr val="tx1"/>
              </a:solidFill>
            </a:endParaRPr>
          </a:p>
        </p:txBody>
      </p:sp>
      <p:pic>
        <p:nvPicPr>
          <p:cNvPr id="143" name="Obrázek 142">
            <a:extLst>
              <a:ext uri="{FF2B5EF4-FFF2-40B4-BE49-F238E27FC236}">
                <a16:creationId xmlns:a16="http://schemas.microsoft.com/office/drawing/2014/main" id="{C86C3F30-ADB9-F0D2-D880-093803CB236C}"/>
              </a:ext>
            </a:extLst>
          </p:cNvPr>
          <p:cNvPicPr>
            <a:picLocks noChangeAspect="1"/>
          </p:cNvPicPr>
          <p:nvPr/>
        </p:nvPicPr>
        <p:blipFill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260715" y="2868056"/>
            <a:ext cx="600464" cy="874530"/>
          </a:xfrm>
          <a:prstGeom prst="rect">
            <a:avLst/>
          </a:prstGeom>
        </p:spPr>
      </p:pic>
      <p:grpSp>
        <p:nvGrpSpPr>
          <p:cNvPr id="145" name="Skupina 144">
            <a:extLst>
              <a:ext uri="{FF2B5EF4-FFF2-40B4-BE49-F238E27FC236}">
                <a16:creationId xmlns:a16="http://schemas.microsoft.com/office/drawing/2014/main" id="{83C2E924-C59A-C392-DC50-C9D775A4B4E9}"/>
              </a:ext>
            </a:extLst>
          </p:cNvPr>
          <p:cNvGrpSpPr/>
          <p:nvPr/>
        </p:nvGrpSpPr>
        <p:grpSpPr>
          <a:xfrm>
            <a:off x="7424196" y="2875641"/>
            <a:ext cx="1008071" cy="1028301"/>
            <a:chOff x="7424196" y="2875641"/>
            <a:chExt cx="1008071" cy="1028301"/>
          </a:xfrm>
        </p:grpSpPr>
        <p:pic>
          <p:nvPicPr>
            <p:cNvPr id="147" name="Obrázek 146">
              <a:extLst>
                <a:ext uri="{FF2B5EF4-FFF2-40B4-BE49-F238E27FC236}">
                  <a16:creationId xmlns:a16="http://schemas.microsoft.com/office/drawing/2014/main" id="{D15D2A3B-3660-FCAD-C6E0-919332C583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25">
                      <a14:imgEffect>
                        <a14:saturation sat="33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424196" y="2875641"/>
              <a:ext cx="1008071" cy="940866"/>
            </a:xfrm>
            <a:prstGeom prst="rect">
              <a:avLst/>
            </a:prstGeom>
          </p:spPr>
        </p:pic>
        <p:sp>
          <p:nvSpPr>
            <p:cNvPr id="148" name="TextovéPole 147">
              <a:extLst>
                <a:ext uri="{FF2B5EF4-FFF2-40B4-BE49-F238E27FC236}">
                  <a16:creationId xmlns:a16="http://schemas.microsoft.com/office/drawing/2014/main" id="{4B8E499C-9432-9F41-5CDB-7374004C4F8A}"/>
                </a:ext>
              </a:extLst>
            </p:cNvPr>
            <p:cNvSpPr txBox="1"/>
            <p:nvPr/>
          </p:nvSpPr>
          <p:spPr>
            <a:xfrm>
              <a:off x="7518838" y="3657721"/>
              <a:ext cx="9134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1000" b="1" dirty="0" err="1">
                  <a:solidFill>
                    <a:schemeClr val="accent6">
                      <a:lumMod val="50000"/>
                    </a:schemeClr>
                  </a:solidFill>
                </a:rPr>
                <a:t>Power</a:t>
              </a:r>
              <a:r>
                <a:rPr lang="cs-CZ" sz="1000" b="1" dirty="0">
                  <a:solidFill>
                    <a:schemeClr val="accent6">
                      <a:lumMod val="50000"/>
                    </a:schemeClr>
                  </a:solidFill>
                </a:rPr>
                <a:t> BI</a:t>
              </a:r>
            </a:p>
          </p:txBody>
        </p:sp>
      </p:grpSp>
      <p:sp>
        <p:nvSpPr>
          <p:cNvPr id="149" name="Volný tvar: obrazec 148">
            <a:extLst>
              <a:ext uri="{FF2B5EF4-FFF2-40B4-BE49-F238E27FC236}">
                <a16:creationId xmlns:a16="http://schemas.microsoft.com/office/drawing/2014/main" id="{B8DD4407-988D-04DB-3D38-F9C5875242E6}"/>
              </a:ext>
            </a:extLst>
          </p:cNvPr>
          <p:cNvSpPr/>
          <p:nvPr/>
        </p:nvSpPr>
        <p:spPr>
          <a:xfrm>
            <a:off x="3081867" y="5304528"/>
            <a:ext cx="3614477" cy="859247"/>
          </a:xfrm>
          <a:custGeom>
            <a:avLst/>
            <a:gdLst>
              <a:gd name="connsiteX0" fmla="*/ 0 w 3589866"/>
              <a:gd name="connsiteY0" fmla="*/ 524933 h 821308"/>
              <a:gd name="connsiteX1" fmla="*/ 1439333 w 3589866"/>
              <a:gd name="connsiteY1" fmla="*/ 795866 h 821308"/>
              <a:gd name="connsiteX2" fmla="*/ 2937933 w 3589866"/>
              <a:gd name="connsiteY2" fmla="*/ 719666 h 821308"/>
              <a:gd name="connsiteX3" fmla="*/ 3589866 w 3589866"/>
              <a:gd name="connsiteY3" fmla="*/ 0 h 821308"/>
              <a:gd name="connsiteX4" fmla="*/ 3589866 w 3589866"/>
              <a:gd name="connsiteY4" fmla="*/ 0 h 821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89866" h="821308">
                <a:moveTo>
                  <a:pt x="0" y="524933"/>
                </a:moveTo>
                <a:cubicBezTo>
                  <a:pt x="474839" y="644172"/>
                  <a:pt x="949678" y="763411"/>
                  <a:pt x="1439333" y="795866"/>
                </a:cubicBezTo>
                <a:cubicBezTo>
                  <a:pt x="1928988" y="828321"/>
                  <a:pt x="2579511" y="852310"/>
                  <a:pt x="2937933" y="719666"/>
                </a:cubicBezTo>
                <a:cubicBezTo>
                  <a:pt x="3296355" y="587022"/>
                  <a:pt x="3589866" y="0"/>
                  <a:pt x="3589866" y="0"/>
                </a:cubicBezTo>
                <a:lnTo>
                  <a:pt x="3589866" y="0"/>
                </a:lnTo>
              </a:path>
            </a:pathLst>
          </a:custGeom>
          <a:ln w="15875">
            <a:solidFill>
              <a:schemeClr val="accent6">
                <a:lumMod val="60000"/>
                <a:lumOff val="4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>
              <a:solidFill>
                <a:schemeClr val="tx1"/>
              </a:solidFill>
            </a:endParaRPr>
          </a:p>
        </p:txBody>
      </p:sp>
      <p:grpSp>
        <p:nvGrpSpPr>
          <p:cNvPr id="150" name="Skupina 149">
            <a:extLst>
              <a:ext uri="{FF2B5EF4-FFF2-40B4-BE49-F238E27FC236}">
                <a16:creationId xmlns:a16="http://schemas.microsoft.com/office/drawing/2014/main" id="{9A70E269-449A-DD27-8878-FC4993847A8F}"/>
              </a:ext>
            </a:extLst>
          </p:cNvPr>
          <p:cNvGrpSpPr/>
          <p:nvPr/>
        </p:nvGrpSpPr>
        <p:grpSpPr>
          <a:xfrm>
            <a:off x="522923" y="4347177"/>
            <a:ext cx="1449912" cy="1419438"/>
            <a:chOff x="1927471" y="2921484"/>
            <a:chExt cx="1449912" cy="1419438"/>
          </a:xfrm>
          <a:noFill/>
        </p:grpSpPr>
        <p:sp>
          <p:nvSpPr>
            <p:cNvPr id="151" name="Obdélník: se zakulacenými rohy 150">
              <a:extLst>
                <a:ext uri="{FF2B5EF4-FFF2-40B4-BE49-F238E27FC236}">
                  <a16:creationId xmlns:a16="http://schemas.microsoft.com/office/drawing/2014/main" id="{2572F124-DB00-7C4B-0B24-05D01E604457}"/>
                </a:ext>
              </a:extLst>
            </p:cNvPr>
            <p:cNvSpPr/>
            <p:nvPr/>
          </p:nvSpPr>
          <p:spPr>
            <a:xfrm>
              <a:off x="1927471" y="2921484"/>
              <a:ext cx="1429657" cy="1372738"/>
            </a:xfrm>
            <a:prstGeom prst="roundRect">
              <a:avLst/>
            </a:prstGeom>
            <a:grpFill/>
            <a:ln>
              <a:solidFill>
                <a:schemeClr val="accent6">
                  <a:lumMod val="60000"/>
                  <a:lumOff val="40000"/>
                </a:schemeClr>
              </a:solidFill>
              <a:prstDash val="dashDot"/>
              <a:extLst>
                <a:ext uri="{C807C97D-BFC1-408E-A445-0C87EB9F89A2}">
                  <ask:lineSketchStyleProps xmlns:ask="http://schemas.microsoft.com/office/drawing/2018/sketchyshapes" sd="3950963677">
                    <a:custGeom>
                      <a:avLst/>
                      <a:gdLst>
                        <a:gd name="connsiteX0" fmla="*/ 0 w 1779051"/>
                        <a:gd name="connsiteY0" fmla="*/ 206902 h 1241385"/>
                        <a:gd name="connsiteX1" fmla="*/ 206902 w 1779051"/>
                        <a:gd name="connsiteY1" fmla="*/ 0 h 1241385"/>
                        <a:gd name="connsiteX2" fmla="*/ 903178 w 1779051"/>
                        <a:gd name="connsiteY2" fmla="*/ 0 h 1241385"/>
                        <a:gd name="connsiteX3" fmla="*/ 1572149 w 1779051"/>
                        <a:gd name="connsiteY3" fmla="*/ 0 h 1241385"/>
                        <a:gd name="connsiteX4" fmla="*/ 1779051 w 1779051"/>
                        <a:gd name="connsiteY4" fmla="*/ 206902 h 1241385"/>
                        <a:gd name="connsiteX5" fmla="*/ 1779051 w 1779051"/>
                        <a:gd name="connsiteY5" fmla="*/ 595865 h 1241385"/>
                        <a:gd name="connsiteX6" fmla="*/ 1779051 w 1779051"/>
                        <a:gd name="connsiteY6" fmla="*/ 1034483 h 1241385"/>
                        <a:gd name="connsiteX7" fmla="*/ 1572149 w 1779051"/>
                        <a:gd name="connsiteY7" fmla="*/ 1241385 h 1241385"/>
                        <a:gd name="connsiteX8" fmla="*/ 862221 w 1779051"/>
                        <a:gd name="connsiteY8" fmla="*/ 1241385 h 1241385"/>
                        <a:gd name="connsiteX9" fmla="*/ 206902 w 1779051"/>
                        <a:gd name="connsiteY9" fmla="*/ 1241385 h 1241385"/>
                        <a:gd name="connsiteX10" fmla="*/ 0 w 1779051"/>
                        <a:gd name="connsiteY10" fmla="*/ 1034483 h 1241385"/>
                        <a:gd name="connsiteX11" fmla="*/ 0 w 1779051"/>
                        <a:gd name="connsiteY11" fmla="*/ 612417 h 1241385"/>
                        <a:gd name="connsiteX12" fmla="*/ 0 w 1779051"/>
                        <a:gd name="connsiteY12" fmla="*/ 206902 h 1241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</a:cxnLst>
                      <a:rect l="l" t="t" r="r" b="b"/>
                      <a:pathLst>
                        <a:path w="1779051" h="1241385" fill="none" extrusionOk="0">
                          <a:moveTo>
                            <a:pt x="0" y="206902"/>
                          </a:moveTo>
                          <a:cubicBezTo>
                            <a:pt x="-4509" y="82118"/>
                            <a:pt x="95538" y="-164"/>
                            <a:pt x="206902" y="0"/>
                          </a:cubicBezTo>
                          <a:cubicBezTo>
                            <a:pt x="394977" y="-11461"/>
                            <a:pt x="657279" y="-4504"/>
                            <a:pt x="903178" y="0"/>
                          </a:cubicBezTo>
                          <a:cubicBezTo>
                            <a:pt x="1149077" y="4504"/>
                            <a:pt x="1373897" y="28898"/>
                            <a:pt x="1572149" y="0"/>
                          </a:cubicBezTo>
                          <a:cubicBezTo>
                            <a:pt x="1688485" y="-2957"/>
                            <a:pt x="1770637" y="117443"/>
                            <a:pt x="1779051" y="206902"/>
                          </a:cubicBezTo>
                          <a:cubicBezTo>
                            <a:pt x="1787638" y="395096"/>
                            <a:pt x="1759957" y="403592"/>
                            <a:pt x="1779051" y="595865"/>
                          </a:cubicBezTo>
                          <a:cubicBezTo>
                            <a:pt x="1798145" y="788138"/>
                            <a:pt x="1783524" y="824346"/>
                            <a:pt x="1779051" y="1034483"/>
                          </a:cubicBezTo>
                          <a:cubicBezTo>
                            <a:pt x="1802102" y="1136720"/>
                            <a:pt x="1707903" y="1239982"/>
                            <a:pt x="1572149" y="1241385"/>
                          </a:cubicBezTo>
                          <a:cubicBezTo>
                            <a:pt x="1413384" y="1209674"/>
                            <a:pt x="1176996" y="1256611"/>
                            <a:pt x="862221" y="1241385"/>
                          </a:cubicBezTo>
                          <a:cubicBezTo>
                            <a:pt x="547446" y="1226159"/>
                            <a:pt x="456600" y="1216659"/>
                            <a:pt x="206902" y="1241385"/>
                          </a:cubicBezTo>
                          <a:cubicBezTo>
                            <a:pt x="86471" y="1242416"/>
                            <a:pt x="7752" y="1131222"/>
                            <a:pt x="0" y="1034483"/>
                          </a:cubicBezTo>
                          <a:cubicBezTo>
                            <a:pt x="-18078" y="930132"/>
                            <a:pt x="-17937" y="782497"/>
                            <a:pt x="0" y="612417"/>
                          </a:cubicBezTo>
                          <a:cubicBezTo>
                            <a:pt x="17937" y="442337"/>
                            <a:pt x="-20021" y="374586"/>
                            <a:pt x="0" y="206902"/>
                          </a:cubicBezTo>
                          <a:close/>
                        </a:path>
                        <a:path w="1779051" h="1241385" stroke="0" extrusionOk="0">
                          <a:moveTo>
                            <a:pt x="0" y="206902"/>
                          </a:moveTo>
                          <a:cubicBezTo>
                            <a:pt x="-1758" y="105707"/>
                            <a:pt x="98685" y="1753"/>
                            <a:pt x="206902" y="0"/>
                          </a:cubicBezTo>
                          <a:cubicBezTo>
                            <a:pt x="488791" y="19865"/>
                            <a:pt x="599460" y="12328"/>
                            <a:pt x="848568" y="0"/>
                          </a:cubicBezTo>
                          <a:cubicBezTo>
                            <a:pt x="1097676" y="-12328"/>
                            <a:pt x="1311906" y="24344"/>
                            <a:pt x="1572149" y="0"/>
                          </a:cubicBezTo>
                          <a:cubicBezTo>
                            <a:pt x="1677765" y="-8046"/>
                            <a:pt x="1785819" y="97713"/>
                            <a:pt x="1779051" y="206902"/>
                          </a:cubicBezTo>
                          <a:cubicBezTo>
                            <a:pt x="1772280" y="370782"/>
                            <a:pt x="1798133" y="526863"/>
                            <a:pt x="1779051" y="612417"/>
                          </a:cubicBezTo>
                          <a:cubicBezTo>
                            <a:pt x="1759969" y="697971"/>
                            <a:pt x="1774446" y="899601"/>
                            <a:pt x="1779051" y="1034483"/>
                          </a:cubicBezTo>
                          <a:cubicBezTo>
                            <a:pt x="1770427" y="1143114"/>
                            <a:pt x="1664801" y="1256923"/>
                            <a:pt x="1572149" y="1241385"/>
                          </a:cubicBezTo>
                          <a:cubicBezTo>
                            <a:pt x="1395463" y="1243970"/>
                            <a:pt x="1197843" y="1255458"/>
                            <a:pt x="862221" y="1241385"/>
                          </a:cubicBezTo>
                          <a:cubicBezTo>
                            <a:pt x="526599" y="1227312"/>
                            <a:pt x="413593" y="1215950"/>
                            <a:pt x="206902" y="1241385"/>
                          </a:cubicBezTo>
                          <a:cubicBezTo>
                            <a:pt x="83133" y="1238994"/>
                            <a:pt x="8609" y="1156097"/>
                            <a:pt x="0" y="1034483"/>
                          </a:cubicBezTo>
                          <a:cubicBezTo>
                            <a:pt x="-20715" y="891054"/>
                            <a:pt x="18666" y="701453"/>
                            <a:pt x="0" y="612417"/>
                          </a:cubicBezTo>
                          <a:cubicBezTo>
                            <a:pt x="-18666" y="523381"/>
                            <a:pt x="2403" y="324333"/>
                            <a:pt x="0" y="206902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cs-CZ" sz="1100" b="1" i="1" dirty="0">
                  <a:solidFill>
                    <a:schemeClr val="accent6">
                      <a:lumMod val="50000"/>
                    </a:schemeClr>
                  </a:solidFill>
                </a:rPr>
                <a:t>Propojený datový fond</a:t>
              </a:r>
            </a:p>
          </p:txBody>
        </p:sp>
        <p:grpSp>
          <p:nvGrpSpPr>
            <p:cNvPr id="152" name="Skupina 151">
              <a:extLst>
                <a:ext uri="{FF2B5EF4-FFF2-40B4-BE49-F238E27FC236}">
                  <a16:creationId xmlns:a16="http://schemas.microsoft.com/office/drawing/2014/main" id="{91CE3B7F-E3D4-B7C0-BC9E-0F29BC63C615}"/>
                </a:ext>
              </a:extLst>
            </p:cNvPr>
            <p:cNvGrpSpPr/>
            <p:nvPr/>
          </p:nvGrpSpPr>
          <p:grpSpPr>
            <a:xfrm>
              <a:off x="1955106" y="3372935"/>
              <a:ext cx="765537" cy="832169"/>
              <a:chOff x="680628" y="3935279"/>
              <a:chExt cx="765537" cy="832169"/>
            </a:xfrm>
            <a:grpFill/>
          </p:grpSpPr>
          <p:pic>
            <p:nvPicPr>
              <p:cNvPr id="156" name="Obrázek 155">
                <a:extLst>
                  <a:ext uri="{FF2B5EF4-FFF2-40B4-BE49-F238E27FC236}">
                    <a16:creationId xmlns:a16="http://schemas.microsoft.com/office/drawing/2014/main" id="{97DC7EBC-AC3A-87BD-DAFC-1B64A2FC67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849276" y="3935279"/>
                <a:ext cx="437007" cy="467496"/>
              </a:xfrm>
              <a:prstGeom prst="rect">
                <a:avLst/>
              </a:prstGeom>
              <a:grpFill/>
              <a:ln>
                <a:noFill/>
                <a:extLst>
                  <a:ext uri="{C807C97D-BFC1-408E-A445-0C87EB9F89A2}">
                    <ask:lineSketchStyleProps xmlns:ask="http://schemas.microsoft.com/office/drawing/2018/sketchyshapes">
                      <ask:type>
                        <ask:lineSketchNone/>
                      </ask:type>
                    </ask:lineSketchStyleProps>
                  </a:ext>
                </a:extLst>
              </a:ln>
            </p:spPr>
          </p:pic>
          <p:sp>
            <p:nvSpPr>
              <p:cNvPr id="157" name="TextovéPole 156">
                <a:extLst>
                  <a:ext uri="{FF2B5EF4-FFF2-40B4-BE49-F238E27FC236}">
                    <a16:creationId xmlns:a16="http://schemas.microsoft.com/office/drawing/2014/main" id="{0B2F0A82-76B6-3FFA-3DF1-4BA12FFB8078}"/>
                  </a:ext>
                </a:extLst>
              </p:cNvPr>
              <p:cNvSpPr txBox="1"/>
              <p:nvPr/>
            </p:nvSpPr>
            <p:spPr>
              <a:xfrm>
                <a:off x="680628" y="4367338"/>
                <a:ext cx="765537" cy="400110"/>
              </a:xfrm>
              <a:prstGeom prst="rect">
                <a:avLst/>
              </a:prstGeom>
              <a:grpFill/>
              <a:ln>
                <a:noFill/>
                <a:extLst>
                  <a:ext uri="{C807C97D-BFC1-408E-A445-0C87EB9F89A2}">
                    <ask:lineSketchStyleProps xmlns:ask="http://schemas.microsoft.com/office/drawing/2018/sketchyshapes">
                      <ask:type>
                        <ask:lineSketchNone/>
                      </ask:type>
                    </ask:lineSketchStyleProps>
                  </a:ext>
                </a:extLst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cs-CZ" sz="1000" b="1" dirty="0">
                    <a:solidFill>
                      <a:schemeClr val="accent6">
                        <a:lumMod val="50000"/>
                      </a:schemeClr>
                    </a:solidFill>
                  </a:rPr>
                  <a:t>Základní registry</a:t>
                </a:r>
              </a:p>
            </p:txBody>
          </p:sp>
        </p:grpSp>
        <p:grpSp>
          <p:nvGrpSpPr>
            <p:cNvPr id="153" name="Skupina 152">
              <a:extLst>
                <a:ext uri="{FF2B5EF4-FFF2-40B4-BE49-F238E27FC236}">
                  <a16:creationId xmlns:a16="http://schemas.microsoft.com/office/drawing/2014/main" id="{9332B473-E39C-EC13-8F88-ECEB22CAD914}"/>
                </a:ext>
              </a:extLst>
            </p:cNvPr>
            <p:cNvGrpSpPr/>
            <p:nvPr/>
          </p:nvGrpSpPr>
          <p:grpSpPr>
            <a:xfrm>
              <a:off x="2533626" y="3369311"/>
              <a:ext cx="843757" cy="971611"/>
              <a:chOff x="1219405" y="3912331"/>
              <a:chExt cx="843757" cy="971611"/>
            </a:xfrm>
            <a:grpFill/>
          </p:grpSpPr>
          <p:sp>
            <p:nvSpPr>
              <p:cNvPr id="154" name="TextovéPole 153">
                <a:extLst>
                  <a:ext uri="{FF2B5EF4-FFF2-40B4-BE49-F238E27FC236}">
                    <a16:creationId xmlns:a16="http://schemas.microsoft.com/office/drawing/2014/main" id="{4E886187-E8FB-888F-3378-810E11C8C768}"/>
                  </a:ext>
                </a:extLst>
              </p:cNvPr>
              <p:cNvSpPr txBox="1"/>
              <p:nvPr/>
            </p:nvSpPr>
            <p:spPr>
              <a:xfrm>
                <a:off x="1219405" y="4329944"/>
                <a:ext cx="843757" cy="553998"/>
              </a:xfrm>
              <a:prstGeom prst="rect">
                <a:avLst/>
              </a:prstGeom>
              <a:grpFill/>
              <a:ln>
                <a:noFill/>
                <a:extLst>
                  <a:ext uri="{C807C97D-BFC1-408E-A445-0C87EB9F89A2}">
                    <ask:lineSketchStyleProps xmlns:ask="http://schemas.microsoft.com/office/drawing/2018/sketchyshapes">
                      <ask:type>
                        <ask:lineSketchNone/>
                      </ask:type>
                    </ask:lineSketchStyleProps>
                  </a:ext>
                </a:extLst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cs-CZ" sz="1000" dirty="0">
                    <a:solidFill>
                      <a:schemeClr val="accent6">
                        <a:lumMod val="50000"/>
                      </a:schemeClr>
                    </a:solidFill>
                  </a:rPr>
                  <a:t>Sdílená agendová data</a:t>
                </a:r>
              </a:p>
            </p:txBody>
          </p:sp>
          <p:pic>
            <p:nvPicPr>
              <p:cNvPr id="155" name="Grafický objekt 154" descr="Databáze obrys">
                <a:extLst>
                  <a:ext uri="{FF2B5EF4-FFF2-40B4-BE49-F238E27FC236}">
                    <a16:creationId xmlns:a16="http://schemas.microsoft.com/office/drawing/2014/main" id="{343CC2E9-130A-23BB-BC9A-26F0494F0B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/>
              </a:stretch>
            </p:blipFill>
            <p:spPr>
              <a:xfrm>
                <a:off x="1433122" y="3912331"/>
                <a:ext cx="475454" cy="475454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</p:grpSp>
      <p:sp>
        <p:nvSpPr>
          <p:cNvPr id="158" name="Volný tvar: obrazec 157">
            <a:extLst>
              <a:ext uri="{FF2B5EF4-FFF2-40B4-BE49-F238E27FC236}">
                <a16:creationId xmlns:a16="http://schemas.microsoft.com/office/drawing/2014/main" id="{E69BD232-1960-6E5E-34D0-0563A26D355A}"/>
              </a:ext>
            </a:extLst>
          </p:cNvPr>
          <p:cNvSpPr/>
          <p:nvPr/>
        </p:nvSpPr>
        <p:spPr>
          <a:xfrm>
            <a:off x="1132840" y="5725160"/>
            <a:ext cx="4795520" cy="487680"/>
          </a:xfrm>
          <a:custGeom>
            <a:avLst/>
            <a:gdLst>
              <a:gd name="connsiteX0" fmla="*/ 0 w 4795520"/>
              <a:gd name="connsiteY0" fmla="*/ 0 h 487680"/>
              <a:gd name="connsiteX1" fmla="*/ 381000 w 4795520"/>
              <a:gd name="connsiteY1" fmla="*/ 309880 h 487680"/>
              <a:gd name="connsiteX2" fmla="*/ 1005840 w 4795520"/>
              <a:gd name="connsiteY2" fmla="*/ 426720 h 487680"/>
              <a:gd name="connsiteX3" fmla="*/ 2773680 w 4795520"/>
              <a:gd name="connsiteY3" fmla="*/ 487680 h 487680"/>
              <a:gd name="connsiteX4" fmla="*/ 4130040 w 4795520"/>
              <a:gd name="connsiteY4" fmla="*/ 477520 h 487680"/>
              <a:gd name="connsiteX5" fmla="*/ 4795520 w 4795520"/>
              <a:gd name="connsiteY5" fmla="*/ 370840 h 487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95520" h="487680">
                <a:moveTo>
                  <a:pt x="0" y="0"/>
                </a:moveTo>
                <a:cubicBezTo>
                  <a:pt x="106680" y="119380"/>
                  <a:pt x="213360" y="238760"/>
                  <a:pt x="381000" y="309880"/>
                </a:cubicBezTo>
                <a:cubicBezTo>
                  <a:pt x="548640" y="381000"/>
                  <a:pt x="607060" y="397087"/>
                  <a:pt x="1005840" y="426720"/>
                </a:cubicBezTo>
                <a:cubicBezTo>
                  <a:pt x="1404620" y="456353"/>
                  <a:pt x="2252980" y="479213"/>
                  <a:pt x="2773680" y="487680"/>
                </a:cubicBezTo>
                <a:lnTo>
                  <a:pt x="4130040" y="477520"/>
                </a:lnTo>
                <a:cubicBezTo>
                  <a:pt x="4467013" y="458047"/>
                  <a:pt x="4631266" y="414443"/>
                  <a:pt x="4795520" y="370840"/>
                </a:cubicBezTo>
              </a:path>
            </a:pathLst>
          </a:custGeom>
          <a:ln w="15875">
            <a:solidFill>
              <a:schemeClr val="accent6">
                <a:lumMod val="60000"/>
                <a:lumOff val="4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>
              <a:solidFill>
                <a:schemeClr val="tx1"/>
              </a:solidFill>
            </a:endParaRPr>
          </a:p>
        </p:txBody>
      </p:sp>
      <p:sp>
        <p:nvSpPr>
          <p:cNvPr id="159" name="Volný tvar: obrazec 158">
            <a:extLst>
              <a:ext uri="{FF2B5EF4-FFF2-40B4-BE49-F238E27FC236}">
                <a16:creationId xmlns:a16="http://schemas.microsoft.com/office/drawing/2014/main" id="{835C787A-E51F-C7E8-7EF5-7A4DFD3B7579}"/>
              </a:ext>
            </a:extLst>
          </p:cNvPr>
          <p:cNvSpPr/>
          <p:nvPr/>
        </p:nvSpPr>
        <p:spPr>
          <a:xfrm rot="20170058">
            <a:off x="6988041" y="4105213"/>
            <a:ext cx="1207419" cy="732010"/>
          </a:xfrm>
          <a:custGeom>
            <a:avLst/>
            <a:gdLst>
              <a:gd name="connsiteX0" fmla="*/ 0 w 294640"/>
              <a:gd name="connsiteY0" fmla="*/ 254000 h 254000"/>
              <a:gd name="connsiteX1" fmla="*/ 193040 w 294640"/>
              <a:gd name="connsiteY1" fmla="*/ 162560 h 254000"/>
              <a:gd name="connsiteX2" fmla="*/ 294640 w 294640"/>
              <a:gd name="connsiteY2" fmla="*/ 0 h 25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4640" h="254000">
                <a:moveTo>
                  <a:pt x="0" y="254000"/>
                </a:moveTo>
                <a:cubicBezTo>
                  <a:pt x="71966" y="229446"/>
                  <a:pt x="143933" y="204893"/>
                  <a:pt x="193040" y="162560"/>
                </a:cubicBezTo>
                <a:cubicBezTo>
                  <a:pt x="242147" y="120227"/>
                  <a:pt x="268393" y="60113"/>
                  <a:pt x="294640" y="0"/>
                </a:cubicBezTo>
              </a:path>
            </a:pathLst>
          </a:custGeom>
          <a:ln w="15875">
            <a:solidFill>
              <a:schemeClr val="accent6">
                <a:lumMod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>
              <a:solidFill>
                <a:schemeClr val="tx1"/>
              </a:solidFill>
            </a:endParaRPr>
          </a:p>
        </p:txBody>
      </p:sp>
      <p:grpSp>
        <p:nvGrpSpPr>
          <p:cNvPr id="160" name="Skupina 159">
            <a:extLst>
              <a:ext uri="{FF2B5EF4-FFF2-40B4-BE49-F238E27FC236}">
                <a16:creationId xmlns:a16="http://schemas.microsoft.com/office/drawing/2014/main" id="{B1813E2F-D8B8-E40D-CB97-1F888F670DF6}"/>
              </a:ext>
            </a:extLst>
          </p:cNvPr>
          <p:cNvGrpSpPr/>
          <p:nvPr/>
        </p:nvGrpSpPr>
        <p:grpSpPr>
          <a:xfrm>
            <a:off x="7221701" y="4078975"/>
            <a:ext cx="1151703" cy="1332388"/>
            <a:chOff x="7319262" y="4434227"/>
            <a:chExt cx="1151703" cy="1332388"/>
          </a:xfrm>
        </p:grpSpPr>
        <p:pic>
          <p:nvPicPr>
            <p:cNvPr id="161" name="Obrázek 160">
              <a:extLst>
                <a:ext uri="{FF2B5EF4-FFF2-40B4-BE49-F238E27FC236}">
                  <a16:creationId xmlns:a16="http://schemas.microsoft.com/office/drawing/2014/main" id="{CECCFDA1-654E-E434-D348-F68A19CCAB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6">
                  <a:lumMod val="40000"/>
                  <a:lumOff val="60000"/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7319262" y="4434227"/>
              <a:ext cx="1151703" cy="821642"/>
            </a:xfrm>
            <a:prstGeom prst="rect">
              <a:avLst/>
            </a:prstGeom>
          </p:spPr>
        </p:pic>
        <p:sp>
          <p:nvSpPr>
            <p:cNvPr id="162" name="TextovéPole 161">
              <a:extLst>
                <a:ext uri="{FF2B5EF4-FFF2-40B4-BE49-F238E27FC236}">
                  <a16:creationId xmlns:a16="http://schemas.microsoft.com/office/drawing/2014/main" id="{ADC71CE7-66B2-23E2-75EB-5A089B1E2761}"/>
                </a:ext>
              </a:extLst>
            </p:cNvPr>
            <p:cNvSpPr txBox="1"/>
            <p:nvPr/>
          </p:nvSpPr>
          <p:spPr>
            <a:xfrm>
              <a:off x="7445910" y="5212617"/>
              <a:ext cx="913429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1000" b="1" dirty="0">
                  <a:solidFill>
                    <a:schemeClr val="accent6">
                      <a:lumMod val="50000"/>
                    </a:schemeClr>
                  </a:solidFill>
                </a:rPr>
                <a:t>Azure Synapse </a:t>
              </a:r>
              <a:r>
                <a:rPr lang="cs-CZ" sz="1000" b="1" dirty="0" err="1">
                  <a:solidFill>
                    <a:schemeClr val="accent6">
                      <a:lumMod val="50000"/>
                    </a:schemeClr>
                  </a:solidFill>
                </a:rPr>
                <a:t>Analytics</a:t>
              </a:r>
              <a:endParaRPr lang="cs-CZ" sz="1000" b="1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  <p:sp>
        <p:nvSpPr>
          <p:cNvPr id="163" name="TextovéPole 162">
            <a:extLst>
              <a:ext uri="{FF2B5EF4-FFF2-40B4-BE49-F238E27FC236}">
                <a16:creationId xmlns:a16="http://schemas.microsoft.com/office/drawing/2014/main" id="{205E0250-3B3A-AC72-33DE-648BA5E54F41}"/>
              </a:ext>
            </a:extLst>
          </p:cNvPr>
          <p:cNvSpPr txBox="1"/>
          <p:nvPr/>
        </p:nvSpPr>
        <p:spPr>
          <a:xfrm>
            <a:off x="204592" y="542679"/>
            <a:ext cx="39963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600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OVS poskytují služby občanům</a:t>
            </a:r>
          </a:p>
        </p:txBody>
      </p:sp>
      <p:grpSp>
        <p:nvGrpSpPr>
          <p:cNvPr id="164" name="Skupina 163">
            <a:extLst>
              <a:ext uri="{FF2B5EF4-FFF2-40B4-BE49-F238E27FC236}">
                <a16:creationId xmlns:a16="http://schemas.microsoft.com/office/drawing/2014/main" id="{762E6305-8280-6E8B-BFD9-60440E45BBFB}"/>
              </a:ext>
            </a:extLst>
          </p:cNvPr>
          <p:cNvGrpSpPr/>
          <p:nvPr/>
        </p:nvGrpSpPr>
        <p:grpSpPr>
          <a:xfrm>
            <a:off x="6351856" y="4342422"/>
            <a:ext cx="332412" cy="334007"/>
            <a:chOff x="6499799" y="2752546"/>
            <a:chExt cx="332412" cy="334007"/>
          </a:xfrm>
        </p:grpSpPr>
        <p:sp>
          <p:nvSpPr>
            <p:cNvPr id="165" name="Obdélník: ohnutý roh 164">
              <a:extLst>
                <a:ext uri="{FF2B5EF4-FFF2-40B4-BE49-F238E27FC236}">
                  <a16:creationId xmlns:a16="http://schemas.microsoft.com/office/drawing/2014/main" id="{B85B4C9C-33CA-0775-7209-F53D835347D2}"/>
                </a:ext>
              </a:extLst>
            </p:cNvPr>
            <p:cNvSpPr/>
            <p:nvPr/>
          </p:nvSpPr>
          <p:spPr>
            <a:xfrm rot="10800000" flipH="1">
              <a:off x="6568272" y="2752546"/>
              <a:ext cx="184864" cy="286351"/>
            </a:xfrm>
            <a:prstGeom prst="foldedCorner">
              <a:avLst>
                <a:gd name="adj" fmla="val 33457"/>
              </a:avLst>
            </a:prstGeom>
            <a:ln w="31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66" name="TextovéPole 165">
              <a:extLst>
                <a:ext uri="{FF2B5EF4-FFF2-40B4-BE49-F238E27FC236}">
                  <a16:creationId xmlns:a16="http://schemas.microsoft.com/office/drawing/2014/main" id="{48D63ED4-3B1F-0D18-1AA6-B5869857FF6F}"/>
                </a:ext>
              </a:extLst>
            </p:cNvPr>
            <p:cNvSpPr txBox="1"/>
            <p:nvPr/>
          </p:nvSpPr>
          <p:spPr>
            <a:xfrm>
              <a:off x="6499799" y="2763388"/>
              <a:ext cx="332412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500" dirty="0">
                  <a:solidFill>
                    <a:schemeClr val="accent6">
                      <a:lumMod val="50000"/>
                    </a:schemeClr>
                  </a:solidFill>
                </a:rPr>
                <a:t>JSON</a:t>
              </a:r>
              <a:br>
                <a:rPr lang="cs-CZ" sz="500" dirty="0">
                  <a:solidFill>
                    <a:schemeClr val="accent6">
                      <a:lumMod val="50000"/>
                    </a:schemeClr>
                  </a:solidFill>
                </a:rPr>
              </a:br>
              <a:r>
                <a:rPr lang="cs-CZ" sz="500" dirty="0">
                  <a:solidFill>
                    <a:schemeClr val="accent6">
                      <a:lumMod val="50000"/>
                    </a:schemeClr>
                  </a:solidFill>
                </a:rPr>
                <a:t>XML</a:t>
              </a:r>
            </a:p>
            <a:p>
              <a:pPr algn="ctr"/>
              <a:r>
                <a:rPr lang="cs-CZ" sz="500" dirty="0">
                  <a:solidFill>
                    <a:schemeClr val="accent6">
                      <a:lumMod val="50000"/>
                    </a:schemeClr>
                  </a:solidFill>
                </a:rPr>
                <a:t>CSV</a:t>
              </a:r>
            </a:p>
          </p:txBody>
        </p:sp>
      </p:grpSp>
      <p:sp>
        <p:nvSpPr>
          <p:cNvPr id="167" name="Volný tvar: obrazec 166">
            <a:extLst>
              <a:ext uri="{FF2B5EF4-FFF2-40B4-BE49-F238E27FC236}">
                <a16:creationId xmlns:a16="http://schemas.microsoft.com/office/drawing/2014/main" id="{69AC1754-ED30-C164-BAC0-78FB5FCC0FDD}"/>
              </a:ext>
            </a:extLst>
          </p:cNvPr>
          <p:cNvSpPr/>
          <p:nvPr/>
        </p:nvSpPr>
        <p:spPr>
          <a:xfrm>
            <a:off x="2668951" y="4169833"/>
            <a:ext cx="1682916" cy="1011767"/>
          </a:xfrm>
          <a:custGeom>
            <a:avLst/>
            <a:gdLst>
              <a:gd name="connsiteX0" fmla="*/ 0 w 1769534"/>
              <a:gd name="connsiteY0" fmla="*/ 1011767 h 1011767"/>
              <a:gd name="connsiteX1" fmla="*/ 469900 w 1769534"/>
              <a:gd name="connsiteY1" fmla="*/ 766234 h 1011767"/>
              <a:gd name="connsiteX2" fmla="*/ 1206500 w 1769534"/>
              <a:gd name="connsiteY2" fmla="*/ 656167 h 1011767"/>
              <a:gd name="connsiteX3" fmla="*/ 1769534 w 1769534"/>
              <a:gd name="connsiteY3" fmla="*/ 0 h 1011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9534" h="1011767">
                <a:moveTo>
                  <a:pt x="0" y="1011767"/>
                </a:moveTo>
                <a:cubicBezTo>
                  <a:pt x="134408" y="918634"/>
                  <a:pt x="268817" y="825501"/>
                  <a:pt x="469900" y="766234"/>
                </a:cubicBezTo>
                <a:cubicBezTo>
                  <a:pt x="670983" y="706967"/>
                  <a:pt x="989894" y="783873"/>
                  <a:pt x="1206500" y="656167"/>
                </a:cubicBezTo>
                <a:cubicBezTo>
                  <a:pt x="1423106" y="528461"/>
                  <a:pt x="1596320" y="264230"/>
                  <a:pt x="1769534" y="0"/>
                </a:cubicBezTo>
              </a:path>
            </a:pathLst>
          </a:custGeom>
          <a:ln w="15875">
            <a:solidFill>
              <a:srgbClr val="97DBFB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>
              <a:solidFill>
                <a:schemeClr val="tx1"/>
              </a:solidFill>
            </a:endParaRPr>
          </a:p>
        </p:txBody>
      </p:sp>
      <p:sp>
        <p:nvSpPr>
          <p:cNvPr id="168" name="TextovéPole 167">
            <a:extLst>
              <a:ext uri="{FF2B5EF4-FFF2-40B4-BE49-F238E27FC236}">
                <a16:creationId xmlns:a16="http://schemas.microsoft.com/office/drawing/2014/main" id="{01950710-02B1-260B-5AC7-8328865556D0}"/>
              </a:ext>
            </a:extLst>
          </p:cNvPr>
          <p:cNvSpPr txBox="1"/>
          <p:nvPr/>
        </p:nvSpPr>
        <p:spPr>
          <a:xfrm>
            <a:off x="247830" y="543452"/>
            <a:ext cx="41281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600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					    a disponují daty </a:t>
            </a:r>
            <a:br>
              <a:rPr lang="cs-CZ" sz="1600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cs-CZ" sz="1600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 jejich reálném využívání (obslužné kanály, úspěšnost, trvání,...)</a:t>
            </a:r>
            <a:endParaRPr lang="cs-CZ" sz="1600" dirty="0"/>
          </a:p>
        </p:txBody>
      </p:sp>
      <p:sp>
        <p:nvSpPr>
          <p:cNvPr id="169" name="Volný tvar: obrazec 168">
            <a:extLst>
              <a:ext uri="{FF2B5EF4-FFF2-40B4-BE49-F238E27FC236}">
                <a16:creationId xmlns:a16="http://schemas.microsoft.com/office/drawing/2014/main" id="{07C4CD6B-68C7-A917-CC73-8AA27926593C}"/>
              </a:ext>
            </a:extLst>
          </p:cNvPr>
          <p:cNvSpPr/>
          <p:nvPr/>
        </p:nvSpPr>
        <p:spPr>
          <a:xfrm>
            <a:off x="4382618" y="3691268"/>
            <a:ext cx="965200" cy="330200"/>
          </a:xfrm>
          <a:custGeom>
            <a:avLst/>
            <a:gdLst>
              <a:gd name="connsiteX0" fmla="*/ 0 w 965200"/>
              <a:gd name="connsiteY0" fmla="*/ 0 h 330200"/>
              <a:gd name="connsiteX1" fmla="*/ 45720 w 965200"/>
              <a:gd name="connsiteY1" fmla="*/ 76200 h 330200"/>
              <a:gd name="connsiteX2" fmla="*/ 248920 w 965200"/>
              <a:gd name="connsiteY2" fmla="*/ 223520 h 330200"/>
              <a:gd name="connsiteX3" fmla="*/ 640080 w 965200"/>
              <a:gd name="connsiteY3" fmla="*/ 243840 h 330200"/>
              <a:gd name="connsiteX4" fmla="*/ 965200 w 965200"/>
              <a:gd name="connsiteY4" fmla="*/ 330200 h 33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5200" h="330200">
                <a:moveTo>
                  <a:pt x="0" y="0"/>
                </a:moveTo>
                <a:cubicBezTo>
                  <a:pt x="2116" y="19473"/>
                  <a:pt x="4233" y="38947"/>
                  <a:pt x="45720" y="76200"/>
                </a:cubicBezTo>
                <a:cubicBezTo>
                  <a:pt x="87207" y="113453"/>
                  <a:pt x="149860" y="195580"/>
                  <a:pt x="248920" y="223520"/>
                </a:cubicBezTo>
                <a:cubicBezTo>
                  <a:pt x="347980" y="251460"/>
                  <a:pt x="520700" y="226060"/>
                  <a:pt x="640080" y="243840"/>
                </a:cubicBezTo>
                <a:cubicBezTo>
                  <a:pt x="759460" y="261620"/>
                  <a:pt x="862330" y="295910"/>
                  <a:pt x="965200" y="330200"/>
                </a:cubicBezTo>
              </a:path>
            </a:pathLst>
          </a:custGeom>
          <a:ln w="15875">
            <a:solidFill>
              <a:schemeClr val="accent6">
                <a:lumMod val="60000"/>
                <a:lumOff val="40000"/>
              </a:schemeClr>
            </a:solidFill>
            <a:prstDash val="sys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2769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6" grpId="0" animBg="1"/>
      <p:bldP spid="84" grpId="0" animBg="1"/>
      <p:bldP spid="86" grpId="0" animBg="1"/>
      <p:bldP spid="88" grpId="0" animBg="1"/>
      <p:bldP spid="100" grpId="0" animBg="1"/>
      <p:bldP spid="102" grpId="0" animBg="1"/>
      <p:bldP spid="103" grpId="0" animBg="1"/>
      <p:bldP spid="104" grpId="0" animBg="1"/>
      <p:bldP spid="106" grpId="0" animBg="1"/>
      <p:bldP spid="107" grpId="0" animBg="1"/>
      <p:bldP spid="113" grpId="0" animBg="1"/>
      <p:bldP spid="117" grpId="0" animBg="1"/>
      <p:bldP spid="119" grpId="0"/>
      <p:bldP spid="120" grpId="0"/>
      <p:bldP spid="132" grpId="0"/>
      <p:bldP spid="133" grpId="0"/>
      <p:bldP spid="134" grpId="0" animBg="1"/>
      <p:bldP spid="138" grpId="0" animBg="1"/>
      <p:bldP spid="149" grpId="0" animBg="1"/>
      <p:bldP spid="158" grpId="0" animBg="1"/>
      <p:bldP spid="159" grpId="0" animBg="1"/>
      <p:bldP spid="167" grpId="0" animBg="1"/>
      <p:bldP spid="168" grpId="0"/>
      <p:bldP spid="16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9E55B08-AB3A-4D33-B329-F14C1A781E90}"/>
              </a:ext>
            </a:extLst>
          </p:cNvPr>
          <p:cNvSpPr txBox="1">
            <a:spLocks/>
          </p:cNvSpPr>
          <p:nvPr/>
        </p:nvSpPr>
        <p:spPr>
          <a:xfrm>
            <a:off x="423687" y="714375"/>
            <a:ext cx="8342346" cy="5353049"/>
          </a:xfrm>
          <a:prstGeom prst="rect">
            <a:avLst/>
          </a:prstGeom>
        </p:spPr>
        <p:txBody>
          <a:bodyPr lIns="68580" tIns="34290" rIns="68580" bIns="3429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85800">
              <a:spcBef>
                <a:spcPts val="900"/>
              </a:spcBef>
              <a:spcAft>
                <a:spcPts val="150"/>
              </a:spcAft>
              <a:buClr>
                <a:srgbClr val="99CB38"/>
              </a:buClr>
              <a:buNone/>
            </a:pPr>
            <a:r>
              <a:rPr lang="cs-CZ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ea typeface="+mn-lt"/>
                <a:cs typeface="Calibri" panose="020F0502020204030204"/>
              </a:rPr>
              <a:t>Byla definována obecná datová struktura pro sběr dat </a:t>
            </a:r>
            <a:r>
              <a:rPr lang="cs-CZ" sz="1600" u="sng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ea typeface="+mn-lt"/>
                <a:cs typeface="Calibri" panose="020F0502020204030204"/>
              </a:rPr>
              <a:t>v jednotné podobě</a:t>
            </a:r>
            <a:r>
              <a:rPr lang="cs-CZ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ea typeface="+mn-lt"/>
                <a:cs typeface="Calibri" panose="020F0502020204030204"/>
              </a:rPr>
              <a:t> ze všech OVS</a:t>
            </a:r>
          </a:p>
          <a:p>
            <a:pPr marL="0" indent="0" defTabSz="685800">
              <a:spcBef>
                <a:spcPts val="900"/>
              </a:spcBef>
              <a:spcAft>
                <a:spcPts val="150"/>
              </a:spcAft>
              <a:buClr>
                <a:srgbClr val="99CB38"/>
              </a:buClr>
              <a:buNone/>
            </a:pPr>
            <a:r>
              <a:rPr lang="cs-CZ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ea typeface="+mn-lt"/>
                <a:cs typeface="Calibri" panose="020F0502020204030204"/>
              </a:rPr>
              <a:t>Klíčovou entitou této datové sady je </a:t>
            </a:r>
            <a:r>
              <a:rPr lang="cs-CZ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ea typeface="+mn-lt"/>
                <a:cs typeface="Calibri" panose="020F0502020204030204"/>
              </a:rPr>
              <a:t>transakce</a:t>
            </a:r>
            <a:r>
              <a:rPr lang="cs-CZ" sz="1600" dirty="0">
                <a:latin typeface="+mj-lt"/>
              </a:rPr>
              <a:t> definovaná (</a:t>
            </a:r>
            <a:r>
              <a:rPr lang="cs-CZ" sz="1600" i="1" dirty="0">
                <a:solidFill>
                  <a:prstClr val="black">
                    <a:lumMod val="75000"/>
                    <a:lumOff val="25000"/>
                  </a:prstClr>
                </a:solidFill>
                <a:ea typeface="+mn-lt"/>
                <a:cs typeface="Calibri" panose="020F0502020204030204"/>
              </a:rPr>
              <a:t>user-</a:t>
            </a:r>
            <a:r>
              <a:rPr lang="cs-CZ" sz="1600" i="1" dirty="0" err="1">
                <a:solidFill>
                  <a:prstClr val="black">
                    <a:lumMod val="75000"/>
                    <a:lumOff val="25000"/>
                  </a:prstClr>
                </a:solidFill>
                <a:ea typeface="+mn-lt"/>
                <a:cs typeface="Calibri" panose="020F0502020204030204"/>
              </a:rPr>
              <a:t>centric</a:t>
            </a:r>
            <a:r>
              <a:rPr lang="cs-CZ" sz="1600" i="1" dirty="0">
                <a:solidFill>
                  <a:prstClr val="black">
                    <a:lumMod val="75000"/>
                    <a:lumOff val="25000"/>
                  </a:prstClr>
                </a:solidFill>
                <a:ea typeface="+mn-lt"/>
                <a:cs typeface="Calibri" panose="020F0502020204030204"/>
              </a:rPr>
              <a:t>, </a:t>
            </a:r>
            <a:r>
              <a:rPr lang="cs-CZ" sz="1600" dirty="0">
                <a:latin typeface="+mj-lt"/>
              </a:rPr>
              <a:t>z pohledu klienta) jako </a:t>
            </a:r>
            <a:br>
              <a:rPr lang="cs-CZ" sz="1600" dirty="0">
                <a:latin typeface="+mj-lt"/>
              </a:rPr>
            </a:br>
            <a:r>
              <a:rPr lang="cs-CZ" sz="1600" dirty="0">
                <a:latin typeface="+mj-lt"/>
              </a:rPr>
              <a:t>jedna interakce klienta s OVS s cílem využít/poskytnout konkrétní službu</a:t>
            </a:r>
            <a:endParaRPr lang="cs-CZ" sz="1600" dirty="0">
              <a:solidFill>
                <a:prstClr val="black">
                  <a:lumMod val="75000"/>
                  <a:lumOff val="25000"/>
                </a:prstClr>
              </a:solidFill>
              <a:latin typeface="+mj-lt"/>
              <a:ea typeface="+mn-lt"/>
              <a:cs typeface="Calibri" panose="020F0502020204030204"/>
            </a:endParaRPr>
          </a:p>
          <a:p>
            <a:pPr marL="68580" indent="-68580" defTabSz="685800">
              <a:spcBef>
                <a:spcPts val="900"/>
              </a:spcBef>
              <a:spcAft>
                <a:spcPts val="150"/>
              </a:spcAft>
              <a:buClr>
                <a:srgbClr val="99CB38"/>
              </a:buClr>
              <a:buFont typeface="Wingdings,Sans-Serif" panose="05000000000000000000" pitchFamily="2" charset="2"/>
              <a:buChar char="§"/>
            </a:pPr>
            <a:endParaRPr lang="cs-CZ" sz="1600" dirty="0">
              <a:solidFill>
                <a:prstClr val="black">
                  <a:lumMod val="75000"/>
                  <a:lumOff val="25000"/>
                </a:prstClr>
              </a:solidFill>
              <a:latin typeface="+mj-lt"/>
              <a:ea typeface="+mn-lt"/>
              <a:cs typeface="Calibri" panose="020F0502020204030204"/>
            </a:endParaRPr>
          </a:p>
          <a:p>
            <a:pPr marL="68580" indent="-68580" defTabSz="685800">
              <a:spcBef>
                <a:spcPts val="900"/>
              </a:spcBef>
              <a:spcAft>
                <a:spcPts val="150"/>
              </a:spcAft>
              <a:buClr>
                <a:srgbClr val="99CB38"/>
              </a:buClr>
              <a:buFont typeface="Wingdings,Sans-Serif" panose="05000000000000000000" pitchFamily="2" charset="2"/>
              <a:buChar char="§"/>
            </a:pPr>
            <a:endParaRPr lang="cs-CZ" sz="1600" dirty="0">
              <a:solidFill>
                <a:prstClr val="black">
                  <a:lumMod val="75000"/>
                  <a:lumOff val="25000"/>
                </a:prstClr>
              </a:solidFill>
              <a:latin typeface="+mj-lt"/>
              <a:ea typeface="+mn-lt"/>
              <a:cs typeface="Calibri" panose="020F0502020204030204"/>
            </a:endParaRPr>
          </a:p>
          <a:p>
            <a:pPr marL="68580" indent="-68580" defTabSz="685800">
              <a:spcBef>
                <a:spcPts val="900"/>
              </a:spcBef>
              <a:spcAft>
                <a:spcPts val="150"/>
              </a:spcAft>
              <a:buClr>
                <a:srgbClr val="99CB38"/>
              </a:buClr>
              <a:buFont typeface="Wingdings,Sans-Serif" panose="05000000000000000000" pitchFamily="2" charset="2"/>
              <a:buChar char="§"/>
            </a:pPr>
            <a:endParaRPr lang="cs-CZ" sz="1600" dirty="0">
              <a:solidFill>
                <a:prstClr val="black">
                  <a:lumMod val="75000"/>
                  <a:lumOff val="25000"/>
                </a:prstClr>
              </a:solidFill>
              <a:latin typeface="+mj-lt"/>
              <a:ea typeface="+mn-lt"/>
              <a:cs typeface="Calibri" panose="020F0502020204030204"/>
            </a:endParaRPr>
          </a:p>
          <a:p>
            <a:pPr marL="68580" indent="-68580" defTabSz="685800">
              <a:spcBef>
                <a:spcPts val="900"/>
              </a:spcBef>
              <a:spcAft>
                <a:spcPts val="150"/>
              </a:spcAft>
              <a:buClr>
                <a:srgbClr val="99CB38"/>
              </a:buClr>
              <a:buFont typeface="Wingdings,Sans-Serif" panose="05000000000000000000" pitchFamily="2" charset="2"/>
              <a:buChar char="§"/>
            </a:pPr>
            <a:endParaRPr lang="cs-CZ" sz="1600" dirty="0">
              <a:solidFill>
                <a:prstClr val="black">
                  <a:lumMod val="75000"/>
                  <a:lumOff val="25000"/>
                </a:prstClr>
              </a:solidFill>
              <a:latin typeface="+mj-lt"/>
              <a:ea typeface="+mn-lt"/>
              <a:cs typeface="Calibri" panose="020F0502020204030204"/>
            </a:endParaRPr>
          </a:p>
          <a:p>
            <a:pPr marL="68580" indent="-68580" defTabSz="685800">
              <a:spcBef>
                <a:spcPts val="900"/>
              </a:spcBef>
              <a:spcAft>
                <a:spcPts val="150"/>
              </a:spcAft>
              <a:buClr>
                <a:srgbClr val="99CB38"/>
              </a:buClr>
              <a:buFont typeface="Wingdings,Sans-Serif" panose="05000000000000000000" pitchFamily="2" charset="2"/>
              <a:buChar char="§"/>
            </a:pPr>
            <a:endParaRPr lang="cs-CZ" sz="1600" dirty="0">
              <a:solidFill>
                <a:prstClr val="black">
                  <a:lumMod val="75000"/>
                  <a:lumOff val="25000"/>
                </a:prstClr>
              </a:solidFill>
              <a:latin typeface="+mj-lt"/>
              <a:ea typeface="+mn-lt"/>
              <a:cs typeface="Calibri" panose="020F0502020204030204"/>
            </a:endParaRPr>
          </a:p>
          <a:p>
            <a:pPr marL="68580" indent="-68580" defTabSz="685800">
              <a:spcBef>
                <a:spcPts val="900"/>
              </a:spcBef>
              <a:spcAft>
                <a:spcPts val="150"/>
              </a:spcAft>
              <a:buClr>
                <a:srgbClr val="99CB38"/>
              </a:buClr>
              <a:buFont typeface="Wingdings,Sans-Serif" panose="05000000000000000000" pitchFamily="2" charset="2"/>
              <a:buChar char="§"/>
            </a:pPr>
            <a:endParaRPr lang="cs-CZ" sz="1600" dirty="0">
              <a:solidFill>
                <a:prstClr val="black">
                  <a:lumMod val="75000"/>
                  <a:lumOff val="25000"/>
                </a:prstClr>
              </a:solidFill>
              <a:latin typeface="+mj-lt"/>
              <a:ea typeface="+mn-lt"/>
              <a:cs typeface="Calibri" panose="020F0502020204030204"/>
            </a:endParaRPr>
          </a:p>
          <a:p>
            <a:pPr marL="68580" indent="-68580" defTabSz="685800">
              <a:spcBef>
                <a:spcPts val="900"/>
              </a:spcBef>
              <a:spcAft>
                <a:spcPts val="150"/>
              </a:spcAft>
              <a:buClr>
                <a:srgbClr val="99CB38"/>
              </a:buClr>
              <a:buFont typeface="Wingdings,Sans-Serif" panose="05000000000000000000" pitchFamily="2" charset="2"/>
              <a:buChar char="§"/>
            </a:pPr>
            <a:endParaRPr lang="cs-CZ" sz="1600" dirty="0">
              <a:solidFill>
                <a:prstClr val="black">
                  <a:lumMod val="75000"/>
                  <a:lumOff val="25000"/>
                </a:prstClr>
              </a:solidFill>
              <a:latin typeface="+mj-lt"/>
              <a:ea typeface="+mn-lt"/>
              <a:cs typeface="Calibri" panose="020F0502020204030204"/>
            </a:endParaRPr>
          </a:p>
          <a:p>
            <a:pPr marL="68580" indent="-68580" defTabSz="685800">
              <a:spcBef>
                <a:spcPts val="900"/>
              </a:spcBef>
              <a:spcAft>
                <a:spcPts val="150"/>
              </a:spcAft>
              <a:buClr>
                <a:srgbClr val="99CB38"/>
              </a:buClr>
              <a:buFont typeface="Wingdings,Sans-Serif" panose="05000000000000000000" pitchFamily="2" charset="2"/>
              <a:buChar char="§"/>
            </a:pPr>
            <a:endParaRPr lang="cs-CZ" sz="2400" dirty="0">
              <a:solidFill>
                <a:prstClr val="black">
                  <a:lumMod val="75000"/>
                  <a:lumOff val="25000"/>
                </a:prstClr>
              </a:solidFill>
              <a:latin typeface="+mj-lt"/>
              <a:ea typeface="+mn-lt"/>
              <a:cs typeface="Calibri" panose="020F0502020204030204"/>
            </a:endParaRPr>
          </a:p>
          <a:p>
            <a:pPr marL="0" indent="0" defTabSz="685800">
              <a:spcBef>
                <a:spcPts val="900"/>
              </a:spcBef>
              <a:spcAft>
                <a:spcPts val="150"/>
              </a:spcAft>
              <a:buClr>
                <a:srgbClr val="99CB38"/>
              </a:buClr>
              <a:buNone/>
            </a:pPr>
            <a:r>
              <a:rPr lang="cs-CZ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ea typeface="+mn-lt"/>
                <a:cs typeface="Calibri" panose="020F0502020204030204"/>
              </a:rPr>
              <a:t>Data budou z OVS předávána v podobě </a:t>
            </a:r>
            <a:r>
              <a:rPr lang="cs-CZ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ea typeface="+mn-lt"/>
                <a:cs typeface="Calibri" panose="020F0502020204030204"/>
              </a:rPr>
              <a:t>datových souborů </a:t>
            </a:r>
            <a:br>
              <a:rPr lang="cs-CZ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ea typeface="+mn-lt"/>
                <a:cs typeface="Calibri" panose="020F0502020204030204"/>
              </a:rPr>
            </a:br>
            <a:r>
              <a:rPr lang="cs-CZ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ea typeface="+mn-lt"/>
                <a:cs typeface="Calibri" panose="020F0502020204030204"/>
              </a:rPr>
              <a:t>v jednom ze tří podporovaných formátů (JSON, XML, CSV)</a:t>
            </a:r>
          </a:p>
          <a:p>
            <a:pPr marL="0" indent="0" defTabSz="685800">
              <a:spcBef>
                <a:spcPts val="900"/>
              </a:spcBef>
              <a:spcAft>
                <a:spcPts val="150"/>
              </a:spcAft>
              <a:buClr>
                <a:srgbClr val="99CB38"/>
              </a:buClr>
              <a:buNone/>
            </a:pPr>
            <a:r>
              <a:rPr lang="cs-CZ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ea typeface="+mn-lt"/>
                <a:cs typeface="Calibri" panose="020F0502020204030204"/>
              </a:rPr>
              <a:t>Příprava dat do této podoby stejně jako jejich předání </a:t>
            </a:r>
            <a:br>
              <a:rPr lang="cs-CZ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ea typeface="+mn-lt"/>
                <a:cs typeface="Calibri" panose="020F0502020204030204"/>
              </a:rPr>
            </a:br>
            <a:r>
              <a:rPr lang="cs-CZ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ea typeface="+mn-lt"/>
                <a:cs typeface="Calibri" panose="020F0502020204030204"/>
              </a:rPr>
              <a:t>předepsaným způsobem je plně v odpovědnosti OVS</a:t>
            </a:r>
          </a:p>
          <a:p>
            <a:pPr marL="0" indent="0" defTabSz="685800">
              <a:spcBef>
                <a:spcPts val="900"/>
              </a:spcBef>
              <a:spcAft>
                <a:spcPts val="150"/>
              </a:spcAft>
              <a:buClr>
                <a:srgbClr val="99CB38"/>
              </a:buClr>
              <a:buNone/>
            </a:pPr>
            <a:endParaRPr lang="cs-CZ" sz="1600" dirty="0">
              <a:solidFill>
                <a:prstClr val="black">
                  <a:lumMod val="75000"/>
                  <a:lumOff val="25000"/>
                </a:prstClr>
              </a:solidFill>
              <a:latin typeface="+mj-lt"/>
              <a:ea typeface="+mn-lt"/>
              <a:cs typeface="Calibri" panose="020F0502020204030204"/>
            </a:endParaRPr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D57F1E4F-1CFF-5643-939E-217C01CDF565}" type="slidenum">
              <a:rPr lang="cs-CZ">
                <a:latin typeface="Calibri" panose="020F0502020204030204"/>
              </a:rPr>
              <a:pPr defTabSz="342900"/>
              <a:t>5</a:t>
            </a:fld>
            <a:endParaRPr lang="cs-CZ">
              <a:latin typeface="Calibri" panose="020F0502020204030204"/>
            </a:endParaRPr>
          </a:p>
        </p:txBody>
      </p:sp>
      <p:sp>
        <p:nvSpPr>
          <p:cNvPr id="7" name="Nadpis 1">
            <a:extLst>
              <a:ext uri="{FF2B5EF4-FFF2-40B4-BE49-F238E27FC236}">
                <a16:creationId xmlns:a16="http://schemas.microsoft.com/office/drawing/2014/main" id="{912D2763-5B07-4B84-A076-EB4688172923}"/>
              </a:ext>
            </a:extLst>
          </p:cNvPr>
          <p:cNvSpPr txBox="1">
            <a:spLocks/>
          </p:cNvSpPr>
          <p:nvPr/>
        </p:nvSpPr>
        <p:spPr>
          <a:xfrm>
            <a:off x="1" y="731"/>
            <a:ext cx="9144000" cy="5269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anchor="ctr"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000" defTabSz="685800"/>
            <a:r>
              <a:rPr lang="cs-CZ" sz="2800" b="1" spc="-38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</a:rPr>
              <a:t>JAKÁ DATA budeme zpracovávat a v jaké podobě</a:t>
            </a:r>
            <a:endParaRPr lang="en-US" sz="2800" b="1" spc="-38" dirty="0">
              <a:solidFill>
                <a:prstClr val="black">
                  <a:lumMod val="75000"/>
                  <a:lumOff val="25000"/>
                </a:prstClr>
              </a:solidFill>
              <a:latin typeface="Calibri Light" panose="020F0302020204030204"/>
            </a:endParaRPr>
          </a:p>
        </p:txBody>
      </p:sp>
      <p:grpSp>
        <p:nvGrpSpPr>
          <p:cNvPr id="9" name="Skupina 8">
            <a:extLst>
              <a:ext uri="{FF2B5EF4-FFF2-40B4-BE49-F238E27FC236}">
                <a16:creationId xmlns:a16="http://schemas.microsoft.com/office/drawing/2014/main" id="{ADCCA6F9-73BE-4A5A-8E51-1E5C2520CCE6}"/>
              </a:ext>
            </a:extLst>
          </p:cNvPr>
          <p:cNvGrpSpPr/>
          <p:nvPr/>
        </p:nvGrpSpPr>
        <p:grpSpPr>
          <a:xfrm>
            <a:off x="2212216" y="1689715"/>
            <a:ext cx="1159210" cy="1152724"/>
            <a:chOff x="6768610" y="2107661"/>
            <a:chExt cx="1123635" cy="1117347"/>
          </a:xfrm>
          <a:noFill/>
        </p:grpSpPr>
        <p:pic>
          <p:nvPicPr>
            <p:cNvPr id="10" name="Obrázek 9">
              <a:extLst>
                <a:ext uri="{FF2B5EF4-FFF2-40B4-BE49-F238E27FC236}">
                  <a16:creationId xmlns:a16="http://schemas.microsoft.com/office/drawing/2014/main" id="{F032D3C3-1803-402D-A84D-DDF1BE099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768610" y="2107661"/>
              <a:ext cx="1123635" cy="969061"/>
            </a:xfrm>
            <a:prstGeom prst="rect">
              <a:avLst/>
            </a:prstGeom>
            <a:grpFill/>
          </p:spPr>
        </p:pic>
        <p:sp>
          <p:nvSpPr>
            <p:cNvPr id="11" name="TextovéPole 10">
              <a:extLst>
                <a:ext uri="{FF2B5EF4-FFF2-40B4-BE49-F238E27FC236}">
                  <a16:creationId xmlns:a16="http://schemas.microsoft.com/office/drawing/2014/main" id="{4D3F2893-A4E3-45F5-8493-AF8C95F83337}"/>
                </a:ext>
              </a:extLst>
            </p:cNvPr>
            <p:cNvSpPr txBox="1"/>
            <p:nvPr/>
          </p:nvSpPr>
          <p:spPr>
            <a:xfrm>
              <a:off x="7005513" y="2932620"/>
              <a:ext cx="685572" cy="292388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1300" b="1" i="1" dirty="0">
                  <a:solidFill>
                    <a:schemeClr val="accent6">
                      <a:lumMod val="50000"/>
                    </a:schemeClr>
                  </a:solidFill>
                </a:rPr>
                <a:t>SLUŽBA</a:t>
              </a:r>
            </a:p>
          </p:txBody>
        </p:sp>
      </p:grpSp>
      <p:cxnSp>
        <p:nvCxnSpPr>
          <p:cNvPr id="4" name="Přímá spojnice se šipkou 3">
            <a:extLst>
              <a:ext uri="{FF2B5EF4-FFF2-40B4-BE49-F238E27FC236}">
                <a16:creationId xmlns:a16="http://schemas.microsoft.com/office/drawing/2014/main" id="{D17DE660-7328-470C-874C-DE7A86F26708}"/>
              </a:ext>
            </a:extLst>
          </p:cNvPr>
          <p:cNvCxnSpPr/>
          <p:nvPr/>
        </p:nvCxnSpPr>
        <p:spPr>
          <a:xfrm>
            <a:off x="1741954" y="3350684"/>
            <a:ext cx="2099734" cy="0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BC15CF62-09F9-4779-A260-25BDB7221BEF}"/>
              </a:ext>
            </a:extLst>
          </p:cNvPr>
          <p:cNvSpPr txBox="1"/>
          <p:nvPr/>
        </p:nvSpPr>
        <p:spPr>
          <a:xfrm>
            <a:off x="804340" y="3219776"/>
            <a:ext cx="4892540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100" b="1" dirty="0">
                <a:solidFill>
                  <a:schemeClr val="accent6">
                    <a:lumMod val="50000"/>
                  </a:schemeClr>
                </a:solidFill>
              </a:rPr>
              <a:t>transakce:</a:t>
            </a:r>
            <a:br>
              <a:rPr lang="cs-CZ" sz="1100" b="1" dirty="0"/>
            </a:br>
            <a:endParaRPr lang="cs-CZ" sz="1100" b="1" dirty="0"/>
          </a:p>
          <a:p>
            <a:pPr marL="108000"/>
            <a:r>
              <a:rPr lang="cs-CZ" sz="1100" i="1" dirty="0">
                <a:solidFill>
                  <a:schemeClr val="accent6">
                    <a:lumMod val="50000"/>
                  </a:schemeClr>
                </a:solidFill>
              </a:rPr>
              <a:t>vlastnosti/atributy:</a:t>
            </a:r>
          </a:p>
          <a:p>
            <a:pPr marL="565200" lvl="2" indent="-171450">
              <a:buFont typeface="Arial" panose="020B0604020202020204" pitchFamily="34" charset="0"/>
              <a:buChar char="•"/>
            </a:pPr>
            <a:r>
              <a:rPr lang="cs-CZ" sz="1100" dirty="0">
                <a:solidFill>
                  <a:schemeClr val="accent6">
                    <a:lumMod val="50000"/>
                  </a:schemeClr>
                </a:solidFill>
              </a:rPr>
              <a:t>unikátní identifikátor</a:t>
            </a:r>
          </a:p>
          <a:p>
            <a:pPr marL="565200" lvl="2" indent="-171450">
              <a:buFont typeface="Arial" panose="020B0604020202020204" pitchFamily="34" charset="0"/>
              <a:buChar char="•"/>
            </a:pPr>
            <a:r>
              <a:rPr lang="cs-CZ" sz="1100" dirty="0">
                <a:solidFill>
                  <a:schemeClr val="accent6">
                    <a:lumMod val="50000"/>
                  </a:schemeClr>
                </a:solidFill>
              </a:rPr>
              <a:t>hodnocení uživatelské spokojenosti</a:t>
            </a:r>
          </a:p>
          <a:p>
            <a:pPr marL="565200" lvl="2" indent="-171450">
              <a:buFont typeface="Arial" panose="020B0604020202020204" pitchFamily="34" charset="0"/>
              <a:buChar char="•"/>
            </a:pPr>
            <a:r>
              <a:rPr lang="cs-CZ" sz="1100" dirty="0">
                <a:solidFill>
                  <a:schemeClr val="accent6">
                    <a:lumMod val="50000"/>
                  </a:schemeClr>
                </a:solidFill>
              </a:rPr>
              <a:t>čas zahájení a ukončení</a:t>
            </a:r>
          </a:p>
          <a:p>
            <a:pPr marL="565200" lvl="2" indent="-171450">
              <a:buFont typeface="Arial" panose="020B0604020202020204" pitchFamily="34" charset="0"/>
              <a:buChar char="•"/>
            </a:pPr>
            <a:r>
              <a:rPr lang="cs-CZ" sz="1100" dirty="0">
                <a:solidFill>
                  <a:schemeClr val="accent6">
                    <a:lumMod val="50000"/>
                  </a:schemeClr>
                </a:solidFill>
              </a:rPr>
              <a:t>vazba na OVS, agendu, službu, obslužný kanál (vstupní a výstupní), etapy</a:t>
            </a:r>
          </a:p>
        </p:txBody>
      </p:sp>
      <p:grpSp>
        <p:nvGrpSpPr>
          <p:cNvPr id="13" name="Skupina 12">
            <a:extLst>
              <a:ext uri="{FF2B5EF4-FFF2-40B4-BE49-F238E27FC236}">
                <a16:creationId xmlns:a16="http://schemas.microsoft.com/office/drawing/2014/main" id="{C727A2AA-53AF-4FA0-A221-9790A0FD828B}"/>
              </a:ext>
            </a:extLst>
          </p:cNvPr>
          <p:cNvGrpSpPr/>
          <p:nvPr/>
        </p:nvGrpSpPr>
        <p:grpSpPr>
          <a:xfrm>
            <a:off x="6772377" y="4634977"/>
            <a:ext cx="746627" cy="543432"/>
            <a:chOff x="6494498" y="2752546"/>
            <a:chExt cx="332412" cy="293624"/>
          </a:xfrm>
        </p:grpSpPr>
        <p:sp>
          <p:nvSpPr>
            <p:cNvPr id="14" name="Obdélník: ohnutý roh 13">
              <a:extLst>
                <a:ext uri="{FF2B5EF4-FFF2-40B4-BE49-F238E27FC236}">
                  <a16:creationId xmlns:a16="http://schemas.microsoft.com/office/drawing/2014/main" id="{74AB251E-5558-4F47-8E2E-2C692C67C18A}"/>
                </a:ext>
              </a:extLst>
            </p:cNvPr>
            <p:cNvSpPr/>
            <p:nvPr/>
          </p:nvSpPr>
          <p:spPr>
            <a:xfrm rot="10800000" flipH="1">
              <a:off x="6568272" y="2752546"/>
              <a:ext cx="184864" cy="286351"/>
            </a:xfrm>
            <a:prstGeom prst="foldedCorner">
              <a:avLst>
                <a:gd name="adj" fmla="val 33457"/>
              </a:avLst>
            </a:prstGeom>
            <a:ln w="31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5" name="TextovéPole 14">
              <a:extLst>
                <a:ext uri="{FF2B5EF4-FFF2-40B4-BE49-F238E27FC236}">
                  <a16:creationId xmlns:a16="http://schemas.microsoft.com/office/drawing/2014/main" id="{7327FF4B-A0CD-4265-A8DE-9DD007D58CA3}"/>
                </a:ext>
              </a:extLst>
            </p:cNvPr>
            <p:cNvSpPr txBox="1"/>
            <p:nvPr/>
          </p:nvSpPr>
          <p:spPr>
            <a:xfrm>
              <a:off x="6494498" y="2796726"/>
              <a:ext cx="332412" cy="249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800" dirty="0">
                  <a:solidFill>
                    <a:schemeClr val="accent6">
                      <a:lumMod val="50000"/>
                    </a:schemeClr>
                  </a:solidFill>
                </a:rPr>
                <a:t>JSON</a:t>
              </a:r>
              <a:br>
                <a:rPr lang="cs-CZ" sz="800" dirty="0">
                  <a:solidFill>
                    <a:schemeClr val="accent6">
                      <a:lumMod val="50000"/>
                    </a:schemeClr>
                  </a:solidFill>
                </a:rPr>
              </a:br>
              <a:r>
                <a:rPr lang="cs-CZ" sz="800" dirty="0">
                  <a:solidFill>
                    <a:schemeClr val="accent6">
                      <a:lumMod val="50000"/>
                    </a:schemeClr>
                  </a:solidFill>
                </a:rPr>
                <a:t>XML</a:t>
              </a:r>
            </a:p>
            <a:p>
              <a:pPr algn="ctr"/>
              <a:r>
                <a:rPr lang="cs-CZ" sz="800" dirty="0">
                  <a:solidFill>
                    <a:schemeClr val="accent6">
                      <a:lumMod val="50000"/>
                    </a:schemeClr>
                  </a:solidFill>
                </a:rPr>
                <a:t>CSV</a:t>
              </a:r>
            </a:p>
          </p:txBody>
        </p:sp>
      </p:grp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F5F38F64-4169-48AD-BC88-B41A488E5B6E}"/>
              </a:ext>
            </a:extLst>
          </p:cNvPr>
          <p:cNvSpPr txBox="1"/>
          <p:nvPr/>
        </p:nvSpPr>
        <p:spPr>
          <a:xfrm>
            <a:off x="5861426" y="4976365"/>
            <a:ext cx="2764743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100" b="1" dirty="0">
                <a:solidFill>
                  <a:schemeClr val="accent6">
                    <a:lumMod val="50000"/>
                  </a:schemeClr>
                </a:solidFill>
              </a:rPr>
              <a:t>datový soubor</a:t>
            </a:r>
            <a:br>
              <a:rPr lang="cs-CZ" sz="1100" b="1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cs-CZ" sz="1100" dirty="0">
                <a:solidFill>
                  <a:schemeClr val="accent6">
                    <a:lumMod val="50000"/>
                  </a:schemeClr>
                </a:solidFill>
              </a:rPr>
              <a:t>obsahuje záznamy o všech měřených transakcích (napříč všemi službami) dokončených v období, které daný soubor pokrývá (např. jeden den)</a:t>
            </a:r>
            <a:endParaRPr lang="cs-CZ" sz="11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17" name="Přímá spojnice se šipkou 16">
            <a:extLst>
              <a:ext uri="{FF2B5EF4-FFF2-40B4-BE49-F238E27FC236}">
                <a16:creationId xmlns:a16="http://schemas.microsoft.com/office/drawing/2014/main" id="{0422F39C-ADB2-48A9-BB0F-1E3C6554314A}"/>
              </a:ext>
            </a:extLst>
          </p:cNvPr>
          <p:cNvCxnSpPr>
            <a:cxnSpLocks/>
          </p:cNvCxnSpPr>
          <p:nvPr/>
        </p:nvCxnSpPr>
        <p:spPr>
          <a:xfrm>
            <a:off x="7435185" y="4805644"/>
            <a:ext cx="713760" cy="0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headEnd type="oval" w="sm" len="sm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Přímá spojnice se šipkou 18">
            <a:extLst>
              <a:ext uri="{FF2B5EF4-FFF2-40B4-BE49-F238E27FC236}">
                <a16:creationId xmlns:a16="http://schemas.microsoft.com/office/drawing/2014/main" id="{3976E6C3-D61B-4639-BA6B-F638F38396FF}"/>
              </a:ext>
            </a:extLst>
          </p:cNvPr>
          <p:cNvCxnSpPr>
            <a:cxnSpLocks/>
          </p:cNvCxnSpPr>
          <p:nvPr/>
        </p:nvCxnSpPr>
        <p:spPr>
          <a:xfrm>
            <a:off x="7435185" y="4924443"/>
            <a:ext cx="713760" cy="0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headEnd type="oval" w="sm" len="sm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Přímá spojnice se šipkou 19">
            <a:extLst>
              <a:ext uri="{FF2B5EF4-FFF2-40B4-BE49-F238E27FC236}">
                <a16:creationId xmlns:a16="http://schemas.microsoft.com/office/drawing/2014/main" id="{FE48FCA3-2B54-460C-8209-541F4D85F045}"/>
              </a:ext>
            </a:extLst>
          </p:cNvPr>
          <p:cNvCxnSpPr>
            <a:cxnSpLocks/>
          </p:cNvCxnSpPr>
          <p:nvPr/>
        </p:nvCxnSpPr>
        <p:spPr>
          <a:xfrm>
            <a:off x="7435185" y="5106207"/>
            <a:ext cx="713760" cy="0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headEnd type="oval" w="sm" len="sm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Přímá spojnice se šipkou 22">
            <a:extLst>
              <a:ext uri="{FF2B5EF4-FFF2-40B4-BE49-F238E27FC236}">
                <a16:creationId xmlns:a16="http://schemas.microsoft.com/office/drawing/2014/main" id="{AFDDEEB2-A9D0-40DB-8FB2-C533A1D7349B}"/>
              </a:ext>
            </a:extLst>
          </p:cNvPr>
          <p:cNvCxnSpPr/>
          <p:nvPr/>
        </p:nvCxnSpPr>
        <p:spPr>
          <a:xfrm flipH="1">
            <a:off x="1912835" y="2682664"/>
            <a:ext cx="340021" cy="338667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Přímá spojnice se šipkou 23">
            <a:extLst>
              <a:ext uri="{FF2B5EF4-FFF2-40B4-BE49-F238E27FC236}">
                <a16:creationId xmlns:a16="http://schemas.microsoft.com/office/drawing/2014/main" id="{BD289876-061E-48E6-80C8-0146787C2C59}"/>
              </a:ext>
            </a:extLst>
          </p:cNvPr>
          <p:cNvCxnSpPr>
            <a:cxnSpLocks/>
          </p:cNvCxnSpPr>
          <p:nvPr/>
        </p:nvCxnSpPr>
        <p:spPr>
          <a:xfrm>
            <a:off x="3338914" y="2692435"/>
            <a:ext cx="340021" cy="338667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ovéPole 24">
            <a:extLst>
              <a:ext uri="{FF2B5EF4-FFF2-40B4-BE49-F238E27FC236}">
                <a16:creationId xmlns:a16="http://schemas.microsoft.com/office/drawing/2014/main" id="{D49AFB88-98F9-4859-ABA7-20B5B3D2A266}"/>
              </a:ext>
            </a:extLst>
          </p:cNvPr>
          <p:cNvSpPr txBox="1"/>
          <p:nvPr/>
        </p:nvSpPr>
        <p:spPr>
          <a:xfrm>
            <a:off x="1462092" y="2986011"/>
            <a:ext cx="7466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000" dirty="0">
                <a:solidFill>
                  <a:schemeClr val="accent6">
                    <a:lumMod val="75000"/>
                  </a:schemeClr>
                </a:solidFill>
              </a:rPr>
              <a:t>začátek</a:t>
            </a:r>
          </a:p>
        </p:txBody>
      </p:sp>
      <p:sp>
        <p:nvSpPr>
          <p:cNvPr id="26" name="TextovéPole 25">
            <a:extLst>
              <a:ext uri="{FF2B5EF4-FFF2-40B4-BE49-F238E27FC236}">
                <a16:creationId xmlns:a16="http://schemas.microsoft.com/office/drawing/2014/main" id="{88131603-5CE8-472F-B8F8-3A3BC6A2EF5A}"/>
              </a:ext>
            </a:extLst>
          </p:cNvPr>
          <p:cNvSpPr txBox="1"/>
          <p:nvPr/>
        </p:nvSpPr>
        <p:spPr>
          <a:xfrm>
            <a:off x="3584037" y="2992784"/>
            <a:ext cx="759705" cy="243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000" dirty="0">
                <a:solidFill>
                  <a:schemeClr val="accent6">
                    <a:lumMod val="75000"/>
                  </a:schemeClr>
                </a:solidFill>
              </a:rPr>
              <a:t>konec</a:t>
            </a:r>
          </a:p>
        </p:txBody>
      </p:sp>
      <p:sp>
        <p:nvSpPr>
          <p:cNvPr id="27" name="Levá složená závorka 26">
            <a:extLst>
              <a:ext uri="{FF2B5EF4-FFF2-40B4-BE49-F238E27FC236}">
                <a16:creationId xmlns:a16="http://schemas.microsoft.com/office/drawing/2014/main" id="{C0A6B6A8-5CC0-44BC-94B2-60121264F7F7}"/>
              </a:ext>
            </a:extLst>
          </p:cNvPr>
          <p:cNvSpPr/>
          <p:nvPr/>
        </p:nvSpPr>
        <p:spPr>
          <a:xfrm rot="5400000">
            <a:off x="2263971" y="2578274"/>
            <a:ext cx="253911" cy="1297945"/>
          </a:xfrm>
          <a:prstGeom prst="leftBrace">
            <a:avLst>
              <a:gd name="adj1" fmla="val 25067"/>
              <a:gd name="adj2" fmla="val 50000"/>
            </a:avLst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8" name="TextovéPole 27">
            <a:extLst>
              <a:ext uri="{FF2B5EF4-FFF2-40B4-BE49-F238E27FC236}">
                <a16:creationId xmlns:a16="http://schemas.microsoft.com/office/drawing/2014/main" id="{ADD83F0D-C0F3-4296-9C8C-70A55878D993}"/>
              </a:ext>
            </a:extLst>
          </p:cNvPr>
          <p:cNvSpPr txBox="1"/>
          <p:nvPr/>
        </p:nvSpPr>
        <p:spPr>
          <a:xfrm>
            <a:off x="2176592" y="2892136"/>
            <a:ext cx="759705" cy="243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000" dirty="0">
                <a:solidFill>
                  <a:schemeClr val="accent6">
                    <a:lumMod val="75000"/>
                  </a:schemeClr>
                </a:solidFill>
              </a:rPr>
              <a:t>etapa</a:t>
            </a:r>
          </a:p>
        </p:txBody>
      </p:sp>
      <p:sp>
        <p:nvSpPr>
          <p:cNvPr id="30" name="TextovéPole 29">
            <a:extLst>
              <a:ext uri="{FF2B5EF4-FFF2-40B4-BE49-F238E27FC236}">
                <a16:creationId xmlns:a16="http://schemas.microsoft.com/office/drawing/2014/main" id="{C41188AD-4DCF-4B99-8A48-DB28B8F7E09B}"/>
              </a:ext>
            </a:extLst>
          </p:cNvPr>
          <p:cNvSpPr txBox="1"/>
          <p:nvPr/>
        </p:nvSpPr>
        <p:spPr>
          <a:xfrm>
            <a:off x="3794213" y="3223877"/>
            <a:ext cx="14561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000" dirty="0">
                <a:solidFill>
                  <a:schemeClr val="accent6">
                    <a:lumMod val="75000"/>
                  </a:schemeClr>
                </a:solidFill>
              </a:rPr>
              <a:t>výsledek / výsledný stav</a:t>
            </a:r>
          </a:p>
        </p:txBody>
      </p:sp>
      <p:sp>
        <p:nvSpPr>
          <p:cNvPr id="31" name="Myšlenková bublina: obláček 30">
            <a:extLst>
              <a:ext uri="{FF2B5EF4-FFF2-40B4-BE49-F238E27FC236}">
                <a16:creationId xmlns:a16="http://schemas.microsoft.com/office/drawing/2014/main" id="{E5C4E1FA-8BED-42B8-BDBC-504F6E41AA3C}"/>
              </a:ext>
            </a:extLst>
          </p:cNvPr>
          <p:cNvSpPr/>
          <p:nvPr/>
        </p:nvSpPr>
        <p:spPr>
          <a:xfrm>
            <a:off x="3932849" y="1684663"/>
            <a:ext cx="2951925" cy="1084161"/>
          </a:xfrm>
          <a:prstGeom prst="cloudCallout">
            <a:avLst>
              <a:gd name="adj1" fmla="val -42761"/>
              <a:gd name="adj2" fmla="val 61904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sz="1050" i="1" dirty="0">
                <a:solidFill>
                  <a:schemeClr val="accent6">
                    <a:lumMod val="50000"/>
                  </a:schemeClr>
                </a:solidFill>
              </a:rPr>
              <a:t>Přesnou definici transakcí (začátek, konec, etapy, stavy) navrhne každý OVS na základě věcné znalosti svých agend, systémů a dat</a:t>
            </a:r>
          </a:p>
        </p:txBody>
      </p:sp>
      <p:sp>
        <p:nvSpPr>
          <p:cNvPr id="32" name="Volný tvar: obrazec 31">
            <a:extLst>
              <a:ext uri="{FF2B5EF4-FFF2-40B4-BE49-F238E27FC236}">
                <a16:creationId xmlns:a16="http://schemas.microsoft.com/office/drawing/2014/main" id="{6888EDB3-977E-4490-96FB-7C740FB7322A}"/>
              </a:ext>
            </a:extLst>
          </p:cNvPr>
          <p:cNvSpPr/>
          <p:nvPr/>
        </p:nvSpPr>
        <p:spPr>
          <a:xfrm>
            <a:off x="5306639" y="3407834"/>
            <a:ext cx="1631440" cy="1146365"/>
          </a:xfrm>
          <a:custGeom>
            <a:avLst/>
            <a:gdLst>
              <a:gd name="connsiteX0" fmla="*/ 0 w 1149350"/>
              <a:gd name="connsiteY0" fmla="*/ 0 h 609600"/>
              <a:gd name="connsiteX1" fmla="*/ 793750 w 1149350"/>
              <a:gd name="connsiteY1" fmla="*/ 266700 h 609600"/>
              <a:gd name="connsiteX2" fmla="*/ 1149350 w 1149350"/>
              <a:gd name="connsiteY2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49350" h="609600">
                <a:moveTo>
                  <a:pt x="0" y="0"/>
                </a:moveTo>
                <a:cubicBezTo>
                  <a:pt x="301096" y="82550"/>
                  <a:pt x="602192" y="165100"/>
                  <a:pt x="793750" y="266700"/>
                </a:cubicBezTo>
                <a:cubicBezTo>
                  <a:pt x="985308" y="368300"/>
                  <a:pt x="1067329" y="488950"/>
                  <a:pt x="1149350" y="609600"/>
                </a:cubicBezTo>
              </a:path>
            </a:pathLst>
          </a:custGeom>
          <a:ln w="15875">
            <a:solidFill>
              <a:schemeClr val="accent6">
                <a:lumMod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3" name="TextovéPole 32">
            <a:extLst>
              <a:ext uri="{FF2B5EF4-FFF2-40B4-BE49-F238E27FC236}">
                <a16:creationId xmlns:a16="http://schemas.microsoft.com/office/drawing/2014/main" id="{7B79D3C5-24DF-4D9E-A757-BF0B7613F28A}"/>
              </a:ext>
            </a:extLst>
          </p:cNvPr>
          <p:cNvSpPr txBox="1"/>
          <p:nvPr/>
        </p:nvSpPr>
        <p:spPr>
          <a:xfrm>
            <a:off x="7312881" y="4863597"/>
            <a:ext cx="759705" cy="243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000" dirty="0">
                <a:solidFill>
                  <a:schemeClr val="accent6">
                    <a:lumMod val="75000"/>
                  </a:schemeClr>
                </a:solidFill>
              </a:rPr>
              <a:t>...</a:t>
            </a:r>
          </a:p>
        </p:txBody>
      </p:sp>
      <p:sp>
        <p:nvSpPr>
          <p:cNvPr id="29" name="Myšlenková bublina: obláček 28">
            <a:extLst>
              <a:ext uri="{FF2B5EF4-FFF2-40B4-BE49-F238E27FC236}">
                <a16:creationId xmlns:a16="http://schemas.microsoft.com/office/drawing/2014/main" id="{926BA04D-82C2-4EF5-BA1A-A12117FDB69A}"/>
              </a:ext>
            </a:extLst>
          </p:cNvPr>
          <p:cNvSpPr/>
          <p:nvPr/>
        </p:nvSpPr>
        <p:spPr>
          <a:xfrm>
            <a:off x="6369736" y="2376912"/>
            <a:ext cx="2711752" cy="1752671"/>
          </a:xfrm>
          <a:prstGeom prst="cloudCallout">
            <a:avLst>
              <a:gd name="adj1" fmla="val 7403"/>
              <a:gd name="adj2" fmla="val 70902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sz="1050" i="1" dirty="0">
                <a:solidFill>
                  <a:schemeClr val="accent6">
                    <a:lumMod val="50000"/>
                  </a:schemeClr>
                </a:solidFill>
              </a:rPr>
              <a:t>Frekvence předávání datových souborů (a tím i časový rozsah jednoho souboru) bude dohodnuta individuálně podle charakteru měřených agend/služeb, možností a preferencí jednotlivých OVS</a:t>
            </a:r>
          </a:p>
        </p:txBody>
      </p:sp>
      <p:sp>
        <p:nvSpPr>
          <p:cNvPr id="34" name="TextovéPole 33">
            <a:extLst>
              <a:ext uri="{FF2B5EF4-FFF2-40B4-BE49-F238E27FC236}">
                <a16:creationId xmlns:a16="http://schemas.microsoft.com/office/drawing/2014/main" id="{5724951A-7B1E-4405-93F0-A023224C4B94}"/>
              </a:ext>
            </a:extLst>
          </p:cNvPr>
          <p:cNvSpPr txBox="1"/>
          <p:nvPr/>
        </p:nvSpPr>
        <p:spPr>
          <a:xfrm>
            <a:off x="7444155" y="4481088"/>
            <a:ext cx="8739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400" b="1" i="1" dirty="0">
                <a:solidFill>
                  <a:schemeClr val="accent6">
                    <a:lumMod val="50000"/>
                  </a:schemeClr>
                </a:solidFill>
              </a:rPr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3231932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32" grpId="0" animBg="1"/>
      <p:bldP spid="33" grpId="0"/>
      <p:bldP spid="29" grpId="0" animBg="1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D57F1E4F-1CFF-5643-939E-217C01CDF565}" type="slidenum">
              <a:rPr lang="cs-CZ">
                <a:latin typeface="Calibri" panose="020F0502020204030204"/>
              </a:rPr>
              <a:pPr defTabSz="342900"/>
              <a:t>6</a:t>
            </a:fld>
            <a:endParaRPr lang="cs-CZ">
              <a:latin typeface="Calibri" panose="020F0502020204030204"/>
            </a:endParaRPr>
          </a:p>
        </p:txBody>
      </p:sp>
      <p:sp>
        <p:nvSpPr>
          <p:cNvPr id="9" name="Nadpis 1">
            <a:extLst>
              <a:ext uri="{FF2B5EF4-FFF2-40B4-BE49-F238E27FC236}">
                <a16:creationId xmlns:a16="http://schemas.microsoft.com/office/drawing/2014/main" id="{0268E278-6001-4560-8AA8-47FB7FEC9FC8}"/>
              </a:ext>
            </a:extLst>
          </p:cNvPr>
          <p:cNvSpPr txBox="1">
            <a:spLocks/>
          </p:cNvSpPr>
          <p:nvPr/>
        </p:nvSpPr>
        <p:spPr>
          <a:xfrm>
            <a:off x="0" y="731"/>
            <a:ext cx="9144000" cy="5269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anchor="ctr"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000" defTabSz="685800"/>
            <a:r>
              <a:rPr lang="cs-CZ" sz="2800" b="1" spc="-38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</a:rPr>
              <a:t>ROZSAH sběru dat </a:t>
            </a:r>
            <a:r>
              <a:rPr lang="cs-CZ" sz="2000" b="1" spc="-38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</a:rPr>
              <a:t>= datová struktura pro sběr dat</a:t>
            </a:r>
            <a:endParaRPr lang="cs-CZ" sz="2800" b="1" spc="-38" dirty="0">
              <a:solidFill>
                <a:prstClr val="black">
                  <a:lumMod val="75000"/>
                  <a:lumOff val="25000"/>
                </a:prstClr>
              </a:solidFill>
              <a:latin typeface="Calibri Light" panose="020F0302020204030204"/>
            </a:endParaRP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C23EA339-26CB-759F-B01A-ACC175CE2D62}"/>
              </a:ext>
            </a:extLst>
          </p:cNvPr>
          <p:cNvSpPr txBox="1"/>
          <p:nvPr/>
        </p:nvSpPr>
        <p:spPr>
          <a:xfrm>
            <a:off x="476250" y="781853"/>
            <a:ext cx="8115300" cy="5153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Z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Transakce</a:t>
            </a:r>
          </a:p>
          <a:p>
            <a:pPr marL="342900" marR="0" lvl="0" indent="-34290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Identifikátor</a:t>
            </a:r>
            <a:r>
              <a:rPr kumimoji="0" lang="en-GB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/</a:t>
            </a:r>
            <a:r>
              <a:rPr kumimoji="0" lang="en-GB" sz="20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označení</a:t>
            </a:r>
            <a:r>
              <a:rPr kumimoji="0" lang="en-GB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en-GB" sz="20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transakce</a:t>
            </a:r>
            <a:endParaRPr kumimoji="0" lang="en-CZ" sz="2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Výsledek</a:t>
            </a:r>
            <a:r>
              <a:rPr kumimoji="0" lang="en-GB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en-GB" sz="20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transakce</a:t>
            </a:r>
            <a:r>
              <a:rPr kumimoji="0" lang="en-CZ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: úspěšně/neúspěšně</a:t>
            </a:r>
          </a:p>
          <a:p>
            <a:pPr marL="342900" marR="0" lvl="0" indent="-34290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Výsledný</a:t>
            </a:r>
            <a:r>
              <a:rPr kumimoji="0" lang="en-GB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en-GB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stav</a:t>
            </a:r>
            <a:r>
              <a:rPr kumimoji="0" lang="en-CZ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: </a:t>
            </a:r>
            <a:r>
              <a:rPr kumimoji="0" lang="en-GB" sz="20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konkrétní</a:t>
            </a:r>
            <a:r>
              <a:rPr kumimoji="0" lang="en-GB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en-GB" sz="20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agendově</a:t>
            </a:r>
            <a:r>
              <a:rPr kumimoji="0" lang="en-GB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en-GB" sz="20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specifický</a:t>
            </a:r>
            <a:r>
              <a:rPr kumimoji="0" lang="en-GB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en-GB" sz="20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výsledný</a:t>
            </a:r>
            <a:r>
              <a:rPr kumimoji="0" lang="en-GB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en-GB" sz="20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stav</a:t>
            </a:r>
            <a:r>
              <a:rPr kumimoji="0" lang="en-GB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</a:p>
          <a:p>
            <a:pPr marL="342900" marR="0" lvl="0" indent="-34290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Uživatelská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en-GB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spokojenost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Vazba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en-GB" sz="20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na</a:t>
            </a:r>
            <a:r>
              <a:rPr kumimoji="0" lang="en-GB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cs-CZ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OVS, </a:t>
            </a:r>
            <a:r>
              <a:rPr kumimoji="0" lang="en-GB" sz="20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agendu</a:t>
            </a:r>
            <a:r>
              <a:rPr kumimoji="0" lang="en-GB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a </a:t>
            </a:r>
            <a:r>
              <a:rPr kumimoji="0" lang="en-GB" sz="20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službu</a:t>
            </a:r>
            <a:r>
              <a:rPr kumimoji="0" lang="en-GB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VS</a:t>
            </a:r>
          </a:p>
          <a:p>
            <a:pPr marL="342900" marR="0" lvl="0" indent="-34290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Vstupní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a </a:t>
            </a:r>
            <a:r>
              <a:rPr kumimoji="0" lang="en-GB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výstupní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en-GB" sz="20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obslužný</a:t>
            </a:r>
            <a:r>
              <a:rPr kumimoji="0" lang="en-GB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en-GB" sz="20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kanál</a:t>
            </a:r>
            <a:endParaRPr kumimoji="0" lang="en-GB" sz="2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0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Čas</a:t>
            </a:r>
            <a:r>
              <a:rPr kumimoji="0" lang="en-GB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en-GB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zahájení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en-GB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20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čas</a:t>
            </a:r>
            <a:r>
              <a:rPr kumimoji="0" lang="en-GB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en-GB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ukončení</a:t>
            </a:r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[</a:t>
            </a:r>
            <a:r>
              <a:rPr kumimoji="0" lang="cs-CZ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0..n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]</a:t>
            </a:r>
            <a:r>
              <a:rPr kumimoji="0" lang="cs-CZ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en-GB" sz="20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Volitelné</a:t>
            </a:r>
            <a:r>
              <a:rPr kumimoji="0" lang="en-GB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en-GB" sz="20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parametry</a:t>
            </a:r>
            <a:r>
              <a:rPr kumimoji="0" lang="en-GB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cs-CZ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transakce </a:t>
            </a:r>
            <a:r>
              <a:rPr kumimoji="0" lang="en-GB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(</a:t>
            </a:r>
            <a:r>
              <a:rPr kumimoji="0" lang="en-GB" sz="20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sada</a:t>
            </a:r>
            <a:r>
              <a:rPr kumimoji="0" lang="en-GB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en-GB" sz="20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atribut</a:t>
            </a:r>
            <a:r>
              <a:rPr kumimoji="0" lang="en-GB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/</a:t>
            </a:r>
            <a:r>
              <a:rPr kumimoji="0" lang="en-GB" sz="20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hodnota</a:t>
            </a:r>
            <a:r>
              <a:rPr kumimoji="0" lang="en-GB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)</a:t>
            </a:r>
            <a:endParaRPr kumimoji="0" lang="en-CZ" sz="2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[</a:t>
            </a:r>
            <a:r>
              <a:rPr kumimoji="0" lang="cs-CZ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0..n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] </a:t>
            </a:r>
            <a:r>
              <a:rPr kumimoji="0" lang="en-GB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Etap</a:t>
            </a:r>
            <a:r>
              <a:rPr lang="cs-CZ" sz="2000" b="1" dirty="0" err="1">
                <a:solidFill>
                  <a:prstClr val="black"/>
                </a:solidFill>
                <a:latin typeface="+mj-lt"/>
              </a:rPr>
              <a:t>y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800100" lvl="1" indent="-34290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kumimoji="0" lang="en-GB" sz="20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Identifikátor</a:t>
            </a:r>
            <a:r>
              <a:rPr kumimoji="0" lang="en-GB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/</a:t>
            </a:r>
            <a:r>
              <a:rPr kumimoji="0" lang="en-GB" sz="20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označení</a:t>
            </a:r>
            <a:r>
              <a:rPr kumimoji="0" lang="en-GB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cs-CZ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etapy</a:t>
            </a:r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800100" lvl="1" indent="-34290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kumimoji="0" lang="en-GB" sz="20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Nazev</a:t>
            </a:r>
            <a:r>
              <a:rPr kumimoji="0" lang="cs-CZ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etapy</a:t>
            </a:r>
          </a:p>
          <a:p>
            <a:pPr marL="800100" lvl="1" indent="-34290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kumimoji="0" lang="en-GB" sz="20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Čas</a:t>
            </a:r>
            <a:r>
              <a:rPr kumimoji="0" lang="en-GB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en-GB" sz="20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zahájení</a:t>
            </a:r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800100" lvl="1" indent="-34290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cs-CZ" sz="2000" dirty="0">
                <a:solidFill>
                  <a:prstClr val="black"/>
                </a:solidFill>
                <a:latin typeface="+mj-lt"/>
              </a:rPr>
              <a:t>V</a:t>
            </a:r>
            <a:r>
              <a:rPr kumimoji="0" lang="en-GB" sz="20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azba</a:t>
            </a:r>
            <a:r>
              <a:rPr kumimoji="0" lang="en-GB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en-GB" sz="20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na</a:t>
            </a:r>
            <a:r>
              <a:rPr kumimoji="0" lang="en-GB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en-GB" sz="20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úkon</a:t>
            </a:r>
            <a:r>
              <a:rPr kumimoji="0" lang="en-GB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cs-CZ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služby </a:t>
            </a:r>
            <a:r>
              <a:rPr kumimoji="0" lang="en-GB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VS</a:t>
            </a:r>
            <a:endParaRPr kumimoji="0" lang="cs-CZ" sz="2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800100" lvl="1" indent="-34290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[</a:t>
            </a:r>
            <a:r>
              <a:rPr kumimoji="0" lang="cs-CZ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0..n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]</a:t>
            </a:r>
            <a:r>
              <a:rPr kumimoji="0" lang="cs-CZ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en-GB" sz="20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Voliteln</a:t>
            </a:r>
            <a:r>
              <a:rPr lang="cs-CZ" sz="2000" dirty="0" err="1">
                <a:solidFill>
                  <a:prstClr val="black"/>
                </a:solidFill>
                <a:latin typeface="+mj-lt"/>
              </a:rPr>
              <a:t>é</a:t>
            </a:r>
            <a:r>
              <a:rPr kumimoji="0" lang="en-GB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en-GB" sz="20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parametr</a:t>
            </a:r>
            <a:r>
              <a:rPr kumimoji="0" lang="cs-CZ" sz="20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y</a:t>
            </a:r>
            <a:r>
              <a:rPr kumimoji="0" lang="en-GB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cs-CZ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etapy </a:t>
            </a:r>
            <a:r>
              <a:rPr kumimoji="0" lang="en-GB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(</a:t>
            </a:r>
            <a:r>
              <a:rPr kumimoji="0" lang="en-GB" sz="20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sada</a:t>
            </a:r>
            <a:r>
              <a:rPr kumimoji="0" lang="en-GB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en-GB" sz="20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atribut</a:t>
            </a:r>
            <a:r>
              <a:rPr kumimoji="0" lang="en-GB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/</a:t>
            </a:r>
            <a:r>
              <a:rPr kumimoji="0" lang="en-GB" sz="20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hodnota</a:t>
            </a:r>
            <a:r>
              <a:rPr kumimoji="0" lang="en-GB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)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8173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9E55B08-AB3A-4D33-B329-F14C1A781E90}"/>
              </a:ext>
            </a:extLst>
          </p:cNvPr>
          <p:cNvSpPr txBox="1">
            <a:spLocks/>
          </p:cNvSpPr>
          <p:nvPr/>
        </p:nvSpPr>
        <p:spPr>
          <a:xfrm>
            <a:off x="223661" y="3933826"/>
            <a:ext cx="8610599" cy="2686049"/>
          </a:xfrm>
          <a:prstGeom prst="rect">
            <a:avLst/>
          </a:prstGeom>
        </p:spPr>
        <p:txBody>
          <a:bodyPr lIns="68580" tIns="34290" rIns="68580" bIns="3429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85800">
              <a:spcBef>
                <a:spcPts val="900"/>
              </a:spcBef>
              <a:spcAft>
                <a:spcPts val="150"/>
              </a:spcAft>
              <a:buClr>
                <a:srgbClr val="99CB38"/>
              </a:buClr>
              <a:buNone/>
            </a:pPr>
            <a:r>
              <a:rPr lang="cs-CZ" sz="1800" b="1" dirty="0">
                <a:effectLst/>
                <a:latin typeface="+mj-lt"/>
                <a:ea typeface="Times New Roman" panose="02020603050405020304" pitchFamily="18" charset="0"/>
              </a:rPr>
              <a:t>Pilotní provoz</a:t>
            </a:r>
            <a:endParaRPr lang="cs-CZ" sz="1800" b="1" dirty="0">
              <a:solidFill>
                <a:prstClr val="black">
                  <a:lumMod val="75000"/>
                  <a:lumOff val="25000"/>
                </a:prstClr>
              </a:solidFill>
              <a:latin typeface="+mj-lt"/>
              <a:ea typeface="+mn-lt"/>
              <a:cs typeface="Calibri" panose="020F0502020204030204"/>
            </a:endParaRPr>
          </a:p>
          <a:p>
            <a:pPr marL="292608" lvl="1" indent="0" defTabSz="685800">
              <a:spcBef>
                <a:spcPts val="900"/>
              </a:spcBef>
              <a:spcAft>
                <a:spcPts val="150"/>
              </a:spcAft>
              <a:buClr>
                <a:srgbClr val="99CB38"/>
              </a:buClr>
              <a:buNone/>
            </a:pPr>
            <a:r>
              <a:rPr lang="cs-CZ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ea typeface="+mn-lt"/>
                <a:cs typeface="Calibri" panose="020F0502020204030204"/>
              </a:rPr>
              <a:t>zahrnuto 5-10 vybraných ústředních OVS a 20-30 jimi poskytovaných služeb</a:t>
            </a:r>
          </a:p>
          <a:p>
            <a:pPr marL="292608" lvl="1" indent="0" defTabSz="685800">
              <a:spcBef>
                <a:spcPts val="900"/>
              </a:spcBef>
              <a:spcAft>
                <a:spcPts val="150"/>
              </a:spcAft>
              <a:buClr>
                <a:srgbClr val="99CB38"/>
              </a:buClr>
              <a:buNone/>
            </a:pPr>
            <a:r>
              <a:rPr lang="pl-PL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ea typeface="+mn-lt"/>
                <a:cs typeface="Calibri" panose="020F0502020204030204"/>
              </a:rPr>
              <a:t>po dobu 6 měsíců (cca do konce roku 2022)</a:t>
            </a:r>
          </a:p>
          <a:p>
            <a:pPr marL="0" indent="0" defTabSz="685800">
              <a:spcBef>
                <a:spcPts val="900"/>
              </a:spcBef>
              <a:spcAft>
                <a:spcPts val="150"/>
              </a:spcAft>
              <a:buClr>
                <a:srgbClr val="99CB38"/>
              </a:buClr>
              <a:buNone/>
            </a:pPr>
            <a:r>
              <a:rPr lang="cs-CZ" sz="1800" b="1" dirty="0">
                <a:latin typeface="+mj-lt"/>
              </a:rPr>
              <a:t>Běžný provoz</a:t>
            </a:r>
          </a:p>
          <a:p>
            <a:pPr marL="292608" lvl="1" indent="0" defTabSz="685800">
              <a:spcBef>
                <a:spcPts val="900"/>
              </a:spcBef>
              <a:spcAft>
                <a:spcPts val="150"/>
              </a:spcAft>
              <a:buClr>
                <a:srgbClr val="99CB38"/>
              </a:buClr>
              <a:buNone/>
            </a:pPr>
            <a:r>
              <a:rPr lang="pl-PL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ea typeface="+mn-lt"/>
                <a:cs typeface="Calibri" panose="020F0502020204030204"/>
              </a:rPr>
              <a:t>budou zahrnuty všechny další služby VS splňující stanovená kritéria např. </a:t>
            </a:r>
            <a:r>
              <a:rPr lang="pl-PL" sz="16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ea typeface="+mn-lt"/>
                <a:cs typeface="Calibri" panose="020F0502020204030204"/>
              </a:rPr>
              <a:t>četnosti</a:t>
            </a:r>
            <a:r>
              <a:rPr lang="pl-PL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ea typeface="+mn-lt"/>
                <a:cs typeface="Calibri" panose="020F0502020204030204"/>
              </a:rPr>
              <a:t> </a:t>
            </a:r>
            <a:r>
              <a:rPr lang="pl-PL" sz="16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ea typeface="+mn-lt"/>
                <a:cs typeface="Calibri" panose="020F0502020204030204"/>
              </a:rPr>
              <a:t>transakcí</a:t>
            </a:r>
            <a:r>
              <a:rPr lang="pl-PL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ea typeface="+mn-lt"/>
                <a:cs typeface="Calibri" panose="020F0502020204030204"/>
              </a:rPr>
              <a:t> nad stanovenou hranicí (5000/rok) a další</a:t>
            </a:r>
          </a:p>
          <a:p>
            <a:pPr marL="292608" lvl="1" indent="0" defTabSz="685800">
              <a:spcBef>
                <a:spcPts val="900"/>
              </a:spcBef>
              <a:spcAft>
                <a:spcPts val="150"/>
              </a:spcAft>
              <a:buClr>
                <a:srgbClr val="99CB38"/>
              </a:buClr>
              <a:buNone/>
            </a:pPr>
            <a:r>
              <a:rPr lang="cs-CZ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ea typeface="+mn-lt"/>
                <a:cs typeface="Calibri" panose="020F0502020204030204"/>
              </a:rPr>
              <a:t>očekáváme zvýšení počtu zapojených OVS, služeb, předávaných souborů atd. zhruba o jeden řád</a:t>
            </a:r>
          </a:p>
          <a:p>
            <a:pPr marL="292608" lvl="1" indent="0" defTabSz="685800">
              <a:spcBef>
                <a:spcPts val="900"/>
              </a:spcBef>
              <a:spcAft>
                <a:spcPts val="150"/>
              </a:spcAft>
              <a:buClr>
                <a:srgbClr val="99CB38"/>
              </a:buClr>
              <a:buNone/>
            </a:pPr>
            <a:endParaRPr lang="cs-CZ" sz="1600" dirty="0">
              <a:solidFill>
                <a:prstClr val="black">
                  <a:lumMod val="75000"/>
                  <a:lumOff val="25000"/>
                </a:prstClr>
              </a:solidFill>
              <a:latin typeface="+mj-lt"/>
              <a:ea typeface="+mn-lt"/>
              <a:cs typeface="Calibri" panose="020F0502020204030204"/>
            </a:endParaRPr>
          </a:p>
          <a:p>
            <a:pPr marL="577350" lvl="1" indent="-285750" defTabSz="685800">
              <a:spcBef>
                <a:spcPts val="900"/>
              </a:spcBef>
              <a:spcAft>
                <a:spcPts val="150"/>
              </a:spcAft>
              <a:buClr>
                <a:srgbClr val="99CB38"/>
              </a:buClr>
            </a:pPr>
            <a:endParaRPr lang="cs-CZ" sz="1800" dirty="0">
              <a:solidFill>
                <a:prstClr val="black">
                  <a:lumMod val="75000"/>
                  <a:lumOff val="25000"/>
                </a:prstClr>
              </a:solidFill>
              <a:latin typeface="+mj-lt"/>
              <a:ea typeface="+mn-lt"/>
              <a:cs typeface="Calibri" panose="020F0502020204030204"/>
            </a:endParaRPr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D57F1E4F-1CFF-5643-939E-217C01CDF565}" type="slidenum">
              <a:rPr lang="cs-CZ">
                <a:latin typeface="Calibri" panose="020F0502020204030204"/>
              </a:rPr>
              <a:pPr defTabSz="342900"/>
              <a:t>7</a:t>
            </a:fld>
            <a:endParaRPr lang="cs-CZ">
              <a:latin typeface="Calibri" panose="020F0502020204030204"/>
            </a:endParaRPr>
          </a:p>
        </p:txBody>
      </p:sp>
      <p:sp>
        <p:nvSpPr>
          <p:cNvPr id="9" name="Nadpis 1">
            <a:extLst>
              <a:ext uri="{FF2B5EF4-FFF2-40B4-BE49-F238E27FC236}">
                <a16:creationId xmlns:a16="http://schemas.microsoft.com/office/drawing/2014/main" id="{0268E278-6001-4560-8AA8-47FB7FEC9FC8}"/>
              </a:ext>
            </a:extLst>
          </p:cNvPr>
          <p:cNvSpPr txBox="1">
            <a:spLocks/>
          </p:cNvSpPr>
          <p:nvPr/>
        </p:nvSpPr>
        <p:spPr>
          <a:xfrm>
            <a:off x="0" y="731"/>
            <a:ext cx="9144000" cy="5269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anchor="ctr"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000" defTabSz="685800"/>
            <a:r>
              <a:rPr lang="cs-CZ" sz="2800" b="1" spc="-38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</a:rPr>
              <a:t>TECHNICKÉ ŘEŠENÍ </a:t>
            </a:r>
            <a:r>
              <a:rPr lang="cs-CZ" sz="2800" b="1" spc="-38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</a:rPr>
              <a:t>sběru dat (v pilotu)</a:t>
            </a:r>
            <a:endParaRPr lang="cs-CZ" sz="2800" b="1" spc="-38" dirty="0">
              <a:solidFill>
                <a:prstClr val="black">
                  <a:lumMod val="75000"/>
                  <a:lumOff val="25000"/>
                </a:prstClr>
              </a:solidFill>
              <a:latin typeface="Calibri Light" panose="020F0302020204030204"/>
            </a:endParaRPr>
          </a:p>
        </p:txBody>
      </p:sp>
      <p:sp>
        <p:nvSpPr>
          <p:cNvPr id="10" name="Nadpis 1">
            <a:extLst>
              <a:ext uri="{FF2B5EF4-FFF2-40B4-BE49-F238E27FC236}">
                <a16:creationId xmlns:a16="http://schemas.microsoft.com/office/drawing/2014/main" id="{A6C2D4AB-5C58-426D-94CC-ECAF6224728B}"/>
              </a:ext>
            </a:extLst>
          </p:cNvPr>
          <p:cNvSpPr txBox="1">
            <a:spLocks/>
          </p:cNvSpPr>
          <p:nvPr/>
        </p:nvSpPr>
        <p:spPr>
          <a:xfrm>
            <a:off x="0" y="3322501"/>
            <a:ext cx="9144000" cy="5269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anchor="ctr"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000" defTabSz="685800"/>
            <a:r>
              <a:rPr lang="cs-CZ" sz="2800" b="1" spc="-38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</a:rPr>
              <a:t>PRŮBĚH pilotního a běžného provozu</a:t>
            </a:r>
          </a:p>
        </p:txBody>
      </p:sp>
      <p:sp>
        <p:nvSpPr>
          <p:cNvPr id="38" name="Obdélník: se zakulacenými rohy 37">
            <a:extLst>
              <a:ext uri="{FF2B5EF4-FFF2-40B4-BE49-F238E27FC236}">
                <a16:creationId xmlns:a16="http://schemas.microsoft.com/office/drawing/2014/main" id="{32E4A550-B84D-4DF0-A7EF-60683049B2EB}"/>
              </a:ext>
            </a:extLst>
          </p:cNvPr>
          <p:cNvSpPr/>
          <p:nvPr/>
        </p:nvSpPr>
        <p:spPr>
          <a:xfrm>
            <a:off x="7005154" y="564006"/>
            <a:ext cx="747580" cy="1403863"/>
          </a:xfrm>
          <a:prstGeom prst="roundRect">
            <a:avLst/>
          </a:prstGeom>
          <a:noFill/>
          <a:ln w="38100">
            <a:solidFill>
              <a:srgbClr val="000000">
                <a:alpha val="47843"/>
              </a:srgb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77204927">
                  <a:custGeom>
                    <a:avLst/>
                    <a:gdLst>
                      <a:gd name="connsiteX0" fmla="*/ 0 w 3749972"/>
                      <a:gd name="connsiteY0" fmla="*/ 436444 h 2618614"/>
                      <a:gd name="connsiteX1" fmla="*/ 436444 w 3749972"/>
                      <a:gd name="connsiteY1" fmla="*/ 0 h 2618614"/>
                      <a:gd name="connsiteX2" fmla="*/ 954319 w 3749972"/>
                      <a:gd name="connsiteY2" fmla="*/ 0 h 2618614"/>
                      <a:gd name="connsiteX3" fmla="*/ 1500965 w 3749972"/>
                      <a:gd name="connsiteY3" fmla="*/ 0 h 2618614"/>
                      <a:gd name="connsiteX4" fmla="*/ 2076382 w 3749972"/>
                      <a:gd name="connsiteY4" fmla="*/ 0 h 2618614"/>
                      <a:gd name="connsiteX5" fmla="*/ 2623028 w 3749972"/>
                      <a:gd name="connsiteY5" fmla="*/ 0 h 2618614"/>
                      <a:gd name="connsiteX6" fmla="*/ 3313528 w 3749972"/>
                      <a:gd name="connsiteY6" fmla="*/ 0 h 2618614"/>
                      <a:gd name="connsiteX7" fmla="*/ 3749972 w 3749972"/>
                      <a:gd name="connsiteY7" fmla="*/ 436444 h 2618614"/>
                      <a:gd name="connsiteX8" fmla="*/ 3749972 w 3749972"/>
                      <a:gd name="connsiteY8" fmla="*/ 1018353 h 2618614"/>
                      <a:gd name="connsiteX9" fmla="*/ 3749972 w 3749972"/>
                      <a:gd name="connsiteY9" fmla="*/ 1600261 h 2618614"/>
                      <a:gd name="connsiteX10" fmla="*/ 3749972 w 3749972"/>
                      <a:gd name="connsiteY10" fmla="*/ 2182170 h 2618614"/>
                      <a:gd name="connsiteX11" fmla="*/ 3313528 w 3749972"/>
                      <a:gd name="connsiteY11" fmla="*/ 2618614 h 2618614"/>
                      <a:gd name="connsiteX12" fmla="*/ 2738111 w 3749972"/>
                      <a:gd name="connsiteY12" fmla="*/ 2618614 h 2618614"/>
                      <a:gd name="connsiteX13" fmla="*/ 2133924 w 3749972"/>
                      <a:gd name="connsiteY13" fmla="*/ 2618614 h 2618614"/>
                      <a:gd name="connsiteX14" fmla="*/ 1500965 w 3749972"/>
                      <a:gd name="connsiteY14" fmla="*/ 2618614 h 2618614"/>
                      <a:gd name="connsiteX15" fmla="*/ 436444 w 3749972"/>
                      <a:gd name="connsiteY15" fmla="*/ 2618614 h 2618614"/>
                      <a:gd name="connsiteX16" fmla="*/ 0 w 3749972"/>
                      <a:gd name="connsiteY16" fmla="*/ 2182170 h 2618614"/>
                      <a:gd name="connsiteX17" fmla="*/ 0 w 3749972"/>
                      <a:gd name="connsiteY17" fmla="*/ 1635176 h 2618614"/>
                      <a:gd name="connsiteX18" fmla="*/ 0 w 3749972"/>
                      <a:gd name="connsiteY18" fmla="*/ 1105639 h 2618614"/>
                      <a:gd name="connsiteX19" fmla="*/ 0 w 3749972"/>
                      <a:gd name="connsiteY19" fmla="*/ 436444 h 26186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</a:cxnLst>
                    <a:rect l="l" t="t" r="r" b="b"/>
                    <a:pathLst>
                      <a:path w="3749972" h="2618614" extrusionOk="0">
                        <a:moveTo>
                          <a:pt x="0" y="436444"/>
                        </a:moveTo>
                        <a:cubicBezTo>
                          <a:pt x="17121" y="208685"/>
                          <a:pt x="166282" y="-5838"/>
                          <a:pt x="436444" y="0"/>
                        </a:cubicBezTo>
                        <a:cubicBezTo>
                          <a:pt x="619619" y="-15630"/>
                          <a:pt x="840292" y="13945"/>
                          <a:pt x="954319" y="0"/>
                        </a:cubicBezTo>
                        <a:cubicBezTo>
                          <a:pt x="1068347" y="-13945"/>
                          <a:pt x="1266404" y="-13102"/>
                          <a:pt x="1500965" y="0"/>
                        </a:cubicBezTo>
                        <a:cubicBezTo>
                          <a:pt x="1735526" y="13102"/>
                          <a:pt x="1822721" y="-4249"/>
                          <a:pt x="2076382" y="0"/>
                        </a:cubicBezTo>
                        <a:cubicBezTo>
                          <a:pt x="2330043" y="4249"/>
                          <a:pt x="2387230" y="-16075"/>
                          <a:pt x="2623028" y="0"/>
                        </a:cubicBezTo>
                        <a:cubicBezTo>
                          <a:pt x="2858826" y="16075"/>
                          <a:pt x="3071371" y="-17961"/>
                          <a:pt x="3313528" y="0"/>
                        </a:cubicBezTo>
                        <a:cubicBezTo>
                          <a:pt x="3541265" y="-11927"/>
                          <a:pt x="3781639" y="211914"/>
                          <a:pt x="3749972" y="436444"/>
                        </a:cubicBezTo>
                        <a:cubicBezTo>
                          <a:pt x="3735724" y="555682"/>
                          <a:pt x="3771053" y="844441"/>
                          <a:pt x="3749972" y="1018353"/>
                        </a:cubicBezTo>
                        <a:cubicBezTo>
                          <a:pt x="3728891" y="1192265"/>
                          <a:pt x="3721960" y="1455765"/>
                          <a:pt x="3749972" y="1600261"/>
                        </a:cubicBezTo>
                        <a:cubicBezTo>
                          <a:pt x="3777984" y="1744757"/>
                          <a:pt x="3737762" y="2030445"/>
                          <a:pt x="3749972" y="2182170"/>
                        </a:cubicBezTo>
                        <a:cubicBezTo>
                          <a:pt x="3776331" y="2394891"/>
                          <a:pt x="3565858" y="2652746"/>
                          <a:pt x="3313528" y="2618614"/>
                        </a:cubicBezTo>
                        <a:cubicBezTo>
                          <a:pt x="3033209" y="2614172"/>
                          <a:pt x="2859258" y="2639984"/>
                          <a:pt x="2738111" y="2618614"/>
                        </a:cubicBezTo>
                        <a:cubicBezTo>
                          <a:pt x="2616964" y="2597244"/>
                          <a:pt x="2333143" y="2590120"/>
                          <a:pt x="2133924" y="2618614"/>
                        </a:cubicBezTo>
                        <a:cubicBezTo>
                          <a:pt x="1934705" y="2647108"/>
                          <a:pt x="1814104" y="2628389"/>
                          <a:pt x="1500965" y="2618614"/>
                        </a:cubicBezTo>
                        <a:cubicBezTo>
                          <a:pt x="1187826" y="2608839"/>
                          <a:pt x="715736" y="2572206"/>
                          <a:pt x="436444" y="2618614"/>
                        </a:cubicBezTo>
                        <a:cubicBezTo>
                          <a:pt x="198393" y="2602242"/>
                          <a:pt x="22784" y="2380422"/>
                          <a:pt x="0" y="2182170"/>
                        </a:cubicBezTo>
                        <a:cubicBezTo>
                          <a:pt x="26751" y="1997812"/>
                          <a:pt x="24217" y="1790289"/>
                          <a:pt x="0" y="1635176"/>
                        </a:cubicBezTo>
                        <a:cubicBezTo>
                          <a:pt x="-24217" y="1480063"/>
                          <a:pt x="6787" y="1325067"/>
                          <a:pt x="0" y="1105639"/>
                        </a:cubicBezTo>
                        <a:cubicBezTo>
                          <a:pt x="-6787" y="886211"/>
                          <a:pt x="25235" y="655403"/>
                          <a:pt x="0" y="43644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t"/>
          <a:lstStyle/>
          <a:p>
            <a:r>
              <a:rPr lang="cs-CZ" sz="1600" b="1" i="1" dirty="0">
                <a:solidFill>
                  <a:schemeClr val="tx1"/>
                </a:solidFill>
              </a:rPr>
              <a:t>          </a:t>
            </a:r>
          </a:p>
        </p:txBody>
      </p:sp>
      <p:sp>
        <p:nvSpPr>
          <p:cNvPr id="39" name="TextovéPole 38">
            <a:extLst>
              <a:ext uri="{FF2B5EF4-FFF2-40B4-BE49-F238E27FC236}">
                <a16:creationId xmlns:a16="http://schemas.microsoft.com/office/drawing/2014/main" id="{DE6871D5-12A3-46E4-92F9-AB03FB72D41F}"/>
              </a:ext>
            </a:extLst>
          </p:cNvPr>
          <p:cNvSpPr txBox="1"/>
          <p:nvPr/>
        </p:nvSpPr>
        <p:spPr>
          <a:xfrm>
            <a:off x="7005154" y="585478"/>
            <a:ext cx="10402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2400" b="1" i="1" dirty="0"/>
              <a:t>OVS</a:t>
            </a:r>
            <a:endParaRPr lang="cs-CZ" sz="2400" dirty="0"/>
          </a:p>
        </p:txBody>
      </p:sp>
      <p:grpSp>
        <p:nvGrpSpPr>
          <p:cNvPr id="40" name="Skupina 39">
            <a:extLst>
              <a:ext uri="{FF2B5EF4-FFF2-40B4-BE49-F238E27FC236}">
                <a16:creationId xmlns:a16="http://schemas.microsoft.com/office/drawing/2014/main" id="{97B6240B-C49B-4BA8-A891-FAFC9DA9032A}"/>
              </a:ext>
            </a:extLst>
          </p:cNvPr>
          <p:cNvGrpSpPr/>
          <p:nvPr/>
        </p:nvGrpSpPr>
        <p:grpSpPr>
          <a:xfrm>
            <a:off x="8147346" y="2082234"/>
            <a:ext cx="913429" cy="949901"/>
            <a:chOff x="6835154" y="3209459"/>
            <a:chExt cx="1794809" cy="2721445"/>
          </a:xfrm>
        </p:grpSpPr>
        <p:sp>
          <p:nvSpPr>
            <p:cNvPr id="41" name="Obdélník: se zakulacenými rohy 40">
              <a:extLst>
                <a:ext uri="{FF2B5EF4-FFF2-40B4-BE49-F238E27FC236}">
                  <a16:creationId xmlns:a16="http://schemas.microsoft.com/office/drawing/2014/main" id="{CA45CCEA-5FFB-4F31-A765-282CF5AA3AA5}"/>
                </a:ext>
              </a:extLst>
            </p:cNvPr>
            <p:cNvSpPr/>
            <p:nvPr/>
          </p:nvSpPr>
          <p:spPr>
            <a:xfrm>
              <a:off x="6835154" y="3209459"/>
              <a:ext cx="1794809" cy="2710077"/>
            </a:xfrm>
            <a:prstGeom prst="roundRect">
              <a:avLst/>
            </a:prstGeom>
            <a:noFill/>
            <a:ln w="38100">
              <a:solidFill>
                <a:srgbClr val="066E9F">
                  <a:alpha val="49020"/>
                </a:srgbClr>
              </a:solidFill>
              <a:prstDash val="sysDash"/>
              <a:extLst>
                <a:ext uri="{C807C97D-BFC1-408E-A445-0C87EB9F89A2}">
                  <ask:lineSketchStyleProps xmlns:ask="http://schemas.microsoft.com/office/drawing/2018/sketchyshapes" sd="377204927">
                    <a:custGeom>
                      <a:avLst/>
                      <a:gdLst>
                        <a:gd name="connsiteX0" fmla="*/ 0 w 3749972"/>
                        <a:gd name="connsiteY0" fmla="*/ 436444 h 2618614"/>
                        <a:gd name="connsiteX1" fmla="*/ 436444 w 3749972"/>
                        <a:gd name="connsiteY1" fmla="*/ 0 h 2618614"/>
                        <a:gd name="connsiteX2" fmla="*/ 954319 w 3749972"/>
                        <a:gd name="connsiteY2" fmla="*/ 0 h 2618614"/>
                        <a:gd name="connsiteX3" fmla="*/ 1500965 w 3749972"/>
                        <a:gd name="connsiteY3" fmla="*/ 0 h 2618614"/>
                        <a:gd name="connsiteX4" fmla="*/ 2076382 w 3749972"/>
                        <a:gd name="connsiteY4" fmla="*/ 0 h 2618614"/>
                        <a:gd name="connsiteX5" fmla="*/ 2623028 w 3749972"/>
                        <a:gd name="connsiteY5" fmla="*/ 0 h 2618614"/>
                        <a:gd name="connsiteX6" fmla="*/ 3313528 w 3749972"/>
                        <a:gd name="connsiteY6" fmla="*/ 0 h 2618614"/>
                        <a:gd name="connsiteX7" fmla="*/ 3749972 w 3749972"/>
                        <a:gd name="connsiteY7" fmla="*/ 436444 h 2618614"/>
                        <a:gd name="connsiteX8" fmla="*/ 3749972 w 3749972"/>
                        <a:gd name="connsiteY8" fmla="*/ 1018353 h 2618614"/>
                        <a:gd name="connsiteX9" fmla="*/ 3749972 w 3749972"/>
                        <a:gd name="connsiteY9" fmla="*/ 1600261 h 2618614"/>
                        <a:gd name="connsiteX10" fmla="*/ 3749972 w 3749972"/>
                        <a:gd name="connsiteY10" fmla="*/ 2182170 h 2618614"/>
                        <a:gd name="connsiteX11" fmla="*/ 3313528 w 3749972"/>
                        <a:gd name="connsiteY11" fmla="*/ 2618614 h 2618614"/>
                        <a:gd name="connsiteX12" fmla="*/ 2738111 w 3749972"/>
                        <a:gd name="connsiteY12" fmla="*/ 2618614 h 2618614"/>
                        <a:gd name="connsiteX13" fmla="*/ 2133924 w 3749972"/>
                        <a:gd name="connsiteY13" fmla="*/ 2618614 h 2618614"/>
                        <a:gd name="connsiteX14" fmla="*/ 1500965 w 3749972"/>
                        <a:gd name="connsiteY14" fmla="*/ 2618614 h 2618614"/>
                        <a:gd name="connsiteX15" fmla="*/ 436444 w 3749972"/>
                        <a:gd name="connsiteY15" fmla="*/ 2618614 h 2618614"/>
                        <a:gd name="connsiteX16" fmla="*/ 0 w 3749972"/>
                        <a:gd name="connsiteY16" fmla="*/ 2182170 h 2618614"/>
                        <a:gd name="connsiteX17" fmla="*/ 0 w 3749972"/>
                        <a:gd name="connsiteY17" fmla="*/ 1635176 h 2618614"/>
                        <a:gd name="connsiteX18" fmla="*/ 0 w 3749972"/>
                        <a:gd name="connsiteY18" fmla="*/ 1105639 h 2618614"/>
                        <a:gd name="connsiteX19" fmla="*/ 0 w 3749972"/>
                        <a:gd name="connsiteY19" fmla="*/ 436444 h 261861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</a:cxnLst>
                      <a:rect l="l" t="t" r="r" b="b"/>
                      <a:pathLst>
                        <a:path w="3749972" h="2618614" extrusionOk="0">
                          <a:moveTo>
                            <a:pt x="0" y="436444"/>
                          </a:moveTo>
                          <a:cubicBezTo>
                            <a:pt x="17121" y="208685"/>
                            <a:pt x="166282" y="-5838"/>
                            <a:pt x="436444" y="0"/>
                          </a:cubicBezTo>
                          <a:cubicBezTo>
                            <a:pt x="619619" y="-15630"/>
                            <a:pt x="840292" y="13945"/>
                            <a:pt x="954319" y="0"/>
                          </a:cubicBezTo>
                          <a:cubicBezTo>
                            <a:pt x="1068347" y="-13945"/>
                            <a:pt x="1266404" y="-13102"/>
                            <a:pt x="1500965" y="0"/>
                          </a:cubicBezTo>
                          <a:cubicBezTo>
                            <a:pt x="1735526" y="13102"/>
                            <a:pt x="1822721" y="-4249"/>
                            <a:pt x="2076382" y="0"/>
                          </a:cubicBezTo>
                          <a:cubicBezTo>
                            <a:pt x="2330043" y="4249"/>
                            <a:pt x="2387230" y="-16075"/>
                            <a:pt x="2623028" y="0"/>
                          </a:cubicBezTo>
                          <a:cubicBezTo>
                            <a:pt x="2858826" y="16075"/>
                            <a:pt x="3071371" y="-17961"/>
                            <a:pt x="3313528" y="0"/>
                          </a:cubicBezTo>
                          <a:cubicBezTo>
                            <a:pt x="3541265" y="-11927"/>
                            <a:pt x="3781639" y="211914"/>
                            <a:pt x="3749972" y="436444"/>
                          </a:cubicBezTo>
                          <a:cubicBezTo>
                            <a:pt x="3735724" y="555682"/>
                            <a:pt x="3771053" y="844441"/>
                            <a:pt x="3749972" y="1018353"/>
                          </a:cubicBezTo>
                          <a:cubicBezTo>
                            <a:pt x="3728891" y="1192265"/>
                            <a:pt x="3721960" y="1455765"/>
                            <a:pt x="3749972" y="1600261"/>
                          </a:cubicBezTo>
                          <a:cubicBezTo>
                            <a:pt x="3777984" y="1744757"/>
                            <a:pt x="3737762" y="2030445"/>
                            <a:pt x="3749972" y="2182170"/>
                          </a:cubicBezTo>
                          <a:cubicBezTo>
                            <a:pt x="3776331" y="2394891"/>
                            <a:pt x="3565858" y="2652746"/>
                            <a:pt x="3313528" y="2618614"/>
                          </a:cubicBezTo>
                          <a:cubicBezTo>
                            <a:pt x="3033209" y="2614172"/>
                            <a:pt x="2859258" y="2639984"/>
                            <a:pt x="2738111" y="2618614"/>
                          </a:cubicBezTo>
                          <a:cubicBezTo>
                            <a:pt x="2616964" y="2597244"/>
                            <a:pt x="2333143" y="2590120"/>
                            <a:pt x="2133924" y="2618614"/>
                          </a:cubicBezTo>
                          <a:cubicBezTo>
                            <a:pt x="1934705" y="2647108"/>
                            <a:pt x="1814104" y="2628389"/>
                            <a:pt x="1500965" y="2618614"/>
                          </a:cubicBezTo>
                          <a:cubicBezTo>
                            <a:pt x="1187826" y="2608839"/>
                            <a:pt x="715736" y="2572206"/>
                            <a:pt x="436444" y="2618614"/>
                          </a:cubicBezTo>
                          <a:cubicBezTo>
                            <a:pt x="198393" y="2602242"/>
                            <a:pt x="22784" y="2380422"/>
                            <a:pt x="0" y="2182170"/>
                          </a:cubicBezTo>
                          <a:cubicBezTo>
                            <a:pt x="26751" y="1997812"/>
                            <a:pt x="24217" y="1790289"/>
                            <a:pt x="0" y="1635176"/>
                          </a:cubicBezTo>
                          <a:cubicBezTo>
                            <a:pt x="-24217" y="1480063"/>
                            <a:pt x="6787" y="1325067"/>
                            <a:pt x="0" y="1105639"/>
                          </a:cubicBezTo>
                          <a:cubicBezTo>
                            <a:pt x="-6787" y="886211"/>
                            <a:pt x="25235" y="655403"/>
                            <a:pt x="0" y="436444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t"/>
            <a:lstStyle/>
            <a:p>
              <a:r>
                <a:rPr lang="cs-CZ" sz="1600" b="1" i="1" dirty="0">
                  <a:solidFill>
                    <a:schemeClr val="tx1"/>
                  </a:solidFill>
                </a:rPr>
                <a:t>          </a:t>
              </a:r>
            </a:p>
          </p:txBody>
        </p:sp>
        <p:sp>
          <p:nvSpPr>
            <p:cNvPr id="42" name="TextovéPole 41">
              <a:extLst>
                <a:ext uri="{FF2B5EF4-FFF2-40B4-BE49-F238E27FC236}">
                  <a16:creationId xmlns:a16="http://schemas.microsoft.com/office/drawing/2014/main" id="{9554EFD6-8F30-42E2-94E3-9E0E93222E1F}"/>
                </a:ext>
              </a:extLst>
            </p:cNvPr>
            <p:cNvSpPr txBox="1"/>
            <p:nvPr/>
          </p:nvSpPr>
          <p:spPr>
            <a:xfrm>
              <a:off x="7096594" y="5137308"/>
              <a:ext cx="1359455" cy="7935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cs-CZ" sz="1200" b="1" i="1">
                  <a:solidFill>
                    <a:schemeClr val="accent6">
                      <a:lumMod val="50000"/>
                    </a:schemeClr>
                  </a:solidFill>
                </a:rPr>
                <a:t>(NAKIT)</a:t>
              </a:r>
              <a:endParaRPr lang="cs-CZ" sz="1200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  <p:grpSp>
        <p:nvGrpSpPr>
          <p:cNvPr id="43" name="Skupina 42">
            <a:extLst>
              <a:ext uri="{FF2B5EF4-FFF2-40B4-BE49-F238E27FC236}">
                <a16:creationId xmlns:a16="http://schemas.microsoft.com/office/drawing/2014/main" id="{943FEF61-594F-4AAB-955D-DB6E8FF0D386}"/>
              </a:ext>
            </a:extLst>
          </p:cNvPr>
          <p:cNvGrpSpPr/>
          <p:nvPr/>
        </p:nvGrpSpPr>
        <p:grpSpPr>
          <a:xfrm>
            <a:off x="7687422" y="2082234"/>
            <a:ext cx="913429" cy="648421"/>
            <a:chOff x="7035939" y="4537177"/>
            <a:chExt cx="1289318" cy="933981"/>
          </a:xfrm>
        </p:grpSpPr>
        <p:pic>
          <p:nvPicPr>
            <p:cNvPr id="44" name="Obrázek 43">
              <a:extLst>
                <a:ext uri="{FF2B5EF4-FFF2-40B4-BE49-F238E27FC236}">
                  <a16:creationId xmlns:a16="http://schemas.microsoft.com/office/drawing/2014/main" id="{6E9E3BD0-4ECA-406F-8E28-0E0647AE43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46877" y="4537177"/>
              <a:ext cx="986973" cy="866227"/>
            </a:xfrm>
            <a:prstGeom prst="rect">
              <a:avLst/>
            </a:prstGeom>
          </p:spPr>
        </p:pic>
        <p:sp>
          <p:nvSpPr>
            <p:cNvPr id="45" name="TextovéPole 44">
              <a:extLst>
                <a:ext uri="{FF2B5EF4-FFF2-40B4-BE49-F238E27FC236}">
                  <a16:creationId xmlns:a16="http://schemas.microsoft.com/office/drawing/2014/main" id="{2D09AB19-C7CB-4C13-9782-C2EDE716DDAA}"/>
                </a:ext>
              </a:extLst>
            </p:cNvPr>
            <p:cNvSpPr txBox="1"/>
            <p:nvPr/>
          </p:nvSpPr>
          <p:spPr>
            <a:xfrm>
              <a:off x="7035939" y="5224937"/>
              <a:ext cx="128931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1000" b="1" dirty="0">
                  <a:solidFill>
                    <a:schemeClr val="accent6">
                      <a:lumMod val="50000"/>
                    </a:schemeClr>
                  </a:solidFill>
                </a:rPr>
                <a:t>Azure </a:t>
              </a:r>
              <a:r>
                <a:rPr lang="cs-CZ" sz="1000" b="1" dirty="0" err="1">
                  <a:solidFill>
                    <a:schemeClr val="accent6">
                      <a:lumMod val="50000"/>
                    </a:schemeClr>
                  </a:solidFill>
                </a:rPr>
                <a:t>Storage</a:t>
              </a:r>
              <a:endParaRPr lang="cs-CZ" sz="1000" b="1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  <p:sp>
        <p:nvSpPr>
          <p:cNvPr id="46" name="Volný tvar: obrazec 45">
            <a:extLst>
              <a:ext uri="{FF2B5EF4-FFF2-40B4-BE49-F238E27FC236}">
                <a16:creationId xmlns:a16="http://schemas.microsoft.com/office/drawing/2014/main" id="{5182B803-78AB-4E2E-845B-AB5AE1C4B882}"/>
              </a:ext>
            </a:extLst>
          </p:cNvPr>
          <p:cNvSpPr/>
          <p:nvPr/>
        </p:nvSpPr>
        <p:spPr>
          <a:xfrm>
            <a:off x="7364946" y="1532380"/>
            <a:ext cx="641380" cy="609600"/>
          </a:xfrm>
          <a:custGeom>
            <a:avLst/>
            <a:gdLst>
              <a:gd name="connsiteX0" fmla="*/ 0 w 1149350"/>
              <a:gd name="connsiteY0" fmla="*/ 0 h 609600"/>
              <a:gd name="connsiteX1" fmla="*/ 793750 w 1149350"/>
              <a:gd name="connsiteY1" fmla="*/ 266700 h 609600"/>
              <a:gd name="connsiteX2" fmla="*/ 1149350 w 1149350"/>
              <a:gd name="connsiteY2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49350" h="609600">
                <a:moveTo>
                  <a:pt x="0" y="0"/>
                </a:moveTo>
                <a:cubicBezTo>
                  <a:pt x="301096" y="82550"/>
                  <a:pt x="602192" y="165100"/>
                  <a:pt x="793750" y="266700"/>
                </a:cubicBezTo>
                <a:cubicBezTo>
                  <a:pt x="985308" y="368300"/>
                  <a:pt x="1067329" y="488950"/>
                  <a:pt x="1149350" y="609600"/>
                </a:cubicBezTo>
              </a:path>
            </a:pathLst>
          </a:custGeom>
          <a:ln w="15875">
            <a:solidFill>
              <a:schemeClr val="accent6">
                <a:lumMod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>
              <a:solidFill>
                <a:schemeClr val="tx1"/>
              </a:solidFill>
            </a:endParaRPr>
          </a:p>
        </p:txBody>
      </p:sp>
      <p:grpSp>
        <p:nvGrpSpPr>
          <p:cNvPr id="47" name="Skupina 46">
            <a:extLst>
              <a:ext uri="{FF2B5EF4-FFF2-40B4-BE49-F238E27FC236}">
                <a16:creationId xmlns:a16="http://schemas.microsoft.com/office/drawing/2014/main" id="{F6A8976D-1029-4FC5-8606-8961C675094F}"/>
              </a:ext>
            </a:extLst>
          </p:cNvPr>
          <p:cNvGrpSpPr/>
          <p:nvPr/>
        </p:nvGrpSpPr>
        <p:grpSpPr>
          <a:xfrm>
            <a:off x="7595402" y="1579608"/>
            <a:ext cx="332412" cy="334007"/>
            <a:chOff x="6499799" y="2752546"/>
            <a:chExt cx="332412" cy="334007"/>
          </a:xfrm>
        </p:grpSpPr>
        <p:sp>
          <p:nvSpPr>
            <p:cNvPr id="48" name="Obdélník: ohnutý roh 47">
              <a:extLst>
                <a:ext uri="{FF2B5EF4-FFF2-40B4-BE49-F238E27FC236}">
                  <a16:creationId xmlns:a16="http://schemas.microsoft.com/office/drawing/2014/main" id="{53AA82A8-2EED-4791-9092-0748030AC8A2}"/>
                </a:ext>
              </a:extLst>
            </p:cNvPr>
            <p:cNvSpPr/>
            <p:nvPr/>
          </p:nvSpPr>
          <p:spPr>
            <a:xfrm rot="10800000" flipH="1">
              <a:off x="6568272" y="2752546"/>
              <a:ext cx="184864" cy="286351"/>
            </a:xfrm>
            <a:prstGeom prst="foldedCorner">
              <a:avLst>
                <a:gd name="adj" fmla="val 33457"/>
              </a:avLst>
            </a:prstGeom>
            <a:ln w="31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49" name="TextovéPole 48">
              <a:extLst>
                <a:ext uri="{FF2B5EF4-FFF2-40B4-BE49-F238E27FC236}">
                  <a16:creationId xmlns:a16="http://schemas.microsoft.com/office/drawing/2014/main" id="{0A6B47C8-E3A8-4C11-A206-28AFE8987259}"/>
                </a:ext>
              </a:extLst>
            </p:cNvPr>
            <p:cNvSpPr txBox="1"/>
            <p:nvPr/>
          </p:nvSpPr>
          <p:spPr>
            <a:xfrm>
              <a:off x="6499799" y="2763388"/>
              <a:ext cx="332412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500" dirty="0">
                  <a:solidFill>
                    <a:schemeClr val="accent6">
                      <a:lumMod val="50000"/>
                    </a:schemeClr>
                  </a:solidFill>
                </a:rPr>
                <a:t>JSON</a:t>
              </a:r>
              <a:br>
                <a:rPr lang="cs-CZ" sz="500" dirty="0">
                  <a:solidFill>
                    <a:schemeClr val="accent6">
                      <a:lumMod val="50000"/>
                    </a:schemeClr>
                  </a:solidFill>
                </a:rPr>
              </a:br>
              <a:r>
                <a:rPr lang="cs-CZ" sz="500" dirty="0">
                  <a:solidFill>
                    <a:schemeClr val="accent6">
                      <a:lumMod val="50000"/>
                    </a:schemeClr>
                  </a:solidFill>
                </a:rPr>
                <a:t>XML</a:t>
              </a:r>
            </a:p>
            <a:p>
              <a:pPr algn="ctr"/>
              <a:r>
                <a:rPr lang="cs-CZ" sz="500" dirty="0">
                  <a:solidFill>
                    <a:schemeClr val="accent6">
                      <a:lumMod val="50000"/>
                    </a:schemeClr>
                  </a:solidFill>
                </a:rPr>
                <a:t>CSV</a:t>
              </a:r>
            </a:p>
          </p:txBody>
        </p:sp>
      </p:grpSp>
      <p:sp>
        <p:nvSpPr>
          <p:cNvPr id="50" name="TextovéPole 49">
            <a:extLst>
              <a:ext uri="{FF2B5EF4-FFF2-40B4-BE49-F238E27FC236}">
                <a16:creationId xmlns:a16="http://schemas.microsoft.com/office/drawing/2014/main" id="{9C1001AA-FEC3-4281-9905-A03E79289E71}"/>
              </a:ext>
            </a:extLst>
          </p:cNvPr>
          <p:cNvSpPr txBox="1"/>
          <p:nvPr/>
        </p:nvSpPr>
        <p:spPr>
          <a:xfrm>
            <a:off x="7132368" y="1003074"/>
            <a:ext cx="8739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400" b="1" i="1" dirty="0">
                <a:solidFill>
                  <a:schemeClr val="accent6">
                    <a:lumMod val="50000"/>
                  </a:schemeClr>
                </a:solidFill>
              </a:rPr>
              <a:t>DATA</a:t>
            </a:r>
          </a:p>
        </p:txBody>
      </p:sp>
      <p:cxnSp>
        <p:nvCxnSpPr>
          <p:cNvPr id="55" name="Přímá spojnice se šipkou 54">
            <a:extLst>
              <a:ext uri="{FF2B5EF4-FFF2-40B4-BE49-F238E27FC236}">
                <a16:creationId xmlns:a16="http://schemas.microsoft.com/office/drawing/2014/main" id="{13B62CC9-9FA0-4A03-86C2-665F528BC044}"/>
              </a:ext>
            </a:extLst>
          </p:cNvPr>
          <p:cNvCxnSpPr>
            <a:cxnSpLocks/>
          </p:cNvCxnSpPr>
          <p:nvPr/>
        </p:nvCxnSpPr>
        <p:spPr>
          <a:xfrm>
            <a:off x="7300464" y="1310690"/>
            <a:ext cx="255185" cy="0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headEnd type="oval" w="sm" len="sm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Přímá spojnice se šipkou 55">
            <a:extLst>
              <a:ext uri="{FF2B5EF4-FFF2-40B4-BE49-F238E27FC236}">
                <a16:creationId xmlns:a16="http://schemas.microsoft.com/office/drawing/2014/main" id="{DF7C9B96-7119-4C53-AFE7-6B8E95A69633}"/>
              </a:ext>
            </a:extLst>
          </p:cNvPr>
          <p:cNvCxnSpPr>
            <a:cxnSpLocks/>
          </p:cNvCxnSpPr>
          <p:nvPr/>
        </p:nvCxnSpPr>
        <p:spPr>
          <a:xfrm>
            <a:off x="7300464" y="1389269"/>
            <a:ext cx="255185" cy="0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headEnd type="oval" w="sm" len="sm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Přímá spojnice se šipkou 56">
            <a:extLst>
              <a:ext uri="{FF2B5EF4-FFF2-40B4-BE49-F238E27FC236}">
                <a16:creationId xmlns:a16="http://schemas.microsoft.com/office/drawing/2014/main" id="{4D827E23-780E-4306-9A39-8321D27F03DB}"/>
              </a:ext>
            </a:extLst>
          </p:cNvPr>
          <p:cNvCxnSpPr>
            <a:cxnSpLocks/>
          </p:cNvCxnSpPr>
          <p:nvPr/>
        </p:nvCxnSpPr>
        <p:spPr>
          <a:xfrm>
            <a:off x="7300464" y="1505415"/>
            <a:ext cx="255185" cy="0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headEnd type="oval" w="sm" len="sm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TextovéPole 57">
            <a:extLst>
              <a:ext uri="{FF2B5EF4-FFF2-40B4-BE49-F238E27FC236}">
                <a16:creationId xmlns:a16="http://schemas.microsoft.com/office/drawing/2014/main" id="{078E0EA8-FE18-4401-93C3-56C5BD1AF8B3}"/>
              </a:ext>
            </a:extLst>
          </p:cNvPr>
          <p:cNvSpPr txBox="1"/>
          <p:nvPr/>
        </p:nvSpPr>
        <p:spPr>
          <a:xfrm>
            <a:off x="7191253" y="1306200"/>
            <a:ext cx="27161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900" dirty="0">
                <a:solidFill>
                  <a:schemeClr val="accent6">
                    <a:lumMod val="75000"/>
                  </a:schemeClr>
                </a:solidFill>
              </a:rPr>
              <a:t>...</a:t>
            </a:r>
          </a:p>
        </p:txBody>
      </p:sp>
      <p:sp>
        <p:nvSpPr>
          <p:cNvPr id="66" name="Zástupný obsah 2">
            <a:extLst>
              <a:ext uri="{FF2B5EF4-FFF2-40B4-BE49-F238E27FC236}">
                <a16:creationId xmlns:a16="http://schemas.microsoft.com/office/drawing/2014/main" id="{FA7AA23F-3B79-4EC0-B7B8-5C7A85A02BCA}"/>
              </a:ext>
            </a:extLst>
          </p:cNvPr>
          <p:cNvSpPr txBox="1">
            <a:spLocks/>
          </p:cNvSpPr>
          <p:nvPr/>
        </p:nvSpPr>
        <p:spPr>
          <a:xfrm>
            <a:off x="171735" y="754373"/>
            <a:ext cx="6597683" cy="2397189"/>
          </a:xfrm>
          <a:prstGeom prst="rect">
            <a:avLst/>
          </a:prstGeom>
        </p:spPr>
        <p:txBody>
          <a:bodyPr lIns="68580" tIns="34290" rIns="68580" bIns="3429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-1008" defTabSz="685800">
              <a:spcBef>
                <a:spcPts val="900"/>
              </a:spcBef>
              <a:spcAft>
                <a:spcPts val="150"/>
              </a:spcAft>
              <a:buClr>
                <a:srgbClr val="99CB38"/>
              </a:buClr>
              <a:buNone/>
            </a:pPr>
            <a:r>
              <a:rPr lang="cs-CZ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ea typeface="+mn-lt"/>
                <a:cs typeface="Calibri" panose="020F0502020204030204"/>
              </a:rPr>
              <a:t>OVS dodávající data budou pravidelně (na své straně ideálně automatizovaně) nahrávat datové soubory pomocí utility </a:t>
            </a:r>
            <a:r>
              <a:rPr lang="cs-CZ" sz="16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ea typeface="+mn-lt"/>
                <a:cs typeface="Calibri" panose="020F0502020204030204"/>
              </a:rPr>
              <a:t>AzCopy</a:t>
            </a:r>
            <a:r>
              <a:rPr lang="cs-CZ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ea typeface="+mn-lt"/>
                <a:cs typeface="Calibri" panose="020F0502020204030204"/>
              </a:rPr>
              <a:t> do Azure Storage nebo pomocí API.</a:t>
            </a:r>
          </a:p>
          <a:p>
            <a:pPr marL="0" indent="-1008" defTabSz="685800">
              <a:spcBef>
                <a:spcPts val="900"/>
              </a:spcBef>
              <a:spcAft>
                <a:spcPts val="150"/>
              </a:spcAft>
              <a:buClr>
                <a:srgbClr val="99CB38"/>
              </a:buClr>
              <a:buNone/>
            </a:pPr>
            <a:r>
              <a:rPr lang="cs-CZ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ea typeface="+mn-lt"/>
                <a:cs typeface="Calibri" panose="020F0502020204030204"/>
              </a:rPr>
              <a:t>Pro každý OVS dodávající data v něm bude vytvořen vlastní kontejner</a:t>
            </a:r>
          </a:p>
          <a:p>
            <a:pPr marL="0" indent="-1008" defTabSz="685800">
              <a:spcBef>
                <a:spcPts val="900"/>
              </a:spcBef>
              <a:spcAft>
                <a:spcPts val="150"/>
              </a:spcAft>
              <a:buClr>
                <a:srgbClr val="99CB38"/>
              </a:buClr>
              <a:buNone/>
            </a:pPr>
            <a:r>
              <a:rPr lang="cs-CZ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ea typeface="+mn-lt"/>
                <a:cs typeface="Calibri" panose="020F0502020204030204"/>
              </a:rPr>
              <a:t>Při autorizaci pro přístup ke kontejneru bude využit SAS token předem vygenerovaný pro každý OVS a jemu předaný datovou schránkou </a:t>
            </a:r>
          </a:p>
        </p:txBody>
      </p:sp>
      <p:grpSp>
        <p:nvGrpSpPr>
          <p:cNvPr id="70" name="Skupina 69">
            <a:extLst>
              <a:ext uri="{FF2B5EF4-FFF2-40B4-BE49-F238E27FC236}">
                <a16:creationId xmlns:a16="http://schemas.microsoft.com/office/drawing/2014/main" id="{E7C7380D-EB97-464C-B224-D8A83F279F9C}"/>
              </a:ext>
            </a:extLst>
          </p:cNvPr>
          <p:cNvGrpSpPr/>
          <p:nvPr/>
        </p:nvGrpSpPr>
        <p:grpSpPr>
          <a:xfrm>
            <a:off x="7848739" y="1389269"/>
            <a:ext cx="873958" cy="548297"/>
            <a:chOff x="7861945" y="1140123"/>
            <a:chExt cx="873958" cy="548297"/>
          </a:xfrm>
        </p:grpSpPr>
        <p:pic>
          <p:nvPicPr>
            <p:cNvPr id="68" name="Obrázek 67">
              <a:extLst>
                <a:ext uri="{FF2B5EF4-FFF2-40B4-BE49-F238E27FC236}">
                  <a16:creationId xmlns:a16="http://schemas.microsoft.com/office/drawing/2014/main" id="{622211F0-5085-4FDF-9BB3-23FB96A7D46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rcRect t="4370"/>
            <a:stretch/>
          </p:blipFill>
          <p:spPr>
            <a:xfrm>
              <a:off x="8019532" y="1140123"/>
              <a:ext cx="403037" cy="371658"/>
            </a:xfrm>
            <a:prstGeom prst="rect">
              <a:avLst/>
            </a:prstGeom>
          </p:spPr>
        </p:pic>
        <p:sp>
          <p:nvSpPr>
            <p:cNvPr id="69" name="TextovéPole 68">
              <a:extLst>
                <a:ext uri="{FF2B5EF4-FFF2-40B4-BE49-F238E27FC236}">
                  <a16:creationId xmlns:a16="http://schemas.microsoft.com/office/drawing/2014/main" id="{FEB149F2-291E-4F06-96E0-B07B1A087630}"/>
                </a:ext>
              </a:extLst>
            </p:cNvPr>
            <p:cNvSpPr txBox="1"/>
            <p:nvPr/>
          </p:nvSpPr>
          <p:spPr>
            <a:xfrm>
              <a:off x="7861945" y="1411421"/>
              <a:ext cx="87395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s-CZ" sz="1200" b="1" i="1" dirty="0" err="1">
                  <a:solidFill>
                    <a:schemeClr val="accent6">
                      <a:lumMod val="50000"/>
                    </a:schemeClr>
                  </a:solidFill>
                </a:rPr>
                <a:t>AzCopy</a:t>
              </a:r>
              <a:endParaRPr lang="cs-CZ" sz="1200" b="1" i="1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0232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D57F1E4F-1CFF-5643-939E-217C01CDF565}" type="slidenum">
              <a:rPr lang="cs-CZ">
                <a:latin typeface="Calibri" panose="020F0502020204030204"/>
              </a:rPr>
              <a:pPr defTabSz="342900"/>
              <a:t>8</a:t>
            </a:fld>
            <a:endParaRPr lang="cs-CZ">
              <a:latin typeface="Calibri" panose="020F0502020204030204"/>
            </a:endParaRPr>
          </a:p>
        </p:txBody>
      </p:sp>
      <p:sp>
        <p:nvSpPr>
          <p:cNvPr id="9" name="Nadpis 1">
            <a:extLst>
              <a:ext uri="{FF2B5EF4-FFF2-40B4-BE49-F238E27FC236}">
                <a16:creationId xmlns:a16="http://schemas.microsoft.com/office/drawing/2014/main" id="{0268E278-6001-4560-8AA8-47FB7FEC9FC8}"/>
              </a:ext>
            </a:extLst>
          </p:cNvPr>
          <p:cNvSpPr txBox="1">
            <a:spLocks/>
          </p:cNvSpPr>
          <p:nvPr/>
        </p:nvSpPr>
        <p:spPr>
          <a:xfrm>
            <a:off x="1" y="731"/>
            <a:ext cx="9144000" cy="5269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anchor="ctr"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000" defTabSz="685800"/>
            <a:r>
              <a:rPr lang="cs-CZ" sz="2800" b="1" spc="-38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</a:rPr>
              <a:t>JAKÝ min. </a:t>
            </a:r>
            <a:r>
              <a:rPr lang="cs-CZ" sz="2800" b="1" spc="-38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</a:rPr>
              <a:t>VÝSTUP chceme získat (příklad)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ACE479E0-8860-402A-9118-49705D9A7D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16" y="824980"/>
            <a:ext cx="9067800" cy="50482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ovéPole 6">
            <a:extLst>
              <a:ext uri="{FF2B5EF4-FFF2-40B4-BE49-F238E27FC236}">
                <a16:creationId xmlns:a16="http://schemas.microsoft.com/office/drawing/2014/main" id="{F1B4DC2D-9901-4FFB-BB0B-B88D16C6FD2B}"/>
              </a:ext>
            </a:extLst>
          </p:cNvPr>
          <p:cNvSpPr txBox="1"/>
          <p:nvPr/>
        </p:nvSpPr>
        <p:spPr>
          <a:xfrm>
            <a:off x="83844" y="4212705"/>
            <a:ext cx="164660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900" b="1" dirty="0">
                <a:latin typeface="Arial" panose="020B0604020202020204" pitchFamily="34" charset="0"/>
                <a:cs typeface="Arial" panose="020B0604020202020204" pitchFamily="34" charset="0"/>
              </a:rPr>
              <a:t>Rozložení transakcí v čase</a:t>
            </a:r>
          </a:p>
        </p:txBody>
      </p:sp>
      <p:pic>
        <p:nvPicPr>
          <p:cNvPr id="12" name="Obrázek 11">
            <a:extLst>
              <a:ext uri="{FF2B5EF4-FFF2-40B4-BE49-F238E27FC236}">
                <a16:creationId xmlns:a16="http://schemas.microsoft.com/office/drawing/2014/main" id="{F231C2E5-A943-479C-A877-4956C2EAB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5327" y="2754477"/>
            <a:ext cx="1510863" cy="192983"/>
          </a:xfrm>
          <a:prstGeom prst="rect">
            <a:avLst/>
          </a:prstGeom>
        </p:spPr>
      </p:pic>
      <p:sp>
        <p:nvSpPr>
          <p:cNvPr id="11" name="TextovéPole 10">
            <a:extLst>
              <a:ext uri="{FF2B5EF4-FFF2-40B4-BE49-F238E27FC236}">
                <a16:creationId xmlns:a16="http://schemas.microsoft.com/office/drawing/2014/main" id="{16710080-6A96-49C4-8426-D18365FEA1D1}"/>
              </a:ext>
            </a:extLst>
          </p:cNvPr>
          <p:cNvSpPr txBox="1"/>
          <p:nvPr/>
        </p:nvSpPr>
        <p:spPr>
          <a:xfrm>
            <a:off x="2172994" y="4212705"/>
            <a:ext cx="180850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900" dirty="0">
                <a:latin typeface="Arial" panose="020B0604020202020204" pitchFamily="34" charset="0"/>
                <a:cs typeface="Arial" panose="020B0604020202020204" pitchFamily="34" charset="0"/>
              </a:rPr>
              <a:t>pohled přes:       </a:t>
            </a:r>
            <a:r>
              <a:rPr lang="cs-CZ" sz="800" dirty="0">
                <a:latin typeface="Arial" panose="020B0604020202020204" pitchFamily="34" charset="0"/>
                <a:cs typeface="Arial" panose="020B0604020202020204" pitchFamily="34" charset="0"/>
              </a:rPr>
              <a:t>datum ukončení</a:t>
            </a:r>
            <a:endParaRPr lang="cs-CZ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Obrázek 13">
            <a:extLst>
              <a:ext uri="{FF2B5EF4-FFF2-40B4-BE49-F238E27FC236}">
                <a16:creationId xmlns:a16="http://schemas.microsoft.com/office/drawing/2014/main" id="{72BF59B2-EBA5-47FA-B079-4619F7DD56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8430" y="4256335"/>
            <a:ext cx="212725" cy="319088"/>
          </a:xfrm>
          <a:prstGeom prst="rect">
            <a:avLst/>
          </a:prstGeom>
        </p:spPr>
      </p:pic>
      <p:sp>
        <p:nvSpPr>
          <p:cNvPr id="15" name="TextovéPole 14">
            <a:extLst>
              <a:ext uri="{FF2B5EF4-FFF2-40B4-BE49-F238E27FC236}">
                <a16:creationId xmlns:a16="http://schemas.microsoft.com/office/drawing/2014/main" id="{3F8732E2-E903-4D27-BFA2-7344FA684A54}"/>
              </a:ext>
            </a:extLst>
          </p:cNvPr>
          <p:cNvSpPr txBox="1"/>
          <p:nvPr/>
        </p:nvSpPr>
        <p:spPr>
          <a:xfrm>
            <a:off x="3021142" y="4367633"/>
            <a:ext cx="89159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800" dirty="0">
                <a:latin typeface="Arial" panose="020B0604020202020204" pitchFamily="34" charset="0"/>
                <a:cs typeface="Arial" panose="020B0604020202020204" pitchFamily="34" charset="0"/>
              </a:rPr>
              <a:t>datum zahájení</a:t>
            </a:r>
            <a:endParaRPr lang="cs-CZ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E0327AFA-5E2C-4FC9-A9F9-7E41FA7D28CC}"/>
              </a:ext>
            </a:extLst>
          </p:cNvPr>
          <p:cNvSpPr txBox="1"/>
          <p:nvPr/>
        </p:nvSpPr>
        <p:spPr>
          <a:xfrm>
            <a:off x="4140253" y="4212705"/>
            <a:ext cx="10502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900" dirty="0">
                <a:latin typeface="Arial" panose="020B0604020202020204" pitchFamily="34" charset="0"/>
                <a:cs typeface="Arial" panose="020B0604020202020204" pitchFamily="34" charset="0"/>
              </a:rPr>
              <a:t>výsledek:       </a:t>
            </a:r>
            <a:r>
              <a:rPr lang="cs-CZ" sz="800" dirty="0">
                <a:latin typeface="Arial" panose="020B0604020202020204" pitchFamily="34" charset="0"/>
                <a:cs typeface="Arial" panose="020B0604020202020204" pitchFamily="34" charset="0"/>
              </a:rPr>
              <a:t>vše</a:t>
            </a:r>
            <a:endParaRPr lang="cs-CZ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Obrázek 16">
            <a:extLst>
              <a:ext uri="{FF2B5EF4-FFF2-40B4-BE49-F238E27FC236}">
                <a16:creationId xmlns:a16="http://schemas.microsoft.com/office/drawing/2014/main" id="{D7CB9138-B807-4844-A9C6-B263C17192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939" y="4256335"/>
            <a:ext cx="212725" cy="319088"/>
          </a:xfrm>
          <a:prstGeom prst="rect">
            <a:avLst/>
          </a:prstGeom>
        </p:spPr>
      </p:pic>
      <p:sp>
        <p:nvSpPr>
          <p:cNvPr id="18" name="TextovéPole 17">
            <a:extLst>
              <a:ext uri="{FF2B5EF4-FFF2-40B4-BE49-F238E27FC236}">
                <a16:creationId xmlns:a16="http://schemas.microsoft.com/office/drawing/2014/main" id="{8B33B14A-2245-4AFE-8534-62AA110A6586}"/>
              </a:ext>
            </a:extLst>
          </p:cNvPr>
          <p:cNvSpPr txBox="1"/>
          <p:nvPr/>
        </p:nvSpPr>
        <p:spPr>
          <a:xfrm>
            <a:off x="4842351" y="4367633"/>
            <a:ext cx="11112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800" dirty="0">
                <a:latin typeface="Arial" panose="020B0604020202020204" pitchFamily="34" charset="0"/>
                <a:cs typeface="Arial" panose="020B0604020202020204" pitchFamily="34" charset="0"/>
              </a:rPr>
              <a:t>úspěšně dokončeno</a:t>
            </a:r>
            <a:endParaRPr lang="cs-CZ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7BE90C1D-D7BE-43ED-B965-792CAB3EE682}"/>
              </a:ext>
            </a:extLst>
          </p:cNvPr>
          <p:cNvSpPr txBox="1"/>
          <p:nvPr/>
        </p:nvSpPr>
        <p:spPr>
          <a:xfrm>
            <a:off x="4842351" y="4513683"/>
            <a:ext cx="122661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800" dirty="0">
                <a:latin typeface="Arial" panose="020B0604020202020204" pitchFamily="34" charset="0"/>
                <a:cs typeface="Arial" panose="020B0604020202020204" pitchFamily="34" charset="0"/>
              </a:rPr>
              <a:t>neúspěšně dokončeno</a:t>
            </a:r>
            <a:endParaRPr lang="cs-CZ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Obrázek 20">
            <a:extLst>
              <a:ext uri="{FF2B5EF4-FFF2-40B4-BE49-F238E27FC236}">
                <a16:creationId xmlns:a16="http://schemas.microsoft.com/office/drawing/2014/main" id="{31E219E8-0603-4BF2-99EB-DC97FF12F3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5985" y="4555553"/>
            <a:ext cx="152400" cy="152400"/>
          </a:xfrm>
          <a:prstGeom prst="rect">
            <a:avLst/>
          </a:prstGeom>
        </p:spPr>
      </p:pic>
      <p:pic>
        <p:nvPicPr>
          <p:cNvPr id="23" name="Obrázek 22">
            <a:extLst>
              <a:ext uri="{FF2B5EF4-FFF2-40B4-BE49-F238E27FC236}">
                <a16:creationId xmlns:a16="http://schemas.microsoft.com/office/drawing/2014/main" id="{3168311A-45B8-433F-9D48-9700A9F668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44" y="4733193"/>
            <a:ext cx="5914159" cy="924341"/>
          </a:xfrm>
          <a:prstGeom prst="rect">
            <a:avLst/>
          </a:prstGeom>
        </p:spPr>
      </p:pic>
      <p:pic>
        <p:nvPicPr>
          <p:cNvPr id="25" name="Obrázek 24">
            <a:extLst>
              <a:ext uri="{FF2B5EF4-FFF2-40B4-BE49-F238E27FC236}">
                <a16:creationId xmlns:a16="http://schemas.microsoft.com/office/drawing/2014/main" id="{21E9D6A8-7CBE-4D79-A369-80E3F2403A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V="1">
            <a:off x="34316" y="4111735"/>
            <a:ext cx="5997604" cy="162801"/>
          </a:xfrm>
          <a:prstGeom prst="rect">
            <a:avLst/>
          </a:prstGeom>
        </p:spPr>
      </p:pic>
      <p:sp>
        <p:nvSpPr>
          <p:cNvPr id="26" name="TextovéPole 25">
            <a:extLst>
              <a:ext uri="{FF2B5EF4-FFF2-40B4-BE49-F238E27FC236}">
                <a16:creationId xmlns:a16="http://schemas.microsoft.com/office/drawing/2014/main" id="{E039EE21-E11D-4FAC-921B-69E27B95ABB8}"/>
              </a:ext>
            </a:extLst>
          </p:cNvPr>
          <p:cNvSpPr txBox="1"/>
          <p:nvPr/>
        </p:nvSpPr>
        <p:spPr>
          <a:xfrm>
            <a:off x="83844" y="2714105"/>
            <a:ext cx="130035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900" b="1" dirty="0">
                <a:latin typeface="Arial" panose="020B0604020202020204" pitchFamily="34" charset="0"/>
                <a:cs typeface="Arial" panose="020B0604020202020204" pitchFamily="34" charset="0"/>
              </a:rPr>
              <a:t>Vývoj hodnot v čase</a:t>
            </a:r>
          </a:p>
        </p:txBody>
      </p:sp>
      <p:sp>
        <p:nvSpPr>
          <p:cNvPr id="27" name="TextovéPole 26">
            <a:extLst>
              <a:ext uri="{FF2B5EF4-FFF2-40B4-BE49-F238E27FC236}">
                <a16:creationId xmlns:a16="http://schemas.microsoft.com/office/drawing/2014/main" id="{00515044-CAED-4316-85C7-7B1252BC7FC8}"/>
              </a:ext>
            </a:extLst>
          </p:cNvPr>
          <p:cNvSpPr txBox="1"/>
          <p:nvPr/>
        </p:nvSpPr>
        <p:spPr>
          <a:xfrm>
            <a:off x="2195034" y="2729531"/>
            <a:ext cx="214674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900" dirty="0">
                <a:latin typeface="Arial" panose="020B0604020202020204" pitchFamily="34" charset="0"/>
                <a:cs typeface="Arial" panose="020B0604020202020204" pitchFamily="34" charset="0"/>
              </a:rPr>
              <a:t>pro metriku:    </a:t>
            </a:r>
            <a:r>
              <a:rPr lang="cs-CZ" sz="800" b="1" dirty="0">
                <a:latin typeface="Arial" panose="020B0604020202020204" pitchFamily="34" charset="0"/>
                <a:cs typeface="Arial" panose="020B0604020202020204" pitchFamily="34" charset="0"/>
              </a:rPr>
              <a:t>Využití digitálních služeb</a:t>
            </a:r>
            <a:endParaRPr lang="cs-CZ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9" name="Obrázek 28">
            <a:extLst>
              <a:ext uri="{FF2B5EF4-FFF2-40B4-BE49-F238E27FC236}">
                <a16:creationId xmlns:a16="http://schemas.microsoft.com/office/drawing/2014/main" id="{E0D8702E-5C9A-48DC-96A2-4485BF29C89C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90247"/>
          <a:stretch/>
        </p:blipFill>
        <p:spPr>
          <a:xfrm>
            <a:off x="306094" y="4012045"/>
            <a:ext cx="5669280" cy="75784"/>
          </a:xfrm>
          <a:prstGeom prst="rect">
            <a:avLst/>
          </a:prstGeom>
        </p:spPr>
      </p:pic>
      <p:sp>
        <p:nvSpPr>
          <p:cNvPr id="30" name="TextovéPole 29">
            <a:extLst>
              <a:ext uri="{FF2B5EF4-FFF2-40B4-BE49-F238E27FC236}">
                <a16:creationId xmlns:a16="http://schemas.microsoft.com/office/drawing/2014/main" id="{9D27CF1E-4A22-4216-A4F0-7262B7B70E8F}"/>
              </a:ext>
            </a:extLst>
          </p:cNvPr>
          <p:cNvSpPr txBox="1"/>
          <p:nvPr/>
        </p:nvSpPr>
        <p:spPr>
          <a:xfrm>
            <a:off x="2918958" y="2928225"/>
            <a:ext cx="2907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800" i="1" dirty="0">
                <a:latin typeface="Arial" panose="020B0604020202020204" pitchFamily="34" charset="0"/>
                <a:cs typeface="Arial" panose="020B0604020202020204" pitchFamily="34" charset="0"/>
              </a:rPr>
              <a:t>podíl využití služby ve formě samoobslužného portálu (ze všech využití služby, která je již touto formou digitalizovaná)</a:t>
            </a:r>
            <a:endParaRPr lang="cs-CZ" sz="9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ovéPole 30">
            <a:extLst>
              <a:ext uri="{FF2B5EF4-FFF2-40B4-BE49-F238E27FC236}">
                <a16:creationId xmlns:a16="http://schemas.microsoft.com/office/drawing/2014/main" id="{49561DDC-763A-4A22-8AA6-816C735014AE}"/>
              </a:ext>
            </a:extLst>
          </p:cNvPr>
          <p:cNvSpPr txBox="1"/>
          <p:nvPr/>
        </p:nvSpPr>
        <p:spPr>
          <a:xfrm>
            <a:off x="6107232" y="2729077"/>
            <a:ext cx="167866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900" b="1" dirty="0">
                <a:latin typeface="Arial" panose="020B0604020202020204" pitchFamily="34" charset="0"/>
                <a:cs typeface="Arial" panose="020B0604020202020204" pitchFamily="34" charset="0"/>
              </a:rPr>
              <a:t>Rychlost poskytnutí služby</a:t>
            </a:r>
          </a:p>
        </p:txBody>
      </p:sp>
      <p:pic>
        <p:nvPicPr>
          <p:cNvPr id="33" name="Obrázek 32">
            <a:extLst>
              <a:ext uri="{FF2B5EF4-FFF2-40B4-BE49-F238E27FC236}">
                <a16:creationId xmlns:a16="http://schemas.microsoft.com/office/drawing/2014/main" id="{FDE07249-3913-4DE5-80DB-A4785480C1DB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b="10431"/>
          <a:stretch/>
        </p:blipFill>
        <p:spPr>
          <a:xfrm flipH="1">
            <a:off x="356288" y="3303137"/>
            <a:ext cx="5669280" cy="695989"/>
          </a:xfrm>
          <a:prstGeom prst="rect">
            <a:avLst/>
          </a:prstGeom>
        </p:spPr>
      </p:pic>
      <p:sp>
        <p:nvSpPr>
          <p:cNvPr id="34" name="TextovéPole 33">
            <a:extLst>
              <a:ext uri="{FF2B5EF4-FFF2-40B4-BE49-F238E27FC236}">
                <a16:creationId xmlns:a16="http://schemas.microsoft.com/office/drawing/2014/main" id="{5E8068B3-CF67-4CA6-A225-99C6C3699EFF}"/>
              </a:ext>
            </a:extLst>
          </p:cNvPr>
          <p:cNvSpPr txBox="1"/>
          <p:nvPr/>
        </p:nvSpPr>
        <p:spPr>
          <a:xfrm>
            <a:off x="83844" y="3482636"/>
            <a:ext cx="3385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50</a:t>
            </a:r>
            <a:r>
              <a:rPr lang="en-US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%</a:t>
            </a:r>
            <a:endParaRPr lang="cs-CZ" sz="7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6" name="Obrázek 35">
            <a:extLst>
              <a:ext uri="{FF2B5EF4-FFF2-40B4-BE49-F238E27FC236}">
                <a16:creationId xmlns:a16="http://schemas.microsoft.com/office/drawing/2014/main" id="{AB7AB99F-BBF8-4223-A871-7586BE33ACB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4022" y="2150088"/>
            <a:ext cx="1144241" cy="223127"/>
          </a:xfrm>
          <a:prstGeom prst="rect">
            <a:avLst/>
          </a:prstGeom>
        </p:spPr>
      </p:pic>
      <p:pic>
        <p:nvPicPr>
          <p:cNvPr id="43" name="Obrázek 42">
            <a:extLst>
              <a:ext uri="{FF2B5EF4-FFF2-40B4-BE49-F238E27FC236}">
                <a16:creationId xmlns:a16="http://schemas.microsoft.com/office/drawing/2014/main" id="{34A94B74-5C8E-4270-99AC-6A4D2886A830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3831" t="3508" r="1923" b="3768"/>
          <a:stretch/>
        </p:blipFill>
        <p:spPr>
          <a:xfrm>
            <a:off x="6864443" y="2947426"/>
            <a:ext cx="1430338" cy="579438"/>
          </a:xfrm>
          <a:prstGeom prst="rect">
            <a:avLst/>
          </a:prstGeom>
        </p:spPr>
      </p:pic>
      <p:sp>
        <p:nvSpPr>
          <p:cNvPr id="41" name="TextovéPole 40">
            <a:extLst>
              <a:ext uri="{FF2B5EF4-FFF2-40B4-BE49-F238E27FC236}">
                <a16:creationId xmlns:a16="http://schemas.microsoft.com/office/drawing/2014/main" id="{A1594366-DBF6-461B-ACC9-B6445C57A191}"/>
              </a:ext>
            </a:extLst>
          </p:cNvPr>
          <p:cNvSpPr txBox="1"/>
          <p:nvPr/>
        </p:nvSpPr>
        <p:spPr>
          <a:xfrm>
            <a:off x="6972949" y="3172047"/>
            <a:ext cx="1231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600" b="1" dirty="0">
                <a:latin typeface="Arial" panose="020B0604020202020204" pitchFamily="34" charset="0"/>
                <a:cs typeface="Arial" panose="020B0604020202020204" pitchFamily="34" charset="0"/>
              </a:rPr>
              <a:t>pracovních dnů</a:t>
            </a:r>
          </a:p>
          <a:p>
            <a:pPr algn="ctr"/>
            <a:r>
              <a:rPr lang="cs-CZ" sz="600" dirty="0">
                <a:latin typeface="Arial" panose="020B0604020202020204" pitchFamily="34" charset="0"/>
                <a:cs typeface="Arial" panose="020B0604020202020204" pitchFamily="34" charset="0"/>
              </a:rPr>
              <a:t>(průměrná doba trvání </a:t>
            </a:r>
            <a:br>
              <a:rPr lang="cs-CZ" sz="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cs-CZ" sz="600" dirty="0">
                <a:latin typeface="Arial" panose="020B0604020202020204" pitchFamily="34" charset="0"/>
                <a:cs typeface="Arial" panose="020B0604020202020204" pitchFamily="34" charset="0"/>
              </a:rPr>
              <a:t>od zahájení do ukončení)</a:t>
            </a:r>
            <a:endParaRPr lang="cs-CZ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ovéPole 46">
            <a:extLst>
              <a:ext uri="{FF2B5EF4-FFF2-40B4-BE49-F238E27FC236}">
                <a16:creationId xmlns:a16="http://schemas.microsoft.com/office/drawing/2014/main" id="{884AFA71-0658-49CE-846C-98C7BE11771E}"/>
              </a:ext>
            </a:extLst>
          </p:cNvPr>
          <p:cNvSpPr txBox="1"/>
          <p:nvPr/>
        </p:nvSpPr>
        <p:spPr>
          <a:xfrm>
            <a:off x="7187426" y="2930729"/>
            <a:ext cx="7843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cs-CZ" sz="1600" b="1" dirty="0">
                <a:latin typeface="Arial" panose="020B0604020202020204" pitchFamily="34" charset="0"/>
                <a:cs typeface="Arial" panose="020B0604020202020204" pitchFamily="34" charset="0"/>
              </a:rPr>
              <a:t>36,5</a:t>
            </a:r>
            <a:endParaRPr lang="cs-CZ" sz="4400" b="1" dirty="0"/>
          </a:p>
        </p:txBody>
      </p:sp>
      <p:pic>
        <p:nvPicPr>
          <p:cNvPr id="48" name="Obrázek 47">
            <a:extLst>
              <a:ext uri="{FF2B5EF4-FFF2-40B4-BE49-F238E27FC236}">
                <a16:creationId xmlns:a16="http://schemas.microsoft.com/office/drawing/2014/main" id="{7962D5A1-4297-4E5F-8EA0-C6F4EB30EA66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3831" t="3508" r="1923" b="3768"/>
          <a:stretch/>
        </p:blipFill>
        <p:spPr>
          <a:xfrm>
            <a:off x="6147401" y="3546483"/>
            <a:ext cx="1430338" cy="579438"/>
          </a:xfrm>
          <a:prstGeom prst="rect">
            <a:avLst/>
          </a:prstGeom>
        </p:spPr>
      </p:pic>
      <p:sp>
        <p:nvSpPr>
          <p:cNvPr id="49" name="TextovéPole 48">
            <a:extLst>
              <a:ext uri="{FF2B5EF4-FFF2-40B4-BE49-F238E27FC236}">
                <a16:creationId xmlns:a16="http://schemas.microsoft.com/office/drawing/2014/main" id="{ABD9DB11-A555-41B8-8B73-F28E1927054E}"/>
              </a:ext>
            </a:extLst>
          </p:cNvPr>
          <p:cNvSpPr txBox="1"/>
          <p:nvPr/>
        </p:nvSpPr>
        <p:spPr>
          <a:xfrm>
            <a:off x="6255907" y="3561554"/>
            <a:ext cx="123129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600" dirty="0">
                <a:latin typeface="Arial" panose="020B0604020202020204" pitchFamily="34" charset="0"/>
                <a:cs typeface="Arial" panose="020B0604020202020204" pitchFamily="34" charset="0"/>
              </a:rPr>
              <a:t>V 75</a:t>
            </a:r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  <a:r>
              <a:rPr lang="cs-CZ" sz="600" dirty="0">
                <a:latin typeface="Arial" panose="020B0604020202020204" pitchFamily="34" charset="0"/>
                <a:cs typeface="Arial" panose="020B0604020202020204" pitchFamily="34" charset="0"/>
              </a:rPr>
              <a:t> případů byla služba </a:t>
            </a:r>
            <a:br>
              <a:rPr lang="cs-CZ" sz="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cs-CZ" sz="600" dirty="0">
                <a:latin typeface="Arial" panose="020B0604020202020204" pitchFamily="34" charset="0"/>
                <a:cs typeface="Arial" panose="020B0604020202020204" pitchFamily="34" charset="0"/>
              </a:rPr>
              <a:t>poskytnuta do</a:t>
            </a:r>
          </a:p>
          <a:p>
            <a:pPr algn="ctr"/>
            <a:endParaRPr lang="cs-CZ" sz="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cs-CZ" sz="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cs-CZ" sz="600" b="1" dirty="0">
                <a:latin typeface="Arial" panose="020B0604020202020204" pitchFamily="34" charset="0"/>
                <a:cs typeface="Arial" panose="020B0604020202020204" pitchFamily="34" charset="0"/>
              </a:rPr>
              <a:t>pracovních dnů</a:t>
            </a:r>
            <a:endParaRPr lang="cs-CZ" sz="7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ovéPole 49">
            <a:extLst>
              <a:ext uri="{FF2B5EF4-FFF2-40B4-BE49-F238E27FC236}">
                <a16:creationId xmlns:a16="http://schemas.microsoft.com/office/drawing/2014/main" id="{D2306AF6-6165-4C74-AF70-5141DA314570}"/>
              </a:ext>
            </a:extLst>
          </p:cNvPr>
          <p:cNvSpPr txBox="1"/>
          <p:nvPr/>
        </p:nvSpPr>
        <p:spPr>
          <a:xfrm>
            <a:off x="6550414" y="3739336"/>
            <a:ext cx="6370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cs-CZ" sz="1200" b="1" dirty="0">
                <a:latin typeface="Arial" panose="020B0604020202020204" pitchFamily="34" charset="0"/>
                <a:cs typeface="Arial" panose="020B0604020202020204" pitchFamily="34" charset="0"/>
              </a:rPr>
              <a:t>25,4</a:t>
            </a:r>
            <a:endParaRPr lang="cs-CZ" sz="3600" b="1" dirty="0"/>
          </a:p>
        </p:txBody>
      </p:sp>
      <p:pic>
        <p:nvPicPr>
          <p:cNvPr id="51" name="Obrázek 50">
            <a:extLst>
              <a:ext uri="{FF2B5EF4-FFF2-40B4-BE49-F238E27FC236}">
                <a16:creationId xmlns:a16="http://schemas.microsoft.com/office/drawing/2014/main" id="{0E627853-CBC3-4D35-A4C8-EE94638B05A6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3831" t="3508" r="1923" b="3768"/>
          <a:stretch/>
        </p:blipFill>
        <p:spPr>
          <a:xfrm>
            <a:off x="7595653" y="3548836"/>
            <a:ext cx="1430338" cy="579438"/>
          </a:xfrm>
          <a:prstGeom prst="rect">
            <a:avLst/>
          </a:prstGeom>
        </p:spPr>
      </p:pic>
      <p:sp>
        <p:nvSpPr>
          <p:cNvPr id="54" name="TextovéPole 53">
            <a:extLst>
              <a:ext uri="{FF2B5EF4-FFF2-40B4-BE49-F238E27FC236}">
                <a16:creationId xmlns:a16="http://schemas.microsoft.com/office/drawing/2014/main" id="{6ABDF264-E277-41A7-9B93-99019FB9A670}"/>
              </a:ext>
            </a:extLst>
          </p:cNvPr>
          <p:cNvSpPr txBox="1"/>
          <p:nvPr/>
        </p:nvSpPr>
        <p:spPr>
          <a:xfrm>
            <a:off x="7724280" y="3566809"/>
            <a:ext cx="123129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600" dirty="0">
                <a:latin typeface="Arial" panose="020B0604020202020204" pitchFamily="34" charset="0"/>
                <a:cs typeface="Arial" panose="020B0604020202020204" pitchFamily="34" charset="0"/>
              </a:rPr>
              <a:t>V 90</a:t>
            </a:r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  <a:r>
              <a:rPr lang="cs-CZ" sz="600" dirty="0">
                <a:latin typeface="Arial" panose="020B0604020202020204" pitchFamily="34" charset="0"/>
                <a:cs typeface="Arial" panose="020B0604020202020204" pitchFamily="34" charset="0"/>
              </a:rPr>
              <a:t> případů byla služba </a:t>
            </a:r>
            <a:br>
              <a:rPr lang="cs-CZ" sz="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cs-CZ" sz="600" dirty="0">
                <a:latin typeface="Arial" panose="020B0604020202020204" pitchFamily="34" charset="0"/>
                <a:cs typeface="Arial" panose="020B0604020202020204" pitchFamily="34" charset="0"/>
              </a:rPr>
              <a:t>poskytnuta do</a:t>
            </a:r>
          </a:p>
          <a:p>
            <a:pPr algn="ctr"/>
            <a:endParaRPr lang="cs-CZ" sz="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cs-CZ" sz="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cs-CZ" sz="600" b="1" dirty="0">
                <a:latin typeface="Arial" panose="020B0604020202020204" pitchFamily="34" charset="0"/>
                <a:cs typeface="Arial" panose="020B0604020202020204" pitchFamily="34" charset="0"/>
              </a:rPr>
              <a:t>pracovních dnů</a:t>
            </a:r>
            <a:endParaRPr lang="cs-CZ" sz="7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ovéPole 54">
            <a:extLst>
              <a:ext uri="{FF2B5EF4-FFF2-40B4-BE49-F238E27FC236}">
                <a16:creationId xmlns:a16="http://schemas.microsoft.com/office/drawing/2014/main" id="{8D3CA5C8-9F95-4527-9EF8-F6959CCFA128}"/>
              </a:ext>
            </a:extLst>
          </p:cNvPr>
          <p:cNvSpPr txBox="1"/>
          <p:nvPr/>
        </p:nvSpPr>
        <p:spPr>
          <a:xfrm>
            <a:off x="8018787" y="3744591"/>
            <a:ext cx="6370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cs-CZ" sz="1200" b="1" dirty="0">
                <a:latin typeface="Arial" panose="020B0604020202020204" pitchFamily="34" charset="0"/>
                <a:cs typeface="Arial" panose="020B0604020202020204" pitchFamily="34" charset="0"/>
              </a:rPr>
              <a:t>30,6</a:t>
            </a:r>
            <a:endParaRPr lang="cs-CZ" sz="3600" b="1" dirty="0"/>
          </a:p>
        </p:txBody>
      </p:sp>
      <p:pic>
        <p:nvPicPr>
          <p:cNvPr id="56" name="Obrázek 55">
            <a:extLst>
              <a:ext uri="{FF2B5EF4-FFF2-40B4-BE49-F238E27FC236}">
                <a16:creationId xmlns:a16="http://schemas.microsoft.com/office/drawing/2014/main" id="{012B0D08-40C2-4DC9-B783-4DFEFE32DF2E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20665" b="19526"/>
          <a:stretch/>
        </p:blipFill>
        <p:spPr>
          <a:xfrm flipV="1">
            <a:off x="6100880" y="4142854"/>
            <a:ext cx="2953397" cy="97368"/>
          </a:xfrm>
          <a:prstGeom prst="rect">
            <a:avLst/>
          </a:prstGeom>
        </p:spPr>
      </p:pic>
      <p:sp>
        <p:nvSpPr>
          <p:cNvPr id="58" name="TextovéPole 57">
            <a:extLst>
              <a:ext uri="{FF2B5EF4-FFF2-40B4-BE49-F238E27FC236}">
                <a16:creationId xmlns:a16="http://schemas.microsoft.com/office/drawing/2014/main" id="{B4AB30AE-26D4-497C-BBAB-9424366190BF}"/>
              </a:ext>
            </a:extLst>
          </p:cNvPr>
          <p:cNvSpPr txBox="1"/>
          <p:nvPr/>
        </p:nvSpPr>
        <p:spPr>
          <a:xfrm>
            <a:off x="6107232" y="4240222"/>
            <a:ext cx="156324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900" b="1" dirty="0">
                <a:latin typeface="Arial" panose="020B0604020202020204" pitchFamily="34" charset="0"/>
                <a:cs typeface="Arial" panose="020B0604020202020204" pitchFamily="34" charset="0"/>
              </a:rPr>
              <a:t>Spokojenost se službami</a:t>
            </a:r>
          </a:p>
        </p:txBody>
      </p:sp>
      <p:sp>
        <p:nvSpPr>
          <p:cNvPr id="59" name="TextovéPole 58">
            <a:extLst>
              <a:ext uri="{FF2B5EF4-FFF2-40B4-BE49-F238E27FC236}">
                <a16:creationId xmlns:a16="http://schemas.microsoft.com/office/drawing/2014/main" id="{FCEA2DD8-7E98-4E47-9780-34065C9E293D}"/>
              </a:ext>
            </a:extLst>
          </p:cNvPr>
          <p:cNvSpPr txBox="1"/>
          <p:nvPr/>
        </p:nvSpPr>
        <p:spPr>
          <a:xfrm>
            <a:off x="222756" y="1726275"/>
            <a:ext cx="1231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600" b="1" dirty="0">
                <a:latin typeface="Arial" panose="020B0604020202020204" pitchFamily="34" charset="0"/>
                <a:cs typeface="Arial" panose="020B0604020202020204" pitchFamily="34" charset="0"/>
              </a:rPr>
              <a:t>transakcí</a:t>
            </a:r>
          </a:p>
          <a:p>
            <a:pPr algn="ctr"/>
            <a:r>
              <a:rPr lang="cs-CZ" sz="600" dirty="0">
                <a:latin typeface="Arial" panose="020B0604020202020204" pitchFamily="34" charset="0"/>
                <a:cs typeface="Arial" panose="020B0604020202020204" pitchFamily="34" charset="0"/>
              </a:rPr>
              <a:t>dokončených v rámci vybrané agendy a služby za období</a:t>
            </a:r>
            <a:endParaRPr lang="cs-CZ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ovéPole 59">
            <a:extLst>
              <a:ext uri="{FF2B5EF4-FFF2-40B4-BE49-F238E27FC236}">
                <a16:creationId xmlns:a16="http://schemas.microsoft.com/office/drawing/2014/main" id="{50D79EF9-17CA-42D3-BBA3-FBE6ECCA1959}"/>
              </a:ext>
            </a:extLst>
          </p:cNvPr>
          <p:cNvSpPr txBox="1"/>
          <p:nvPr/>
        </p:nvSpPr>
        <p:spPr>
          <a:xfrm>
            <a:off x="444693" y="1484957"/>
            <a:ext cx="8075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cs-CZ" sz="1600" b="1" dirty="0">
                <a:latin typeface="Arial" panose="020B0604020202020204" pitchFamily="34" charset="0"/>
                <a:cs typeface="Arial" panose="020B0604020202020204" pitchFamily="34" charset="0"/>
              </a:rPr>
              <a:t>3 897</a:t>
            </a:r>
            <a:endParaRPr lang="cs-CZ" sz="4400" b="1" dirty="0"/>
          </a:p>
        </p:txBody>
      </p:sp>
      <p:sp>
        <p:nvSpPr>
          <p:cNvPr id="61" name="TextovéPole 60">
            <a:extLst>
              <a:ext uri="{FF2B5EF4-FFF2-40B4-BE49-F238E27FC236}">
                <a16:creationId xmlns:a16="http://schemas.microsoft.com/office/drawing/2014/main" id="{DDB38343-4E56-4998-BEE8-12AF1DB4392A}"/>
              </a:ext>
            </a:extLst>
          </p:cNvPr>
          <p:cNvSpPr txBox="1"/>
          <p:nvPr/>
        </p:nvSpPr>
        <p:spPr>
          <a:xfrm>
            <a:off x="1704983" y="1725759"/>
            <a:ext cx="1231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600" b="1" dirty="0">
                <a:latin typeface="Arial" panose="020B0604020202020204" pitchFamily="34" charset="0"/>
                <a:cs typeface="Arial" panose="020B0604020202020204" pitchFamily="34" charset="0"/>
              </a:rPr>
              <a:t>digitálně</a:t>
            </a:r>
          </a:p>
          <a:p>
            <a:pPr algn="ctr"/>
            <a:r>
              <a:rPr lang="cs-CZ" sz="600" dirty="0">
                <a:latin typeface="Arial" panose="020B0604020202020204" pitchFamily="34" charset="0"/>
                <a:cs typeface="Arial" panose="020B0604020202020204" pitchFamily="34" charset="0"/>
              </a:rPr>
              <a:t>ve formě samoobslužného portálu</a:t>
            </a:r>
            <a:endParaRPr lang="cs-CZ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TextovéPole 61">
            <a:extLst>
              <a:ext uri="{FF2B5EF4-FFF2-40B4-BE49-F238E27FC236}">
                <a16:creationId xmlns:a16="http://schemas.microsoft.com/office/drawing/2014/main" id="{1D18201E-C4AA-4965-8A68-343F892E434A}"/>
              </a:ext>
            </a:extLst>
          </p:cNvPr>
          <p:cNvSpPr txBox="1"/>
          <p:nvPr/>
        </p:nvSpPr>
        <p:spPr>
          <a:xfrm>
            <a:off x="1926920" y="1484441"/>
            <a:ext cx="8075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cs-CZ" sz="1600" b="1" dirty="0">
                <a:latin typeface="Arial" panose="020B0604020202020204" pitchFamily="34" charset="0"/>
                <a:cs typeface="Arial" panose="020B0604020202020204" pitchFamily="34" charset="0"/>
              </a:rPr>
              <a:t>22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  <a:endParaRPr lang="cs-CZ" sz="4400" b="1" dirty="0"/>
          </a:p>
        </p:txBody>
      </p:sp>
      <p:pic>
        <p:nvPicPr>
          <p:cNvPr id="66" name="Obrázek 65">
            <a:extLst>
              <a:ext uri="{FF2B5EF4-FFF2-40B4-BE49-F238E27FC236}">
                <a16:creationId xmlns:a16="http://schemas.microsoft.com/office/drawing/2014/main" id="{153E9050-52FD-4DC9-8A7C-5A4112CE1AB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61375" y="2026040"/>
            <a:ext cx="390274" cy="461666"/>
          </a:xfrm>
          <a:prstGeom prst="rect">
            <a:avLst/>
          </a:prstGeom>
        </p:spPr>
      </p:pic>
      <p:pic>
        <p:nvPicPr>
          <p:cNvPr id="68" name="Obrázek 67">
            <a:extLst>
              <a:ext uri="{FF2B5EF4-FFF2-40B4-BE49-F238E27FC236}">
                <a16:creationId xmlns:a16="http://schemas.microsoft.com/office/drawing/2014/main" id="{259A6287-EC32-452D-B72E-4D2F61B899B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54353" y="2026041"/>
            <a:ext cx="390274" cy="461666"/>
          </a:xfrm>
          <a:prstGeom prst="rect">
            <a:avLst/>
          </a:prstGeom>
        </p:spPr>
      </p:pic>
      <p:sp>
        <p:nvSpPr>
          <p:cNvPr id="64" name="TextovéPole 63">
            <a:extLst>
              <a:ext uri="{FF2B5EF4-FFF2-40B4-BE49-F238E27FC236}">
                <a16:creationId xmlns:a16="http://schemas.microsoft.com/office/drawing/2014/main" id="{889B1D5A-6D52-4ED5-81F4-D70731784412}"/>
              </a:ext>
            </a:extLst>
          </p:cNvPr>
          <p:cNvSpPr txBox="1"/>
          <p:nvPr/>
        </p:nvSpPr>
        <p:spPr>
          <a:xfrm>
            <a:off x="2341077" y="2016145"/>
            <a:ext cx="144059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650" b="0" i="1" u="none" strike="noStrike" baseline="0" dirty="0">
                <a:solidFill>
                  <a:schemeClr val="bg1"/>
                </a:solidFill>
                <a:latin typeface="Calibri" panose="020F0502020204030204" pitchFamily="34" charset="0"/>
              </a:rPr>
              <a:t>podíl využití služby ve formě samoobslužného portálu (ze všech využití služby, která je již touto formou digitalizovaná)</a:t>
            </a:r>
            <a:r>
              <a:rPr lang="cs-CZ" sz="650" b="0" i="0" u="none" strike="noStrike" baseline="0" dirty="0">
                <a:solidFill>
                  <a:schemeClr val="bg1"/>
                </a:solidFill>
                <a:latin typeface="Calibri" panose="020F0502020204030204" pitchFamily="34" charset="0"/>
              </a:rPr>
              <a:t>	</a:t>
            </a:r>
          </a:p>
        </p:txBody>
      </p:sp>
      <p:sp>
        <p:nvSpPr>
          <p:cNvPr id="69" name="TextovéPole 68">
            <a:extLst>
              <a:ext uri="{FF2B5EF4-FFF2-40B4-BE49-F238E27FC236}">
                <a16:creationId xmlns:a16="http://schemas.microsoft.com/office/drawing/2014/main" id="{812AE28B-81C0-4869-BCF8-E4B568B3663F}"/>
              </a:ext>
            </a:extLst>
          </p:cNvPr>
          <p:cNvSpPr txBox="1"/>
          <p:nvPr/>
        </p:nvSpPr>
        <p:spPr>
          <a:xfrm>
            <a:off x="3226043" y="1738459"/>
            <a:ext cx="123129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600" b="1" dirty="0">
                <a:latin typeface="Arial" panose="020B0604020202020204" pitchFamily="34" charset="0"/>
                <a:cs typeface="Arial" panose="020B0604020202020204" pitchFamily="34" charset="0"/>
              </a:rPr>
              <a:t>skončilo neúspěšně</a:t>
            </a:r>
          </a:p>
        </p:txBody>
      </p:sp>
      <p:sp>
        <p:nvSpPr>
          <p:cNvPr id="70" name="TextovéPole 69">
            <a:extLst>
              <a:ext uri="{FF2B5EF4-FFF2-40B4-BE49-F238E27FC236}">
                <a16:creationId xmlns:a16="http://schemas.microsoft.com/office/drawing/2014/main" id="{F1280065-C7DB-4978-A918-C24CA2539DFA}"/>
              </a:ext>
            </a:extLst>
          </p:cNvPr>
          <p:cNvSpPr txBox="1"/>
          <p:nvPr/>
        </p:nvSpPr>
        <p:spPr>
          <a:xfrm>
            <a:off x="3447980" y="1497141"/>
            <a:ext cx="8075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cs-CZ" sz="1600" b="1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  <a:endParaRPr lang="cs-CZ" sz="4400" b="1" dirty="0"/>
          </a:p>
        </p:txBody>
      </p:sp>
      <p:sp>
        <p:nvSpPr>
          <p:cNvPr id="71" name="TextovéPole 70">
            <a:extLst>
              <a:ext uri="{FF2B5EF4-FFF2-40B4-BE49-F238E27FC236}">
                <a16:creationId xmlns:a16="http://schemas.microsoft.com/office/drawing/2014/main" id="{D09B4DC5-8A92-48DA-B20E-3ADD0BCC095B}"/>
              </a:ext>
            </a:extLst>
          </p:cNvPr>
          <p:cNvSpPr txBox="1"/>
          <p:nvPr/>
        </p:nvSpPr>
        <p:spPr>
          <a:xfrm>
            <a:off x="6212599" y="1712747"/>
            <a:ext cx="1231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600" b="1" dirty="0">
                <a:latin typeface="Arial" panose="020B0604020202020204" pitchFamily="34" charset="0"/>
                <a:cs typeface="Arial" panose="020B0604020202020204" pitchFamily="34" charset="0"/>
              </a:rPr>
              <a:t>spokojenost klientů</a:t>
            </a:r>
          </a:p>
          <a:p>
            <a:pPr algn="ctr"/>
            <a:r>
              <a:rPr lang="cs-CZ" sz="600" dirty="0">
                <a:latin typeface="Arial" panose="020B0604020202020204" pitchFamily="34" charset="0"/>
                <a:cs typeface="Arial" panose="020B0604020202020204" pitchFamily="34" charset="0"/>
              </a:rPr>
              <a:t>vyjádřená známkou </a:t>
            </a:r>
            <a:br>
              <a:rPr lang="cs-CZ" sz="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cs-CZ" sz="600" dirty="0">
                <a:latin typeface="Arial" panose="020B0604020202020204" pitchFamily="34" charset="0"/>
                <a:cs typeface="Arial" panose="020B0604020202020204" pitchFamily="34" charset="0"/>
              </a:rPr>
              <a:t>na školní stupnici</a:t>
            </a:r>
            <a:endParaRPr lang="cs-CZ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TextovéPole 71">
            <a:extLst>
              <a:ext uri="{FF2B5EF4-FFF2-40B4-BE49-F238E27FC236}">
                <a16:creationId xmlns:a16="http://schemas.microsoft.com/office/drawing/2014/main" id="{84D1CC77-69F5-4C61-A648-52E8630C88C0}"/>
              </a:ext>
            </a:extLst>
          </p:cNvPr>
          <p:cNvSpPr txBox="1"/>
          <p:nvPr/>
        </p:nvSpPr>
        <p:spPr>
          <a:xfrm>
            <a:off x="6428186" y="1471429"/>
            <a:ext cx="8075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cs-CZ" sz="1600" b="1" dirty="0">
                <a:latin typeface="Arial" panose="020B0604020202020204" pitchFamily="34" charset="0"/>
                <a:cs typeface="Arial" panose="020B0604020202020204" pitchFamily="34" charset="0"/>
              </a:rPr>
              <a:t>2,4</a:t>
            </a:r>
            <a:endParaRPr lang="cs-CZ" sz="4400" b="1" dirty="0"/>
          </a:p>
        </p:txBody>
      </p:sp>
      <p:sp>
        <p:nvSpPr>
          <p:cNvPr id="73" name="TextovéPole 72">
            <a:extLst>
              <a:ext uri="{FF2B5EF4-FFF2-40B4-BE49-F238E27FC236}">
                <a16:creationId xmlns:a16="http://schemas.microsoft.com/office/drawing/2014/main" id="{D6BF9E84-F8E4-45B7-A6BE-3E813133A2F8}"/>
              </a:ext>
            </a:extLst>
          </p:cNvPr>
          <p:cNvSpPr txBox="1"/>
          <p:nvPr/>
        </p:nvSpPr>
        <p:spPr>
          <a:xfrm>
            <a:off x="7726039" y="1712747"/>
            <a:ext cx="1231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600" b="1" dirty="0">
                <a:latin typeface="Arial" panose="020B0604020202020204" pitchFamily="34" charset="0"/>
                <a:cs typeface="Arial" panose="020B0604020202020204" pitchFamily="34" charset="0"/>
              </a:rPr>
              <a:t>získává zpětnou vazbou </a:t>
            </a:r>
          </a:p>
          <a:p>
            <a:pPr algn="ctr"/>
            <a:r>
              <a:rPr lang="cs-CZ" sz="600" dirty="0">
                <a:latin typeface="Arial" panose="020B0604020202020204" pitchFamily="34" charset="0"/>
                <a:cs typeface="Arial" panose="020B0604020202020204" pitchFamily="34" charset="0"/>
              </a:rPr>
              <a:t>od klientů ohledně jejich spokojenosti s využitím služby</a:t>
            </a:r>
            <a:endParaRPr lang="cs-CZ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TextovéPole 73">
            <a:extLst>
              <a:ext uri="{FF2B5EF4-FFF2-40B4-BE49-F238E27FC236}">
                <a16:creationId xmlns:a16="http://schemas.microsoft.com/office/drawing/2014/main" id="{9CC0E81F-A387-4D12-A858-8BF987A2C5E8}"/>
              </a:ext>
            </a:extLst>
          </p:cNvPr>
          <p:cNvSpPr txBox="1"/>
          <p:nvPr/>
        </p:nvSpPr>
        <p:spPr>
          <a:xfrm>
            <a:off x="7941626" y="1471429"/>
            <a:ext cx="8075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  <a:endParaRPr lang="cs-CZ" sz="4400" b="1" dirty="0"/>
          </a:p>
        </p:txBody>
      </p:sp>
      <p:sp>
        <p:nvSpPr>
          <p:cNvPr id="75" name="TextovéPole 74">
            <a:extLst>
              <a:ext uri="{FF2B5EF4-FFF2-40B4-BE49-F238E27FC236}">
                <a16:creationId xmlns:a16="http://schemas.microsoft.com/office/drawing/2014/main" id="{5BF059D6-4BE6-4093-987F-F95F35AF0B4C}"/>
              </a:ext>
            </a:extLst>
          </p:cNvPr>
          <p:cNvSpPr txBox="1"/>
          <p:nvPr/>
        </p:nvSpPr>
        <p:spPr>
          <a:xfrm>
            <a:off x="706151" y="1304679"/>
            <a:ext cx="1488883" cy="10772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r>
              <a:rPr lang="cs-CZ" sz="700" b="1" dirty="0">
                <a:latin typeface="Arial" panose="020B0604020202020204" pitchFamily="34" charset="0"/>
                <a:cs typeface="Arial" panose="020B0604020202020204" pitchFamily="34" charset="0"/>
              </a:rPr>
              <a:t>A1162 Zákon o vodách</a:t>
            </a:r>
            <a:endParaRPr lang="cs-CZ" sz="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TextovéPole 75">
            <a:extLst>
              <a:ext uri="{FF2B5EF4-FFF2-40B4-BE49-F238E27FC236}">
                <a16:creationId xmlns:a16="http://schemas.microsoft.com/office/drawing/2014/main" id="{8ED1C8A4-2C80-4C35-BDC7-9DCDFB2A2730}"/>
              </a:ext>
            </a:extLst>
          </p:cNvPr>
          <p:cNvSpPr txBox="1"/>
          <p:nvPr/>
        </p:nvSpPr>
        <p:spPr>
          <a:xfrm>
            <a:off x="5121961" y="1304118"/>
            <a:ext cx="2458452" cy="10772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r>
              <a:rPr lang="cs-CZ" sz="700" b="1" dirty="0">
                <a:latin typeface="Arial" panose="020B0604020202020204" pitchFamily="34" charset="0"/>
                <a:cs typeface="Arial" panose="020B0604020202020204" pitchFamily="34" charset="0"/>
              </a:rPr>
              <a:t>S12116 Poplatek za odebrané množství podzemní vody</a:t>
            </a:r>
            <a:endParaRPr lang="cs-CZ" sz="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TextovéPole 76">
            <a:extLst>
              <a:ext uri="{FF2B5EF4-FFF2-40B4-BE49-F238E27FC236}">
                <a16:creationId xmlns:a16="http://schemas.microsoft.com/office/drawing/2014/main" id="{A49B4B28-6610-44C7-BD22-E0D400F4F78E}"/>
              </a:ext>
            </a:extLst>
          </p:cNvPr>
          <p:cNvSpPr txBox="1"/>
          <p:nvPr/>
        </p:nvSpPr>
        <p:spPr>
          <a:xfrm>
            <a:off x="83844" y="860395"/>
            <a:ext cx="70154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cs-CZ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Univerzální report výkonnostních metrik agend 	</a:t>
            </a:r>
            <a:r>
              <a:rPr lang="cs-CZ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(Data </a:t>
            </a:r>
            <a:r>
              <a:rPr lang="cs-CZ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Driven</a:t>
            </a:r>
            <a:r>
              <a:rPr lang="cs-CZ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cs-CZ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Government</a:t>
            </a:r>
            <a:r>
              <a:rPr lang="cs-CZ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endParaRPr lang="cs-CZ" sz="4400" dirty="0">
              <a:solidFill>
                <a:schemeClr val="bg1"/>
              </a:solidFill>
            </a:endParaRPr>
          </a:p>
        </p:txBody>
      </p:sp>
      <p:pic>
        <p:nvPicPr>
          <p:cNvPr id="83" name="Obrázek 82">
            <a:extLst>
              <a:ext uri="{FF2B5EF4-FFF2-40B4-BE49-F238E27FC236}">
                <a16:creationId xmlns:a16="http://schemas.microsoft.com/office/drawing/2014/main" id="{7FF5BD8D-DA90-4670-9C0A-47DB8D583ECA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3831" t="3508" r="1923" b="3768"/>
          <a:stretch/>
        </p:blipFill>
        <p:spPr>
          <a:xfrm>
            <a:off x="6157601" y="5066161"/>
            <a:ext cx="1430338" cy="579438"/>
          </a:xfrm>
          <a:prstGeom prst="rect">
            <a:avLst/>
          </a:prstGeom>
        </p:spPr>
      </p:pic>
      <p:pic>
        <p:nvPicPr>
          <p:cNvPr id="86" name="Obrázek 85">
            <a:extLst>
              <a:ext uri="{FF2B5EF4-FFF2-40B4-BE49-F238E27FC236}">
                <a16:creationId xmlns:a16="http://schemas.microsoft.com/office/drawing/2014/main" id="{5BB3DE92-55E2-4B5B-8806-678DF8AAA4C8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3831" t="3508" r="1923" b="3768"/>
          <a:stretch/>
        </p:blipFill>
        <p:spPr>
          <a:xfrm>
            <a:off x="7605853" y="5068514"/>
            <a:ext cx="1430338" cy="579438"/>
          </a:xfrm>
          <a:prstGeom prst="rect">
            <a:avLst/>
          </a:prstGeom>
        </p:spPr>
      </p:pic>
      <p:pic>
        <p:nvPicPr>
          <p:cNvPr id="91" name="Obrázek 90">
            <a:extLst>
              <a:ext uri="{FF2B5EF4-FFF2-40B4-BE49-F238E27FC236}">
                <a16:creationId xmlns:a16="http://schemas.microsoft.com/office/drawing/2014/main" id="{87A31AB7-B908-4516-A1FC-F3CED6BAE0E1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3831" t="3508" r="1923" b="3768"/>
          <a:stretch/>
        </p:blipFill>
        <p:spPr>
          <a:xfrm>
            <a:off x="6882055" y="4458059"/>
            <a:ext cx="1430338" cy="579438"/>
          </a:xfrm>
          <a:prstGeom prst="rect">
            <a:avLst/>
          </a:prstGeom>
        </p:spPr>
      </p:pic>
      <p:sp>
        <p:nvSpPr>
          <p:cNvPr id="89" name="TextovéPole 88">
            <a:extLst>
              <a:ext uri="{FF2B5EF4-FFF2-40B4-BE49-F238E27FC236}">
                <a16:creationId xmlns:a16="http://schemas.microsoft.com/office/drawing/2014/main" id="{09C84EFA-5203-4203-AE06-07676959C455}"/>
              </a:ext>
            </a:extLst>
          </p:cNvPr>
          <p:cNvSpPr txBox="1"/>
          <p:nvPr/>
        </p:nvSpPr>
        <p:spPr>
          <a:xfrm>
            <a:off x="6980006" y="4679340"/>
            <a:ext cx="1231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600" b="1" dirty="0">
                <a:latin typeface="Arial" panose="020B0604020202020204" pitchFamily="34" charset="0"/>
                <a:cs typeface="Arial" panose="020B0604020202020204" pitchFamily="34" charset="0"/>
              </a:rPr>
              <a:t>spokojenost klientů</a:t>
            </a:r>
          </a:p>
          <a:p>
            <a:pPr algn="ctr"/>
            <a:r>
              <a:rPr lang="cs-CZ" sz="600" dirty="0">
                <a:latin typeface="Arial" panose="020B0604020202020204" pitchFamily="34" charset="0"/>
                <a:cs typeface="Arial" panose="020B0604020202020204" pitchFamily="34" charset="0"/>
              </a:rPr>
              <a:t>vyjádřená známkou </a:t>
            </a:r>
            <a:br>
              <a:rPr lang="cs-CZ" sz="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cs-CZ" sz="600" dirty="0">
                <a:latin typeface="Arial" panose="020B0604020202020204" pitchFamily="34" charset="0"/>
                <a:cs typeface="Arial" panose="020B0604020202020204" pitchFamily="34" charset="0"/>
              </a:rPr>
              <a:t>na školní stupnici</a:t>
            </a:r>
            <a:endParaRPr lang="cs-CZ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TextovéPole 89">
            <a:extLst>
              <a:ext uri="{FF2B5EF4-FFF2-40B4-BE49-F238E27FC236}">
                <a16:creationId xmlns:a16="http://schemas.microsoft.com/office/drawing/2014/main" id="{56425848-77FC-46F6-AEEF-F4F70A237007}"/>
              </a:ext>
            </a:extLst>
          </p:cNvPr>
          <p:cNvSpPr txBox="1"/>
          <p:nvPr/>
        </p:nvSpPr>
        <p:spPr>
          <a:xfrm>
            <a:off x="7195593" y="4438022"/>
            <a:ext cx="8075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cs-CZ" sz="1600" b="1" dirty="0">
                <a:latin typeface="Arial" panose="020B0604020202020204" pitchFamily="34" charset="0"/>
                <a:cs typeface="Arial" panose="020B0604020202020204" pitchFamily="34" charset="0"/>
              </a:rPr>
              <a:t>2,4</a:t>
            </a:r>
            <a:endParaRPr lang="cs-CZ" sz="4400" b="1" dirty="0"/>
          </a:p>
        </p:txBody>
      </p:sp>
      <p:sp>
        <p:nvSpPr>
          <p:cNvPr id="92" name="TextovéPole 91">
            <a:extLst>
              <a:ext uri="{FF2B5EF4-FFF2-40B4-BE49-F238E27FC236}">
                <a16:creationId xmlns:a16="http://schemas.microsoft.com/office/drawing/2014/main" id="{B32C7AC4-C1F5-40A9-8629-32EF1F57AA8E}"/>
              </a:ext>
            </a:extLst>
          </p:cNvPr>
          <p:cNvSpPr txBox="1"/>
          <p:nvPr/>
        </p:nvSpPr>
        <p:spPr>
          <a:xfrm>
            <a:off x="4713540" y="1723846"/>
            <a:ext cx="1231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600" b="1" dirty="0">
                <a:latin typeface="Arial" panose="020B0604020202020204" pitchFamily="34" charset="0"/>
                <a:cs typeface="Arial" panose="020B0604020202020204" pitchFamily="34" charset="0"/>
              </a:rPr>
              <a:t>pracovních dnů</a:t>
            </a:r>
          </a:p>
          <a:p>
            <a:pPr algn="ctr"/>
            <a:r>
              <a:rPr lang="cs-CZ" sz="600" dirty="0">
                <a:latin typeface="Arial" panose="020B0604020202020204" pitchFamily="34" charset="0"/>
                <a:cs typeface="Arial" panose="020B0604020202020204" pitchFamily="34" charset="0"/>
              </a:rPr>
              <a:t>(průměrná doba trvání </a:t>
            </a:r>
            <a:br>
              <a:rPr lang="cs-CZ" sz="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cs-CZ" sz="600" dirty="0">
                <a:latin typeface="Arial" panose="020B0604020202020204" pitchFamily="34" charset="0"/>
                <a:cs typeface="Arial" panose="020B0604020202020204" pitchFamily="34" charset="0"/>
              </a:rPr>
              <a:t>od zahájení do ukončení)</a:t>
            </a:r>
            <a:endParaRPr lang="cs-CZ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TextovéPole 92">
            <a:extLst>
              <a:ext uri="{FF2B5EF4-FFF2-40B4-BE49-F238E27FC236}">
                <a16:creationId xmlns:a16="http://schemas.microsoft.com/office/drawing/2014/main" id="{21AD1997-A027-4660-9560-FD18720292A8}"/>
              </a:ext>
            </a:extLst>
          </p:cNvPr>
          <p:cNvSpPr txBox="1"/>
          <p:nvPr/>
        </p:nvSpPr>
        <p:spPr>
          <a:xfrm>
            <a:off x="4928017" y="1482528"/>
            <a:ext cx="7843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cs-CZ" sz="1600" b="1" dirty="0">
                <a:latin typeface="Arial" panose="020B0604020202020204" pitchFamily="34" charset="0"/>
                <a:cs typeface="Arial" panose="020B0604020202020204" pitchFamily="34" charset="0"/>
              </a:rPr>
              <a:t>36,5</a:t>
            </a:r>
            <a:endParaRPr lang="cs-CZ" sz="4400" b="1" dirty="0"/>
          </a:p>
        </p:txBody>
      </p:sp>
      <p:sp>
        <p:nvSpPr>
          <p:cNvPr id="94" name="TextovéPole 93">
            <a:extLst>
              <a:ext uri="{FF2B5EF4-FFF2-40B4-BE49-F238E27FC236}">
                <a16:creationId xmlns:a16="http://schemas.microsoft.com/office/drawing/2014/main" id="{E52AC5B3-E432-4806-9E14-8C6EC2C5F07B}"/>
              </a:ext>
            </a:extLst>
          </p:cNvPr>
          <p:cNvSpPr txBox="1"/>
          <p:nvPr/>
        </p:nvSpPr>
        <p:spPr>
          <a:xfrm>
            <a:off x="6203892" y="5287665"/>
            <a:ext cx="1331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600" b="1" dirty="0">
                <a:latin typeface="Arial" panose="020B0604020202020204" pitchFamily="34" charset="0"/>
                <a:cs typeface="Arial" panose="020B0604020202020204" pitchFamily="34" charset="0"/>
              </a:rPr>
              <a:t>klientů je spokojeno</a:t>
            </a:r>
          </a:p>
          <a:p>
            <a:pPr algn="ctr"/>
            <a:r>
              <a:rPr lang="cs-CZ" sz="600" dirty="0">
                <a:latin typeface="Arial" panose="020B0604020202020204" pitchFamily="34" charset="0"/>
                <a:cs typeface="Arial" panose="020B0604020202020204" pitchFamily="34" charset="0"/>
              </a:rPr>
              <a:t>se způsobem poskytnutí služby (hodnotí známkou 1 nebo 2)</a:t>
            </a:r>
            <a:endParaRPr lang="cs-CZ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TextovéPole 94">
            <a:extLst>
              <a:ext uri="{FF2B5EF4-FFF2-40B4-BE49-F238E27FC236}">
                <a16:creationId xmlns:a16="http://schemas.microsoft.com/office/drawing/2014/main" id="{5DE308D2-B494-48D9-9CE8-AF58DA7C67FF}"/>
              </a:ext>
            </a:extLst>
          </p:cNvPr>
          <p:cNvSpPr txBox="1"/>
          <p:nvPr/>
        </p:nvSpPr>
        <p:spPr>
          <a:xfrm>
            <a:off x="6475954" y="5046347"/>
            <a:ext cx="8075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cs-CZ" sz="1600" b="1" dirty="0">
                <a:latin typeface="Arial" panose="020B0604020202020204" pitchFamily="34" charset="0"/>
                <a:cs typeface="Arial" panose="020B0604020202020204" pitchFamily="34" charset="0"/>
              </a:rPr>
              <a:t>72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  <a:endParaRPr lang="cs-CZ" sz="4400" b="1" dirty="0"/>
          </a:p>
        </p:txBody>
      </p:sp>
      <p:sp>
        <p:nvSpPr>
          <p:cNvPr id="96" name="TextovéPole 95">
            <a:extLst>
              <a:ext uri="{FF2B5EF4-FFF2-40B4-BE49-F238E27FC236}">
                <a16:creationId xmlns:a16="http://schemas.microsoft.com/office/drawing/2014/main" id="{DDF6ED26-9D20-49FF-A5B8-7812060CBD4E}"/>
              </a:ext>
            </a:extLst>
          </p:cNvPr>
          <p:cNvSpPr txBox="1"/>
          <p:nvPr/>
        </p:nvSpPr>
        <p:spPr>
          <a:xfrm>
            <a:off x="7668328" y="5287665"/>
            <a:ext cx="1331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600" b="1" dirty="0">
                <a:latin typeface="Arial" panose="020B0604020202020204" pitchFamily="34" charset="0"/>
                <a:cs typeface="Arial" panose="020B0604020202020204" pitchFamily="34" charset="0"/>
              </a:rPr>
              <a:t>klientů je výrazně nespokojeno</a:t>
            </a:r>
          </a:p>
          <a:p>
            <a:pPr algn="ctr"/>
            <a:r>
              <a:rPr lang="cs-CZ" sz="600" dirty="0">
                <a:latin typeface="Arial" panose="020B0604020202020204" pitchFamily="34" charset="0"/>
                <a:cs typeface="Arial" panose="020B0604020202020204" pitchFamily="34" charset="0"/>
              </a:rPr>
              <a:t>se způsobem poskytnutí služby (hodnotí známkou 4 nebo 5)</a:t>
            </a:r>
            <a:endParaRPr lang="cs-CZ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TextovéPole 96">
            <a:extLst>
              <a:ext uri="{FF2B5EF4-FFF2-40B4-BE49-F238E27FC236}">
                <a16:creationId xmlns:a16="http://schemas.microsoft.com/office/drawing/2014/main" id="{A88B3729-F1F8-4E3D-8049-8F0FFF23BC93}"/>
              </a:ext>
            </a:extLst>
          </p:cNvPr>
          <p:cNvSpPr txBox="1"/>
          <p:nvPr/>
        </p:nvSpPr>
        <p:spPr>
          <a:xfrm>
            <a:off x="7940390" y="5046347"/>
            <a:ext cx="8075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cs-CZ" sz="16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  <a:endParaRPr lang="cs-CZ" sz="4400" b="1" dirty="0"/>
          </a:p>
        </p:txBody>
      </p:sp>
      <p:sp>
        <p:nvSpPr>
          <p:cNvPr id="98" name="TextovéPole 97">
            <a:extLst>
              <a:ext uri="{FF2B5EF4-FFF2-40B4-BE49-F238E27FC236}">
                <a16:creationId xmlns:a16="http://schemas.microsoft.com/office/drawing/2014/main" id="{E601C5CC-27D1-4647-A7B6-D97950268A0F}"/>
              </a:ext>
            </a:extLst>
          </p:cNvPr>
          <p:cNvSpPr txBox="1"/>
          <p:nvPr/>
        </p:nvSpPr>
        <p:spPr>
          <a:xfrm>
            <a:off x="689635" y="6396652"/>
            <a:ext cx="83885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defTabSz="685800"/>
            <a:r>
              <a:rPr lang="cs-CZ" sz="2400" b="1" spc="-38" dirty="0">
                <a:solidFill>
                  <a:schemeClr val="bg1"/>
                </a:solidFill>
                <a:latin typeface="Calibri Light" panose="020F0302020204030204"/>
              </a:rPr>
              <a:t>+ reporty zaměřené na specifika jednotlivých agend/služeb</a:t>
            </a:r>
          </a:p>
        </p:txBody>
      </p:sp>
    </p:spTree>
    <p:extLst>
      <p:ext uri="{BB962C8B-B14F-4D97-AF65-F5344CB8AC3E}">
        <p14:creationId xmlns:p14="http://schemas.microsoft.com/office/powerpoint/2010/main" val="3836742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cs-CZ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cs-CZ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Nadpis 1">
            <a:extLst>
              <a:ext uri="{FF2B5EF4-FFF2-40B4-BE49-F238E27FC236}">
                <a16:creationId xmlns:a16="http://schemas.microsoft.com/office/drawing/2014/main" id="{0268E278-6001-4560-8AA8-47FB7FEC9FC8}"/>
              </a:ext>
            </a:extLst>
          </p:cNvPr>
          <p:cNvSpPr txBox="1">
            <a:spLocks/>
          </p:cNvSpPr>
          <p:nvPr/>
        </p:nvSpPr>
        <p:spPr>
          <a:xfrm>
            <a:off x="1" y="731"/>
            <a:ext cx="9144000" cy="5269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anchor="ctr"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000" marR="0" lvl="0" indent="0" algn="l" defTabSz="6858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2800" b="1" i="0" u="none" strike="noStrike" kern="1200" cap="none" spc="-38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JAKÝ min. VÝSTUP chceme získat (příklad: specifický report agendy)</a:t>
            </a:r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5366D5C6-09BF-CE6C-1B30-1AD6AAC9F3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36" r="2136"/>
          <a:stretch/>
        </p:blipFill>
        <p:spPr>
          <a:xfrm>
            <a:off x="150920" y="831167"/>
            <a:ext cx="8842160" cy="5195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2741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ktiva">
  <a:themeElements>
    <a:clrScheme name="Retrospektiva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k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k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edea830-d126-41b7-9f69-5dc598a679e7" xsi:nil="true"/>
    <lcf76f155ced4ddcb4097134ff3c332f xmlns="96a559f6-78cc-4fcb-80ce-aeceb24eab07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10" ma:contentTypeDescription="Vytvoří nový dokument" ma:contentTypeScope="" ma:versionID="7e08fb0dd1033572d62b70ecc67e1c61">
  <xsd:schema xmlns:xsd="http://www.w3.org/2001/XMLSchema" xmlns:xs="http://www.w3.org/2001/XMLSchema" xmlns:p="http://schemas.microsoft.com/office/2006/metadata/properties" xmlns:ns2="96a559f6-78cc-4fcb-80ce-aeceb24eab07" xmlns:ns3="dedea830-d126-41b7-9f69-5dc598a679e7" targetNamespace="http://schemas.microsoft.com/office/2006/metadata/properties" ma:root="true" ma:fieldsID="77c69e46c62157503f07a38e2ec41cc0" ns2:_="" ns3:_="">
    <xsd:import namespace="96a559f6-78cc-4fcb-80ce-aeceb24eab07"/>
    <xsd:import namespace="dedea830-d126-41b7-9f69-5dc598a679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Značky obrázků" ma:readOnly="false" ma:fieldId="{5cf76f15-5ced-4ddc-b409-7134ff3c332f}" ma:taxonomyMulti="true" ma:sspId="b92eba26-6e22-4db9-9584-2a14b2be7ad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dea830-d126-41b7-9f69-5dc598a679e7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975c9996-7052-420e-a37d-bc2592e1086a}" ma:internalName="TaxCatchAll" ma:showField="CatchAllData" ma:web="dedea830-d126-41b7-9f69-5dc598a679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AA7262-15BE-4571-BA48-B7E8F90B713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CF071B9-4975-4B2A-BFFB-78CF985C39A2}">
  <ds:schemaRefs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dcmitype/"/>
    <ds:schemaRef ds:uri="http://schemas.microsoft.com/office/2006/metadata/properties"/>
    <ds:schemaRef ds:uri="cbcb8b1c-79d4-4073-88c1-b8907fba5ab6"/>
    <ds:schemaRef ds:uri="78fc7414-1a48-4b1c-931e-b701b98c2e9e"/>
    <ds:schemaRef ds:uri="http://purl.org/dc/elements/1.1/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AEE0B7E-C457-4609-B9FC-16000162FE19}"/>
</file>

<file path=docMetadata/LabelInfo.xml><?xml version="1.0" encoding="utf-8"?>
<clbl:labelList xmlns:clbl="http://schemas.microsoft.com/office/2020/mipLabelMetadata">
  <clbl:label id="{9cc168b4-0267-4bd6-8e85-481e0b7f64cb}" enabled="1" method="Standard" siteId="{1db41d6f-1f37-46db-bd3e-c483abb8105d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1299</Words>
  <Application>Microsoft Macintosh PowerPoint</Application>
  <PresentationFormat>On-screen Show (4:3)</PresentationFormat>
  <Paragraphs>196</Paragraphs>
  <Slides>9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Wingdings,Sans-Serif</vt:lpstr>
      <vt:lpstr>Retrospektiva</vt:lpstr>
      <vt:lpstr>Acrobat Document</vt:lpstr>
      <vt:lpstr>Naplňování principu IK ČR  P20: Metriky digitálních služeb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/>
  <cp:lastModifiedBy/>
  <cp:revision>2</cp:revision>
  <dcterms:created xsi:type="dcterms:W3CDTF">2012-08-16T00:56:33Z</dcterms:created>
  <dcterms:modified xsi:type="dcterms:W3CDTF">2024-04-04T15:32:04Z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0x0101007A32D9D492602045940873645AF947E7</vt:lpwstr>
  </property>
  <property fmtid="{D5CDD505-2E9C-101B-9397-08002B2CF9AE}" pid="3" name="ClassificationContentMarkingFooterLocations">
    <vt:lpwstr>Retrospektiva:11</vt:lpwstr>
  </property>
  <property fmtid="{D5CDD505-2E9C-101B-9397-08002B2CF9AE}" pid="4" name="ClassificationContentMarkingFooterText">
    <vt:lpwstr>Interní informace</vt:lpwstr>
  </property>
</Properties>
</file>